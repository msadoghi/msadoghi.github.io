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6858000" cx="12192000"/>
  <p:notesSz cx="6858000" cy="9144000"/>
  <p:embeddedFontLst>
    <p:embeddedFont>
      <p:font typeface="Helvetica Neue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3" roundtripDataSignature="AMtx7miJ+mfVdFTCsVvuUtYQS4iq6NXe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3" Type="http://customschemas.google.com/relationships/presentationmetadata" Target="metadata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0" Type="http://schemas.openxmlformats.org/officeDocument/2006/relationships/font" Target="fonts/HelveticaNeue-bold.fntdata"/><Relationship Id="rId82" Type="http://schemas.openxmlformats.org/officeDocument/2006/relationships/font" Target="fonts/HelveticaNeue-boldItalic.fntdata"/><Relationship Id="rId81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font" Target="fonts/HelveticaNeue-regular.fntdata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1a02a114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a01a02a114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1a02a114_4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1a02a114_4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 both prepare and commit, every replica talks to all others → O(n²) communication.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During a view change, the new leader must collect logs from 2f+1 replicas and forward them — that’s expensive.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PBFT also has no pipelining — it can process only one block at a time.</a:t>
            </a:r>
            <a:endParaRPr/>
          </a:p>
        </p:txBody>
      </p:sp>
      <p:sp>
        <p:nvSpPr>
          <p:cNvPr id="74" name="Google Shape;74;g3a01a02a114_4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1a02a114_6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1a02a114_6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HotStuff improves scalability while keeping the same fault tolerance — up to f faults among 3f + 1 replicas.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key idea is the Quorum Certificate, or QC. A QC proves that 2f + 1 replicas voted for a block.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Each block includes the QC of its parent, forming a chain of proofs.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Step 1: The leader proposes cmd₁, collects 2f+1 votes, and forms a QC → prepare is done.</a:t>
            </a:r>
            <a:endParaRPr/>
          </a:p>
        </p:txBody>
      </p:sp>
      <p:sp>
        <p:nvSpPr>
          <p:cNvPr id="91" name="Google Shape;91;g3a01a02a114_6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893793391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893793391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Step 2: The next leader proposes cmd₂, extending cmd₁.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QC confirms cmd₁ was safely prepared.</a:t>
            </a:r>
            <a:endParaRPr/>
          </a:p>
        </p:txBody>
      </p:sp>
      <p:sp>
        <p:nvSpPr>
          <p:cNvPr id="109" name="Google Shape;109;g39893793391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93793391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893793391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So this round acts as pre-commit for cmd₁ and prepare for cmd₂.</a:t>
            </a:r>
            <a:endParaRPr/>
          </a:p>
        </p:txBody>
      </p:sp>
      <p:sp>
        <p:nvSpPr>
          <p:cNvPr id="127" name="Google Shape;127;g39893793391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93793391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893793391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Step 3: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Then, cmd₃ extends cmd₂.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Votes for cmd₃ form a new QC — this becomes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commit certificate for cmd₁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44" name="Google Shape;144;g39893793391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7a8bb1a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7a8bb1a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Now cmd₁ has three consecutive QCs — prepare, pre-commit, commit — satisfying the 3-chain rule.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07a8bb1a9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893793391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893793391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893793391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893793391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893793391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Step 4: When cmd₄ is proposed, the leader sends a decide message with the commitQC of cmd₁.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Replicas that receive it mark cmd₁ as committed and execute its transactions.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893793391_0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893793391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893793391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9893793391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893793391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893793391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9893793391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893793391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893793391_0_2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893793391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07a8bb1a9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07a8bb1a9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HotStuff overlaps multiple phases — while cmd₁ is being decided, cmd₂ is in commit, cmd₃ in pre-commit, and cmd₄ in prepare.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➡ This keeps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pipeline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enabling continuous progress.</a:t>
            </a:r>
            <a:endParaRPr/>
          </a:p>
        </p:txBody>
      </p:sp>
      <p:sp>
        <p:nvSpPr>
          <p:cNvPr id="228" name="Google Shape;228;g3a07a8bb1a9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01a02a114_6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01a02a114_6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To commit one block, HotStuff needs four broadcasts and three voting rounds — about 7Δ total.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The decide phase doesn’t need voting, so it’s half a round.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➡ In total, 3.5 phases = 7Δ of latency.</a:t>
            </a:r>
            <a:endParaRPr/>
          </a:p>
        </p:txBody>
      </p:sp>
      <p:sp>
        <p:nvSpPr>
          <p:cNvPr id="238" name="Google Shape;238;g3a01a02a114_6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893793391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9893793391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Each view has one leader who decides when to propose the next block.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Normally, the leader proposes immediately after collecting 2f+1 votes.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But a selfish leader may delay proposing until right before timeout, to maximize profit.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While waiting, all other replicas are idle, and the system makes no progress.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</a:t>
            </a:r>
            <a:r>
              <a:rPr lang="en-US"/>
              <a:t>hroughput drops from 1 tx/sec to about 0.6 tx/sec.</a:t>
            </a:r>
            <a:endParaRPr/>
          </a:p>
        </p:txBody>
      </p:sp>
      <p:sp>
        <p:nvSpPr>
          <p:cNvPr id="254" name="Google Shape;254;g39893793391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89379339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89379339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block commits only if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three consecutive QCs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are chained —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3-chain rule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Tail-forking = R3 “pretends” to continue R2’s work.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R3 ignores R2’s block, uses old QC (from R1).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Looks like a valid 3-chain → but it’s fake.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➡ Tail-forking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hurts liveness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increasing latency and reducing throughput.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9893793391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01a02a114_6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01a02a114_6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HotStuff-2 focuses mainly on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phase reduction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keeping the same safety and responsiveness.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➡ Problems like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leader slowness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tail-forking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remain unsolved.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a01a02a114_6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01a02a114_6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01a02a114_6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01a02a114_6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01a02a114_3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01a02a114_3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a01a02a114_3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89eace54f_5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989eace54f_5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89eace54f_5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01a02a114_3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01a02a114_3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a01a02a114_3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01a02a114_3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a01a02a114_3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a01a02a114_3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01a02a114_3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01a02a114_3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a01a02a114_3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89eace54f_5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89eace54f_5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989eace54f_5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89eace54f_5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989eace54f_5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989eace54f_5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89eace54f_5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989eace54f_5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989eace54f_5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89eace54f_5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989eace54f_5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989eace54f_5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89eace54f_5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989eace54f_5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989eace54f_5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89eace54f_5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89eace54f_5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989eace54f_5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989eace54f_5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989eace54f_5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989eace54f_5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89eace54f_5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89eace54f_5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989eace54f_5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89eace54f_5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989eace54f_5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989eace54f_5_1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89eace54f_5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989eace54f_5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989eace54f_5_1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89eace54f_5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89eace54f_5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989eace54f_5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89eace54f_5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89eace54f_5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989eace54f_5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89eace54f_5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989eace54f_5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989eace54f_5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09dfc2a5f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09dfc2a5f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a09dfc2a5f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89eace54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89eace5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22850"/>
                </a:solidFill>
              </a:rPr>
              <a:t>One proposal every phase, No specific commit phase</a:t>
            </a:r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989eace54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989eace54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989eace54f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989eace54f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89eace54f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989eace54f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89eace54f_1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989eace54f_1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Most basic case, R1 is the leader has P(V</a:t>
            </a:r>
            <a:r>
              <a:rPr lang="en-US"/>
              <a:t>-2</a:t>
            </a:r>
            <a:r>
              <a:rPr lang="en-US"/>
              <a:t>) and Bv</a:t>
            </a:r>
            <a:r>
              <a:rPr lang="en-US"/>
              <a:t>-1</a:t>
            </a:r>
            <a:r>
              <a:rPr lang="en-US"/>
              <a:t> and broadcast message, replicas send v-2 to client</a:t>
            </a:r>
            <a:endParaRPr/>
          </a:p>
        </p:txBody>
      </p:sp>
      <p:sp>
        <p:nvSpPr>
          <p:cNvPr id="551" name="Google Shape;551;g3989eace54f_1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a07a8bb1a9_5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a07a8bb1a9_5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Most basic case, R1 is the leader has P(V-2) and Bv-1 and broadcast message, replicas send v-2 to client</a:t>
            </a:r>
            <a:endParaRPr/>
          </a:p>
        </p:txBody>
      </p:sp>
      <p:sp>
        <p:nvSpPr>
          <p:cNvPr id="593" name="Google Shape;593;g3a07a8bb1a9_5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98dce9893b_0_10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98dce9893b_0_10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98dce9893b_0_10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98dce9893b_0_10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98dce9893b_0_1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98dce9893b_0_1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98dce9893b_0_10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NOTES: Slotting example is next</a:t>
            </a:r>
            <a:endParaRPr/>
          </a:p>
        </p:txBody>
      </p:sp>
      <p:sp>
        <p:nvSpPr>
          <p:cNvPr id="649" name="Google Shape;649;g398dce9893b_0_10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98dce9893b_0_10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Prefix Commit Rule</a:t>
            </a:r>
            <a:endParaRPr/>
          </a:p>
        </p:txBody>
      </p:sp>
      <p:sp>
        <p:nvSpPr>
          <p:cNvPr id="656" name="Google Shape;656;g398dce9893b_0_10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98dce9893b_0_10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LEADER SLOWNESS is next, “we’ve talked about the solution, lets talk about the problem”</a:t>
            </a:r>
            <a:endParaRPr/>
          </a:p>
        </p:txBody>
      </p:sp>
      <p:sp>
        <p:nvSpPr>
          <p:cNvPr id="684" name="Google Shape;684;g398dce9893b_0_10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98dce9893b_0_1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Mention BLOCKCHAIN and financial trading</a:t>
            </a:r>
            <a:endParaRPr/>
          </a:p>
        </p:txBody>
      </p:sp>
      <p:sp>
        <p:nvSpPr>
          <p:cNvPr id="706" name="Google Shape;706;g398dce9893b_0_1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98dce9893b_0_1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98dce9893b_0_1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98dce9893b_0_1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98dce9893b_0_1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8dce9893b_0_1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98dce9893b_0_1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98dce9893b_0_1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1" name="Google Shape;781;g398dce9893b_0_1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98dce9893b_0_1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3" name="Google Shape;803;g398dce9893b_0_1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98dce9893b_0_1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not MALICIOUS, this is RATIONAL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Immediate swap to solution next</a:t>
            </a:r>
            <a:endParaRPr/>
          </a:p>
        </p:txBody>
      </p:sp>
      <p:sp>
        <p:nvSpPr>
          <p:cNvPr id="827" name="Google Shape;827;g398dce9893b_0_1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98dce9893b_0_1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98dce9893b_0_1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98dce9893b_0_1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98dce9893b_0_1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98dce9893b_0_1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SKIP this and the next TWO slides</a:t>
            </a:r>
            <a:endParaRPr/>
          </a:p>
        </p:txBody>
      </p:sp>
      <p:sp>
        <p:nvSpPr>
          <p:cNvPr id="873" name="Google Shape;873;g398dce9893b_0_1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8dce9893b_0_12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98dce9893b_0_1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98dce9893b_0_1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98dce9893b_0_1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398dce9893b_0_1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98dce9893b_0_1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98dce9893b_0_1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g398dce9893b_0_1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98dce9893b_0_1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98dce9893b_0_1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98dce9893b_0_1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Naive solution on the next slide</a:t>
            </a:r>
            <a:endParaRPr/>
          </a:p>
        </p:txBody>
      </p:sp>
      <p:sp>
        <p:nvSpPr>
          <p:cNvPr id="1014" name="Google Shape;1014;g398dce9893b_0_1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98dce9893b_0_14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“This is not enough” on the next slide</a:t>
            </a:r>
            <a:endParaRPr/>
          </a:p>
        </p:txBody>
      </p:sp>
      <p:sp>
        <p:nvSpPr>
          <p:cNvPr id="1042" name="Google Shape;1042;g398dce9893b_0_14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98dce9893b_0_1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Mention carry blocks here</a:t>
            </a:r>
            <a:endParaRPr/>
          </a:p>
        </p:txBody>
      </p:sp>
      <p:sp>
        <p:nvSpPr>
          <p:cNvPr id="1064" name="Google Shape;1064;g398dce9893b_0_1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98dce9893b_0_1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98dce9893b_0_1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98dce9893b_0_1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Start by explaining the order of certificate extension here</a:t>
            </a:r>
            <a:endParaRPr/>
          </a:p>
        </p:txBody>
      </p:sp>
      <p:sp>
        <p:nvSpPr>
          <p:cNvPr id="1078" name="Google Shape;1078;g398dce9893b_0_1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98eeecea4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98eeecea4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98dce9893b_0_1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NOTE: The next slide is the last one</a:t>
            </a:r>
            <a:endParaRPr/>
          </a:p>
        </p:txBody>
      </p:sp>
      <p:sp>
        <p:nvSpPr>
          <p:cNvPr id="1108" name="Google Shape;1108;g398dce9893b_0_1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98dce9893b_0_14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g398dce9893b_0_14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a09dfc2a5f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a09dfc2a5f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a09dfc2a5f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>
  <p:cSld name="Section Header Whit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" type="body"/>
          </p:nvPr>
        </p:nvSpPr>
        <p:spPr>
          <a:xfrm>
            <a:off x="546101" y="3645157"/>
            <a:ext cx="9871710" cy="976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2" type="body"/>
          </p:nvPr>
        </p:nvSpPr>
        <p:spPr>
          <a:xfrm>
            <a:off x="537210" y="2729401"/>
            <a:ext cx="1081370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0" y="398606"/>
            <a:ext cx="5972148" cy="4823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50" spcFirstLastPara="1" rIns="18287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42FEED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83920" y="1299845"/>
            <a:ext cx="9871710" cy="44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0" y="398638"/>
            <a:ext cx="5972148" cy="48224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50" spcFirstLastPara="1" rIns="18287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42FEED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83920" y="1299845"/>
            <a:ext cx="9883140" cy="44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0" y="398638"/>
            <a:ext cx="5972148" cy="48224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50" spcFirstLastPara="1" rIns="18287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42FEED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83920" y="1299845"/>
            <a:ext cx="9883140" cy="44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title"/>
          </p:nvPr>
        </p:nvSpPr>
        <p:spPr>
          <a:xfrm>
            <a:off x="0" y="398638"/>
            <a:ext cx="5972148" cy="48224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50" spcFirstLastPara="1" rIns="18287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rgbClr val="42FEED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body"/>
          </p:nvPr>
        </p:nvSpPr>
        <p:spPr>
          <a:xfrm>
            <a:off x="571500" y="1299845"/>
            <a:ext cx="2800350" cy="4438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5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3741420" y="1299845"/>
            <a:ext cx="7037070" cy="4438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89eace54f_1_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989eace54f_1_5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55600" lvl="1" marL="914400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989eace54f_1_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type="title"/>
          </p:nvPr>
        </p:nvSpPr>
        <p:spPr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0" type="dt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doi.org/10.1145/3293611.3331591" TargetMode="External"/><Relationship Id="rId4" Type="http://schemas.openxmlformats.org/officeDocument/2006/relationships/hyperlink" Target="https://doi.org/10.1145/3293611.3331591" TargetMode="External"/><Relationship Id="rId5" Type="http://schemas.openxmlformats.org/officeDocument/2006/relationships/hyperlink" Target="https://doi.org/10.1145/372530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1" type="body"/>
          </p:nvPr>
        </p:nvSpPr>
        <p:spPr>
          <a:xfrm>
            <a:off x="546100" y="3645150"/>
            <a:ext cx="103590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Authors: D</a:t>
            </a:r>
            <a:r>
              <a:rPr lang="en-US"/>
              <a:t>akai</a:t>
            </a:r>
            <a:r>
              <a:rPr lang="en-US"/>
              <a:t> Kang, Suyash Gupta, Dahlia Malkhi, Mohammad </a:t>
            </a:r>
            <a:r>
              <a:rPr lang="en-US"/>
              <a:t>Sadoghi</a:t>
            </a:r>
            <a:endParaRPr/>
          </a:p>
        </p:txBody>
      </p:sp>
      <p:sp>
        <p:nvSpPr>
          <p:cNvPr id="61" name="Google Shape;61;p1"/>
          <p:cNvSpPr txBox="1"/>
          <p:nvPr>
            <p:ph idx="11" type="ftr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 txBox="1"/>
          <p:nvPr>
            <p:ph idx="2" type="body"/>
          </p:nvPr>
        </p:nvSpPr>
        <p:spPr>
          <a:xfrm>
            <a:off x="546100" y="1927700"/>
            <a:ext cx="10812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HotStuff-1: Linear Consensus with One-Phase Speculation</a:t>
            </a:r>
            <a:endParaRPr/>
          </a:p>
        </p:txBody>
      </p:sp>
      <p:sp>
        <p:nvSpPr>
          <p:cNvPr id="63" name="Google Shape;63;p1"/>
          <p:cNvSpPr txBox="1"/>
          <p:nvPr>
            <p:ph idx="1" type="body"/>
          </p:nvPr>
        </p:nvSpPr>
        <p:spPr>
          <a:xfrm>
            <a:off x="546100" y="4502675"/>
            <a:ext cx="117018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Presenters: Regan Yang, Tiching Kao, Yoshiki Yamaguchi, Steven Shoemaker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01a02a114_4_0"/>
          <p:cNvSpPr txBox="1"/>
          <p:nvPr>
            <p:ph type="title"/>
          </p:nvPr>
        </p:nvSpPr>
        <p:spPr>
          <a:xfrm>
            <a:off x="0" y="398650"/>
            <a:ext cx="107556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69" name="Google Shape;69;g3a01a02a114_4_0"/>
          <p:cNvSpPr txBox="1"/>
          <p:nvPr>
            <p:ph idx="1" type="body"/>
          </p:nvPr>
        </p:nvSpPr>
        <p:spPr>
          <a:xfrm>
            <a:off x="883920" y="1299845"/>
            <a:ext cx="9871800" cy="4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Introduction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Speculative Execution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Streamlined Speculative Execution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Slotting</a:t>
            </a:r>
            <a:endParaRPr/>
          </a:p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Reference</a:t>
            </a:r>
            <a:endParaRPr/>
          </a:p>
        </p:txBody>
      </p:sp>
      <p:sp>
        <p:nvSpPr>
          <p:cNvPr id="70" name="Google Shape;70;g3a01a02a114_4_0"/>
          <p:cNvSpPr txBox="1"/>
          <p:nvPr>
            <p:ph idx="11" type="ftr"/>
          </p:nvPr>
        </p:nvSpPr>
        <p:spPr>
          <a:xfrm>
            <a:off x="1948815" y="6224905"/>
            <a:ext cx="4056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a01a02a114_4_6" title="02_PBFT_LeaderCh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9228" y="3557663"/>
            <a:ext cx="5124721" cy="20368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a01a02a114_4_6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Problems of PBFT [1]</a:t>
            </a:r>
            <a:endParaRPr/>
          </a:p>
        </p:txBody>
      </p:sp>
      <p:sp>
        <p:nvSpPr>
          <p:cNvPr id="78" name="Google Shape;78;g3a01a02a114_4_6"/>
          <p:cNvSpPr txBox="1"/>
          <p:nvPr>
            <p:ph idx="1" type="body"/>
          </p:nvPr>
        </p:nvSpPr>
        <p:spPr>
          <a:xfrm>
            <a:off x="883925" y="1299852"/>
            <a:ext cx="9871800" cy="227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/>
              <a:t>High latency due to 3-Phase Consensus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Propose phase + Prepare phase + Commit phase ⇒ 3</a:t>
            </a:r>
            <a:r>
              <a:rPr lang="en-US"/>
              <a:t>Δ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/>
              <a:t>High communication cost among replicas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Expensive View Change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No pipelining</a:t>
            </a:r>
            <a:endParaRPr b="1"/>
          </a:p>
        </p:txBody>
      </p:sp>
      <p:pic>
        <p:nvPicPr>
          <p:cNvPr id="79" name="Google Shape;79;g3a01a02a114_4_6" title="01_PBF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750" y="3685987"/>
            <a:ext cx="6318751" cy="1780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g3a01a02a114_4_6"/>
          <p:cNvGrpSpPr/>
          <p:nvPr/>
        </p:nvGrpSpPr>
        <p:grpSpPr>
          <a:xfrm>
            <a:off x="2757925" y="3429352"/>
            <a:ext cx="2674200" cy="1780171"/>
            <a:chOff x="2789350" y="3366075"/>
            <a:chExt cx="2674200" cy="2170675"/>
          </a:xfrm>
        </p:grpSpPr>
        <p:sp>
          <p:nvSpPr>
            <p:cNvPr id="81" name="Google Shape;81;g3a01a02a114_4_6"/>
            <p:cNvSpPr/>
            <p:nvPr/>
          </p:nvSpPr>
          <p:spPr>
            <a:xfrm>
              <a:off x="2789350" y="3921850"/>
              <a:ext cx="2674200" cy="16149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" name="Google Shape;82;g3a01a02a114_4_6"/>
            <p:cNvSpPr txBox="1"/>
            <p:nvPr/>
          </p:nvSpPr>
          <p:spPr>
            <a:xfrm>
              <a:off x="2946650" y="3366075"/>
              <a:ext cx="11955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O(n^2)</a:t>
              </a:r>
              <a:endParaRPr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" name="Google Shape;83;g3a01a02a114_4_6"/>
            <p:cNvSpPr txBox="1"/>
            <p:nvPr/>
          </p:nvSpPr>
          <p:spPr>
            <a:xfrm>
              <a:off x="4095225" y="3366075"/>
              <a:ext cx="11955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O(n^2)</a:t>
              </a:r>
              <a:endParaRPr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4" name="Google Shape;84;g3a01a02a114_4_6"/>
          <p:cNvGrpSpPr/>
          <p:nvPr/>
        </p:nvGrpSpPr>
        <p:grpSpPr>
          <a:xfrm>
            <a:off x="7980541" y="3304479"/>
            <a:ext cx="3051219" cy="2036757"/>
            <a:chOff x="7892476" y="3181619"/>
            <a:chExt cx="5452500" cy="2029856"/>
          </a:xfrm>
        </p:grpSpPr>
        <p:sp>
          <p:nvSpPr>
            <p:cNvPr id="85" name="Google Shape;85;g3a01a02a114_4_6"/>
            <p:cNvSpPr/>
            <p:nvPr/>
          </p:nvSpPr>
          <p:spPr>
            <a:xfrm>
              <a:off x="8929500" y="3596575"/>
              <a:ext cx="3262500" cy="16149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" name="Google Shape;86;g3a01a02a114_4_6"/>
            <p:cNvSpPr txBox="1"/>
            <p:nvPr/>
          </p:nvSpPr>
          <p:spPr>
            <a:xfrm>
              <a:off x="7892476" y="3181619"/>
              <a:ext cx="5452500" cy="42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Expensive</a:t>
              </a:r>
              <a:r>
                <a:rPr lang="en-US" sz="2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!! ⇒ O(n^2)</a:t>
              </a:r>
              <a:endParaRPr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87" name="Google Shape;87;g3a01a02a114_4_6"/>
          <p:cNvSpPr txBox="1"/>
          <p:nvPr/>
        </p:nvSpPr>
        <p:spPr>
          <a:xfrm>
            <a:off x="21000" y="5576550"/>
            <a:ext cx="12150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</a:t>
            </a:r>
            <a:r>
              <a:rPr lang="en-US" sz="1100"/>
              <a:t>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01a02a114_6_1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94" name="Google Shape;94;g3a01a02a114_6_1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  <p:sp>
        <p:nvSpPr>
          <p:cNvPr id="95" name="Google Shape;95;g3a01a02a114_6_1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a01a02a114_6_1"/>
          <p:cNvSpPr/>
          <p:nvPr/>
        </p:nvSpPr>
        <p:spPr>
          <a:xfrm>
            <a:off x="4427225" y="34366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a01a02a114_6_1"/>
          <p:cNvSpPr/>
          <p:nvPr/>
        </p:nvSpPr>
        <p:spPr>
          <a:xfrm>
            <a:off x="4427225" y="38709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98" name="Google Shape;98;g3a01a02a114_6_1"/>
          <p:cNvGrpSpPr/>
          <p:nvPr/>
        </p:nvGrpSpPr>
        <p:grpSpPr>
          <a:xfrm>
            <a:off x="5875025" y="3436625"/>
            <a:ext cx="1135500" cy="754450"/>
            <a:chOff x="5875025" y="3436625"/>
            <a:chExt cx="1135500" cy="754450"/>
          </a:xfrm>
        </p:grpSpPr>
        <p:sp>
          <p:nvSpPr>
            <p:cNvPr id="99" name="Google Shape;99;g3a01a02a114_6_1"/>
            <p:cNvSpPr/>
            <p:nvPr/>
          </p:nvSpPr>
          <p:spPr>
            <a:xfrm>
              <a:off x="5875025" y="343662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" name="Google Shape;100;g3a01a02a114_6_1"/>
            <p:cNvSpPr/>
            <p:nvPr/>
          </p:nvSpPr>
          <p:spPr>
            <a:xfrm>
              <a:off x="5875025" y="387097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01" name="Google Shape;101;g3a01a02a114_6_1"/>
          <p:cNvSpPr/>
          <p:nvPr/>
        </p:nvSpPr>
        <p:spPr>
          <a:xfrm>
            <a:off x="5875025" y="4254850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g3a01a02a114_6_1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g3a01a02a114_6_1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g3a01a02a114_6_1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3a01a02a114_6_1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9893793391_0_120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893793391_0_120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13" name="Google Shape;113;g39893793391_0_120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g39893793391_0_120"/>
          <p:cNvSpPr/>
          <p:nvPr/>
        </p:nvSpPr>
        <p:spPr>
          <a:xfrm>
            <a:off x="4427225" y="38709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5" name="Google Shape;115;g39893793391_0_120"/>
          <p:cNvGrpSpPr/>
          <p:nvPr/>
        </p:nvGrpSpPr>
        <p:grpSpPr>
          <a:xfrm>
            <a:off x="5875025" y="3436625"/>
            <a:ext cx="1135500" cy="754450"/>
            <a:chOff x="5875025" y="3436625"/>
            <a:chExt cx="1135500" cy="754450"/>
          </a:xfrm>
        </p:grpSpPr>
        <p:sp>
          <p:nvSpPr>
            <p:cNvPr id="116" name="Google Shape;116;g39893793391_0_120"/>
            <p:cNvSpPr/>
            <p:nvPr/>
          </p:nvSpPr>
          <p:spPr>
            <a:xfrm>
              <a:off x="5875025" y="343662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" name="Google Shape;117;g39893793391_0_120"/>
            <p:cNvSpPr/>
            <p:nvPr/>
          </p:nvSpPr>
          <p:spPr>
            <a:xfrm>
              <a:off x="5875025" y="387097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8" name="Google Shape;118;g39893793391_0_120"/>
          <p:cNvSpPr/>
          <p:nvPr/>
        </p:nvSpPr>
        <p:spPr>
          <a:xfrm>
            <a:off x="5875025" y="4254850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9893793391_0_120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39893793391_0_120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9893793391_0_120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39893793391_0_120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39893793391_0_120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9893793391_0_164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9893793391_0_164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31" name="Google Shape;131;g39893793391_0_164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2" name="Google Shape;132;g39893793391_0_164"/>
          <p:cNvGrpSpPr/>
          <p:nvPr/>
        </p:nvGrpSpPr>
        <p:grpSpPr>
          <a:xfrm>
            <a:off x="5875025" y="3436625"/>
            <a:ext cx="1135500" cy="754450"/>
            <a:chOff x="5875025" y="3436625"/>
            <a:chExt cx="1135500" cy="754450"/>
          </a:xfrm>
        </p:grpSpPr>
        <p:sp>
          <p:nvSpPr>
            <p:cNvPr id="133" name="Google Shape;133;g39893793391_0_164"/>
            <p:cNvSpPr/>
            <p:nvPr/>
          </p:nvSpPr>
          <p:spPr>
            <a:xfrm>
              <a:off x="5875025" y="343662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4" name="Google Shape;134;g39893793391_0_164"/>
            <p:cNvSpPr/>
            <p:nvPr/>
          </p:nvSpPr>
          <p:spPr>
            <a:xfrm>
              <a:off x="5875025" y="3870975"/>
              <a:ext cx="1135500" cy="32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35" name="Google Shape;135;g39893793391_0_164"/>
          <p:cNvSpPr/>
          <p:nvPr/>
        </p:nvSpPr>
        <p:spPr>
          <a:xfrm>
            <a:off x="5875025" y="4254850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g39893793391_0_164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39893793391_0_164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g39893793391_0_164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g39893793391_0_164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g39893793391_0_164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9893793391_0_186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9893793391_0_186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48" name="Google Shape;148;g39893793391_0_186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9893793391_0_186"/>
          <p:cNvSpPr/>
          <p:nvPr/>
        </p:nvSpPr>
        <p:spPr>
          <a:xfrm>
            <a:off x="5875025" y="4254850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g39893793391_0_186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9893793391_0_186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9893793391_0_186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9893793391_0_186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g39893793391_0_186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a07a8bb1a9_0_8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a07a8bb1a9_0_8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62" name="Google Shape;162;g3a07a8bb1a9_0_8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a07a8bb1a9_0_8"/>
          <p:cNvSpPr/>
          <p:nvPr/>
        </p:nvSpPr>
        <p:spPr>
          <a:xfrm>
            <a:off x="5875025" y="4254850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4" name="Google Shape;164;g3a07a8bb1a9_0_8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g3a07a8bb1a9_0_8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g3a07a8bb1a9_0_8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g3a07a8bb1a9_0_8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a07a8bb1a9_0_8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  <p:sp>
        <p:nvSpPr>
          <p:cNvPr id="169" name="Google Shape;169;g3a07a8bb1a9_0_8"/>
          <p:cNvSpPr/>
          <p:nvPr/>
        </p:nvSpPr>
        <p:spPr>
          <a:xfrm>
            <a:off x="2318100" y="3449975"/>
            <a:ext cx="4750800" cy="320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9893793391_0_207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9893793391_0_207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77" name="Google Shape;177;g39893793391_0_207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g39893793391_0_207"/>
          <p:cNvSpPr/>
          <p:nvPr/>
        </p:nvSpPr>
        <p:spPr>
          <a:xfrm>
            <a:off x="7315200" y="345185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g39893793391_0_207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g39893793391_0_207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g39893793391_0_207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g39893793391_0_207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9893793391_0_225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9893793391_0_225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190" name="Google Shape;190;g39893793391_0_225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g39893793391_0_225"/>
          <p:cNvSpPr/>
          <p:nvPr/>
        </p:nvSpPr>
        <p:spPr>
          <a:xfrm>
            <a:off x="7376150" y="470452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39893793391_0_225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g39893793391_0_225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39893793391_0_225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g39893793391_0_242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9893793391_0_242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202" name="Google Shape;202;g39893793391_0_242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g39893793391_0_242"/>
          <p:cNvSpPr/>
          <p:nvPr/>
        </p:nvSpPr>
        <p:spPr>
          <a:xfrm>
            <a:off x="8755375" y="3853300"/>
            <a:ext cx="1135500" cy="11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39893793391_0_242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g39893793391_0_242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9893793391_0_258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9893793391_0_258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213" name="Google Shape;213;g39893793391_0_258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g39893793391_0_258"/>
          <p:cNvSpPr/>
          <p:nvPr/>
        </p:nvSpPr>
        <p:spPr>
          <a:xfrm>
            <a:off x="8755375" y="5116475"/>
            <a:ext cx="11355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g39893793391_0_258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9893793391_0_273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9893793391_0_273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223" name="Google Shape;223;g39893793391_0_273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g39893793391_0_273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a07a8bb1a9_0_27" title="03_HotStu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19" y="2893250"/>
            <a:ext cx="7750164" cy="259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a07a8bb1a9_0_27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HotStuff [2]</a:t>
            </a:r>
            <a:endParaRPr/>
          </a:p>
        </p:txBody>
      </p:sp>
      <p:sp>
        <p:nvSpPr>
          <p:cNvPr id="232" name="Google Shape;232;g3a07a8bb1a9_0_27"/>
          <p:cNvSpPr txBox="1"/>
          <p:nvPr/>
        </p:nvSpPr>
        <p:spPr>
          <a:xfrm>
            <a:off x="21000" y="5576550"/>
            <a:ext cx="12150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https://doi.org/10.1145/3293611.3331591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g3a07a8bb1a9_0_27"/>
          <p:cNvSpPr txBox="1"/>
          <p:nvPr>
            <p:ph idx="1" type="body"/>
          </p:nvPr>
        </p:nvSpPr>
        <p:spPr>
          <a:xfrm>
            <a:off x="21000" y="1022450"/>
            <a:ext cx="12101100" cy="1870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Linear communication BFT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Uses Quorum Certificate (QC) to prove safety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3.5-phase design (Prepare, Pre-commit, Commit, and Decide)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Responsive view change using QC instead of full logs</a:t>
            </a:r>
            <a:endParaRPr b="1"/>
          </a:p>
        </p:txBody>
      </p:sp>
      <p:sp>
        <p:nvSpPr>
          <p:cNvPr id="234" name="Google Shape;234;g3a07a8bb1a9_0_27"/>
          <p:cNvSpPr/>
          <p:nvPr/>
        </p:nvSpPr>
        <p:spPr>
          <a:xfrm>
            <a:off x="7267775" y="3491925"/>
            <a:ext cx="1248000" cy="1870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a01a02a114_6_30" title="04_HotStuff_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3234"/>
            <a:ext cx="12192000" cy="291703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a01a02a114_6_30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Problems of HotStuff [3]</a:t>
            </a:r>
            <a:endParaRPr/>
          </a:p>
        </p:txBody>
      </p:sp>
      <p:sp>
        <p:nvSpPr>
          <p:cNvPr id="242" name="Google Shape;242;g3a01a02a114_6_30"/>
          <p:cNvSpPr txBox="1"/>
          <p:nvPr>
            <p:ph idx="1" type="body"/>
          </p:nvPr>
        </p:nvSpPr>
        <p:spPr>
          <a:xfrm>
            <a:off x="883800" y="1070275"/>
            <a:ext cx="9871800" cy="141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High latency due to 3.5-Phase Consensus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-US"/>
              <a:t>4 broadcast steps</a:t>
            </a:r>
            <a:r>
              <a:rPr b="1" lang="en-US"/>
              <a:t> + 3 voting steps ⇒ 7Δ (PBFT ⇒ 3Δ)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Leader Slowness</a:t>
            </a:r>
            <a:endParaRPr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Tail-forking between leaders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243" name="Google Shape;243;g3a01a02a114_6_30"/>
          <p:cNvSpPr txBox="1"/>
          <p:nvPr/>
        </p:nvSpPr>
        <p:spPr>
          <a:xfrm>
            <a:off x="21000" y="5576550"/>
            <a:ext cx="12150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</a:t>
            </a:r>
            <a:r>
              <a:rPr lang="en-US" sz="1100"/>
              <a:t>Dakai Kang, Suyash Gupta, Dahlia Malkhi, and Mohammad Sadoghi. 2025. HotStuff-1: Linear Consensus with One-Phase Speculation. Proc. ACM Manag. Data 3, 3, Article 171 (June 2025), 29 pages. https://doi.org/10.1145/3725308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g3a01a02a114_6_30"/>
          <p:cNvSpPr/>
          <p:nvPr/>
        </p:nvSpPr>
        <p:spPr>
          <a:xfrm>
            <a:off x="2287750" y="2868389"/>
            <a:ext cx="1091400" cy="202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5" name="Google Shape;245;g3a01a02a114_6_30"/>
          <p:cNvSpPr/>
          <p:nvPr/>
        </p:nvSpPr>
        <p:spPr>
          <a:xfrm>
            <a:off x="4751651" y="2868401"/>
            <a:ext cx="1091400" cy="202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g3a01a02a114_6_30"/>
          <p:cNvSpPr/>
          <p:nvPr/>
        </p:nvSpPr>
        <p:spPr>
          <a:xfrm>
            <a:off x="7215550" y="2893750"/>
            <a:ext cx="1091400" cy="202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g3a01a02a114_6_30"/>
          <p:cNvSpPr/>
          <p:nvPr/>
        </p:nvSpPr>
        <p:spPr>
          <a:xfrm>
            <a:off x="9679450" y="2868401"/>
            <a:ext cx="1091400" cy="202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g3a01a02a114_6_30"/>
          <p:cNvSpPr/>
          <p:nvPr/>
        </p:nvSpPr>
        <p:spPr>
          <a:xfrm>
            <a:off x="3442075" y="2868400"/>
            <a:ext cx="1225200" cy="20268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9" name="Google Shape;249;g3a01a02a114_6_30"/>
          <p:cNvSpPr/>
          <p:nvPr/>
        </p:nvSpPr>
        <p:spPr>
          <a:xfrm>
            <a:off x="5923450" y="2914600"/>
            <a:ext cx="1169400" cy="1934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g3a01a02a114_6_30"/>
          <p:cNvSpPr/>
          <p:nvPr/>
        </p:nvSpPr>
        <p:spPr>
          <a:xfrm>
            <a:off x="8349025" y="2932901"/>
            <a:ext cx="1169400" cy="1934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893793391_0_25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Problems of HotStuff [3]</a:t>
            </a:r>
            <a:endParaRPr/>
          </a:p>
        </p:txBody>
      </p:sp>
      <p:sp>
        <p:nvSpPr>
          <p:cNvPr id="257" name="Google Shape;257;g39893793391_0_25"/>
          <p:cNvSpPr txBox="1"/>
          <p:nvPr>
            <p:ph idx="1" type="body"/>
          </p:nvPr>
        </p:nvSpPr>
        <p:spPr>
          <a:xfrm>
            <a:off x="883800" y="1070275"/>
            <a:ext cx="9871800" cy="141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High latency due to 3.5-Phase Consensus</a:t>
            </a:r>
            <a:endParaRPr sz="1800"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○"/>
            </a:pPr>
            <a:r>
              <a:rPr lang="en-US" sz="1800">
                <a:solidFill>
                  <a:srgbClr val="B7B7B7"/>
                </a:solidFill>
              </a:rPr>
              <a:t>4 broadcast steps + 3 voting steps ⇒ 7Δ (PBFT ⇒ 3Δ)</a:t>
            </a:r>
            <a:endParaRPr b="1" sz="1800">
              <a:solidFill>
                <a:srgbClr val="B7B7B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Leader Slowness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Tail-forking between leaders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258" name="Google Shape;258;g39893793391_0_25"/>
          <p:cNvSpPr txBox="1"/>
          <p:nvPr/>
        </p:nvSpPr>
        <p:spPr>
          <a:xfrm>
            <a:off x="21000" y="5576550"/>
            <a:ext cx="12150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</a:t>
            </a:r>
            <a:r>
              <a:rPr lang="en-US" sz="1100"/>
              <a:t>Dakai Kang, Suyash Gupta, Dahlia Malkhi, and Mohammad Sadoghi. 2025. HotStuff-1: Linear Consensus with One-Phase Speculation. Proc. ACM Manag. Data 3, 3, Article 171 (June 2025), 29 pages. https://doi.org/10.1145/3725308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g39893793391_0_25"/>
          <p:cNvSpPr txBox="1"/>
          <p:nvPr/>
        </p:nvSpPr>
        <p:spPr>
          <a:xfrm>
            <a:off x="84825" y="2598200"/>
            <a:ext cx="54672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 Length: 3 second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View Duration for Honest Leaders: 1s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0" name="Google Shape;260;g39893793391_0_25"/>
          <p:cNvSpPr txBox="1"/>
          <p:nvPr/>
        </p:nvSpPr>
        <p:spPr>
          <a:xfrm>
            <a:off x="84825" y="3434025"/>
            <a:ext cx="1744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leaders are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well-behaving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g39893793391_0_25"/>
          <p:cNvSpPr txBox="1"/>
          <p:nvPr/>
        </p:nvSpPr>
        <p:spPr>
          <a:xfrm>
            <a:off x="10654050" y="3593475"/>
            <a:ext cx="17445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txn/s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2" name="Google Shape;262;g39893793391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125" y="3554898"/>
            <a:ext cx="8421730" cy="1281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g39893793391_0_25"/>
          <p:cNvGrpSpPr/>
          <p:nvPr/>
        </p:nvGrpSpPr>
        <p:grpSpPr>
          <a:xfrm>
            <a:off x="84825" y="4844200"/>
            <a:ext cx="12313725" cy="731200"/>
            <a:chOff x="84825" y="4844200"/>
            <a:chExt cx="12313725" cy="731200"/>
          </a:xfrm>
        </p:grpSpPr>
        <p:grpSp>
          <p:nvGrpSpPr>
            <p:cNvPr id="264" name="Google Shape;264;g39893793391_0_25"/>
            <p:cNvGrpSpPr/>
            <p:nvPr/>
          </p:nvGrpSpPr>
          <p:grpSpPr>
            <a:xfrm>
              <a:off x="84825" y="4844200"/>
              <a:ext cx="12313725" cy="724500"/>
              <a:chOff x="84825" y="4844200"/>
              <a:chExt cx="12313725" cy="724500"/>
            </a:xfrm>
          </p:grpSpPr>
          <p:sp>
            <p:nvSpPr>
              <p:cNvPr id="265" name="Google Shape;265;g39893793391_0_25"/>
              <p:cNvSpPr txBox="1"/>
              <p:nvPr/>
            </p:nvSpPr>
            <p:spPr>
              <a:xfrm>
                <a:off x="84825" y="4844200"/>
                <a:ext cx="1744500" cy="72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Leader of cmd2 is slow</a:t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66" name="Google Shape;266;g39893793391_0_25"/>
              <p:cNvSpPr txBox="1"/>
              <p:nvPr/>
            </p:nvSpPr>
            <p:spPr>
              <a:xfrm>
                <a:off x="10654050" y="5003650"/>
                <a:ext cx="1744500" cy="40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0.6 txn/s</a:t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pic>
          <p:nvPicPr>
            <p:cNvPr id="267" name="Google Shape;267;g39893793391_0_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7050" y="5068550"/>
              <a:ext cx="8023424" cy="506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893793391_0_33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Problems of HotStuff [3]</a:t>
            </a:r>
            <a:endParaRPr/>
          </a:p>
        </p:txBody>
      </p:sp>
      <p:sp>
        <p:nvSpPr>
          <p:cNvPr id="274" name="Google Shape;274;g39893793391_0_33"/>
          <p:cNvSpPr txBox="1"/>
          <p:nvPr>
            <p:ph idx="1" type="body"/>
          </p:nvPr>
        </p:nvSpPr>
        <p:spPr>
          <a:xfrm>
            <a:off x="883800" y="1070275"/>
            <a:ext cx="9871800" cy="1416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High latency due to 3.5-Phase Consensus</a:t>
            </a:r>
            <a:endParaRPr sz="1800"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○"/>
            </a:pPr>
            <a:r>
              <a:rPr lang="en-US" sz="1800">
                <a:solidFill>
                  <a:srgbClr val="B7B7B7"/>
                </a:solidFill>
              </a:rPr>
              <a:t>4 broadcast steps + 3 voting steps ⇒ 7Δ (PBFT ⇒ 3Δ)</a:t>
            </a:r>
            <a:endParaRPr b="1" sz="1800"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-US" sz="1800">
                <a:solidFill>
                  <a:srgbClr val="B7B7B7"/>
                </a:solidFill>
              </a:rPr>
              <a:t>Leader Slowness</a:t>
            </a:r>
            <a:endParaRPr sz="1800">
              <a:solidFill>
                <a:srgbClr val="B7B7B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Tail-forking between leaders</a:t>
            </a:r>
            <a:endParaRPr b="1"/>
          </a:p>
        </p:txBody>
      </p:sp>
      <p:sp>
        <p:nvSpPr>
          <p:cNvPr id="275" name="Google Shape;275;g39893793391_0_33"/>
          <p:cNvSpPr txBox="1"/>
          <p:nvPr/>
        </p:nvSpPr>
        <p:spPr>
          <a:xfrm>
            <a:off x="0" y="5599225"/>
            <a:ext cx="12150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</a:t>
            </a:r>
            <a:r>
              <a:rPr lang="en-US" sz="1100"/>
              <a:t>Dakai Kang, Suyash Gupta, Dahlia Malkhi, and Mohammad Sadoghi. 2025. HotStuff-1: Linear Consensus with One-Phase Speculation. Proc. ACM Manag. Data 3, 3, Article 171 (June 2025), 29 pages. https://doi.org/10.1145/3725308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g39893793391_0_33"/>
          <p:cNvSpPr txBox="1"/>
          <p:nvPr/>
        </p:nvSpPr>
        <p:spPr>
          <a:xfrm>
            <a:off x="73475" y="2607875"/>
            <a:ext cx="54672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Replica: 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7" name="Google Shape;277;g39893793391_0_33"/>
          <p:cNvSpPr txBox="1"/>
          <p:nvPr/>
        </p:nvSpPr>
        <p:spPr>
          <a:xfrm>
            <a:off x="73475" y="3066775"/>
            <a:ext cx="54672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leaders are well-behaving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g39893793391_0_33"/>
          <p:cNvSpPr txBox="1"/>
          <p:nvPr/>
        </p:nvSpPr>
        <p:spPr>
          <a:xfrm>
            <a:off x="10633050" y="3568875"/>
            <a:ext cx="17445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txn/s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9" name="Google Shape;279;g39893793391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800" y="3501475"/>
            <a:ext cx="8618937" cy="66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g39893793391_0_33"/>
          <p:cNvGrpSpPr/>
          <p:nvPr/>
        </p:nvGrpSpPr>
        <p:grpSpPr>
          <a:xfrm>
            <a:off x="73475" y="4163600"/>
            <a:ext cx="12304075" cy="1333275"/>
            <a:chOff x="73475" y="4163600"/>
            <a:chExt cx="12304075" cy="1333275"/>
          </a:xfrm>
        </p:grpSpPr>
        <p:grpSp>
          <p:nvGrpSpPr>
            <p:cNvPr id="281" name="Google Shape;281;g39893793391_0_33"/>
            <p:cNvGrpSpPr/>
            <p:nvPr/>
          </p:nvGrpSpPr>
          <p:grpSpPr>
            <a:xfrm>
              <a:off x="73475" y="4163600"/>
              <a:ext cx="12304075" cy="874363"/>
              <a:chOff x="73475" y="4163600"/>
              <a:chExt cx="12304075" cy="874363"/>
            </a:xfrm>
          </p:grpSpPr>
          <p:sp>
            <p:nvSpPr>
              <p:cNvPr id="282" name="Google Shape;282;g39893793391_0_33"/>
              <p:cNvSpPr txBox="1"/>
              <p:nvPr/>
            </p:nvSpPr>
            <p:spPr>
              <a:xfrm>
                <a:off x="73475" y="4163600"/>
                <a:ext cx="11651100" cy="43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R3 is Byzantine: cmds from R2 are intentionally ignored by R3 </a:t>
                </a:r>
                <a:endParaRPr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83" name="Google Shape;283;g39893793391_0_33"/>
              <p:cNvSpPr txBox="1"/>
              <p:nvPr/>
            </p:nvSpPr>
            <p:spPr>
              <a:xfrm>
                <a:off x="10633050" y="4632363"/>
                <a:ext cx="1744500" cy="40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0.75 txn/s</a:t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pic>
          <p:nvPicPr>
            <p:cNvPr id="284" name="Google Shape;284;g39893793391_0_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09438" y="4622500"/>
              <a:ext cx="8567661" cy="87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01a02a114_6_37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</a:t>
            </a:r>
            <a:r>
              <a:rPr lang="en-US"/>
              <a:t>HotStuff-2 [4]</a:t>
            </a:r>
            <a:endParaRPr/>
          </a:p>
        </p:txBody>
      </p:sp>
      <p:sp>
        <p:nvSpPr>
          <p:cNvPr id="291" name="Google Shape;291;g3a01a02a114_6_37"/>
          <p:cNvSpPr txBox="1"/>
          <p:nvPr>
            <p:ph idx="1" type="body"/>
          </p:nvPr>
        </p:nvSpPr>
        <p:spPr>
          <a:xfrm>
            <a:off x="883800" y="1087347"/>
            <a:ext cx="9871800" cy="209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Reduces HotStuff’s 3.5 phases ⇒ 2.5 phases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Removes Pre-commit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Preserves safety and responsiveness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Same guarantees as HotStuff despite fewer phases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Focuses on phase reduction ⇒ other limitations remain</a:t>
            </a:r>
            <a:endParaRPr b="1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3 broadcast steps + 2 voting steps ⇒ 5Δ (HotStuff ⇒ 7Δ, PBFT ⇒ 3Δ)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a01a02a114_6_37"/>
          <p:cNvSpPr txBox="1"/>
          <p:nvPr/>
        </p:nvSpPr>
        <p:spPr>
          <a:xfrm>
            <a:off x="0" y="5676500"/>
            <a:ext cx="12150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 </a:t>
            </a:r>
            <a:r>
              <a:rPr lang="en-US" sz="1100"/>
              <a:t>Dahlia Malkhi and Kartik Nayak. 2023. Hotstuff-2: Optimal two-phase responsive bft. Cryptology ePrint Archive (2023).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3" name="Google Shape;293;g3a01a02a114_6_37" title="07_HotStuff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575" y="3482547"/>
            <a:ext cx="7476229" cy="2193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01a02a114_6_50"/>
          <p:cNvSpPr txBox="1"/>
          <p:nvPr>
            <p:ph type="title"/>
          </p:nvPr>
        </p:nvSpPr>
        <p:spPr>
          <a:xfrm>
            <a:off x="0" y="398600"/>
            <a:ext cx="107556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HotStuff-1</a:t>
            </a:r>
            <a:endParaRPr/>
          </a:p>
        </p:txBody>
      </p:sp>
      <p:sp>
        <p:nvSpPr>
          <p:cNvPr id="300" name="Google Shape;300;g3a01a02a114_6_50"/>
          <p:cNvSpPr txBox="1"/>
          <p:nvPr>
            <p:ph idx="1" type="body"/>
          </p:nvPr>
        </p:nvSpPr>
        <p:spPr>
          <a:xfrm>
            <a:off x="883800" y="1087350"/>
            <a:ext cx="10349700" cy="494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Overview</a:t>
            </a:r>
            <a:endParaRPr b="1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Maintains linear communication (O(n)) and safety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Reduces phases from 2.5 to 1.5 via speculation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2 b</a:t>
            </a:r>
            <a:r>
              <a:rPr lang="en-US"/>
              <a:t>roadcast</a:t>
            </a:r>
            <a:r>
              <a:rPr lang="en-US"/>
              <a:t> steps + 1 voting step ⇒ 3Δ </a:t>
            </a:r>
            <a:r>
              <a:rPr lang="en-US"/>
              <a:t>(HotStuff-2 ⇒ 5Δ, HotStuff ⇒ 7Δ, PBFT ⇒ 3Δ)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Resolves high latency using speculation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01a02a114_3_6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HotStuff-1</a:t>
            </a:r>
            <a:endParaRPr/>
          </a:p>
        </p:txBody>
      </p:sp>
      <p:pic>
        <p:nvPicPr>
          <p:cNvPr id="307" name="Google Shape;307;g3a01a02a114_3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988" y="1005538"/>
            <a:ext cx="9248025" cy="48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a01a02a114_3_6"/>
          <p:cNvSpPr/>
          <p:nvPr/>
        </p:nvSpPr>
        <p:spPr>
          <a:xfrm>
            <a:off x="8104650" y="1005550"/>
            <a:ext cx="2707500" cy="47022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89eace54f_5_9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 on Prepare Certificates</a:t>
            </a:r>
            <a:endParaRPr/>
          </a:p>
        </p:txBody>
      </p:sp>
      <p:sp>
        <p:nvSpPr>
          <p:cNvPr id="315" name="Google Shape;315;g3989eace54f_5_9"/>
          <p:cNvSpPr txBox="1"/>
          <p:nvPr/>
        </p:nvSpPr>
        <p:spPr>
          <a:xfrm>
            <a:off x="978300" y="1060625"/>
            <a:ext cx="102354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 certificates are created using threshold shares made from previous certificates.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g3989eace54f_5_9"/>
          <p:cNvSpPr txBox="1"/>
          <p:nvPr/>
        </p:nvSpPr>
        <p:spPr>
          <a:xfrm>
            <a:off x="1343800" y="2332225"/>
            <a:ext cx="16578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P(5)</a:t>
            </a:r>
            <a:endParaRPr sz="4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17" name="Google Shape;317;g3989eace54f_5_9"/>
          <p:cNvCxnSpPr>
            <a:endCxn id="316" idx="3"/>
          </p:cNvCxnSpPr>
          <p:nvPr/>
        </p:nvCxnSpPr>
        <p:spPr>
          <a:xfrm rot="10800000">
            <a:off x="3001600" y="2872825"/>
            <a:ext cx="1441500" cy="2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g3989eace54f_5_9"/>
          <p:cNvSpPr txBox="1"/>
          <p:nvPr/>
        </p:nvSpPr>
        <p:spPr>
          <a:xfrm>
            <a:off x="4319700" y="2121150"/>
            <a:ext cx="26052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2f+1 shares</a:t>
            </a:r>
            <a:endParaRPr sz="4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g3989eace54f_5_9"/>
          <p:cNvSpPr txBox="1"/>
          <p:nvPr/>
        </p:nvSpPr>
        <p:spPr>
          <a:xfrm>
            <a:off x="8500400" y="2368275"/>
            <a:ext cx="23478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B5, P(4)</a:t>
            </a:r>
            <a:endParaRPr sz="4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20" name="Google Shape;320;g3989eace54f_5_9"/>
          <p:cNvCxnSpPr/>
          <p:nvPr/>
        </p:nvCxnSpPr>
        <p:spPr>
          <a:xfrm rot="10800000">
            <a:off x="6727300" y="2872725"/>
            <a:ext cx="1441500" cy="2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" name="Google Shape;321;g3989eace54f_5_9"/>
          <p:cNvSpPr txBox="1"/>
          <p:nvPr/>
        </p:nvSpPr>
        <p:spPr>
          <a:xfrm>
            <a:off x="3732800" y="3789450"/>
            <a:ext cx="40467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P(5) </a:t>
            </a:r>
            <a:r>
              <a:rPr i="1"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extends</a:t>
            </a: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P(4)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g3989eace54f_5_9"/>
          <p:cNvSpPr txBox="1"/>
          <p:nvPr/>
        </p:nvSpPr>
        <p:spPr>
          <a:xfrm>
            <a:off x="906000" y="4819125"/>
            <a:ext cx="103077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Executing B5 means executing all previous blocks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01a02a114_3_44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Speculative Execution</a:t>
            </a:r>
            <a:endParaRPr/>
          </a:p>
        </p:txBody>
      </p:sp>
      <p:pic>
        <p:nvPicPr>
          <p:cNvPr id="329" name="Google Shape;329;g3a01a02a114_3_44"/>
          <p:cNvPicPr preferRelativeResize="0"/>
          <p:nvPr/>
        </p:nvPicPr>
        <p:blipFill rotWithShape="1">
          <a:blip r:embed="rId3">
            <a:alphaModFix/>
          </a:blip>
          <a:srcRect b="0" l="72380" r="0" t="0"/>
          <a:stretch/>
        </p:blipFill>
        <p:spPr>
          <a:xfrm>
            <a:off x="689916" y="1005538"/>
            <a:ext cx="2554276" cy="484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a01a02a114_3_44"/>
          <p:cNvSpPr txBox="1"/>
          <p:nvPr/>
        </p:nvSpPr>
        <p:spPr>
          <a:xfrm>
            <a:off x="3326025" y="1287150"/>
            <a:ext cx="82584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Replica Perspective: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received a new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prepare certificate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Let’s execute the transaction and tell the client.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g3a01a02a114_3_44"/>
          <p:cNvSpPr txBox="1"/>
          <p:nvPr/>
        </p:nvSpPr>
        <p:spPr>
          <a:xfrm>
            <a:off x="4633775" y="3377500"/>
            <a:ext cx="50559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can this be safe?</a:t>
            </a:r>
            <a:endParaRPr sz="3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01a02a114_3_52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Safe Speculative Execution</a:t>
            </a:r>
            <a:endParaRPr/>
          </a:p>
        </p:txBody>
      </p:sp>
      <p:sp>
        <p:nvSpPr>
          <p:cNvPr id="338" name="Google Shape;338;g3a01a02a114_3_52"/>
          <p:cNvSpPr txBox="1"/>
          <p:nvPr/>
        </p:nvSpPr>
        <p:spPr>
          <a:xfrm>
            <a:off x="638450" y="1045150"/>
            <a:ext cx="10050000" cy="29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Clients need 2f+1 responses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lphaL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observes commit phase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lphaL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2f+1 = client knows f+1 non-faulty prepares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Prefix Speculation Rule: Preceding blocks have been committed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Gap Rule: Only execute blocks prepared in the same view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01a02a114_3_68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Propose1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45" name="Google Shape;345;g3a01a02a114_3_68"/>
          <p:cNvCxnSpPr/>
          <p:nvPr/>
        </p:nvCxnSpPr>
        <p:spPr>
          <a:xfrm flipH="1">
            <a:off x="3315725" y="2316900"/>
            <a:ext cx="442800" cy="192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g3a01a02a114_3_68"/>
          <p:cNvCxnSpPr/>
          <p:nvPr/>
        </p:nvCxnSpPr>
        <p:spPr>
          <a:xfrm>
            <a:off x="4057125" y="2255100"/>
            <a:ext cx="1956600" cy="189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g3a01a02a114_3_68"/>
          <p:cNvCxnSpPr/>
          <p:nvPr/>
        </p:nvCxnSpPr>
        <p:spPr>
          <a:xfrm>
            <a:off x="4180700" y="2131550"/>
            <a:ext cx="4942800" cy="200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g3a01a02a114_3_68"/>
          <p:cNvSpPr txBox="1"/>
          <p:nvPr/>
        </p:nvSpPr>
        <p:spPr>
          <a:xfrm>
            <a:off x="3418725" y="1781400"/>
            <a:ext cx="6384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89eace54f_5_30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Vote1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55" name="Google Shape;355;g3989eace54f_5_30"/>
          <p:cNvCxnSpPr/>
          <p:nvPr/>
        </p:nvCxnSpPr>
        <p:spPr>
          <a:xfrm flipH="1" rot="10800000">
            <a:off x="3377525" y="2172625"/>
            <a:ext cx="370800" cy="192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g3989eace54f_5_30"/>
          <p:cNvCxnSpPr/>
          <p:nvPr/>
        </p:nvCxnSpPr>
        <p:spPr>
          <a:xfrm rot="10800000">
            <a:off x="4098450" y="2162525"/>
            <a:ext cx="1760700" cy="1946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g3989eace54f_5_30"/>
          <p:cNvCxnSpPr/>
          <p:nvPr/>
        </p:nvCxnSpPr>
        <p:spPr>
          <a:xfrm rot="10800000">
            <a:off x="4211600" y="2018225"/>
            <a:ext cx="4922100" cy="2121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g3989eace54f_5_30"/>
          <p:cNvSpPr txBox="1"/>
          <p:nvPr/>
        </p:nvSpPr>
        <p:spPr>
          <a:xfrm>
            <a:off x="2543400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g3989eace54f_5_30"/>
          <p:cNvSpPr txBox="1"/>
          <p:nvPr/>
        </p:nvSpPr>
        <p:spPr>
          <a:xfrm>
            <a:off x="6042400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g3989eace54f_5_30"/>
          <p:cNvSpPr txBox="1"/>
          <p:nvPr/>
        </p:nvSpPr>
        <p:spPr>
          <a:xfrm>
            <a:off x="9005975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89eace54f_5_56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Prepare1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7" name="Google Shape;367;g3989eace54f_5_56"/>
          <p:cNvCxnSpPr/>
          <p:nvPr/>
        </p:nvCxnSpPr>
        <p:spPr>
          <a:xfrm flipH="1">
            <a:off x="3315725" y="2316900"/>
            <a:ext cx="442800" cy="1925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" name="Google Shape;368;g3989eace54f_5_56"/>
          <p:cNvSpPr txBox="1"/>
          <p:nvPr/>
        </p:nvSpPr>
        <p:spPr>
          <a:xfrm>
            <a:off x="3418725" y="1781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9" name="Google Shape;369;g3989eace54f_5_56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89eace54f_5_66"/>
          <p:cNvSpPr txBox="1"/>
          <p:nvPr/>
        </p:nvSpPr>
        <p:spPr>
          <a:xfrm>
            <a:off x="401625" y="1235675"/>
            <a:ext cx="25434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Speculate1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6" name="Google Shape;376;g3989eace54f_5_66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g3989eace54f_5_66"/>
          <p:cNvSpPr txBox="1"/>
          <p:nvPr/>
        </p:nvSpPr>
        <p:spPr>
          <a:xfrm>
            <a:off x="401625" y="217272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89eace54f_5_75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Propose2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4" name="Google Shape;384;g3989eace54f_5_75"/>
          <p:cNvCxnSpPr>
            <a:stCxn id="385" idx="2"/>
          </p:cNvCxnSpPr>
          <p:nvPr/>
        </p:nvCxnSpPr>
        <p:spPr>
          <a:xfrm>
            <a:off x="5231025" y="2316900"/>
            <a:ext cx="782700" cy="18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g3989eace54f_5_75"/>
          <p:cNvCxnSpPr>
            <a:stCxn id="385" idx="3"/>
          </p:cNvCxnSpPr>
          <p:nvPr/>
        </p:nvCxnSpPr>
        <p:spPr>
          <a:xfrm>
            <a:off x="5550225" y="2080050"/>
            <a:ext cx="3573300" cy="205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g3989eace54f_5_75"/>
          <p:cNvSpPr txBox="1"/>
          <p:nvPr/>
        </p:nvSpPr>
        <p:spPr>
          <a:xfrm>
            <a:off x="4911825" y="1843200"/>
            <a:ext cx="6384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g3989eace54f_5_75"/>
          <p:cNvSpPr txBox="1"/>
          <p:nvPr/>
        </p:nvSpPr>
        <p:spPr>
          <a:xfrm>
            <a:off x="401625" y="2131550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g3989eace54f_5_75"/>
          <p:cNvSpPr txBox="1"/>
          <p:nvPr/>
        </p:nvSpPr>
        <p:spPr>
          <a:xfrm>
            <a:off x="2780400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89" name="Google Shape;389;g3989eace54f_5_75"/>
          <p:cNvCxnSpPr/>
          <p:nvPr/>
        </p:nvCxnSpPr>
        <p:spPr>
          <a:xfrm flipH="1">
            <a:off x="3192200" y="2296300"/>
            <a:ext cx="1750500" cy="18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89eace54f_5_84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Vote2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96" name="Google Shape;396;g3989eace54f_5_84"/>
          <p:cNvCxnSpPr/>
          <p:nvPr/>
        </p:nvCxnSpPr>
        <p:spPr>
          <a:xfrm rot="10800000">
            <a:off x="5241450" y="2224325"/>
            <a:ext cx="617700" cy="1884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g3989eace54f_5_84"/>
          <p:cNvCxnSpPr/>
          <p:nvPr/>
        </p:nvCxnSpPr>
        <p:spPr>
          <a:xfrm rot="10800000">
            <a:off x="5478200" y="2152025"/>
            <a:ext cx="3655500" cy="198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g3989eace54f_5_84"/>
          <p:cNvSpPr txBox="1"/>
          <p:nvPr/>
        </p:nvSpPr>
        <p:spPr>
          <a:xfrm>
            <a:off x="2677275" y="4221900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9" name="Google Shape;399;g3989eace54f_5_84"/>
          <p:cNvSpPr txBox="1"/>
          <p:nvPr/>
        </p:nvSpPr>
        <p:spPr>
          <a:xfrm>
            <a:off x="6042400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0" name="Google Shape;400;g3989eace54f_5_84"/>
          <p:cNvSpPr txBox="1"/>
          <p:nvPr/>
        </p:nvSpPr>
        <p:spPr>
          <a:xfrm>
            <a:off x="9005975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g3989eace54f_5_84"/>
          <p:cNvSpPr txBox="1"/>
          <p:nvPr/>
        </p:nvSpPr>
        <p:spPr>
          <a:xfrm>
            <a:off x="401625" y="214692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89eace54f_5_95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Prepare2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08" name="Google Shape;408;g3989eace54f_5_95"/>
          <p:cNvCxnSpPr/>
          <p:nvPr/>
        </p:nvCxnSpPr>
        <p:spPr>
          <a:xfrm>
            <a:off x="5231025" y="2296300"/>
            <a:ext cx="690000" cy="187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g3989eace54f_5_95"/>
          <p:cNvSpPr txBox="1"/>
          <p:nvPr/>
        </p:nvSpPr>
        <p:spPr>
          <a:xfrm>
            <a:off x="4860350" y="1781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g3989eace54f_5_95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g3989eace54f_5_95"/>
          <p:cNvSpPr txBox="1"/>
          <p:nvPr/>
        </p:nvSpPr>
        <p:spPr>
          <a:xfrm>
            <a:off x="401625" y="212127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g3989eace54f_5_95"/>
          <p:cNvSpPr txBox="1"/>
          <p:nvPr/>
        </p:nvSpPr>
        <p:spPr>
          <a:xfrm>
            <a:off x="6351400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89eace54f_5_103"/>
          <p:cNvSpPr txBox="1"/>
          <p:nvPr/>
        </p:nvSpPr>
        <p:spPr>
          <a:xfrm>
            <a:off x="401625" y="1235675"/>
            <a:ext cx="25434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Speculate2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9" name="Google Shape;419;g3989eace54f_5_103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0" name="Google Shape;420;g3989eace54f_5_103"/>
          <p:cNvSpPr txBox="1"/>
          <p:nvPr/>
        </p:nvSpPr>
        <p:spPr>
          <a:xfrm>
            <a:off x="401625" y="212127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1" name="Google Shape;421;g3989eace54f_5_103"/>
          <p:cNvSpPr txBox="1"/>
          <p:nvPr/>
        </p:nvSpPr>
        <p:spPr>
          <a:xfrm>
            <a:off x="63699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89eace54f_5_116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Propose3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8" name="Google Shape;428;g3989eace54f_5_116"/>
          <p:cNvCxnSpPr>
            <a:stCxn id="429" idx="2"/>
          </p:cNvCxnSpPr>
          <p:nvPr/>
        </p:nvCxnSpPr>
        <p:spPr>
          <a:xfrm flipH="1">
            <a:off x="3408425" y="2316900"/>
            <a:ext cx="3336300" cy="1822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g3989eace54f_5_116"/>
          <p:cNvCxnSpPr>
            <a:stCxn id="429" idx="2"/>
          </p:cNvCxnSpPr>
          <p:nvPr/>
        </p:nvCxnSpPr>
        <p:spPr>
          <a:xfrm flipH="1">
            <a:off x="6703625" y="2316900"/>
            <a:ext cx="41100" cy="1946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g3989eace54f_5_116"/>
          <p:cNvSpPr txBox="1"/>
          <p:nvPr/>
        </p:nvSpPr>
        <p:spPr>
          <a:xfrm>
            <a:off x="401625" y="2131550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g3989eace54f_5_116"/>
          <p:cNvSpPr txBox="1"/>
          <p:nvPr/>
        </p:nvSpPr>
        <p:spPr>
          <a:xfrm>
            <a:off x="6250325" y="42633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3" name="Google Shape;433;g3989eace54f_5_116"/>
          <p:cNvCxnSpPr>
            <a:stCxn id="429" idx="2"/>
          </p:cNvCxnSpPr>
          <p:nvPr/>
        </p:nvCxnSpPr>
        <p:spPr>
          <a:xfrm>
            <a:off x="6744725" y="2316900"/>
            <a:ext cx="2543400" cy="1812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g3989eace54f_5_116"/>
          <p:cNvSpPr txBox="1"/>
          <p:nvPr/>
        </p:nvSpPr>
        <p:spPr>
          <a:xfrm>
            <a:off x="2747450" y="42633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g3989eace54f_5_116"/>
          <p:cNvSpPr txBox="1"/>
          <p:nvPr/>
        </p:nvSpPr>
        <p:spPr>
          <a:xfrm>
            <a:off x="442775" y="3449600"/>
            <a:ext cx="33363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P(3) will extend 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6" name="Google Shape;436;g3989eace54f_5_116"/>
          <p:cNvSpPr txBox="1"/>
          <p:nvPr/>
        </p:nvSpPr>
        <p:spPr>
          <a:xfrm>
            <a:off x="6065100" y="1647575"/>
            <a:ext cx="12768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B3,P(1)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89eace54f_5_126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Vote3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3" name="Google Shape;443;g3989eace54f_5_126"/>
          <p:cNvCxnSpPr/>
          <p:nvPr/>
        </p:nvCxnSpPr>
        <p:spPr>
          <a:xfrm flipH="1" rot="10800000">
            <a:off x="3542275" y="2255325"/>
            <a:ext cx="2924400" cy="180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g3989eace54f_5_126"/>
          <p:cNvCxnSpPr/>
          <p:nvPr/>
        </p:nvCxnSpPr>
        <p:spPr>
          <a:xfrm rot="10800000">
            <a:off x="6785900" y="2244725"/>
            <a:ext cx="2347800" cy="189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g3989eace54f_5_126"/>
          <p:cNvSpPr txBox="1"/>
          <p:nvPr/>
        </p:nvSpPr>
        <p:spPr>
          <a:xfrm>
            <a:off x="1977075" y="4139525"/>
            <a:ext cx="2440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   Share(3)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6" name="Google Shape;446;g3989eace54f_5_126"/>
          <p:cNvSpPr txBox="1"/>
          <p:nvPr/>
        </p:nvSpPr>
        <p:spPr>
          <a:xfrm>
            <a:off x="6042400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g3989eace54f_5_126"/>
          <p:cNvSpPr txBox="1"/>
          <p:nvPr/>
        </p:nvSpPr>
        <p:spPr>
          <a:xfrm>
            <a:off x="9005975" y="4139525"/>
            <a:ext cx="141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g3989eace54f_5_126"/>
          <p:cNvSpPr txBox="1"/>
          <p:nvPr/>
        </p:nvSpPr>
        <p:spPr>
          <a:xfrm>
            <a:off x="401625" y="214692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89eace54f_5_137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Prepare2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55" name="Google Shape;455;g3989eace54f_5_137"/>
          <p:cNvCxnSpPr>
            <a:stCxn id="456" idx="2"/>
          </p:cNvCxnSpPr>
          <p:nvPr/>
        </p:nvCxnSpPr>
        <p:spPr>
          <a:xfrm>
            <a:off x="6698475" y="2244825"/>
            <a:ext cx="2651400" cy="1822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g3989eace54f_5_137"/>
          <p:cNvSpPr txBox="1"/>
          <p:nvPr/>
        </p:nvSpPr>
        <p:spPr>
          <a:xfrm>
            <a:off x="6291675" y="17711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g3989eace54f_5_137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g3989eace54f_5_137"/>
          <p:cNvSpPr txBox="1"/>
          <p:nvPr/>
        </p:nvSpPr>
        <p:spPr>
          <a:xfrm>
            <a:off x="401625" y="212127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g3989eace54f_5_137"/>
          <p:cNvSpPr txBox="1"/>
          <p:nvPr/>
        </p:nvSpPr>
        <p:spPr>
          <a:xfrm>
            <a:off x="6351400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g3989eace54f_5_137"/>
          <p:cNvSpPr txBox="1"/>
          <p:nvPr/>
        </p:nvSpPr>
        <p:spPr>
          <a:xfrm>
            <a:off x="9296425" y="40673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89eace54f_5_147"/>
          <p:cNvSpPr txBox="1"/>
          <p:nvPr/>
        </p:nvSpPr>
        <p:spPr>
          <a:xfrm>
            <a:off x="401625" y="1235675"/>
            <a:ext cx="25434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Speculate3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7" name="Google Shape;467;g3989eace54f_5_147"/>
          <p:cNvSpPr txBox="1"/>
          <p:nvPr/>
        </p:nvSpPr>
        <p:spPr>
          <a:xfrm>
            <a:off x="27988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g3989eace54f_5_147"/>
          <p:cNvSpPr txBox="1"/>
          <p:nvPr/>
        </p:nvSpPr>
        <p:spPr>
          <a:xfrm>
            <a:off x="401625" y="2121275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8+1=9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B3: 1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g3989eace54f_5_147"/>
          <p:cNvSpPr txBox="1"/>
          <p:nvPr/>
        </p:nvSpPr>
        <p:spPr>
          <a:xfrm>
            <a:off x="63699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g3989eace54f_5_147"/>
          <p:cNvSpPr txBox="1"/>
          <p:nvPr/>
        </p:nvSpPr>
        <p:spPr>
          <a:xfrm>
            <a:off x="9296425" y="40673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g3989eace54f_5_147"/>
          <p:cNvSpPr/>
          <p:nvPr/>
        </p:nvSpPr>
        <p:spPr>
          <a:xfrm flipH="1">
            <a:off x="4108475" y="2358075"/>
            <a:ext cx="7795200" cy="1534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P(3) is new: Let’s speculate on it.</a:t>
            </a:r>
            <a:b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(Rule broken B1 not committed)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89eace54f_5_164"/>
          <p:cNvSpPr txBox="1"/>
          <p:nvPr/>
        </p:nvSpPr>
        <p:spPr>
          <a:xfrm>
            <a:off x="401625" y="1235675"/>
            <a:ext cx="25434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Propose4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8" name="Google Shape;478;g3989eace54f_5_164"/>
          <p:cNvSpPr txBox="1"/>
          <p:nvPr/>
        </p:nvSpPr>
        <p:spPr>
          <a:xfrm>
            <a:off x="2131425" y="4304400"/>
            <a:ext cx="17403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sng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9" name="Google Shape;479;g3989eace54f_5_164"/>
          <p:cNvSpPr txBox="1"/>
          <p:nvPr/>
        </p:nvSpPr>
        <p:spPr>
          <a:xfrm>
            <a:off x="401625" y="2121275"/>
            <a:ext cx="2397300" cy="2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8+1=9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B3: 1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g3989eace54f_5_164"/>
          <p:cNvSpPr txBox="1"/>
          <p:nvPr/>
        </p:nvSpPr>
        <p:spPr>
          <a:xfrm>
            <a:off x="63699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g3989eace54f_5_164"/>
          <p:cNvSpPr txBox="1"/>
          <p:nvPr/>
        </p:nvSpPr>
        <p:spPr>
          <a:xfrm>
            <a:off x="9296425" y="40673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P(3)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82" name="Google Shape;482;g3989eace54f_5_164"/>
          <p:cNvCxnSpPr/>
          <p:nvPr/>
        </p:nvCxnSpPr>
        <p:spPr>
          <a:xfrm flipH="1">
            <a:off x="3305325" y="2265400"/>
            <a:ext cx="4561800" cy="1853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" name="Google Shape;483;g3989eace54f_5_164"/>
          <p:cNvCxnSpPr/>
          <p:nvPr/>
        </p:nvCxnSpPr>
        <p:spPr>
          <a:xfrm flipH="1">
            <a:off x="6785975" y="2337475"/>
            <a:ext cx="1338600" cy="177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g3989eace54f_5_164"/>
          <p:cNvCxnSpPr/>
          <p:nvPr/>
        </p:nvCxnSpPr>
        <p:spPr>
          <a:xfrm>
            <a:off x="8474675" y="2265400"/>
            <a:ext cx="906300" cy="180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g3989eace54f_5_164"/>
          <p:cNvSpPr txBox="1"/>
          <p:nvPr/>
        </p:nvSpPr>
        <p:spPr>
          <a:xfrm>
            <a:off x="7618025" y="1616700"/>
            <a:ext cx="1626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B4,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6" name="Google Shape;486;g3989eace54f_5_164"/>
          <p:cNvSpPr txBox="1"/>
          <p:nvPr/>
        </p:nvSpPr>
        <p:spPr>
          <a:xfrm>
            <a:off x="2945025" y="2430175"/>
            <a:ext cx="33879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P(4) will extend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 rolled back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89eace54f_5_189"/>
          <p:cNvSpPr txBox="1"/>
          <p:nvPr/>
        </p:nvSpPr>
        <p:spPr>
          <a:xfrm>
            <a:off x="401625" y="1235675"/>
            <a:ext cx="2214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Propose3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g3989eace54f_5_189"/>
          <p:cNvSpPr txBox="1"/>
          <p:nvPr/>
        </p:nvSpPr>
        <p:spPr>
          <a:xfrm>
            <a:off x="6065100" y="1647575"/>
            <a:ext cx="12768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B3,P(1)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g3989eace54f_5_189"/>
          <p:cNvSpPr txBox="1"/>
          <p:nvPr/>
        </p:nvSpPr>
        <p:spPr>
          <a:xfrm>
            <a:off x="401625" y="2131550"/>
            <a:ext cx="2636100" cy="1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8+1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g3989eace54f_5_189"/>
          <p:cNvSpPr txBox="1"/>
          <p:nvPr/>
        </p:nvSpPr>
        <p:spPr>
          <a:xfrm>
            <a:off x="6250325" y="42633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96" name="Google Shape;496;g3989eace54f_5_189"/>
          <p:cNvCxnSpPr>
            <a:stCxn id="493" idx="2"/>
          </p:cNvCxnSpPr>
          <p:nvPr/>
        </p:nvCxnSpPr>
        <p:spPr>
          <a:xfrm>
            <a:off x="6703500" y="2121275"/>
            <a:ext cx="2595000" cy="205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g3989eace54f_5_189"/>
          <p:cNvSpPr txBox="1"/>
          <p:nvPr/>
        </p:nvSpPr>
        <p:spPr>
          <a:xfrm>
            <a:off x="2747450" y="42633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g3989eace54f_5_189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Gap Rule</a:t>
            </a:r>
            <a:endParaRPr/>
          </a:p>
        </p:txBody>
      </p:sp>
      <p:sp>
        <p:nvSpPr>
          <p:cNvPr id="499" name="Google Shape;499;g3989eace54f_5_189"/>
          <p:cNvSpPr/>
          <p:nvPr/>
        </p:nvSpPr>
        <p:spPr>
          <a:xfrm flipH="1">
            <a:off x="4108475" y="2358075"/>
            <a:ext cx="7795200" cy="15342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I’ve never seen P(1):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Let’s speculate on it!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0" name="Google Shape;500;g3989eace54f_5_189"/>
          <p:cNvSpPr txBox="1"/>
          <p:nvPr/>
        </p:nvSpPr>
        <p:spPr>
          <a:xfrm>
            <a:off x="9296425" y="40673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a09dfc2a5f_4_0"/>
          <p:cNvSpPr txBox="1"/>
          <p:nvPr/>
        </p:nvSpPr>
        <p:spPr>
          <a:xfrm>
            <a:off x="401625" y="1235675"/>
            <a:ext cx="25434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Propose4</a:t>
            </a:r>
            <a:endParaRPr sz="3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g3a09dfc2a5f_4_0"/>
          <p:cNvSpPr txBox="1"/>
          <p:nvPr/>
        </p:nvSpPr>
        <p:spPr>
          <a:xfrm>
            <a:off x="2131425" y="4304400"/>
            <a:ext cx="17403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sng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P(1)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8" name="Google Shape;508;g3a09dfc2a5f_4_0"/>
          <p:cNvSpPr txBox="1"/>
          <p:nvPr/>
        </p:nvSpPr>
        <p:spPr>
          <a:xfrm>
            <a:off x="401625" y="2121275"/>
            <a:ext cx="2397300" cy="2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Client received: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B1: 8+1=9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B2: 8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g3a09dfc2a5f_4_0"/>
          <p:cNvSpPr txBox="1"/>
          <p:nvPr/>
        </p:nvSpPr>
        <p:spPr>
          <a:xfrm>
            <a:off x="6369925" y="4304400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g3a09dfc2a5f_4_0"/>
          <p:cNvSpPr txBox="1"/>
          <p:nvPr/>
        </p:nvSpPr>
        <p:spPr>
          <a:xfrm>
            <a:off x="9296425" y="4067325"/>
            <a:ext cx="8136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11" name="Google Shape;511;g3a09dfc2a5f_4_0"/>
          <p:cNvCxnSpPr/>
          <p:nvPr/>
        </p:nvCxnSpPr>
        <p:spPr>
          <a:xfrm flipH="1">
            <a:off x="3305325" y="2265400"/>
            <a:ext cx="4561800" cy="1853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g3a09dfc2a5f_4_0"/>
          <p:cNvCxnSpPr/>
          <p:nvPr/>
        </p:nvCxnSpPr>
        <p:spPr>
          <a:xfrm flipH="1">
            <a:off x="6785975" y="2337475"/>
            <a:ext cx="1338600" cy="177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g3a09dfc2a5f_4_0"/>
          <p:cNvCxnSpPr/>
          <p:nvPr/>
        </p:nvCxnSpPr>
        <p:spPr>
          <a:xfrm>
            <a:off x="8474675" y="2265400"/>
            <a:ext cx="906300" cy="180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4" name="Google Shape;514;g3a09dfc2a5f_4_0"/>
          <p:cNvSpPr txBox="1"/>
          <p:nvPr/>
        </p:nvSpPr>
        <p:spPr>
          <a:xfrm>
            <a:off x="7618025" y="1616700"/>
            <a:ext cx="1626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B4,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5" name="Google Shape;515;g3a09dfc2a5f_4_0"/>
          <p:cNvSpPr txBox="1"/>
          <p:nvPr/>
        </p:nvSpPr>
        <p:spPr>
          <a:xfrm>
            <a:off x="2945025" y="2430175"/>
            <a:ext cx="33879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P(4) will extend P(2)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 rolled back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6" name="Google Shape;516;g3a09dfc2a5f_4_0"/>
          <p:cNvSpPr txBox="1"/>
          <p:nvPr>
            <p:ph type="title"/>
          </p:nvPr>
        </p:nvSpPr>
        <p:spPr>
          <a:xfrm>
            <a:off x="0" y="398606"/>
            <a:ext cx="59721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Gap Rule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89eace54f_1_0"/>
          <p:cNvSpPr txBox="1"/>
          <p:nvPr>
            <p:ph type="title"/>
          </p:nvPr>
        </p:nvSpPr>
        <p:spPr>
          <a:xfrm>
            <a:off x="415600" y="365192"/>
            <a:ext cx="11360700" cy="763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Streamlined Speculation</a:t>
            </a:r>
            <a:endParaRPr/>
          </a:p>
        </p:txBody>
      </p:sp>
      <p:sp>
        <p:nvSpPr>
          <p:cNvPr id="522" name="Google Shape;522;g3989eace54f_1_0"/>
          <p:cNvSpPr txBox="1"/>
          <p:nvPr>
            <p:ph idx="1" type="body"/>
          </p:nvPr>
        </p:nvSpPr>
        <p:spPr>
          <a:xfrm>
            <a:off x="415600" y="1432950"/>
            <a:ext cx="6571200" cy="374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Difference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Streamlined hotstuff-1 overlaps </a:t>
            </a:r>
            <a:r>
              <a:rPr b="1" lang="en-US"/>
              <a:t>second</a:t>
            </a:r>
            <a:r>
              <a:rPr b="1" lang="en-US"/>
              <a:t> phase </a:t>
            </a:r>
            <a:r>
              <a:rPr lang="en-US"/>
              <a:t>of view </a:t>
            </a:r>
            <a:r>
              <a:rPr b="1" lang="en-US"/>
              <a:t>v </a:t>
            </a:r>
            <a:r>
              <a:rPr lang="en-US"/>
              <a:t>with </a:t>
            </a:r>
            <a:r>
              <a:rPr b="1" lang="en-US"/>
              <a:t>first</a:t>
            </a:r>
            <a:r>
              <a:rPr b="1" lang="en-US"/>
              <a:t> phase </a:t>
            </a:r>
            <a:r>
              <a:rPr lang="en-US"/>
              <a:t>of view </a:t>
            </a:r>
            <a:r>
              <a:rPr lang="en-US"/>
              <a:t>v+1 </a:t>
            </a:r>
            <a:r>
              <a:rPr lang="en-US"/>
              <a:t>from basic hotstuff-1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Only need prefix commit rule</a:t>
            </a:r>
            <a:endParaRPr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E.g can only commit block B</a:t>
            </a:r>
            <a:r>
              <a:rPr baseline="-25000" lang="en-US" sz="2000"/>
              <a:t>w-1</a:t>
            </a:r>
            <a:r>
              <a:rPr lang="en-US" sz="2000"/>
              <a:t> in view w-1 if in current view w, P(w) extend P(w-1)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Follows prefix speculation rule and no gap rule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Potential to increase throughput by 2x!</a:t>
            </a:r>
            <a:endParaRPr sz="2000"/>
          </a:p>
        </p:txBody>
      </p:sp>
      <p:grpSp>
        <p:nvGrpSpPr>
          <p:cNvPr id="523" name="Google Shape;523;g3989eace54f_1_0"/>
          <p:cNvGrpSpPr/>
          <p:nvPr/>
        </p:nvGrpSpPr>
        <p:grpSpPr>
          <a:xfrm>
            <a:off x="7075699" y="875186"/>
            <a:ext cx="4700599" cy="2518039"/>
            <a:chOff x="7075699" y="875186"/>
            <a:chExt cx="4700599" cy="2518039"/>
          </a:xfrm>
        </p:grpSpPr>
        <p:pic>
          <p:nvPicPr>
            <p:cNvPr id="524" name="Google Shape;524;g3989eace54f_1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75699" y="929599"/>
              <a:ext cx="4700599" cy="246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g3989eace54f_1_0"/>
            <p:cNvSpPr txBox="1"/>
            <p:nvPr/>
          </p:nvSpPr>
          <p:spPr>
            <a:xfrm>
              <a:off x="9065800" y="875186"/>
              <a:ext cx="1394400" cy="14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FF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 sz="15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26" name="Google Shape;526;g3989eace54f_1_0"/>
          <p:cNvGrpSpPr/>
          <p:nvPr/>
        </p:nvGrpSpPr>
        <p:grpSpPr>
          <a:xfrm>
            <a:off x="7338250" y="3313950"/>
            <a:ext cx="4175501" cy="2493600"/>
            <a:chOff x="7338250" y="3313950"/>
            <a:chExt cx="4175501" cy="2493600"/>
          </a:xfrm>
        </p:grpSpPr>
        <p:pic>
          <p:nvPicPr>
            <p:cNvPr id="527" name="Google Shape;527;g3989eace54f_1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38250" y="3393225"/>
              <a:ext cx="4175501" cy="1942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g3989eace54f_1_0"/>
            <p:cNvSpPr txBox="1"/>
            <p:nvPr/>
          </p:nvSpPr>
          <p:spPr>
            <a:xfrm>
              <a:off x="7496825" y="3313950"/>
              <a:ext cx="2004600" cy="24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93C47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✔</a:t>
              </a:r>
              <a:endParaRPr sz="15000">
                <a:solidFill>
                  <a:srgbClr val="93C47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989eace54f_1_54"/>
          <p:cNvSpPr txBox="1"/>
          <p:nvPr>
            <p:ph type="title"/>
          </p:nvPr>
        </p:nvSpPr>
        <p:spPr>
          <a:xfrm>
            <a:off x="528783" y="474231"/>
            <a:ext cx="15147600" cy="101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Protocol-Propose Phase</a:t>
            </a:r>
            <a:endParaRPr/>
          </a:p>
        </p:txBody>
      </p:sp>
      <p:sp>
        <p:nvSpPr>
          <p:cNvPr id="534" name="Google Shape;534;g3989eace54f_1_54"/>
          <p:cNvSpPr txBox="1"/>
          <p:nvPr>
            <p:ph idx="1" type="body"/>
          </p:nvPr>
        </p:nvSpPr>
        <p:spPr>
          <a:xfrm>
            <a:off x="338600" y="1675425"/>
            <a:ext cx="6711600" cy="404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6096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When L</a:t>
            </a:r>
            <a:r>
              <a:rPr baseline="-25000" lang="en-US" sz="1800"/>
              <a:t>v</a:t>
            </a:r>
            <a:r>
              <a:rPr lang="en-US" sz="1800"/>
              <a:t> receives </a:t>
            </a:r>
            <a:r>
              <a:rPr lang="en-US" sz="1800"/>
              <a:t>n-f NewView messages and check if it can form a prepare certificate</a:t>
            </a:r>
            <a:endParaRPr sz="1800"/>
          </a:p>
          <a:p>
            <a:pPr indent="-419100" lvl="1" marL="12192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If can’t, keeps trying till it receives n NewView messages or get timeout </a:t>
            </a:r>
            <a:endParaRPr sz="1800"/>
          </a:p>
          <a:p>
            <a:pPr indent="-419100" lvl="0" marL="6096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Extend highest certificate seen to create new proposal m</a:t>
            </a:r>
            <a:endParaRPr sz="1800"/>
          </a:p>
          <a:p>
            <a:pPr indent="-419100" lvl="1" marL="12192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View V</a:t>
            </a:r>
            <a:endParaRPr sz="1800"/>
          </a:p>
          <a:p>
            <a:pPr indent="-419100" lvl="1" marL="12192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B</a:t>
            </a:r>
            <a:r>
              <a:rPr baseline="-25000" lang="en-US" sz="1800"/>
              <a:t>v</a:t>
            </a:r>
            <a:endParaRPr baseline="-25000" sz="1800"/>
          </a:p>
          <a:p>
            <a:pPr indent="-419100" lvl="1" marL="12192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P(Vlp)</a:t>
            </a:r>
            <a:endParaRPr sz="1800"/>
          </a:p>
          <a:p>
            <a:pPr indent="-227012" lvl="3" marL="1598612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Vlp is highest view for replica</a:t>
            </a:r>
            <a:endParaRPr sz="1800"/>
          </a:p>
          <a:p>
            <a:pPr indent="-419100" lvl="0" marL="609600" rtl="0" algn="l">
              <a:spcBef>
                <a:spcPts val="1000"/>
              </a:spcBef>
              <a:spcAft>
                <a:spcPts val="600"/>
              </a:spcAft>
              <a:buSzPts val="1800"/>
              <a:buChar char="●"/>
            </a:pPr>
            <a:r>
              <a:rPr lang="en-US" sz="1800"/>
              <a:t>Broadcast m to all replicas</a:t>
            </a:r>
            <a:endParaRPr sz="1800"/>
          </a:p>
        </p:txBody>
      </p:sp>
      <p:pic>
        <p:nvPicPr>
          <p:cNvPr id="535" name="Google Shape;535;g3989eace54f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0450" y="1675413"/>
            <a:ext cx="27051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89eace54f_1_104"/>
          <p:cNvSpPr txBox="1"/>
          <p:nvPr>
            <p:ph type="title"/>
          </p:nvPr>
        </p:nvSpPr>
        <p:spPr>
          <a:xfrm>
            <a:off x="440033" y="385506"/>
            <a:ext cx="15147600" cy="101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Execute and Ledge Update (Replicas)</a:t>
            </a:r>
            <a:endParaRPr/>
          </a:p>
        </p:txBody>
      </p:sp>
      <p:sp>
        <p:nvSpPr>
          <p:cNvPr id="541" name="Google Shape;541;g3989eace54f_1_104"/>
          <p:cNvSpPr txBox="1"/>
          <p:nvPr>
            <p:ph idx="1" type="body"/>
          </p:nvPr>
        </p:nvSpPr>
        <p:spPr>
          <a:xfrm>
            <a:off x="135775" y="1403400"/>
            <a:ext cx="11254500" cy="438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When replicas receive a Propose message </a:t>
            </a:r>
            <a:r>
              <a:rPr b="1" lang="en-US" sz="1800"/>
              <a:t>m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Commit Rule- </a:t>
            </a:r>
            <a:r>
              <a:rPr b="1" lang="en-US" sz="1800"/>
              <a:t>w</a:t>
            </a:r>
            <a:r>
              <a:rPr lang="en-US" sz="1800"/>
              <a:t> is any view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If P(w) extends P(w-1) then replica R executes all transactions up to B</a:t>
            </a:r>
            <a:r>
              <a:rPr baseline="-25000" lang="en-US"/>
              <a:t>w-1</a:t>
            </a:r>
            <a:endParaRPr baseline="-250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Adds blocks &lt; B</a:t>
            </a:r>
            <a:r>
              <a:rPr baseline="-25000" lang="en-US"/>
              <a:t>w-1</a:t>
            </a:r>
            <a:r>
              <a:rPr lang="en-US"/>
              <a:t> to global ledger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If meets </a:t>
            </a:r>
            <a:r>
              <a:rPr b="1" lang="en-US" sz="1800"/>
              <a:t>no gap</a:t>
            </a:r>
            <a:r>
              <a:rPr lang="en-US" sz="1800"/>
              <a:t> rule (w = v-1) and meets </a:t>
            </a:r>
            <a:r>
              <a:rPr b="1" lang="en-US" sz="1800"/>
              <a:t>Prefix Speculation</a:t>
            </a:r>
            <a:r>
              <a:rPr lang="en-US" sz="1800"/>
              <a:t> rule (block for P(v-2)) in global ledger)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speculatively execute B</a:t>
            </a:r>
            <a:r>
              <a:rPr baseline="-25000" lang="en-US"/>
              <a:t>v-1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Adds to local ledger B</a:t>
            </a:r>
            <a:r>
              <a:rPr baseline="-25000" lang="en-US"/>
              <a:t>v-1</a:t>
            </a:r>
            <a:endParaRPr baseline="-25000"/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Replica will make sure there’s no conflict with local ledger before adding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Sends reply to client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Check if P(w) in </a:t>
            </a:r>
            <a:r>
              <a:rPr b="1" lang="en-US" sz="1800"/>
              <a:t>m </a:t>
            </a:r>
            <a:r>
              <a:rPr lang="en-US" sz="1800"/>
              <a:t>is ≥ P(Vlp)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If it is, update highest certificate, and send NewView message with P(Vlp) and signature to L</a:t>
            </a:r>
            <a:r>
              <a:rPr baseline="-25000" lang="en-US"/>
              <a:t>v+1</a:t>
            </a:r>
            <a:endParaRPr baseline="-25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89eace54f_1_154"/>
          <p:cNvSpPr txBox="1"/>
          <p:nvPr>
            <p:ph type="title"/>
          </p:nvPr>
        </p:nvSpPr>
        <p:spPr>
          <a:xfrm>
            <a:off x="554133" y="499606"/>
            <a:ext cx="15147600" cy="101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Timeout for Replica</a:t>
            </a:r>
            <a:endParaRPr/>
          </a:p>
        </p:txBody>
      </p:sp>
      <p:sp>
        <p:nvSpPr>
          <p:cNvPr id="547" name="Google Shape;547;g3989eace54f_1_154"/>
          <p:cNvSpPr txBox="1"/>
          <p:nvPr>
            <p:ph idx="1" type="body"/>
          </p:nvPr>
        </p:nvSpPr>
        <p:spPr>
          <a:xfrm>
            <a:off x="554133" y="1517494"/>
            <a:ext cx="15147600" cy="607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6096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Timeout	</a:t>
            </a:r>
            <a:endParaRPr/>
          </a:p>
          <a:p>
            <a:pPr indent="-431800" lvl="1" marL="1219200" rtl="0" algn="l">
              <a:spcBef>
                <a:spcPts val="600"/>
              </a:spcBef>
              <a:spcAft>
                <a:spcPts val="0"/>
              </a:spcAft>
              <a:buSzPts val="2000"/>
              <a:buChar char="○"/>
            </a:pPr>
            <a:r>
              <a:rPr lang="en-US"/>
              <a:t>Creates NewView message with:</a:t>
            </a:r>
            <a:endParaRPr/>
          </a:p>
          <a:p>
            <a:pPr indent="-419100" lvl="2" marL="1828800" rtl="0" algn="l"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empty threshold signature + highest P(vlp)</a:t>
            </a:r>
            <a:endParaRPr/>
          </a:p>
          <a:p>
            <a:pPr indent="-431800" lvl="1" marL="1219200" rtl="0" algn="l">
              <a:spcBef>
                <a:spcPts val="600"/>
              </a:spcBef>
              <a:spcAft>
                <a:spcPts val="600"/>
              </a:spcAft>
              <a:buSzPts val="2000"/>
              <a:buChar char="○"/>
            </a:pPr>
            <a:r>
              <a:rPr lang="en-US"/>
              <a:t>Sends it to leader in v+1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989eace54f_1_358"/>
          <p:cNvSpPr txBox="1"/>
          <p:nvPr>
            <p:ph type="title"/>
          </p:nvPr>
        </p:nvSpPr>
        <p:spPr>
          <a:xfrm>
            <a:off x="345600" y="433674"/>
            <a:ext cx="11092800" cy="674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Example-Basic</a:t>
            </a:r>
            <a:endParaRPr/>
          </a:p>
        </p:txBody>
      </p:sp>
      <p:pic>
        <p:nvPicPr>
          <p:cNvPr id="554" name="Google Shape;554;g3989eace54f_1_3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575" y="1563122"/>
            <a:ext cx="7954538" cy="2044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g3989eace54f_1_358"/>
          <p:cNvGrpSpPr/>
          <p:nvPr/>
        </p:nvGrpSpPr>
        <p:grpSpPr>
          <a:xfrm>
            <a:off x="2140146" y="1939571"/>
            <a:ext cx="1831037" cy="1291668"/>
            <a:chOff x="1827525" y="2438125"/>
            <a:chExt cx="2066400" cy="1457700"/>
          </a:xfrm>
        </p:grpSpPr>
        <p:cxnSp>
          <p:nvCxnSpPr>
            <p:cNvPr id="556" name="Google Shape;556;g3989eace54f_1_358"/>
            <p:cNvCxnSpPr/>
            <p:nvPr/>
          </p:nvCxnSpPr>
          <p:spPr>
            <a:xfrm>
              <a:off x="1827525" y="24381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7" name="Google Shape;557;g3989eace54f_1_358"/>
            <p:cNvCxnSpPr/>
            <p:nvPr/>
          </p:nvCxnSpPr>
          <p:spPr>
            <a:xfrm>
              <a:off x="1827525" y="2438125"/>
              <a:ext cx="2066400" cy="6846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8" name="Google Shape;558;g3989eace54f_1_358"/>
            <p:cNvCxnSpPr/>
            <p:nvPr/>
          </p:nvCxnSpPr>
          <p:spPr>
            <a:xfrm>
              <a:off x="1827525" y="2438125"/>
              <a:ext cx="2066400" cy="11028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9" name="Google Shape;559;g3989eace54f_1_358"/>
            <p:cNvCxnSpPr/>
            <p:nvPr/>
          </p:nvCxnSpPr>
          <p:spPr>
            <a:xfrm>
              <a:off x="1916275" y="2488825"/>
              <a:ext cx="1926900" cy="14070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0" name="Google Shape;560;g3989eace54f_1_358"/>
          <p:cNvGrpSpPr/>
          <p:nvPr/>
        </p:nvGrpSpPr>
        <p:grpSpPr>
          <a:xfrm>
            <a:off x="3960417" y="1939571"/>
            <a:ext cx="1852835" cy="1236597"/>
            <a:chOff x="3881775" y="2438125"/>
            <a:chExt cx="2091000" cy="1395550"/>
          </a:xfrm>
        </p:grpSpPr>
        <p:cxnSp>
          <p:nvCxnSpPr>
            <p:cNvPr id="561" name="Google Shape;561;g3989eace54f_1_358"/>
            <p:cNvCxnSpPr/>
            <p:nvPr/>
          </p:nvCxnSpPr>
          <p:spPr>
            <a:xfrm>
              <a:off x="3893925" y="24381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2" name="Google Shape;562;g3989eace54f_1_358"/>
            <p:cNvCxnSpPr/>
            <p:nvPr/>
          </p:nvCxnSpPr>
          <p:spPr>
            <a:xfrm flipH="1" rot="10800000">
              <a:off x="3881775" y="2793025"/>
              <a:ext cx="2091000" cy="6726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3" name="Google Shape;563;g3989eace54f_1_358"/>
            <p:cNvCxnSpPr/>
            <p:nvPr/>
          </p:nvCxnSpPr>
          <p:spPr>
            <a:xfrm flipH="1" rot="10800000">
              <a:off x="3893925" y="2881775"/>
              <a:ext cx="2015400" cy="9519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4" name="Google Shape;564;g3989eace54f_1_358"/>
          <p:cNvGrpSpPr/>
          <p:nvPr/>
        </p:nvGrpSpPr>
        <p:grpSpPr>
          <a:xfrm>
            <a:off x="5757029" y="1939571"/>
            <a:ext cx="1932052" cy="1269294"/>
            <a:chOff x="5909325" y="2438125"/>
            <a:chExt cx="2180400" cy="1432450"/>
          </a:xfrm>
        </p:grpSpPr>
        <p:cxnSp>
          <p:nvCxnSpPr>
            <p:cNvPr id="565" name="Google Shape;565;g3989eace54f_1_358"/>
            <p:cNvCxnSpPr/>
            <p:nvPr/>
          </p:nvCxnSpPr>
          <p:spPr>
            <a:xfrm flipH="1" rot="10800000">
              <a:off x="5960325" y="2438125"/>
              <a:ext cx="21168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6" name="Google Shape;566;g3989eace54f_1_358"/>
            <p:cNvCxnSpPr/>
            <p:nvPr/>
          </p:nvCxnSpPr>
          <p:spPr>
            <a:xfrm>
              <a:off x="6011375" y="28374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7" name="Google Shape;567;g3989eace54f_1_358"/>
            <p:cNvCxnSpPr/>
            <p:nvPr/>
          </p:nvCxnSpPr>
          <p:spPr>
            <a:xfrm>
              <a:off x="5909325" y="2881775"/>
              <a:ext cx="2180400" cy="9888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68" name="Google Shape;568;g3989eace54f_1_358"/>
          <p:cNvGrpSpPr/>
          <p:nvPr/>
        </p:nvGrpSpPr>
        <p:grpSpPr>
          <a:xfrm>
            <a:off x="7689082" y="1939571"/>
            <a:ext cx="1583815" cy="1236597"/>
            <a:chOff x="8089725" y="2438125"/>
            <a:chExt cx="1787400" cy="1395550"/>
          </a:xfrm>
        </p:grpSpPr>
        <p:cxnSp>
          <p:nvCxnSpPr>
            <p:cNvPr id="569" name="Google Shape;569;g3989eace54f_1_358"/>
            <p:cNvCxnSpPr/>
            <p:nvPr/>
          </p:nvCxnSpPr>
          <p:spPr>
            <a:xfrm>
              <a:off x="8129125" y="2837425"/>
              <a:ext cx="1722600" cy="6783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0" name="Google Shape;570;g3989eace54f_1_358"/>
            <p:cNvCxnSpPr/>
            <p:nvPr/>
          </p:nvCxnSpPr>
          <p:spPr>
            <a:xfrm flipH="1" rot="10800000">
              <a:off x="8089725" y="3566375"/>
              <a:ext cx="1787400" cy="2673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1" name="Google Shape;571;g3989eace54f_1_358"/>
            <p:cNvCxnSpPr/>
            <p:nvPr/>
          </p:nvCxnSpPr>
          <p:spPr>
            <a:xfrm>
              <a:off x="8127825" y="2438125"/>
              <a:ext cx="1749300" cy="10140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72" name="Google Shape;572;g3989eace54f_1_358"/>
          <p:cNvGrpSpPr/>
          <p:nvPr/>
        </p:nvGrpSpPr>
        <p:grpSpPr>
          <a:xfrm>
            <a:off x="7694655" y="1700599"/>
            <a:ext cx="1572650" cy="1252990"/>
            <a:chOff x="8470025" y="1754600"/>
            <a:chExt cx="1774800" cy="1414050"/>
          </a:xfrm>
        </p:grpSpPr>
        <p:cxnSp>
          <p:nvCxnSpPr>
            <p:cNvPr id="573" name="Google Shape;573;g3989eace54f_1_358"/>
            <p:cNvCxnSpPr/>
            <p:nvPr/>
          </p:nvCxnSpPr>
          <p:spPr>
            <a:xfrm flipH="1" rot="10800000">
              <a:off x="8470025" y="1754600"/>
              <a:ext cx="1774800" cy="252600"/>
            </a:xfrm>
            <a:prstGeom prst="straightConnector1">
              <a:avLst/>
            </a:prstGeom>
            <a:noFill/>
            <a:ln cap="flat" cmpd="sng" w="25325">
              <a:solidFill>
                <a:srgbClr val="4A86E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4" name="Google Shape;574;g3989eace54f_1_358"/>
            <p:cNvCxnSpPr/>
            <p:nvPr/>
          </p:nvCxnSpPr>
          <p:spPr>
            <a:xfrm flipH="1" rot="10800000">
              <a:off x="8508125" y="1792575"/>
              <a:ext cx="1673100" cy="627600"/>
            </a:xfrm>
            <a:prstGeom prst="straightConnector1">
              <a:avLst/>
            </a:prstGeom>
            <a:noFill/>
            <a:ln cap="flat" cmpd="sng" w="25325">
              <a:solidFill>
                <a:srgbClr val="4A86E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5" name="Google Shape;575;g3989eace54f_1_358"/>
            <p:cNvCxnSpPr/>
            <p:nvPr/>
          </p:nvCxnSpPr>
          <p:spPr>
            <a:xfrm flipH="1" rot="10800000">
              <a:off x="8508125" y="1767350"/>
              <a:ext cx="1724100" cy="988800"/>
            </a:xfrm>
            <a:prstGeom prst="straightConnector1">
              <a:avLst/>
            </a:prstGeom>
            <a:noFill/>
            <a:ln cap="flat" cmpd="sng" w="25325">
              <a:solidFill>
                <a:srgbClr val="4A86E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6" name="Google Shape;576;g3989eace54f_1_358"/>
            <p:cNvCxnSpPr/>
            <p:nvPr/>
          </p:nvCxnSpPr>
          <p:spPr>
            <a:xfrm flipH="1" rot="10800000">
              <a:off x="8508125" y="1830650"/>
              <a:ext cx="1736700" cy="1338000"/>
            </a:xfrm>
            <a:prstGeom prst="straightConnector1">
              <a:avLst/>
            </a:prstGeom>
            <a:noFill/>
            <a:ln cap="flat" cmpd="sng" w="25325">
              <a:solidFill>
                <a:srgbClr val="4A86E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77" name="Google Shape;577;g3989eace54f_1_358"/>
          <p:cNvSpPr txBox="1"/>
          <p:nvPr/>
        </p:nvSpPr>
        <p:spPr>
          <a:xfrm>
            <a:off x="3651454" y="1152750"/>
            <a:ext cx="1067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sz="2126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8" name="Google Shape;578;g3989eace54f_1_358"/>
          <p:cNvSpPr txBox="1"/>
          <p:nvPr/>
        </p:nvSpPr>
        <p:spPr>
          <a:xfrm>
            <a:off x="6676275" y="1152750"/>
            <a:ext cx="651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sz="2126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9" name="Google Shape;579;g3989eace54f_1_358"/>
          <p:cNvSpPr txBox="1"/>
          <p:nvPr/>
        </p:nvSpPr>
        <p:spPr>
          <a:xfrm>
            <a:off x="3960507" y="1366746"/>
            <a:ext cx="573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126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-2</a:t>
            </a:r>
            <a:endParaRPr sz="2126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0" name="Google Shape;580;g3989eace54f_1_358"/>
          <p:cNvSpPr txBox="1"/>
          <p:nvPr/>
        </p:nvSpPr>
        <p:spPr>
          <a:xfrm>
            <a:off x="7689268" y="1411938"/>
            <a:ext cx="573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2126">
                <a:solidFill>
                  <a:srgbClr val="00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-1</a:t>
            </a:r>
            <a:endParaRPr sz="2126">
              <a:solidFill>
                <a:srgbClr val="00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1" name="Google Shape;581;g3989eace54f_1_358"/>
          <p:cNvSpPr txBox="1"/>
          <p:nvPr/>
        </p:nvSpPr>
        <p:spPr>
          <a:xfrm>
            <a:off x="776825" y="3908625"/>
            <a:ext cx="1638300" cy="15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 extends P(V-2)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2" name="Google Shape;582;g3989eace54f_1_358"/>
          <p:cNvSpPr txBox="1"/>
          <p:nvPr/>
        </p:nvSpPr>
        <p:spPr>
          <a:xfrm>
            <a:off x="5920575" y="3851475"/>
            <a:ext cx="21624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+1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83" name="Google Shape;583;g3989eace54f_1_358"/>
          <p:cNvGrpSpPr/>
          <p:nvPr/>
        </p:nvGrpSpPr>
        <p:grpSpPr>
          <a:xfrm>
            <a:off x="3960311" y="1700599"/>
            <a:ext cx="1572650" cy="1252990"/>
            <a:chOff x="8470025" y="1754600"/>
            <a:chExt cx="1774800" cy="1414050"/>
          </a:xfrm>
        </p:grpSpPr>
        <p:cxnSp>
          <p:nvCxnSpPr>
            <p:cNvPr id="584" name="Google Shape;584;g3989eace54f_1_358"/>
            <p:cNvCxnSpPr/>
            <p:nvPr/>
          </p:nvCxnSpPr>
          <p:spPr>
            <a:xfrm flipH="1" rot="10800000">
              <a:off x="8470025" y="1754600"/>
              <a:ext cx="1774800" cy="2526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5" name="Google Shape;585;g3989eace54f_1_358"/>
            <p:cNvCxnSpPr/>
            <p:nvPr/>
          </p:nvCxnSpPr>
          <p:spPr>
            <a:xfrm flipH="1" rot="10800000">
              <a:off x="8508125" y="1792575"/>
              <a:ext cx="1673100" cy="6276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6" name="Google Shape;586;g3989eace54f_1_358"/>
            <p:cNvCxnSpPr/>
            <p:nvPr/>
          </p:nvCxnSpPr>
          <p:spPr>
            <a:xfrm flipH="1" rot="10800000">
              <a:off x="8508125" y="1767350"/>
              <a:ext cx="1724100" cy="9888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7" name="Google Shape;587;g3989eace54f_1_358"/>
            <p:cNvCxnSpPr/>
            <p:nvPr/>
          </p:nvCxnSpPr>
          <p:spPr>
            <a:xfrm flipH="1" rot="10800000">
              <a:off x="8508125" y="1830650"/>
              <a:ext cx="1736700" cy="13380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88" name="Google Shape;588;g3989eace54f_1_358"/>
          <p:cNvSpPr txBox="1"/>
          <p:nvPr/>
        </p:nvSpPr>
        <p:spPr>
          <a:xfrm>
            <a:off x="2635450" y="3908625"/>
            <a:ext cx="27897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v-2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 exec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P(V-2) =&gt; P(V-1)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g3989eace54f_1_358"/>
          <p:cNvSpPr txBox="1"/>
          <p:nvPr/>
        </p:nvSpPr>
        <p:spPr>
          <a:xfrm>
            <a:off x="7694650" y="3908625"/>
            <a:ext cx="27897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 exec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 =&gt; P(V)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07a8bb1a9_5_21"/>
          <p:cNvSpPr txBox="1"/>
          <p:nvPr>
            <p:ph type="title"/>
          </p:nvPr>
        </p:nvSpPr>
        <p:spPr>
          <a:xfrm>
            <a:off x="345600" y="433674"/>
            <a:ext cx="11092800" cy="674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 Attack </a:t>
            </a:r>
            <a:endParaRPr/>
          </a:p>
        </p:txBody>
      </p:sp>
      <p:pic>
        <p:nvPicPr>
          <p:cNvPr id="596" name="Google Shape;596;g3a07a8bb1a9_5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575" y="1563122"/>
            <a:ext cx="7954538" cy="2044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7" name="Google Shape;597;g3a07a8bb1a9_5_21"/>
          <p:cNvGrpSpPr/>
          <p:nvPr/>
        </p:nvGrpSpPr>
        <p:grpSpPr>
          <a:xfrm>
            <a:off x="2140146" y="1939571"/>
            <a:ext cx="1831037" cy="1291668"/>
            <a:chOff x="1827525" y="2438125"/>
            <a:chExt cx="2066400" cy="1457700"/>
          </a:xfrm>
        </p:grpSpPr>
        <p:cxnSp>
          <p:nvCxnSpPr>
            <p:cNvPr id="598" name="Google Shape;598;g3a07a8bb1a9_5_21"/>
            <p:cNvCxnSpPr/>
            <p:nvPr/>
          </p:nvCxnSpPr>
          <p:spPr>
            <a:xfrm>
              <a:off x="1827525" y="24381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9" name="Google Shape;599;g3a07a8bb1a9_5_21"/>
            <p:cNvCxnSpPr/>
            <p:nvPr/>
          </p:nvCxnSpPr>
          <p:spPr>
            <a:xfrm>
              <a:off x="1827525" y="2438125"/>
              <a:ext cx="2066400" cy="6846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0" name="Google Shape;600;g3a07a8bb1a9_5_21"/>
            <p:cNvCxnSpPr/>
            <p:nvPr/>
          </p:nvCxnSpPr>
          <p:spPr>
            <a:xfrm>
              <a:off x="1827525" y="2438125"/>
              <a:ext cx="2066400" cy="11028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1" name="Google Shape;601;g3a07a8bb1a9_5_21"/>
            <p:cNvCxnSpPr/>
            <p:nvPr/>
          </p:nvCxnSpPr>
          <p:spPr>
            <a:xfrm>
              <a:off x="1916275" y="2488825"/>
              <a:ext cx="1926900" cy="14070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02" name="Google Shape;602;g3a07a8bb1a9_5_21"/>
          <p:cNvGrpSpPr/>
          <p:nvPr/>
        </p:nvGrpSpPr>
        <p:grpSpPr>
          <a:xfrm>
            <a:off x="3960417" y="1939571"/>
            <a:ext cx="1852835" cy="1236597"/>
            <a:chOff x="3881775" y="2438125"/>
            <a:chExt cx="2091000" cy="1395550"/>
          </a:xfrm>
        </p:grpSpPr>
        <p:cxnSp>
          <p:nvCxnSpPr>
            <p:cNvPr id="603" name="Google Shape;603;g3a07a8bb1a9_5_21"/>
            <p:cNvCxnSpPr/>
            <p:nvPr/>
          </p:nvCxnSpPr>
          <p:spPr>
            <a:xfrm>
              <a:off x="3893925" y="24381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4" name="Google Shape;604;g3a07a8bb1a9_5_21"/>
            <p:cNvCxnSpPr/>
            <p:nvPr/>
          </p:nvCxnSpPr>
          <p:spPr>
            <a:xfrm flipH="1" rot="10800000">
              <a:off x="3881775" y="2793025"/>
              <a:ext cx="2091000" cy="6726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5" name="Google Shape;605;g3a07a8bb1a9_5_21"/>
            <p:cNvCxnSpPr/>
            <p:nvPr/>
          </p:nvCxnSpPr>
          <p:spPr>
            <a:xfrm flipH="1" rot="10800000">
              <a:off x="3893925" y="2881775"/>
              <a:ext cx="2015400" cy="9519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06" name="Google Shape;606;g3a07a8bb1a9_5_21"/>
          <p:cNvGrpSpPr/>
          <p:nvPr/>
        </p:nvGrpSpPr>
        <p:grpSpPr>
          <a:xfrm>
            <a:off x="5757029" y="1939571"/>
            <a:ext cx="1932052" cy="1269294"/>
            <a:chOff x="5909325" y="2438125"/>
            <a:chExt cx="2180400" cy="1432450"/>
          </a:xfrm>
        </p:grpSpPr>
        <p:cxnSp>
          <p:nvCxnSpPr>
            <p:cNvPr id="607" name="Google Shape;607;g3a07a8bb1a9_5_21"/>
            <p:cNvCxnSpPr/>
            <p:nvPr/>
          </p:nvCxnSpPr>
          <p:spPr>
            <a:xfrm flipH="1" rot="10800000">
              <a:off x="5960325" y="2438125"/>
              <a:ext cx="21168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8" name="Google Shape;608;g3a07a8bb1a9_5_21"/>
            <p:cNvCxnSpPr/>
            <p:nvPr/>
          </p:nvCxnSpPr>
          <p:spPr>
            <a:xfrm>
              <a:off x="6011375" y="2837425"/>
              <a:ext cx="2015700" cy="3042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9" name="Google Shape;609;g3a07a8bb1a9_5_21"/>
            <p:cNvCxnSpPr/>
            <p:nvPr/>
          </p:nvCxnSpPr>
          <p:spPr>
            <a:xfrm>
              <a:off x="5909325" y="2881775"/>
              <a:ext cx="2180400" cy="9888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10" name="Google Shape;610;g3a07a8bb1a9_5_21"/>
          <p:cNvGrpSpPr/>
          <p:nvPr/>
        </p:nvGrpSpPr>
        <p:grpSpPr>
          <a:xfrm>
            <a:off x="7689082" y="1939571"/>
            <a:ext cx="1583815" cy="1236597"/>
            <a:chOff x="8089725" y="2438125"/>
            <a:chExt cx="1787400" cy="1395550"/>
          </a:xfrm>
        </p:grpSpPr>
        <p:cxnSp>
          <p:nvCxnSpPr>
            <p:cNvPr id="611" name="Google Shape;611;g3a07a8bb1a9_5_21"/>
            <p:cNvCxnSpPr/>
            <p:nvPr/>
          </p:nvCxnSpPr>
          <p:spPr>
            <a:xfrm>
              <a:off x="8129125" y="2837425"/>
              <a:ext cx="1722600" cy="6783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2" name="Google Shape;612;g3a07a8bb1a9_5_21"/>
            <p:cNvCxnSpPr/>
            <p:nvPr/>
          </p:nvCxnSpPr>
          <p:spPr>
            <a:xfrm flipH="1" rot="10800000">
              <a:off x="8089725" y="3566375"/>
              <a:ext cx="1787400" cy="2673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13" name="Google Shape;613;g3a07a8bb1a9_5_21"/>
            <p:cNvCxnSpPr/>
            <p:nvPr/>
          </p:nvCxnSpPr>
          <p:spPr>
            <a:xfrm>
              <a:off x="8127825" y="2438125"/>
              <a:ext cx="1749300" cy="1014000"/>
            </a:xfrm>
            <a:prstGeom prst="straightConnector1">
              <a:avLst/>
            </a:prstGeom>
            <a:noFill/>
            <a:ln cap="flat" cmpd="sng" w="253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14" name="Google Shape;614;g3a07a8bb1a9_5_21"/>
          <p:cNvSpPr txBox="1"/>
          <p:nvPr/>
        </p:nvSpPr>
        <p:spPr>
          <a:xfrm>
            <a:off x="3651454" y="1152750"/>
            <a:ext cx="10671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sz="2126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g3a07a8bb1a9_5_21"/>
          <p:cNvSpPr txBox="1"/>
          <p:nvPr/>
        </p:nvSpPr>
        <p:spPr>
          <a:xfrm>
            <a:off x="6676275" y="1152750"/>
            <a:ext cx="651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sz="2126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g3a07a8bb1a9_5_21"/>
          <p:cNvSpPr txBox="1"/>
          <p:nvPr/>
        </p:nvSpPr>
        <p:spPr>
          <a:xfrm>
            <a:off x="3960507" y="1366746"/>
            <a:ext cx="5730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25" lIns="81025" spcFirstLastPara="1" rIns="81025" wrap="square" tIns="81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6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v-2</a:t>
            </a:r>
            <a:endParaRPr sz="2126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7" name="Google Shape;617;g3a07a8bb1a9_5_21"/>
          <p:cNvSpPr txBox="1"/>
          <p:nvPr/>
        </p:nvSpPr>
        <p:spPr>
          <a:xfrm>
            <a:off x="776825" y="3908625"/>
            <a:ext cx="1638300" cy="15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 extends P(V-2)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8" name="Google Shape;618;g3a07a8bb1a9_5_21"/>
          <p:cNvSpPr txBox="1"/>
          <p:nvPr/>
        </p:nvSpPr>
        <p:spPr>
          <a:xfrm>
            <a:off x="5920575" y="3851475"/>
            <a:ext cx="21624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P(V)!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19" name="Google Shape;619;g3a07a8bb1a9_5_21"/>
          <p:cNvGrpSpPr/>
          <p:nvPr/>
        </p:nvGrpSpPr>
        <p:grpSpPr>
          <a:xfrm>
            <a:off x="3960311" y="1700599"/>
            <a:ext cx="1572650" cy="1252990"/>
            <a:chOff x="8470025" y="1754600"/>
            <a:chExt cx="1774800" cy="1414050"/>
          </a:xfrm>
        </p:grpSpPr>
        <p:cxnSp>
          <p:nvCxnSpPr>
            <p:cNvPr id="620" name="Google Shape;620;g3a07a8bb1a9_5_21"/>
            <p:cNvCxnSpPr/>
            <p:nvPr/>
          </p:nvCxnSpPr>
          <p:spPr>
            <a:xfrm flipH="1" rot="10800000">
              <a:off x="8470025" y="1754600"/>
              <a:ext cx="1774800" cy="2526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1" name="Google Shape;621;g3a07a8bb1a9_5_21"/>
            <p:cNvCxnSpPr/>
            <p:nvPr/>
          </p:nvCxnSpPr>
          <p:spPr>
            <a:xfrm flipH="1" rot="10800000">
              <a:off x="8508125" y="1792575"/>
              <a:ext cx="1673100" cy="6276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2" name="Google Shape;622;g3a07a8bb1a9_5_21"/>
            <p:cNvCxnSpPr/>
            <p:nvPr/>
          </p:nvCxnSpPr>
          <p:spPr>
            <a:xfrm flipH="1" rot="10800000">
              <a:off x="8508125" y="1767350"/>
              <a:ext cx="1724100" cy="9888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3" name="Google Shape;623;g3a07a8bb1a9_5_21"/>
            <p:cNvCxnSpPr/>
            <p:nvPr/>
          </p:nvCxnSpPr>
          <p:spPr>
            <a:xfrm flipH="1" rot="10800000">
              <a:off x="8508125" y="1830650"/>
              <a:ext cx="1736700" cy="1338000"/>
            </a:xfrm>
            <a:prstGeom prst="straightConnector1">
              <a:avLst/>
            </a:prstGeom>
            <a:noFill/>
            <a:ln cap="flat" cmpd="sng" w="253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24" name="Google Shape;624;g3a07a8bb1a9_5_21"/>
          <p:cNvSpPr txBox="1"/>
          <p:nvPr/>
        </p:nvSpPr>
        <p:spPr>
          <a:xfrm>
            <a:off x="2635450" y="3908625"/>
            <a:ext cx="27897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Commit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v-2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 exec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P(V-2) =&gt; P(V-1)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5" name="Google Shape;625;g3a07a8bb1a9_5_21"/>
          <p:cNvSpPr txBox="1"/>
          <p:nvPr/>
        </p:nvSpPr>
        <p:spPr>
          <a:xfrm>
            <a:off x="8329650" y="3908625"/>
            <a:ext cx="2789700" cy="20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Vote on B</a:t>
            </a:r>
            <a:r>
              <a:rPr baseline="-25000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baseline="-25000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98dce9893b_0_1028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Cost of Streamlining</a:t>
            </a:r>
            <a:endParaRPr/>
          </a:p>
        </p:txBody>
      </p:sp>
      <p:sp>
        <p:nvSpPr>
          <p:cNvPr id="631" name="Google Shape;631;g398dce9893b_0_1028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New problems in streamlined (HotStuff) model: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</a:t>
            </a:r>
            <a:r>
              <a:rPr b="1" baseline="-25000" lang="en-US"/>
              <a:t>5</a:t>
            </a:r>
            <a:r>
              <a:rPr lang="en-US"/>
              <a:t> Higher Latency than stable-leader (which can speculatively execute)</a:t>
            </a:r>
            <a:endParaRPr/>
          </a:p>
        </p:txBody>
      </p:sp>
      <p:sp>
        <p:nvSpPr>
          <p:cNvPr id="632" name="Google Shape;632;g398dce9893b_0_1028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98dce9893b_0_1034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Cost of Streamlining</a:t>
            </a:r>
            <a:endParaRPr/>
          </a:p>
        </p:txBody>
      </p:sp>
      <p:sp>
        <p:nvSpPr>
          <p:cNvPr id="638" name="Google Shape;638;g398dce9893b_0_1034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New problems in streamlined (HotStuff) model: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5</a:t>
            </a:r>
            <a:r>
              <a:rPr lang="en-US" strike="sngStrike"/>
              <a:t> Higher Latency than stable-leader (which can speculatively execute)</a:t>
            </a:r>
            <a:endParaRPr strike="sngStrike"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HotStuff-1 introduces speculative execution of its own, Fixing D</a:t>
            </a:r>
            <a:r>
              <a:rPr baseline="-25000" lang="en-US"/>
              <a:t>5</a:t>
            </a:r>
            <a:endParaRPr baseline="-25000"/>
          </a:p>
        </p:txBody>
      </p:sp>
      <p:sp>
        <p:nvSpPr>
          <p:cNvPr id="639" name="Google Shape;639;g398dce9893b_0_1034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98dce9893b_0_1040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Cost of Streamlining</a:t>
            </a:r>
            <a:endParaRPr/>
          </a:p>
        </p:txBody>
      </p:sp>
      <p:sp>
        <p:nvSpPr>
          <p:cNvPr id="645" name="Google Shape;645;g398dce9893b_0_1040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New problems in streamlined (HotStuff) model: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5</a:t>
            </a:r>
            <a:r>
              <a:rPr lang="en-US" strike="sngStrike"/>
              <a:t> Higher Latency than stable-leader (which can speculatively execute)</a:t>
            </a:r>
            <a:endParaRPr strike="sngStrike"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HotStuff-1 introduces speculative execution of its own, Fixing D</a:t>
            </a:r>
            <a:r>
              <a:rPr baseline="-25000" lang="en-US"/>
              <a:t>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</a:t>
            </a:r>
            <a:r>
              <a:rPr b="1" baseline="-25000" lang="en-US"/>
              <a:t>6</a:t>
            </a:r>
            <a:r>
              <a:rPr lang="en-US"/>
              <a:t> Intentional Leader Slowness (↑↑ latency)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</a:t>
            </a:r>
            <a:r>
              <a:rPr b="1" baseline="-25000" lang="en-US"/>
              <a:t>7</a:t>
            </a:r>
            <a:r>
              <a:rPr lang="en-US"/>
              <a:t> Tail Forking Attack (↑↑ latency, possible failure to commit)</a:t>
            </a:r>
            <a:endParaRPr/>
          </a:p>
        </p:txBody>
      </p:sp>
      <p:sp>
        <p:nvSpPr>
          <p:cNvPr id="646" name="Google Shape;646;g398dce9893b_0_1040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8dce9893b_0_1046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Slotting</a:t>
            </a:r>
            <a:endParaRPr/>
          </a:p>
        </p:txBody>
      </p:sp>
      <p:sp>
        <p:nvSpPr>
          <p:cNvPr id="652" name="Google Shape;652;g398dce9893b_0_1046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At a high level: Let each leader propose multiple Blocks 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98dce9893b_0_1046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98dce9893b_0_1052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Non-Slotting (Streamlined)</a:t>
            </a:r>
            <a:endParaRPr/>
          </a:p>
        </p:txBody>
      </p:sp>
      <p:sp>
        <p:nvSpPr>
          <p:cNvPr id="659" name="Google Shape;659;g398dce9893b_0_1052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98dce9893b_0_1052"/>
          <p:cNvSpPr/>
          <p:nvPr/>
        </p:nvSpPr>
        <p:spPr>
          <a:xfrm>
            <a:off x="8046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1" name="Google Shape;661;g398dce9893b_0_1052"/>
          <p:cNvSpPr/>
          <p:nvPr/>
        </p:nvSpPr>
        <p:spPr>
          <a:xfrm>
            <a:off x="9809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g398dce9893b_0_1052"/>
          <p:cNvSpPr/>
          <p:nvPr/>
        </p:nvSpPr>
        <p:spPr>
          <a:xfrm>
            <a:off x="9810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3" name="Google Shape;663;g398dce9893b_0_1052"/>
          <p:cNvSpPr txBox="1"/>
          <p:nvPr/>
        </p:nvSpPr>
        <p:spPr>
          <a:xfrm>
            <a:off x="804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4" name="Google Shape;664;g398dce9893b_0_1052"/>
          <p:cNvSpPr txBox="1"/>
          <p:nvPr/>
        </p:nvSpPr>
        <p:spPr>
          <a:xfrm>
            <a:off x="8046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5" name="Google Shape;665;g398dce9893b_0_1052"/>
          <p:cNvSpPr txBox="1"/>
          <p:nvPr/>
        </p:nvSpPr>
        <p:spPr>
          <a:xfrm rot="323738">
            <a:off x="31698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6" name="Google Shape;666;g398dce9893b_0_1052"/>
          <p:cNvSpPr txBox="1"/>
          <p:nvPr/>
        </p:nvSpPr>
        <p:spPr>
          <a:xfrm>
            <a:off x="8046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7" name="Google Shape;667;g398dce9893b_0_1052"/>
          <p:cNvCxnSpPr>
            <a:endCxn id="668" idx="1"/>
          </p:cNvCxnSpPr>
          <p:nvPr/>
        </p:nvCxnSpPr>
        <p:spPr>
          <a:xfrm flipH="1" rot="10800000">
            <a:off x="2828083" y="25426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9" name="Google Shape;669;g398dce9893b_0_1052"/>
          <p:cNvSpPr txBox="1"/>
          <p:nvPr/>
        </p:nvSpPr>
        <p:spPr>
          <a:xfrm rot="-1640124">
            <a:off x="45031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0" name="Google Shape;670;g398dce9893b_0_1052"/>
          <p:cNvSpPr/>
          <p:nvPr/>
        </p:nvSpPr>
        <p:spPr>
          <a:xfrm>
            <a:off x="28964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671" name="Google Shape;671;g398dce9893b_0_1052"/>
          <p:cNvSpPr/>
          <p:nvPr/>
        </p:nvSpPr>
        <p:spPr>
          <a:xfrm>
            <a:off x="72054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8" name="Google Shape;668;g398dce9893b_0_1052"/>
          <p:cNvSpPr/>
          <p:nvPr/>
        </p:nvSpPr>
        <p:spPr>
          <a:xfrm>
            <a:off x="73817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2" name="Google Shape;672;g398dce9893b_0_1052"/>
          <p:cNvSpPr/>
          <p:nvPr/>
        </p:nvSpPr>
        <p:spPr>
          <a:xfrm>
            <a:off x="73818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g398dce9893b_0_1052"/>
          <p:cNvSpPr txBox="1"/>
          <p:nvPr/>
        </p:nvSpPr>
        <p:spPr>
          <a:xfrm>
            <a:off x="7205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v+1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g398dce9893b_0_1052"/>
          <p:cNvSpPr txBox="1"/>
          <p:nvPr/>
        </p:nvSpPr>
        <p:spPr>
          <a:xfrm>
            <a:off x="72054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g398dce9893b_0_1052"/>
          <p:cNvSpPr txBox="1"/>
          <p:nvPr/>
        </p:nvSpPr>
        <p:spPr>
          <a:xfrm rot="323738">
            <a:off x="95706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g398dce9893b_0_1052"/>
          <p:cNvSpPr txBox="1"/>
          <p:nvPr/>
        </p:nvSpPr>
        <p:spPr>
          <a:xfrm>
            <a:off x="72054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g398dce9893b_0_1052"/>
          <p:cNvSpPr/>
          <p:nvPr/>
        </p:nvSpPr>
        <p:spPr>
          <a:xfrm>
            <a:off x="92972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678" name="Google Shape;678;g398dce9893b_0_1052"/>
          <p:cNvCxnSpPr/>
          <p:nvPr/>
        </p:nvCxnSpPr>
        <p:spPr>
          <a:xfrm flipH="1" rot="10800000">
            <a:off x="9330583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g398dce9893b_0_1052"/>
          <p:cNvSpPr txBox="1"/>
          <p:nvPr/>
        </p:nvSpPr>
        <p:spPr>
          <a:xfrm rot="-1640124">
            <a:off x="110055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0" name="Google Shape;680;g398dce9893b_0_1052"/>
          <p:cNvCxnSpPr/>
          <p:nvPr/>
        </p:nvCxnSpPr>
        <p:spPr>
          <a:xfrm flipH="1" rot="10800000">
            <a:off x="-3572617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1" name="Google Shape;681;g398dce9893b_0_1052"/>
          <p:cNvSpPr txBox="1"/>
          <p:nvPr/>
        </p:nvSpPr>
        <p:spPr>
          <a:xfrm rot="-1640155">
            <a:off x="-2162172" y="28856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98dce9893b_0_1079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Slotting (Streamlined)</a:t>
            </a:r>
            <a:endParaRPr/>
          </a:p>
        </p:txBody>
      </p:sp>
      <p:sp>
        <p:nvSpPr>
          <p:cNvPr id="687" name="Google Shape;687;g398dce9893b_0_1079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98dce9893b_0_1079"/>
          <p:cNvSpPr txBox="1"/>
          <p:nvPr/>
        </p:nvSpPr>
        <p:spPr>
          <a:xfrm rot="-611532">
            <a:off x="5009790" y="3420642"/>
            <a:ext cx="2443052" cy="63145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New-View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9" name="Google Shape;689;g398dce9893b_0_1079" title="Screenshot 2025-11-06 162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5" y="1171283"/>
            <a:ext cx="2218168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g398dce9893b_0_1079" title="Screenshot 2025-11-06 162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50" y="1171300"/>
            <a:ext cx="2262041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g398dce9893b_0_1079" title="Screenshot 2025-11-06 1629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5022" y="1171300"/>
            <a:ext cx="2218200" cy="213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g398dce9893b_0_1079" title="Screenshot 2025-11-06 1631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000" y="3726337"/>
            <a:ext cx="2218201" cy="2201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3" name="Google Shape;693;g398dce9893b_0_1079"/>
          <p:cNvCxnSpPr/>
          <p:nvPr/>
        </p:nvCxnSpPr>
        <p:spPr>
          <a:xfrm flipH="1" rot="10800000">
            <a:off x="13150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4" name="Google Shape;694;g398dce9893b_0_1079"/>
          <p:cNvSpPr txBox="1"/>
          <p:nvPr/>
        </p:nvSpPr>
        <p:spPr>
          <a:xfrm rot="-894976">
            <a:off x="2458899" y="1251392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g398dce9893b_0_1079"/>
          <p:cNvSpPr txBox="1"/>
          <p:nvPr/>
        </p:nvSpPr>
        <p:spPr>
          <a:xfrm rot="-894976">
            <a:off x="6058999" y="1086159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6" name="Google Shape;696;g398dce9893b_0_1079"/>
          <p:cNvCxnSpPr/>
          <p:nvPr/>
        </p:nvCxnSpPr>
        <p:spPr>
          <a:xfrm flipH="1" rot="10800000">
            <a:off x="8212667" y="1795433"/>
            <a:ext cx="1813200" cy="1134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g398dce9893b_0_1079"/>
          <p:cNvSpPr txBox="1"/>
          <p:nvPr/>
        </p:nvSpPr>
        <p:spPr>
          <a:xfrm rot="-1509163">
            <a:off x="8278281" y="1605695"/>
            <a:ext cx="1681989" cy="5415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BF-1v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g398dce9893b_0_1079"/>
          <p:cNvSpPr txBox="1"/>
          <p:nvPr/>
        </p:nvSpPr>
        <p:spPr>
          <a:xfrm>
            <a:off x="7241733" y="1712267"/>
            <a:ext cx="11712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4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99" name="Google Shape;699;g398dce9893b_0_1079"/>
          <p:cNvCxnSpPr/>
          <p:nvPr/>
        </p:nvCxnSpPr>
        <p:spPr>
          <a:xfrm flipH="1">
            <a:off x="1333267" y="2838833"/>
            <a:ext cx="8692500" cy="14535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g398dce9893b_0_1079"/>
          <p:cNvCxnSpPr/>
          <p:nvPr/>
        </p:nvCxnSpPr>
        <p:spPr>
          <a:xfrm flipH="1" rot="10800000">
            <a:off x="1315067" y="4352900"/>
            <a:ext cx="2613900" cy="1399500"/>
          </a:xfrm>
          <a:prstGeom prst="straightConnector1">
            <a:avLst/>
          </a:prstGeom>
          <a:noFill/>
          <a:ln cap="flat" cmpd="sng" w="24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1" name="Google Shape;701;g398dce9893b_0_1079"/>
          <p:cNvSpPr txBox="1"/>
          <p:nvPr/>
        </p:nvSpPr>
        <p:spPr>
          <a:xfrm rot="-1450385">
            <a:off x="2238591" y="4106906"/>
            <a:ext cx="1649106" cy="530779"/>
          </a:xfrm>
          <a:prstGeom prst="rect">
            <a:avLst/>
          </a:prstGeom>
          <a:noFill/>
          <a:ln>
            <a:noFill/>
          </a:ln>
        </p:spPr>
        <p:txBody>
          <a:bodyPr anchorCtr="0" anchor="t" bIns="119500" lIns="119500" spcFirstLastPara="1" rIns="119500" wrap="square" tIns="11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B1v+1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g398dce9893b_0_1079"/>
          <p:cNvSpPr txBox="1"/>
          <p:nvPr/>
        </p:nvSpPr>
        <p:spPr>
          <a:xfrm>
            <a:off x="4365900" y="4392633"/>
            <a:ext cx="11712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4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03" name="Google Shape;703;g398dce9893b_0_1079"/>
          <p:cNvCxnSpPr/>
          <p:nvPr/>
        </p:nvCxnSpPr>
        <p:spPr>
          <a:xfrm flipH="1" rot="10800000">
            <a:off x="49726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98dce9893b_0_1100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r>
              <a:rPr baseline="-25000" lang="en-US" sz="2300"/>
              <a:t>6</a:t>
            </a:r>
            <a:r>
              <a:rPr lang="en-US"/>
              <a:t> Intentional Slowness</a:t>
            </a:r>
            <a:endParaRPr/>
          </a:p>
        </p:txBody>
      </p:sp>
      <p:sp>
        <p:nvSpPr>
          <p:cNvPr id="709" name="Google Shape;709;g398dce9893b_0_1100"/>
          <p:cNvSpPr txBox="1"/>
          <p:nvPr>
            <p:ph idx="1" type="body"/>
          </p:nvPr>
        </p:nvSpPr>
        <p:spPr>
          <a:xfrm>
            <a:off x="4841961" y="2991372"/>
            <a:ext cx="90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710" name="Google Shape;710;g398dce9893b_0_1100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1" name="Google Shape;711;g398dce9893b_0_1100"/>
          <p:cNvCxnSpPr>
            <a:stCxn id="712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12" name="Google Shape;712;g398dce9893b_0_1100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713" name="Google Shape;713;g398dce9893b_0_1100"/>
          <p:cNvSpPr/>
          <p:nvPr/>
        </p:nvSpPr>
        <p:spPr>
          <a:xfrm>
            <a:off x="721633" y="4127017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19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4" name="Google Shape;714;g398dce9893b_0_1100"/>
          <p:cNvSpPr txBox="1"/>
          <p:nvPr>
            <p:ph idx="1" type="body"/>
          </p:nvPr>
        </p:nvSpPr>
        <p:spPr>
          <a:xfrm>
            <a:off x="1094833" y="3628688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715" name="Google Shape;715;g398dce9893b_0_1100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716" name="Google Shape;716;g398dce9893b_0_1100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Deadline to submit B</a:t>
            </a:r>
            <a:r>
              <a:rPr baseline="-25000" lang="en-US" sz="2500">
                <a:solidFill>
                  <a:srgbClr val="000000"/>
                </a:solidFill>
              </a:rPr>
              <a:t>v</a:t>
            </a:r>
            <a:endParaRPr baseline="-25000" sz="3100"/>
          </a:p>
        </p:txBody>
      </p:sp>
      <p:cxnSp>
        <p:nvCxnSpPr>
          <p:cNvPr id="717" name="Google Shape;717;g398dce9893b_0_1100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g398dce9893b_0_1100"/>
          <p:cNvSpPr/>
          <p:nvPr/>
        </p:nvSpPr>
        <p:spPr>
          <a:xfrm>
            <a:off x="1674867" y="284136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9" name="Google Shape;719;g398dce9893b_0_1100"/>
          <p:cNvSpPr txBox="1"/>
          <p:nvPr/>
        </p:nvSpPr>
        <p:spPr>
          <a:xfrm>
            <a:off x="1127867" y="2409433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98dce9893b_0_1115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r>
              <a:rPr baseline="-25000" lang="en-US" sz="2300"/>
              <a:t>6</a:t>
            </a:r>
            <a:r>
              <a:rPr lang="en-US"/>
              <a:t> Intentional Slowness</a:t>
            </a:r>
            <a:endParaRPr/>
          </a:p>
        </p:txBody>
      </p:sp>
      <p:sp>
        <p:nvSpPr>
          <p:cNvPr id="725" name="Google Shape;725;g398dce9893b_0_1115"/>
          <p:cNvSpPr txBox="1"/>
          <p:nvPr>
            <p:ph idx="1" type="body"/>
          </p:nvPr>
        </p:nvSpPr>
        <p:spPr>
          <a:xfrm>
            <a:off x="4841956" y="2991375"/>
            <a:ext cx="2211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726" name="Google Shape;726;g398dce9893b_0_1115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7" name="Google Shape;727;g398dce9893b_0_1115"/>
          <p:cNvCxnSpPr>
            <a:stCxn id="728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28" name="Google Shape;728;g398dce9893b_0_1115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729" name="Google Shape;729;g398dce9893b_0_1115"/>
          <p:cNvSpPr/>
          <p:nvPr/>
        </p:nvSpPr>
        <p:spPr>
          <a:xfrm>
            <a:off x="1973400" y="4184600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last-1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0" name="Google Shape;730;g398dce9893b_0_1115"/>
          <p:cNvSpPr txBox="1"/>
          <p:nvPr>
            <p:ph idx="1" type="body"/>
          </p:nvPr>
        </p:nvSpPr>
        <p:spPr>
          <a:xfrm>
            <a:off x="2346600" y="36862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731" name="Google Shape;731;g398dce9893b_0_1115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732" name="Google Shape;732;g398dce9893b_0_1115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cxnSp>
        <p:nvCxnSpPr>
          <p:cNvPr id="733" name="Google Shape;733;g398dce9893b_0_1115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g398dce9893b_0_1115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Deadline to submit B</a:t>
            </a:r>
            <a:r>
              <a:rPr baseline="-25000" lang="en-US" sz="2500">
                <a:solidFill>
                  <a:srgbClr val="000000"/>
                </a:solidFill>
              </a:rPr>
              <a:t>v</a:t>
            </a:r>
            <a:endParaRPr baseline="-25000" sz="3100"/>
          </a:p>
        </p:txBody>
      </p:sp>
      <p:cxnSp>
        <p:nvCxnSpPr>
          <p:cNvPr id="735" name="Google Shape;735;g398dce9893b_0_1115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6" name="Google Shape;736;g398dce9893b_0_1115"/>
          <p:cNvSpPr/>
          <p:nvPr/>
        </p:nvSpPr>
        <p:spPr>
          <a:xfrm>
            <a:off x="2797533" y="2857600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7" name="Google Shape;737;g398dce9893b_0_1115"/>
          <p:cNvSpPr txBox="1"/>
          <p:nvPr/>
        </p:nvSpPr>
        <p:spPr>
          <a:xfrm>
            <a:off x="2250533" y="2425667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98dce9893b_0_1132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r>
              <a:rPr baseline="-25000" lang="en-US" sz="2300"/>
              <a:t>6</a:t>
            </a:r>
            <a:r>
              <a:rPr lang="en-US"/>
              <a:t> Intentional Slowness</a:t>
            </a:r>
            <a:endParaRPr/>
          </a:p>
        </p:txBody>
      </p:sp>
      <p:sp>
        <p:nvSpPr>
          <p:cNvPr id="743" name="Google Shape;743;g398dce9893b_0_1132"/>
          <p:cNvSpPr txBox="1"/>
          <p:nvPr>
            <p:ph idx="1" type="body"/>
          </p:nvPr>
        </p:nvSpPr>
        <p:spPr>
          <a:xfrm>
            <a:off x="4841967" y="29913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744" name="Google Shape;744;g398dce9893b_0_1132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5" name="Google Shape;745;g398dce9893b_0_1132"/>
          <p:cNvCxnSpPr>
            <a:stCxn id="746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46" name="Google Shape;746;g398dce9893b_0_1132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747" name="Google Shape;747;g398dce9893b_0_1132"/>
          <p:cNvSpPr/>
          <p:nvPr/>
        </p:nvSpPr>
        <p:spPr>
          <a:xfrm>
            <a:off x="3466167" y="4170400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8" name="Google Shape;748;g398dce9893b_0_1132"/>
          <p:cNvSpPr txBox="1"/>
          <p:nvPr>
            <p:ph idx="1" type="body"/>
          </p:nvPr>
        </p:nvSpPr>
        <p:spPr>
          <a:xfrm>
            <a:off x="3839367" y="36720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749" name="Google Shape;749;g398dce9893b_0_1132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750" name="Google Shape;750;g398dce9893b_0_1132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sp>
        <p:nvSpPr>
          <p:cNvPr id="751" name="Google Shape;751;g398dce9893b_0_1132"/>
          <p:cNvSpPr txBox="1"/>
          <p:nvPr>
            <p:ph idx="1" type="body"/>
          </p:nvPr>
        </p:nvSpPr>
        <p:spPr>
          <a:xfrm>
            <a:off x="3513700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</a:t>
            </a:r>
            <a:endParaRPr baseline="-25000" sz="3100"/>
          </a:p>
        </p:txBody>
      </p:sp>
      <p:cxnSp>
        <p:nvCxnSpPr>
          <p:cNvPr id="752" name="Google Shape;752;g398dce9893b_0_1132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g398dce9893b_0_1132"/>
          <p:cNvCxnSpPr/>
          <p:nvPr/>
        </p:nvCxnSpPr>
        <p:spPr>
          <a:xfrm>
            <a:off x="3875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4" name="Google Shape;754;g398dce9893b_0_1132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Deadline to submit B</a:t>
            </a:r>
            <a:r>
              <a:rPr baseline="-25000" lang="en-US" sz="2500">
                <a:solidFill>
                  <a:srgbClr val="000000"/>
                </a:solidFill>
              </a:rPr>
              <a:t>v</a:t>
            </a:r>
            <a:endParaRPr baseline="-25000" sz="3100"/>
          </a:p>
        </p:txBody>
      </p:sp>
      <p:cxnSp>
        <p:nvCxnSpPr>
          <p:cNvPr id="755" name="Google Shape;755;g398dce9893b_0_1132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6" name="Google Shape;756;g398dce9893b_0_1132"/>
          <p:cNvSpPr/>
          <p:nvPr/>
        </p:nvSpPr>
        <p:spPr>
          <a:xfrm>
            <a:off x="4603367" y="282916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7" name="Google Shape;757;g398dce9893b_0_1132"/>
          <p:cNvSpPr txBox="1"/>
          <p:nvPr/>
        </p:nvSpPr>
        <p:spPr>
          <a:xfrm>
            <a:off x="4056367" y="2397233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98dce9893b_0_1151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Default: Submit Here</a:t>
            </a:r>
            <a:endParaRPr/>
          </a:p>
        </p:txBody>
      </p:sp>
      <p:sp>
        <p:nvSpPr>
          <p:cNvPr id="763" name="Google Shape;763;g398dce9893b_0_1151"/>
          <p:cNvSpPr txBox="1"/>
          <p:nvPr>
            <p:ph idx="1" type="body"/>
          </p:nvPr>
        </p:nvSpPr>
        <p:spPr>
          <a:xfrm>
            <a:off x="4841967" y="29913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764" name="Google Shape;764;g398dce9893b_0_1151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5" name="Google Shape;765;g398dce9893b_0_1151"/>
          <p:cNvCxnSpPr>
            <a:stCxn id="766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66" name="Google Shape;766;g398dce9893b_0_1151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767" name="Google Shape;767;g398dce9893b_0_1151"/>
          <p:cNvSpPr/>
          <p:nvPr/>
        </p:nvSpPr>
        <p:spPr>
          <a:xfrm>
            <a:off x="3466167" y="4170400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</a:t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g398dce9893b_0_1151"/>
          <p:cNvSpPr txBox="1"/>
          <p:nvPr>
            <p:ph idx="1" type="body"/>
          </p:nvPr>
        </p:nvSpPr>
        <p:spPr>
          <a:xfrm>
            <a:off x="3839367" y="36720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769" name="Google Shape;769;g398dce9893b_0_1151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770" name="Google Shape;770;g398dce9893b_0_1151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sp>
        <p:nvSpPr>
          <p:cNvPr id="771" name="Google Shape;771;g398dce9893b_0_1151"/>
          <p:cNvSpPr txBox="1"/>
          <p:nvPr>
            <p:ph idx="1" type="body"/>
          </p:nvPr>
        </p:nvSpPr>
        <p:spPr>
          <a:xfrm>
            <a:off x="3513700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</a:t>
            </a:r>
            <a:endParaRPr baseline="-25000" sz="3100"/>
          </a:p>
        </p:txBody>
      </p:sp>
      <p:cxnSp>
        <p:nvCxnSpPr>
          <p:cNvPr id="772" name="Google Shape;772;g398dce9893b_0_1151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3" name="Google Shape;773;g398dce9893b_0_1151"/>
          <p:cNvCxnSpPr/>
          <p:nvPr/>
        </p:nvCxnSpPr>
        <p:spPr>
          <a:xfrm>
            <a:off x="3875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4" name="Google Shape;774;g398dce9893b_0_1151"/>
          <p:cNvSpPr txBox="1"/>
          <p:nvPr>
            <p:ph idx="1" type="body"/>
          </p:nvPr>
        </p:nvSpPr>
        <p:spPr>
          <a:xfrm>
            <a:off x="1031733" y="4620400"/>
            <a:ext cx="2079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Submit:</a:t>
            </a:r>
            <a:endParaRPr baseline="-25000" sz="3100"/>
          </a:p>
        </p:txBody>
      </p:sp>
      <p:sp>
        <p:nvSpPr>
          <p:cNvPr id="775" name="Google Shape;775;g398dce9893b_0_1151"/>
          <p:cNvSpPr/>
          <p:nvPr/>
        </p:nvSpPr>
        <p:spPr>
          <a:xfrm>
            <a:off x="4603367" y="282916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6" name="Google Shape;776;g398dce9893b_0_1151"/>
          <p:cNvSpPr txBox="1"/>
          <p:nvPr/>
        </p:nvSpPr>
        <p:spPr>
          <a:xfrm>
            <a:off x="4056367" y="2397233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g398dce9893b_0_1151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Deadline to submit B</a:t>
            </a:r>
            <a:r>
              <a:rPr baseline="-25000" lang="en-US" sz="2500">
                <a:solidFill>
                  <a:srgbClr val="000000"/>
                </a:solidFill>
              </a:rPr>
              <a:t>v</a:t>
            </a:r>
            <a:endParaRPr baseline="-25000" sz="3100"/>
          </a:p>
        </p:txBody>
      </p:sp>
      <p:cxnSp>
        <p:nvCxnSpPr>
          <p:cNvPr id="778" name="Google Shape;778;g398dce9893b_0_1151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98dce9893b_0_1171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1 - No New 𝜏</a:t>
            </a:r>
            <a:endParaRPr/>
          </a:p>
        </p:txBody>
      </p:sp>
      <p:sp>
        <p:nvSpPr>
          <p:cNvPr id="784" name="Google Shape;784;g398dce9893b_0_1171"/>
          <p:cNvSpPr txBox="1"/>
          <p:nvPr>
            <p:ph idx="1" type="body"/>
          </p:nvPr>
        </p:nvSpPr>
        <p:spPr>
          <a:xfrm>
            <a:off x="4841967" y="29913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785" name="Google Shape;785;g398dce9893b_0_1171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6" name="Google Shape;786;g398dce9893b_0_1171"/>
          <p:cNvCxnSpPr>
            <a:stCxn id="787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787" name="Google Shape;787;g398dce9893b_0_1171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788" name="Google Shape;788;g398dce9893b_0_1171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789" name="Google Shape;789;g398dce9893b_0_1171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sp>
        <p:nvSpPr>
          <p:cNvPr id="790" name="Google Shape;790;g398dce9893b_0_1171"/>
          <p:cNvSpPr txBox="1"/>
          <p:nvPr>
            <p:ph idx="1" type="body"/>
          </p:nvPr>
        </p:nvSpPr>
        <p:spPr>
          <a:xfrm>
            <a:off x="3513700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</a:t>
            </a:r>
            <a:endParaRPr baseline="-25000" sz="3100"/>
          </a:p>
        </p:txBody>
      </p:sp>
      <p:cxnSp>
        <p:nvCxnSpPr>
          <p:cNvPr id="791" name="Google Shape;791;g398dce9893b_0_1171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g398dce9893b_0_1171"/>
          <p:cNvCxnSpPr/>
          <p:nvPr/>
        </p:nvCxnSpPr>
        <p:spPr>
          <a:xfrm>
            <a:off x="3875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g398dce9893b_0_1171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Wait until the deadline</a:t>
            </a:r>
            <a:endParaRPr baseline="-25000" sz="3100"/>
          </a:p>
        </p:txBody>
      </p:sp>
      <p:cxnSp>
        <p:nvCxnSpPr>
          <p:cNvPr id="794" name="Google Shape;794;g398dce9893b_0_1171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5" name="Google Shape;795;g398dce9893b_0_1171"/>
          <p:cNvSpPr/>
          <p:nvPr/>
        </p:nvSpPr>
        <p:spPr>
          <a:xfrm>
            <a:off x="9668267" y="2930183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6" name="Google Shape;796;g398dce9893b_0_1171"/>
          <p:cNvSpPr txBox="1"/>
          <p:nvPr/>
        </p:nvSpPr>
        <p:spPr>
          <a:xfrm>
            <a:off x="9121267" y="2498250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7" name="Google Shape;797;g398dce9893b_0_1171"/>
          <p:cNvSpPr/>
          <p:nvPr/>
        </p:nvSpPr>
        <p:spPr>
          <a:xfrm>
            <a:off x="8439233" y="4127017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8" name="Google Shape;798;g398dce9893b_0_1171"/>
          <p:cNvSpPr txBox="1"/>
          <p:nvPr>
            <p:ph idx="1" type="body"/>
          </p:nvPr>
        </p:nvSpPr>
        <p:spPr>
          <a:xfrm>
            <a:off x="8812433" y="3628688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799" name="Google Shape;799;g398dce9893b_0_1171"/>
          <p:cNvSpPr txBox="1"/>
          <p:nvPr>
            <p:ph idx="1" type="body"/>
          </p:nvPr>
        </p:nvSpPr>
        <p:spPr>
          <a:xfrm>
            <a:off x="6004800" y="4577017"/>
            <a:ext cx="2079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Submit:</a:t>
            </a:r>
            <a:endParaRPr baseline="-25000" sz="3100"/>
          </a:p>
        </p:txBody>
      </p:sp>
      <p:sp>
        <p:nvSpPr>
          <p:cNvPr id="800" name="Google Shape;800;g398dce9893b_0_1171"/>
          <p:cNvSpPr txBox="1"/>
          <p:nvPr>
            <p:ph idx="1" type="body"/>
          </p:nvPr>
        </p:nvSpPr>
        <p:spPr>
          <a:xfrm>
            <a:off x="5204200" y="5030833"/>
            <a:ext cx="36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66666"/>
                </a:solidFill>
              </a:rPr>
              <a:t>(same as submitting immediately)</a:t>
            </a:r>
            <a:endParaRPr baseline="-25000" sz="2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98dce9893b_0_1192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Case 2 - New 𝜏</a:t>
            </a:r>
            <a:endParaRPr/>
          </a:p>
        </p:txBody>
      </p:sp>
      <p:sp>
        <p:nvSpPr>
          <p:cNvPr id="806" name="Google Shape;806;g398dce9893b_0_1192"/>
          <p:cNvSpPr txBox="1"/>
          <p:nvPr>
            <p:ph idx="1" type="body"/>
          </p:nvPr>
        </p:nvSpPr>
        <p:spPr>
          <a:xfrm>
            <a:off x="4841967" y="29913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807" name="Google Shape;807;g398dce9893b_0_1192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8" name="Google Shape;808;g398dce9893b_0_1192"/>
          <p:cNvCxnSpPr>
            <a:stCxn id="809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809" name="Google Shape;809;g398dce9893b_0_1192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810" name="Google Shape;810;g398dce9893b_0_1192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811" name="Google Shape;811;g398dce9893b_0_1192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sp>
        <p:nvSpPr>
          <p:cNvPr id="812" name="Google Shape;812;g398dce9893b_0_1192"/>
          <p:cNvSpPr txBox="1"/>
          <p:nvPr>
            <p:ph idx="1" type="body"/>
          </p:nvPr>
        </p:nvSpPr>
        <p:spPr>
          <a:xfrm>
            <a:off x="3513700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</a:t>
            </a:r>
            <a:endParaRPr baseline="-25000" sz="3100"/>
          </a:p>
        </p:txBody>
      </p:sp>
      <p:cxnSp>
        <p:nvCxnSpPr>
          <p:cNvPr id="813" name="Google Shape;813;g398dce9893b_0_1192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4" name="Google Shape;814;g398dce9893b_0_1192"/>
          <p:cNvCxnSpPr/>
          <p:nvPr/>
        </p:nvCxnSpPr>
        <p:spPr>
          <a:xfrm>
            <a:off x="3875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5" name="Google Shape;815;g398dce9893b_0_1192"/>
          <p:cNvSpPr txBox="1"/>
          <p:nvPr>
            <p:ph idx="1" type="body"/>
          </p:nvPr>
        </p:nvSpPr>
        <p:spPr>
          <a:xfrm>
            <a:off x="8864733" y="1062300"/>
            <a:ext cx="20799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Wait until the deadline</a:t>
            </a:r>
            <a:endParaRPr baseline="-25000" sz="3100"/>
          </a:p>
        </p:txBody>
      </p:sp>
      <p:cxnSp>
        <p:nvCxnSpPr>
          <p:cNvPr id="816" name="Google Shape;816;g398dce9893b_0_1192"/>
          <p:cNvCxnSpPr/>
          <p:nvPr/>
        </p:nvCxnSpPr>
        <p:spPr>
          <a:xfrm>
            <a:off x="9823467" y="19502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7" name="Google Shape;817;g398dce9893b_0_1192"/>
          <p:cNvSpPr/>
          <p:nvPr/>
        </p:nvSpPr>
        <p:spPr>
          <a:xfrm>
            <a:off x="9668267" y="2930183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8" name="Google Shape;818;g398dce9893b_0_1192"/>
          <p:cNvSpPr txBox="1"/>
          <p:nvPr/>
        </p:nvSpPr>
        <p:spPr>
          <a:xfrm>
            <a:off x="9121267" y="2498250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time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9" name="Google Shape;819;g398dce9893b_0_1192"/>
          <p:cNvSpPr txBox="1"/>
          <p:nvPr>
            <p:ph idx="1" type="body"/>
          </p:nvPr>
        </p:nvSpPr>
        <p:spPr>
          <a:xfrm>
            <a:off x="7238667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$$$</a:t>
            </a:r>
            <a:endParaRPr baseline="-25000" sz="3100"/>
          </a:p>
        </p:txBody>
      </p:sp>
      <p:cxnSp>
        <p:nvCxnSpPr>
          <p:cNvPr id="820" name="Google Shape;820;g398dce9893b_0_1192"/>
          <p:cNvCxnSpPr/>
          <p:nvPr/>
        </p:nvCxnSpPr>
        <p:spPr>
          <a:xfrm>
            <a:off x="7600500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1" name="Google Shape;821;g398dce9893b_0_1192"/>
          <p:cNvSpPr/>
          <p:nvPr/>
        </p:nvSpPr>
        <p:spPr>
          <a:xfrm>
            <a:off x="8439233" y="4127017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last-1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$$$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2" name="Google Shape;822;g398dce9893b_0_1192"/>
          <p:cNvSpPr txBox="1"/>
          <p:nvPr>
            <p:ph idx="1" type="body"/>
          </p:nvPr>
        </p:nvSpPr>
        <p:spPr>
          <a:xfrm>
            <a:off x="8812433" y="3628688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v</a:t>
            </a:r>
            <a:endParaRPr baseline="-25000"/>
          </a:p>
        </p:txBody>
      </p:sp>
      <p:sp>
        <p:nvSpPr>
          <p:cNvPr id="823" name="Google Shape;823;g398dce9893b_0_1192"/>
          <p:cNvSpPr txBox="1"/>
          <p:nvPr>
            <p:ph idx="1" type="body"/>
          </p:nvPr>
        </p:nvSpPr>
        <p:spPr>
          <a:xfrm>
            <a:off x="6004800" y="4577017"/>
            <a:ext cx="2079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Submit:</a:t>
            </a:r>
            <a:endParaRPr baseline="-25000" sz="3100"/>
          </a:p>
        </p:txBody>
      </p:sp>
      <p:sp>
        <p:nvSpPr>
          <p:cNvPr id="824" name="Google Shape;824;g398dce9893b_0_1192"/>
          <p:cNvSpPr txBox="1"/>
          <p:nvPr>
            <p:ph idx="1" type="body"/>
          </p:nvPr>
        </p:nvSpPr>
        <p:spPr>
          <a:xfrm>
            <a:off x="5204200" y="5030833"/>
            <a:ext cx="36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666666"/>
                </a:solidFill>
              </a:rPr>
              <a:t>(Much greater reward)</a:t>
            </a:r>
            <a:endParaRPr baseline="-25000" sz="2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98dce9893b_0_1215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</a:t>
            </a:r>
            <a:r>
              <a:rPr baseline="-25000" lang="en-US" sz="2300"/>
              <a:t>6</a:t>
            </a:r>
            <a:r>
              <a:rPr lang="en-US"/>
              <a:t> Intentional Slowness</a:t>
            </a:r>
            <a:endParaRPr/>
          </a:p>
        </p:txBody>
      </p:sp>
      <p:sp>
        <p:nvSpPr>
          <p:cNvPr id="830" name="Google Shape;830;g398dce9893b_0_1215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A primary only stands to benefit by waiting until the last possible second to propose</a:t>
            </a:r>
            <a:endParaRPr/>
          </a:p>
        </p:txBody>
      </p:sp>
      <p:sp>
        <p:nvSpPr>
          <p:cNvPr id="831" name="Google Shape;831;g398dce9893b_0_1215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98dce9893b_0_1221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Solving D</a:t>
            </a:r>
            <a:r>
              <a:rPr baseline="-25000" lang="en-US" sz="2300"/>
              <a:t>6</a:t>
            </a:r>
            <a:r>
              <a:rPr lang="en-US"/>
              <a:t> /w Slotting</a:t>
            </a:r>
            <a:endParaRPr/>
          </a:p>
        </p:txBody>
      </p:sp>
      <p:sp>
        <p:nvSpPr>
          <p:cNvPr id="837" name="Google Shape;837;g398dce9893b_0_1221"/>
          <p:cNvSpPr txBox="1"/>
          <p:nvPr>
            <p:ph idx="1" type="body"/>
          </p:nvPr>
        </p:nvSpPr>
        <p:spPr>
          <a:xfrm>
            <a:off x="4841967" y="29913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Time</a:t>
            </a:r>
            <a:endParaRPr/>
          </a:p>
        </p:txBody>
      </p:sp>
      <p:sp>
        <p:nvSpPr>
          <p:cNvPr id="838" name="Google Shape;838;g398dce9893b_0_1221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9" name="Google Shape;839;g398dce9893b_0_1221"/>
          <p:cNvCxnSpPr>
            <a:stCxn id="840" idx="3"/>
          </p:cNvCxnSpPr>
          <p:nvPr/>
        </p:nvCxnSpPr>
        <p:spPr>
          <a:xfrm>
            <a:off x="1031827" y="2970355"/>
            <a:ext cx="8906100" cy="525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840" name="Google Shape;840;g398dce9893b_0_1221"/>
          <p:cNvSpPr txBox="1"/>
          <p:nvPr>
            <p:ph idx="1" type="body"/>
          </p:nvPr>
        </p:nvSpPr>
        <p:spPr>
          <a:xfrm>
            <a:off x="218527" y="2730205"/>
            <a:ext cx="81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  <p:sp>
        <p:nvSpPr>
          <p:cNvPr id="841" name="Google Shape;841;g398dce9893b_0_1221"/>
          <p:cNvSpPr/>
          <p:nvPr/>
        </p:nvSpPr>
        <p:spPr>
          <a:xfrm>
            <a:off x="3615167" y="4351500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last-1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last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2" name="Google Shape;842;g398dce9893b_0_1221"/>
          <p:cNvSpPr txBox="1"/>
          <p:nvPr>
            <p:ph idx="1" type="body"/>
          </p:nvPr>
        </p:nvSpPr>
        <p:spPr>
          <a:xfrm>
            <a:off x="3988367" y="3853171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2,v</a:t>
            </a:r>
            <a:endParaRPr baseline="-25000"/>
          </a:p>
        </p:txBody>
      </p:sp>
      <p:sp>
        <p:nvSpPr>
          <p:cNvPr id="843" name="Google Shape;843;g398dce9893b_0_1221"/>
          <p:cNvSpPr txBox="1"/>
          <p:nvPr>
            <p:ph idx="1" type="body"/>
          </p:nvPr>
        </p:nvSpPr>
        <p:spPr>
          <a:xfrm>
            <a:off x="4558200" y="951900"/>
            <a:ext cx="1787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3200"/>
              <a:t>View v</a:t>
            </a:r>
            <a:endParaRPr b="1" sz="3200"/>
          </a:p>
        </p:txBody>
      </p:sp>
      <p:sp>
        <p:nvSpPr>
          <p:cNvPr id="844" name="Google Shape;844;g398dce9893b_0_1221"/>
          <p:cNvSpPr txBox="1"/>
          <p:nvPr>
            <p:ph idx="1" type="body"/>
          </p:nvPr>
        </p:nvSpPr>
        <p:spPr>
          <a:xfrm>
            <a:off x="1835067" y="1432300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last-1</a:t>
            </a:r>
            <a:endParaRPr baseline="-25000" sz="3100"/>
          </a:p>
        </p:txBody>
      </p:sp>
      <p:sp>
        <p:nvSpPr>
          <p:cNvPr id="845" name="Google Shape;845;g398dce9893b_0_1221"/>
          <p:cNvSpPr txBox="1"/>
          <p:nvPr>
            <p:ph idx="1" type="body"/>
          </p:nvPr>
        </p:nvSpPr>
        <p:spPr>
          <a:xfrm>
            <a:off x="3513700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last</a:t>
            </a:r>
            <a:endParaRPr baseline="-25000" sz="3100"/>
          </a:p>
        </p:txBody>
      </p:sp>
      <p:cxnSp>
        <p:nvCxnSpPr>
          <p:cNvPr id="846" name="Google Shape;846;g398dce9893b_0_1221"/>
          <p:cNvCxnSpPr/>
          <p:nvPr/>
        </p:nvCxnSpPr>
        <p:spPr>
          <a:xfrm>
            <a:off x="2250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" name="Google Shape;847;g398dce9893b_0_1221"/>
          <p:cNvCxnSpPr/>
          <p:nvPr/>
        </p:nvCxnSpPr>
        <p:spPr>
          <a:xfrm>
            <a:off x="3875533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" name="Google Shape;848;g398dce9893b_0_1221"/>
          <p:cNvSpPr txBox="1"/>
          <p:nvPr>
            <p:ph idx="1" type="body"/>
          </p:nvPr>
        </p:nvSpPr>
        <p:spPr>
          <a:xfrm>
            <a:off x="8762067" y="398667"/>
            <a:ext cx="25800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Submit as much as possible</a:t>
            </a:r>
            <a:endParaRPr baseline="-25000" sz="3100"/>
          </a:p>
        </p:txBody>
      </p:sp>
      <p:cxnSp>
        <p:nvCxnSpPr>
          <p:cNvPr id="849" name="Google Shape;849;g398dce9893b_0_1221"/>
          <p:cNvCxnSpPr/>
          <p:nvPr/>
        </p:nvCxnSpPr>
        <p:spPr>
          <a:xfrm>
            <a:off x="4513967" y="3165333"/>
            <a:ext cx="0" cy="637200"/>
          </a:xfrm>
          <a:prstGeom prst="straightConnector1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g398dce9893b_0_1221"/>
          <p:cNvSpPr/>
          <p:nvPr/>
        </p:nvSpPr>
        <p:spPr>
          <a:xfrm>
            <a:off x="4358750" y="283431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1" name="Google Shape;851;g398dce9893b_0_1221"/>
          <p:cNvSpPr txBox="1"/>
          <p:nvPr/>
        </p:nvSpPr>
        <p:spPr>
          <a:xfrm>
            <a:off x="3839000" y="2460117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</a:t>
            </a:r>
            <a:r>
              <a:rPr lang="en-US" sz="11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2,v </a:t>
            </a: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fills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2" name="Google Shape;852;g398dce9893b_0_1221"/>
          <p:cNvSpPr txBox="1"/>
          <p:nvPr>
            <p:ph idx="1" type="body"/>
          </p:nvPr>
        </p:nvSpPr>
        <p:spPr>
          <a:xfrm>
            <a:off x="7238667" y="1432283"/>
            <a:ext cx="14877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</a:rPr>
              <a:t>𝜏</a:t>
            </a:r>
            <a:r>
              <a:rPr baseline="-25000" lang="en-US" sz="2500">
                <a:solidFill>
                  <a:srgbClr val="000000"/>
                </a:solidFill>
              </a:rPr>
              <a:t>$$$</a:t>
            </a:r>
            <a:endParaRPr baseline="-25000" sz="3100"/>
          </a:p>
        </p:txBody>
      </p:sp>
      <p:cxnSp>
        <p:nvCxnSpPr>
          <p:cNvPr id="853" name="Google Shape;853;g398dce9893b_0_1221"/>
          <p:cNvCxnSpPr/>
          <p:nvPr/>
        </p:nvCxnSpPr>
        <p:spPr>
          <a:xfrm>
            <a:off x="7600500" y="2095900"/>
            <a:ext cx="0" cy="780000"/>
          </a:xfrm>
          <a:prstGeom prst="straightConnector1">
            <a:avLst/>
          </a:pr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g398dce9893b_0_1221"/>
          <p:cNvCxnSpPr/>
          <p:nvPr/>
        </p:nvCxnSpPr>
        <p:spPr>
          <a:xfrm>
            <a:off x="8917267" y="3165350"/>
            <a:ext cx="0" cy="637200"/>
          </a:xfrm>
          <a:prstGeom prst="straightConnector1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5" name="Google Shape;855;g398dce9893b_0_1221"/>
          <p:cNvSpPr/>
          <p:nvPr/>
        </p:nvSpPr>
        <p:spPr>
          <a:xfrm>
            <a:off x="8762050" y="283431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g398dce9893b_0_1221"/>
          <p:cNvSpPr txBox="1"/>
          <p:nvPr/>
        </p:nvSpPr>
        <p:spPr>
          <a:xfrm>
            <a:off x="8133467" y="2460133"/>
            <a:ext cx="1668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Close to timeout</a:t>
            </a:r>
            <a:endParaRPr sz="13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57" name="Google Shape;857;g398dce9893b_0_1221"/>
          <p:cNvCxnSpPr/>
          <p:nvPr/>
        </p:nvCxnSpPr>
        <p:spPr>
          <a:xfrm>
            <a:off x="1521100" y="3165333"/>
            <a:ext cx="0" cy="637200"/>
          </a:xfrm>
          <a:prstGeom prst="straightConnector1">
            <a:avLst/>
          </a:prstGeom>
          <a:noFill/>
          <a:ln cap="flat" cmpd="sng" w="25400">
            <a:solidFill>
              <a:srgbClr val="B45F0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8" name="Google Shape;858;g398dce9893b_0_1221"/>
          <p:cNvSpPr/>
          <p:nvPr/>
        </p:nvSpPr>
        <p:spPr>
          <a:xfrm>
            <a:off x="1365883" y="2834317"/>
            <a:ext cx="310500" cy="28050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9" name="Google Shape;859;g398dce9893b_0_1221"/>
          <p:cNvSpPr txBox="1"/>
          <p:nvPr/>
        </p:nvSpPr>
        <p:spPr>
          <a:xfrm>
            <a:off x="846133" y="2460117"/>
            <a:ext cx="140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</a:t>
            </a:r>
            <a:r>
              <a:rPr lang="en-US" sz="11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1,v </a:t>
            </a:r>
            <a:r>
              <a:rPr lang="en-US" sz="1600">
                <a:solidFill>
                  <a:srgbClr val="B45F0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fills</a:t>
            </a:r>
            <a:endParaRPr sz="1600">
              <a:solidFill>
                <a:srgbClr val="B45F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g398dce9893b_0_1221"/>
          <p:cNvSpPr/>
          <p:nvPr/>
        </p:nvSpPr>
        <p:spPr>
          <a:xfrm>
            <a:off x="389367" y="4351467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1" name="Google Shape;861;g398dce9893b_0_1221"/>
          <p:cNvSpPr txBox="1"/>
          <p:nvPr>
            <p:ph idx="1" type="body"/>
          </p:nvPr>
        </p:nvSpPr>
        <p:spPr>
          <a:xfrm>
            <a:off x="762567" y="3853138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1,v</a:t>
            </a:r>
            <a:endParaRPr baseline="-25000"/>
          </a:p>
        </p:txBody>
      </p:sp>
      <p:sp>
        <p:nvSpPr>
          <p:cNvPr id="862" name="Google Shape;862;g398dce9893b_0_1221"/>
          <p:cNvSpPr/>
          <p:nvPr/>
        </p:nvSpPr>
        <p:spPr>
          <a:xfrm>
            <a:off x="7751167" y="4351533"/>
            <a:ext cx="1934100" cy="1491900"/>
          </a:xfrm>
          <a:prstGeom prst="rect">
            <a:avLst/>
          </a:prstGeom>
          <a:solidFill>
            <a:srgbClr val="EFEFEF"/>
          </a:solidFill>
          <a:ln cap="flat" cmpd="sng" w="254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Helvetica Neue"/>
                <a:ea typeface="Helvetica Neue"/>
                <a:cs typeface="Helvetica Neue"/>
                <a:sym typeface="Helvetica Neue"/>
              </a:rPr>
              <a:t>𝜏</a:t>
            </a:r>
            <a:r>
              <a:rPr baseline="-25000" lang="en-US" sz="1900">
                <a:latin typeface="Helvetica Neue"/>
                <a:ea typeface="Helvetica Neue"/>
                <a:cs typeface="Helvetica Neue"/>
                <a:sym typeface="Helvetica Neue"/>
              </a:rPr>
              <a:t>$$$</a:t>
            </a:r>
            <a:endParaRPr baseline="-25000"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g398dce9893b_0_1221"/>
          <p:cNvSpPr txBox="1"/>
          <p:nvPr>
            <p:ph idx="1" type="body"/>
          </p:nvPr>
        </p:nvSpPr>
        <p:spPr>
          <a:xfrm>
            <a:off x="8124367" y="3853205"/>
            <a:ext cx="2211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3,v</a:t>
            </a:r>
            <a:endParaRPr baseline="-25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98dce9893b_0_1252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HotStuff-1</a:t>
            </a:r>
            <a:endParaRPr/>
          </a:p>
        </p:txBody>
      </p:sp>
      <p:sp>
        <p:nvSpPr>
          <p:cNvPr id="869" name="Google Shape;869;g398dce9893b_0_1252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New problems in streamlined (HotStuff) model: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5</a:t>
            </a:r>
            <a:r>
              <a:rPr lang="en-US" strike="sngStrike"/>
              <a:t> Higher Latency than stable-leader (which can speculatively execute)</a:t>
            </a:r>
            <a:endParaRPr strike="sngStrike"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Fixed with speculative execution in HotStuff-1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6</a:t>
            </a:r>
            <a:r>
              <a:rPr lang="en-US" strike="sngStrike"/>
              <a:t> Intentional Leader Slowness (↑↑ latency)</a:t>
            </a:r>
            <a:endParaRPr strike="sngStrike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Fixed with slotting in HotStuff-1</a:t>
            </a:r>
            <a:endParaRPr strike="sngStrike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D</a:t>
            </a:r>
            <a:r>
              <a:rPr b="1" baseline="-25000" lang="en-US"/>
              <a:t>7</a:t>
            </a:r>
            <a:r>
              <a:rPr lang="en-US"/>
              <a:t> Tail Forking Attack (↑↑ latency, possible failure to commit)</a:t>
            </a:r>
            <a:endParaRPr/>
          </a:p>
        </p:txBody>
      </p:sp>
      <p:sp>
        <p:nvSpPr>
          <p:cNvPr id="870" name="Google Shape;870;g398dce9893b_0_1252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98dce9893b_0_1258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876" name="Google Shape;876;g398dce9893b_0_1258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98dce9893b_0_1258"/>
          <p:cNvSpPr/>
          <p:nvPr/>
        </p:nvSpPr>
        <p:spPr>
          <a:xfrm>
            <a:off x="4259000" y="21877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8" name="Google Shape;878;g398dce9893b_0_1258"/>
          <p:cNvSpPr/>
          <p:nvPr/>
        </p:nvSpPr>
        <p:spPr>
          <a:xfrm>
            <a:off x="4435383" y="25642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g398dce9893b_0_1258"/>
          <p:cNvSpPr/>
          <p:nvPr/>
        </p:nvSpPr>
        <p:spPr>
          <a:xfrm>
            <a:off x="4435400" y="45249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g398dce9893b_0_1258"/>
          <p:cNvSpPr txBox="1"/>
          <p:nvPr/>
        </p:nvSpPr>
        <p:spPr>
          <a:xfrm>
            <a:off x="4258800" y="16253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1" name="Google Shape;881;g398dce9893b_0_1258"/>
          <p:cNvSpPr txBox="1"/>
          <p:nvPr/>
        </p:nvSpPr>
        <p:spPr>
          <a:xfrm>
            <a:off x="4259000" y="20571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2" name="Google Shape;882;g398dce9893b_0_1258"/>
          <p:cNvSpPr txBox="1"/>
          <p:nvPr/>
        </p:nvSpPr>
        <p:spPr>
          <a:xfrm rot="323738">
            <a:off x="6624274" y="32732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3" name="Google Shape;883;g398dce9893b_0_1258"/>
          <p:cNvSpPr txBox="1"/>
          <p:nvPr/>
        </p:nvSpPr>
        <p:spPr>
          <a:xfrm>
            <a:off x="4259000" y="40638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4" name="Google Shape;884;g398dce9893b_0_1258"/>
          <p:cNvCxnSpPr/>
          <p:nvPr/>
        </p:nvCxnSpPr>
        <p:spPr>
          <a:xfrm flipH="1" rot="10800000">
            <a:off x="6282583" y="3121117"/>
            <a:ext cx="6145500" cy="23391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5" name="Google Shape;885;g398dce9893b_0_1258"/>
          <p:cNvSpPr txBox="1"/>
          <p:nvPr/>
        </p:nvSpPr>
        <p:spPr>
          <a:xfrm rot="-1225177">
            <a:off x="8606573" y="3481309"/>
            <a:ext cx="2654395" cy="56134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6" name="Google Shape;886;g398dce9893b_0_1258"/>
          <p:cNvSpPr/>
          <p:nvPr/>
        </p:nvSpPr>
        <p:spPr>
          <a:xfrm>
            <a:off x="6350887" y="30632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887" name="Google Shape;887;g398dce9893b_0_1258"/>
          <p:cNvCxnSpPr/>
          <p:nvPr/>
        </p:nvCxnSpPr>
        <p:spPr>
          <a:xfrm flipH="1" rot="10800000">
            <a:off x="-118217" y="31523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8" name="Google Shape;888;g398dce9893b_0_1258"/>
          <p:cNvSpPr txBox="1"/>
          <p:nvPr/>
        </p:nvSpPr>
        <p:spPr>
          <a:xfrm rot="-1640155">
            <a:off x="1292228" y="34952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9" name="Google Shape;889;g398dce9893b_0_1258"/>
          <p:cNvSpPr txBox="1"/>
          <p:nvPr>
            <p:ph idx="1" type="body"/>
          </p:nvPr>
        </p:nvSpPr>
        <p:spPr>
          <a:xfrm>
            <a:off x="6449700" y="211400"/>
            <a:ext cx="5630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Every replica keeps a copy of the highest P(</a:t>
            </a:r>
            <a:r>
              <a:rPr i="1" lang="en-US"/>
              <a:t>v</a:t>
            </a:r>
            <a:r>
              <a:rPr baseline="-25000" i="1" lang="en-US"/>
              <a:t>lp</a:t>
            </a:r>
            <a:r>
              <a:rPr lang="en-US"/>
              <a:t>) it’s seen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98dce9893b_0_1276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895" name="Google Shape;895;g398dce9893b_0_1276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g398dce9893b_0_1276"/>
          <p:cNvSpPr/>
          <p:nvPr/>
        </p:nvSpPr>
        <p:spPr>
          <a:xfrm>
            <a:off x="4259000" y="21877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7" name="Google Shape;897;g398dce9893b_0_1276"/>
          <p:cNvSpPr/>
          <p:nvPr/>
        </p:nvSpPr>
        <p:spPr>
          <a:xfrm>
            <a:off x="4435383" y="25642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8" name="Google Shape;898;g398dce9893b_0_1276"/>
          <p:cNvSpPr/>
          <p:nvPr/>
        </p:nvSpPr>
        <p:spPr>
          <a:xfrm>
            <a:off x="4435400" y="45249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9" name="Google Shape;899;g398dce9893b_0_1276"/>
          <p:cNvSpPr txBox="1"/>
          <p:nvPr/>
        </p:nvSpPr>
        <p:spPr>
          <a:xfrm>
            <a:off x="4258800" y="16253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0" name="Google Shape;900;g398dce9893b_0_1276"/>
          <p:cNvSpPr txBox="1"/>
          <p:nvPr/>
        </p:nvSpPr>
        <p:spPr>
          <a:xfrm>
            <a:off x="4259000" y="20571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g398dce9893b_0_1276"/>
          <p:cNvSpPr txBox="1"/>
          <p:nvPr/>
        </p:nvSpPr>
        <p:spPr>
          <a:xfrm>
            <a:off x="4259000" y="40638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2" name="Google Shape;902;g398dce9893b_0_1276"/>
          <p:cNvCxnSpPr/>
          <p:nvPr/>
        </p:nvCxnSpPr>
        <p:spPr>
          <a:xfrm flipH="1" rot="10800000">
            <a:off x="6282583" y="3121117"/>
            <a:ext cx="6145500" cy="23391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g398dce9893b_0_1276"/>
          <p:cNvSpPr txBox="1"/>
          <p:nvPr/>
        </p:nvSpPr>
        <p:spPr>
          <a:xfrm rot="-1225177">
            <a:off x="8606573" y="3481309"/>
            <a:ext cx="2654395" cy="56134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g398dce9893b_0_1276"/>
          <p:cNvSpPr/>
          <p:nvPr/>
        </p:nvSpPr>
        <p:spPr>
          <a:xfrm>
            <a:off x="6350887" y="30632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905" name="Google Shape;905;g398dce9893b_0_1276"/>
          <p:cNvCxnSpPr/>
          <p:nvPr/>
        </p:nvCxnSpPr>
        <p:spPr>
          <a:xfrm flipH="1" rot="10800000">
            <a:off x="-118217" y="31523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g398dce9893b_0_1276"/>
          <p:cNvSpPr txBox="1"/>
          <p:nvPr/>
        </p:nvSpPr>
        <p:spPr>
          <a:xfrm rot="-1640155">
            <a:off x="1292228" y="34952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7" name="Google Shape;907;g398dce9893b_0_1276"/>
          <p:cNvSpPr txBox="1"/>
          <p:nvPr>
            <p:ph idx="1" type="body"/>
          </p:nvPr>
        </p:nvSpPr>
        <p:spPr>
          <a:xfrm>
            <a:off x="6449700" y="211400"/>
            <a:ext cx="5630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Every replica keeps a copy of the highest P(</a:t>
            </a:r>
            <a:r>
              <a:rPr i="1" lang="en-US"/>
              <a:t>v</a:t>
            </a:r>
            <a:r>
              <a:rPr baseline="-25000" i="1" lang="en-US"/>
              <a:t>lp</a:t>
            </a:r>
            <a:r>
              <a:rPr lang="en-US"/>
              <a:t>) it’s seen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98dce9893b_0_1276"/>
          <p:cNvSpPr txBox="1"/>
          <p:nvPr/>
        </p:nvSpPr>
        <p:spPr>
          <a:xfrm rot="324134">
            <a:off x="6383471" y="2466916"/>
            <a:ext cx="1924649" cy="793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P(v-100)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P(v -100)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98dce9893b_0_1294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914" name="Google Shape;914;g398dce9893b_0_1294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98dce9893b_0_1294"/>
          <p:cNvSpPr/>
          <p:nvPr/>
        </p:nvSpPr>
        <p:spPr>
          <a:xfrm>
            <a:off x="4259000" y="21877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6" name="Google Shape;916;g398dce9893b_0_1294"/>
          <p:cNvSpPr/>
          <p:nvPr/>
        </p:nvSpPr>
        <p:spPr>
          <a:xfrm>
            <a:off x="4435383" y="25642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g398dce9893b_0_1294"/>
          <p:cNvSpPr/>
          <p:nvPr/>
        </p:nvSpPr>
        <p:spPr>
          <a:xfrm>
            <a:off x="4435400" y="45249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P(v-100)</a:t>
            </a:r>
            <a:endParaRPr sz="12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Helvetica Neue"/>
              <a:buChar char="●"/>
            </a:pPr>
            <a:r>
              <a:rPr lang="en-US" sz="1200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outdated! Don’t execute B</a:t>
            </a:r>
            <a:r>
              <a:rPr baseline="-25000" lang="en-US" sz="1200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8" name="Google Shape;918;g398dce9893b_0_1294"/>
          <p:cNvSpPr txBox="1"/>
          <p:nvPr/>
        </p:nvSpPr>
        <p:spPr>
          <a:xfrm>
            <a:off x="4258800" y="16253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9" name="Google Shape;919;g398dce9893b_0_1294"/>
          <p:cNvSpPr txBox="1"/>
          <p:nvPr/>
        </p:nvSpPr>
        <p:spPr>
          <a:xfrm>
            <a:off x="4259000" y="20571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0" name="Google Shape;920;g398dce9893b_0_1294"/>
          <p:cNvSpPr txBox="1"/>
          <p:nvPr/>
        </p:nvSpPr>
        <p:spPr>
          <a:xfrm rot="324134">
            <a:off x="6383471" y="2466916"/>
            <a:ext cx="1924649" cy="793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P(v-100)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P(v -100)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1" name="Google Shape;921;g398dce9893b_0_1294"/>
          <p:cNvSpPr txBox="1"/>
          <p:nvPr/>
        </p:nvSpPr>
        <p:spPr>
          <a:xfrm>
            <a:off x="4259000" y="40638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22" name="Google Shape;922;g398dce9893b_0_1294"/>
          <p:cNvCxnSpPr/>
          <p:nvPr/>
        </p:nvCxnSpPr>
        <p:spPr>
          <a:xfrm flipH="1" rot="10800000">
            <a:off x="6282583" y="3121117"/>
            <a:ext cx="6145500" cy="23391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3" name="Google Shape;923;g398dce9893b_0_1294"/>
          <p:cNvSpPr txBox="1"/>
          <p:nvPr/>
        </p:nvSpPr>
        <p:spPr>
          <a:xfrm rot="-1225177">
            <a:off x="8606573" y="3481309"/>
            <a:ext cx="2654395" cy="56134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4" name="Google Shape;924;g398dce9893b_0_1294"/>
          <p:cNvSpPr/>
          <p:nvPr/>
        </p:nvSpPr>
        <p:spPr>
          <a:xfrm>
            <a:off x="6350887" y="30632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925" name="Google Shape;925;g398dce9893b_0_1294"/>
          <p:cNvCxnSpPr/>
          <p:nvPr/>
        </p:nvCxnSpPr>
        <p:spPr>
          <a:xfrm flipH="1" rot="10800000">
            <a:off x="-118217" y="31523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6" name="Google Shape;926;g398dce9893b_0_1294"/>
          <p:cNvSpPr txBox="1"/>
          <p:nvPr/>
        </p:nvSpPr>
        <p:spPr>
          <a:xfrm rot="-1640155">
            <a:off x="1292228" y="34952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7" name="Google Shape;927;g398dce9893b_0_1294"/>
          <p:cNvSpPr txBox="1"/>
          <p:nvPr>
            <p:ph idx="1" type="body"/>
          </p:nvPr>
        </p:nvSpPr>
        <p:spPr>
          <a:xfrm>
            <a:off x="6449700" y="211400"/>
            <a:ext cx="5630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Every replica keeps a copy of the highest P(</a:t>
            </a:r>
            <a:r>
              <a:rPr i="1" lang="en-US"/>
              <a:t>v</a:t>
            </a:r>
            <a:r>
              <a:rPr baseline="-25000" i="1" lang="en-US"/>
              <a:t>lp</a:t>
            </a:r>
            <a:r>
              <a:rPr lang="en-US"/>
              <a:t>) it’s seen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98dce9893b_0_1312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933" name="Google Shape;933;g398dce9893b_0_1312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g398dce9893b_0_1312"/>
          <p:cNvSpPr/>
          <p:nvPr/>
        </p:nvSpPr>
        <p:spPr>
          <a:xfrm>
            <a:off x="8046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5" name="Google Shape;935;g398dce9893b_0_1312"/>
          <p:cNvSpPr/>
          <p:nvPr/>
        </p:nvSpPr>
        <p:spPr>
          <a:xfrm>
            <a:off x="9809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6" name="Google Shape;936;g398dce9893b_0_1312"/>
          <p:cNvSpPr/>
          <p:nvPr/>
        </p:nvSpPr>
        <p:spPr>
          <a:xfrm>
            <a:off x="9810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g398dce9893b_0_1312"/>
          <p:cNvSpPr txBox="1"/>
          <p:nvPr/>
        </p:nvSpPr>
        <p:spPr>
          <a:xfrm>
            <a:off x="804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8" name="Google Shape;938;g398dce9893b_0_1312"/>
          <p:cNvSpPr txBox="1"/>
          <p:nvPr/>
        </p:nvSpPr>
        <p:spPr>
          <a:xfrm>
            <a:off x="8046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9" name="Google Shape;939;g398dce9893b_0_1312"/>
          <p:cNvSpPr txBox="1"/>
          <p:nvPr/>
        </p:nvSpPr>
        <p:spPr>
          <a:xfrm rot="323738">
            <a:off x="31698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0" name="Google Shape;940;g398dce9893b_0_1312"/>
          <p:cNvSpPr txBox="1"/>
          <p:nvPr/>
        </p:nvSpPr>
        <p:spPr>
          <a:xfrm>
            <a:off x="8046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41" name="Google Shape;941;g398dce9893b_0_1312"/>
          <p:cNvCxnSpPr>
            <a:endCxn id="942" idx="1"/>
          </p:cNvCxnSpPr>
          <p:nvPr/>
        </p:nvCxnSpPr>
        <p:spPr>
          <a:xfrm flipH="1" rot="10800000">
            <a:off x="2828083" y="25426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3" name="Google Shape;943;g398dce9893b_0_1312"/>
          <p:cNvSpPr txBox="1"/>
          <p:nvPr/>
        </p:nvSpPr>
        <p:spPr>
          <a:xfrm rot="-1640124">
            <a:off x="45031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g398dce9893b_0_1312"/>
          <p:cNvSpPr/>
          <p:nvPr/>
        </p:nvSpPr>
        <p:spPr>
          <a:xfrm>
            <a:off x="28964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945" name="Google Shape;945;g398dce9893b_0_1312"/>
          <p:cNvSpPr/>
          <p:nvPr/>
        </p:nvSpPr>
        <p:spPr>
          <a:xfrm>
            <a:off x="72054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2" name="Google Shape;942;g398dce9893b_0_1312"/>
          <p:cNvSpPr/>
          <p:nvPr/>
        </p:nvSpPr>
        <p:spPr>
          <a:xfrm>
            <a:off x="73817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6" name="Google Shape;946;g398dce9893b_0_1312"/>
          <p:cNvSpPr/>
          <p:nvPr/>
        </p:nvSpPr>
        <p:spPr>
          <a:xfrm>
            <a:off x="73818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7" name="Google Shape;947;g398dce9893b_0_1312"/>
          <p:cNvSpPr txBox="1"/>
          <p:nvPr/>
        </p:nvSpPr>
        <p:spPr>
          <a:xfrm>
            <a:off x="7205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v+1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8" name="Google Shape;948;g398dce9893b_0_1312"/>
          <p:cNvSpPr txBox="1"/>
          <p:nvPr/>
        </p:nvSpPr>
        <p:spPr>
          <a:xfrm>
            <a:off x="72054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g398dce9893b_0_1312"/>
          <p:cNvSpPr txBox="1"/>
          <p:nvPr/>
        </p:nvSpPr>
        <p:spPr>
          <a:xfrm rot="323738">
            <a:off x="95706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0" name="Google Shape;950;g398dce9893b_0_1312"/>
          <p:cNvSpPr txBox="1"/>
          <p:nvPr/>
        </p:nvSpPr>
        <p:spPr>
          <a:xfrm>
            <a:off x="72054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g398dce9893b_0_1312"/>
          <p:cNvSpPr/>
          <p:nvPr/>
        </p:nvSpPr>
        <p:spPr>
          <a:xfrm>
            <a:off x="92972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952" name="Google Shape;952;g398dce9893b_0_1312"/>
          <p:cNvCxnSpPr/>
          <p:nvPr/>
        </p:nvCxnSpPr>
        <p:spPr>
          <a:xfrm flipH="1" rot="10800000">
            <a:off x="9330583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3" name="Google Shape;953;g398dce9893b_0_1312"/>
          <p:cNvSpPr txBox="1"/>
          <p:nvPr/>
        </p:nvSpPr>
        <p:spPr>
          <a:xfrm rot="-1640124">
            <a:off x="110055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54" name="Google Shape;954;g398dce9893b_0_1312"/>
          <p:cNvCxnSpPr/>
          <p:nvPr/>
        </p:nvCxnSpPr>
        <p:spPr>
          <a:xfrm flipH="1" rot="10800000">
            <a:off x="-3572617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5" name="Google Shape;955;g398dce9893b_0_1312"/>
          <p:cNvSpPr txBox="1"/>
          <p:nvPr/>
        </p:nvSpPr>
        <p:spPr>
          <a:xfrm rot="-1640155">
            <a:off x="-2162172" y="28856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98dce9893b_0_1339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961" name="Google Shape;961;g398dce9893b_0_1339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98dce9893b_0_1339"/>
          <p:cNvSpPr/>
          <p:nvPr/>
        </p:nvSpPr>
        <p:spPr>
          <a:xfrm>
            <a:off x="8046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3" name="Google Shape;963;g398dce9893b_0_1339"/>
          <p:cNvSpPr/>
          <p:nvPr/>
        </p:nvSpPr>
        <p:spPr>
          <a:xfrm>
            <a:off x="9809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4" name="Google Shape;964;g398dce9893b_0_1339"/>
          <p:cNvSpPr/>
          <p:nvPr/>
        </p:nvSpPr>
        <p:spPr>
          <a:xfrm>
            <a:off x="9810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5" name="Google Shape;965;g398dce9893b_0_1339"/>
          <p:cNvSpPr txBox="1"/>
          <p:nvPr/>
        </p:nvSpPr>
        <p:spPr>
          <a:xfrm>
            <a:off x="804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6" name="Google Shape;966;g398dce9893b_0_1339"/>
          <p:cNvSpPr txBox="1"/>
          <p:nvPr/>
        </p:nvSpPr>
        <p:spPr>
          <a:xfrm>
            <a:off x="8046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7" name="Google Shape;967;g398dce9893b_0_1339"/>
          <p:cNvSpPr txBox="1"/>
          <p:nvPr/>
        </p:nvSpPr>
        <p:spPr>
          <a:xfrm rot="323738">
            <a:off x="31698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8" name="Google Shape;968;g398dce9893b_0_1339"/>
          <p:cNvSpPr txBox="1"/>
          <p:nvPr/>
        </p:nvSpPr>
        <p:spPr>
          <a:xfrm>
            <a:off x="8046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69" name="Google Shape;969;g398dce9893b_0_1339"/>
          <p:cNvCxnSpPr>
            <a:endCxn id="970" idx="1"/>
          </p:cNvCxnSpPr>
          <p:nvPr/>
        </p:nvCxnSpPr>
        <p:spPr>
          <a:xfrm flipH="1" rot="10800000">
            <a:off x="2828083" y="25426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1" name="Google Shape;971;g398dce9893b_0_1339"/>
          <p:cNvSpPr txBox="1"/>
          <p:nvPr/>
        </p:nvSpPr>
        <p:spPr>
          <a:xfrm rot="-1640124">
            <a:off x="45031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2" name="Google Shape;972;g398dce9893b_0_1339"/>
          <p:cNvSpPr/>
          <p:nvPr/>
        </p:nvSpPr>
        <p:spPr>
          <a:xfrm>
            <a:off x="28964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973" name="Google Shape;973;g398dce9893b_0_1339"/>
          <p:cNvSpPr/>
          <p:nvPr/>
        </p:nvSpPr>
        <p:spPr>
          <a:xfrm>
            <a:off x="72054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0" name="Google Shape;970;g398dce9893b_0_1339"/>
          <p:cNvSpPr/>
          <p:nvPr/>
        </p:nvSpPr>
        <p:spPr>
          <a:xfrm>
            <a:off x="73817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“Not Enough Votes” (lie)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g398dce9893b_0_1339"/>
          <p:cNvSpPr txBox="1"/>
          <p:nvPr/>
        </p:nvSpPr>
        <p:spPr>
          <a:xfrm>
            <a:off x="7205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v+1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g398dce9893b_0_1339"/>
          <p:cNvSpPr txBox="1"/>
          <p:nvPr/>
        </p:nvSpPr>
        <p:spPr>
          <a:xfrm>
            <a:off x="72054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6" name="Google Shape;976;g398dce9893b_0_1339"/>
          <p:cNvSpPr txBox="1"/>
          <p:nvPr/>
        </p:nvSpPr>
        <p:spPr>
          <a:xfrm rot="323738">
            <a:off x="9495940" y="25388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7" name="Google Shape;977;g398dce9893b_0_1339"/>
          <p:cNvSpPr txBox="1"/>
          <p:nvPr/>
        </p:nvSpPr>
        <p:spPr>
          <a:xfrm>
            <a:off x="72054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g398dce9893b_0_1339"/>
          <p:cNvSpPr/>
          <p:nvPr/>
        </p:nvSpPr>
        <p:spPr>
          <a:xfrm>
            <a:off x="92972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979" name="Google Shape;979;g398dce9893b_0_1339"/>
          <p:cNvCxnSpPr/>
          <p:nvPr/>
        </p:nvCxnSpPr>
        <p:spPr>
          <a:xfrm flipH="1" rot="10800000">
            <a:off x="9330583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0" name="Google Shape;980;g398dce9893b_0_1339"/>
          <p:cNvSpPr txBox="1"/>
          <p:nvPr/>
        </p:nvSpPr>
        <p:spPr>
          <a:xfrm rot="-1640124">
            <a:off x="110055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81" name="Google Shape;981;g398dce9893b_0_1339"/>
          <p:cNvCxnSpPr/>
          <p:nvPr/>
        </p:nvCxnSpPr>
        <p:spPr>
          <a:xfrm flipH="1" rot="10800000">
            <a:off x="-3572617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2" name="Google Shape;982;g398dce9893b_0_1339"/>
          <p:cNvSpPr txBox="1"/>
          <p:nvPr/>
        </p:nvSpPr>
        <p:spPr>
          <a:xfrm rot="-1640155">
            <a:off x="-2162172" y="28856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g398dce9893b_0_1339"/>
          <p:cNvSpPr/>
          <p:nvPr/>
        </p:nvSpPr>
        <p:spPr>
          <a:xfrm>
            <a:off x="73818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98dce9893b_0_1366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989" name="Google Shape;989;g398dce9893b_0_1366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g398dce9893b_0_1366"/>
          <p:cNvSpPr/>
          <p:nvPr/>
        </p:nvSpPr>
        <p:spPr>
          <a:xfrm>
            <a:off x="8046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1" name="Google Shape;991;g398dce9893b_0_1366"/>
          <p:cNvSpPr/>
          <p:nvPr/>
        </p:nvSpPr>
        <p:spPr>
          <a:xfrm>
            <a:off x="9809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g398dce9893b_0_1366"/>
          <p:cNvSpPr/>
          <p:nvPr/>
        </p:nvSpPr>
        <p:spPr>
          <a:xfrm>
            <a:off x="9810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3" name="Google Shape;993;g398dce9893b_0_1366"/>
          <p:cNvSpPr txBox="1"/>
          <p:nvPr/>
        </p:nvSpPr>
        <p:spPr>
          <a:xfrm>
            <a:off x="804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4" name="Google Shape;994;g398dce9893b_0_1366"/>
          <p:cNvSpPr txBox="1"/>
          <p:nvPr/>
        </p:nvSpPr>
        <p:spPr>
          <a:xfrm>
            <a:off x="8046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5" name="Google Shape;995;g398dce9893b_0_1366"/>
          <p:cNvSpPr txBox="1"/>
          <p:nvPr/>
        </p:nvSpPr>
        <p:spPr>
          <a:xfrm rot="323738">
            <a:off x="31698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g398dce9893b_0_1366"/>
          <p:cNvSpPr txBox="1"/>
          <p:nvPr/>
        </p:nvSpPr>
        <p:spPr>
          <a:xfrm>
            <a:off x="8046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97" name="Google Shape;997;g398dce9893b_0_1366"/>
          <p:cNvCxnSpPr>
            <a:endCxn id="998" idx="1"/>
          </p:cNvCxnSpPr>
          <p:nvPr/>
        </p:nvCxnSpPr>
        <p:spPr>
          <a:xfrm flipH="1" rot="10800000">
            <a:off x="2828083" y="25426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9" name="Google Shape;999;g398dce9893b_0_1366"/>
          <p:cNvSpPr txBox="1"/>
          <p:nvPr/>
        </p:nvSpPr>
        <p:spPr>
          <a:xfrm rot="-1640124">
            <a:off x="45031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g398dce9893b_0_1366"/>
          <p:cNvSpPr/>
          <p:nvPr/>
        </p:nvSpPr>
        <p:spPr>
          <a:xfrm>
            <a:off x="28964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01" name="Google Shape;1001;g398dce9893b_0_1366"/>
          <p:cNvSpPr/>
          <p:nvPr/>
        </p:nvSpPr>
        <p:spPr>
          <a:xfrm>
            <a:off x="72054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g398dce9893b_0_1366"/>
          <p:cNvSpPr/>
          <p:nvPr/>
        </p:nvSpPr>
        <p:spPr>
          <a:xfrm>
            <a:off x="73817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“Not Enough Votes” (lie)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g398dce9893b_0_1366"/>
          <p:cNvSpPr/>
          <p:nvPr/>
        </p:nvSpPr>
        <p:spPr>
          <a:xfrm>
            <a:off x="73818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Do not note </a:t>
            </a:r>
            <a:r>
              <a:rPr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do not execute </a:t>
            </a:r>
            <a:r>
              <a:rPr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3" name="Google Shape;1003;g398dce9893b_0_1366"/>
          <p:cNvSpPr txBox="1"/>
          <p:nvPr/>
        </p:nvSpPr>
        <p:spPr>
          <a:xfrm>
            <a:off x="7205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v+1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g398dce9893b_0_1366"/>
          <p:cNvSpPr txBox="1"/>
          <p:nvPr/>
        </p:nvSpPr>
        <p:spPr>
          <a:xfrm>
            <a:off x="72054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g398dce9893b_0_1366"/>
          <p:cNvSpPr txBox="1"/>
          <p:nvPr/>
        </p:nvSpPr>
        <p:spPr>
          <a:xfrm rot="323738">
            <a:off x="9495940" y="25388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g398dce9893b_0_1366"/>
          <p:cNvSpPr txBox="1"/>
          <p:nvPr/>
        </p:nvSpPr>
        <p:spPr>
          <a:xfrm>
            <a:off x="72054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7" name="Google Shape;1007;g398dce9893b_0_1366"/>
          <p:cNvSpPr/>
          <p:nvPr/>
        </p:nvSpPr>
        <p:spPr>
          <a:xfrm>
            <a:off x="92972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008" name="Google Shape;1008;g398dce9893b_0_1366"/>
          <p:cNvCxnSpPr/>
          <p:nvPr/>
        </p:nvCxnSpPr>
        <p:spPr>
          <a:xfrm flipH="1" rot="10800000">
            <a:off x="9330583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9" name="Google Shape;1009;g398dce9893b_0_1366"/>
          <p:cNvSpPr txBox="1"/>
          <p:nvPr/>
        </p:nvSpPr>
        <p:spPr>
          <a:xfrm rot="-1640124">
            <a:off x="110055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10" name="Google Shape;1010;g398dce9893b_0_1366"/>
          <p:cNvCxnSpPr/>
          <p:nvPr/>
        </p:nvCxnSpPr>
        <p:spPr>
          <a:xfrm flipH="1" rot="10800000">
            <a:off x="-3572617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g398dce9893b_0_1366"/>
          <p:cNvSpPr txBox="1"/>
          <p:nvPr/>
        </p:nvSpPr>
        <p:spPr>
          <a:xfrm rot="-1640155">
            <a:off x="-2162172" y="28856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98dce9893b_0_1393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1017" name="Google Shape;1017;g398dce9893b_0_1393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98dce9893b_0_1393"/>
          <p:cNvSpPr/>
          <p:nvPr/>
        </p:nvSpPr>
        <p:spPr>
          <a:xfrm>
            <a:off x="804600" y="1578133"/>
            <a:ext cx="4056000" cy="3693300"/>
          </a:xfrm>
          <a:prstGeom prst="rect">
            <a:avLst/>
          </a:prstGeom>
          <a:solidFill>
            <a:srgbClr val="E06666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g398dce9893b_0_1393"/>
          <p:cNvSpPr/>
          <p:nvPr/>
        </p:nvSpPr>
        <p:spPr>
          <a:xfrm>
            <a:off x="9809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Generate </a:t>
            </a:r>
            <a:r>
              <a:rPr i="1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0" name="Google Shape;1020;g398dce9893b_0_1393"/>
          <p:cNvSpPr/>
          <p:nvPr/>
        </p:nvSpPr>
        <p:spPr>
          <a:xfrm>
            <a:off x="9810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execute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v-1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1" name="Google Shape;1021;g398dce9893b_0_1393"/>
          <p:cNvSpPr txBox="1"/>
          <p:nvPr/>
        </p:nvSpPr>
        <p:spPr>
          <a:xfrm>
            <a:off x="804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g398dce9893b_0_1393"/>
          <p:cNvSpPr txBox="1"/>
          <p:nvPr/>
        </p:nvSpPr>
        <p:spPr>
          <a:xfrm>
            <a:off x="8046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3" name="Google Shape;1023;g398dce9893b_0_1393"/>
          <p:cNvSpPr txBox="1"/>
          <p:nvPr/>
        </p:nvSpPr>
        <p:spPr>
          <a:xfrm rot="323738">
            <a:off x="3169874" y="26636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P(v-1)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4" name="Google Shape;1024;g398dce9893b_0_1393"/>
          <p:cNvSpPr txBox="1"/>
          <p:nvPr/>
        </p:nvSpPr>
        <p:spPr>
          <a:xfrm>
            <a:off x="8046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5" name="Google Shape;1025;g398dce9893b_0_1393"/>
          <p:cNvCxnSpPr>
            <a:endCxn id="1026" idx="1"/>
          </p:cNvCxnSpPr>
          <p:nvPr/>
        </p:nvCxnSpPr>
        <p:spPr>
          <a:xfrm flipH="1" rot="10800000">
            <a:off x="2828083" y="25426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7" name="Google Shape;1027;g398dce9893b_0_1393"/>
          <p:cNvSpPr txBox="1"/>
          <p:nvPr/>
        </p:nvSpPr>
        <p:spPr>
          <a:xfrm rot="-1640124">
            <a:off x="45031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g398dce9893b_0_1393"/>
          <p:cNvSpPr/>
          <p:nvPr/>
        </p:nvSpPr>
        <p:spPr>
          <a:xfrm>
            <a:off x="28964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29" name="Google Shape;1029;g398dce9893b_0_1393"/>
          <p:cNvSpPr/>
          <p:nvPr/>
        </p:nvSpPr>
        <p:spPr>
          <a:xfrm>
            <a:off x="7205400" y="1578133"/>
            <a:ext cx="4056000" cy="3693300"/>
          </a:xfrm>
          <a:prstGeom prst="rect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6" name="Google Shape;1026;g398dce9893b_0_1393"/>
          <p:cNvSpPr/>
          <p:nvPr/>
        </p:nvSpPr>
        <p:spPr>
          <a:xfrm>
            <a:off x="7381783" y="195461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“Not Enough Votes” (lie)</a:t>
            </a:r>
            <a:endParaRPr i="1" sz="13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76200" rtl="0" algn="l">
              <a:spcBef>
                <a:spcPts val="0"/>
              </a:spcBef>
              <a:spcAft>
                <a:spcPts val="0"/>
              </a:spcAft>
              <a:buSzPts val="1300"/>
              <a:buFont typeface="Helvetica Neue"/>
              <a:buChar char="●"/>
            </a:pPr>
            <a:r>
              <a:rPr lang="en-US" sz="1300">
                <a:latin typeface="Helvetica Neue"/>
                <a:ea typeface="Helvetica Neue"/>
                <a:cs typeface="Helvetica Neue"/>
                <a:sym typeface="Helvetica Neue"/>
              </a:rPr>
              <a:t>Create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 </a:t>
            </a:r>
            <a:r>
              <a:rPr lang="en-US" sz="13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Google Shape;1030;g398dce9893b_0_1393"/>
          <p:cNvSpPr/>
          <p:nvPr/>
        </p:nvSpPr>
        <p:spPr>
          <a:xfrm>
            <a:off x="7381800" y="3915367"/>
            <a:ext cx="1921500" cy="117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Do not note </a:t>
            </a:r>
            <a:r>
              <a:rPr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P(v)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, do not execute </a:t>
            </a:r>
            <a:r>
              <a:rPr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2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2400" lvl="0" marL="7620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Vote on </a:t>
            </a:r>
            <a:r>
              <a:rPr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aseline="-25000" lang="en-US"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200">
              <a:solidFill>
                <a:srgbClr val="66666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1" name="Google Shape;1031;g398dce9893b_0_1393"/>
          <p:cNvSpPr txBox="1"/>
          <p:nvPr/>
        </p:nvSpPr>
        <p:spPr>
          <a:xfrm>
            <a:off x="7205400" y="1015733"/>
            <a:ext cx="4056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 v+1</a:t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g398dce9893b_0_1393"/>
          <p:cNvSpPr txBox="1"/>
          <p:nvPr/>
        </p:nvSpPr>
        <p:spPr>
          <a:xfrm>
            <a:off x="7205400" y="1447533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Leader L</a:t>
            </a:r>
            <a:r>
              <a:rPr lang="en-US" sz="1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3" name="Google Shape;1033;g398dce9893b_0_1393"/>
          <p:cNvSpPr txBox="1"/>
          <p:nvPr/>
        </p:nvSpPr>
        <p:spPr>
          <a:xfrm rot="323738">
            <a:off x="9495940" y="2538850"/>
            <a:ext cx="1840857" cy="61736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 </a:t>
            </a:r>
            <a:r>
              <a:rPr lang="en-US" sz="13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P(v-1)</a:t>
            </a:r>
            <a:endParaRPr sz="13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5875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Char char="●"/>
            </a:pPr>
            <a:r>
              <a:rPr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 B</a:t>
            </a:r>
            <a:r>
              <a:rPr baseline="-25000" lang="en-US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v+1</a:t>
            </a:r>
            <a:endParaRPr baseline="-25000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4" name="Google Shape;1034;g398dce9893b_0_1393"/>
          <p:cNvSpPr txBox="1"/>
          <p:nvPr/>
        </p:nvSpPr>
        <p:spPr>
          <a:xfrm>
            <a:off x="7205400" y="3454267"/>
            <a:ext cx="2512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Other Replicas</a:t>
            </a:r>
            <a:endParaRPr baseline="-25000" sz="1100" u="sng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5" name="Google Shape;1035;g398dce9893b_0_1393"/>
          <p:cNvSpPr/>
          <p:nvPr/>
        </p:nvSpPr>
        <p:spPr>
          <a:xfrm>
            <a:off x="9297287" y="2453633"/>
            <a:ext cx="1334567" cy="2015116"/>
          </a:xfrm>
          <a:custGeom>
            <a:rect b="b" l="l" r="r" t="t"/>
            <a:pathLst>
              <a:path extrusionOk="0" h="60455" w="40038">
                <a:moveTo>
                  <a:pt x="0" y="0"/>
                </a:moveTo>
                <a:cubicBezTo>
                  <a:pt x="6663" y="7232"/>
                  <a:pt x="39491" y="33315"/>
                  <a:pt x="39978" y="43391"/>
                </a:cubicBezTo>
                <a:cubicBezTo>
                  <a:pt x="40466" y="53467"/>
                  <a:pt x="9101" y="57611"/>
                  <a:pt x="2925" y="60455"/>
                </a:cubicBezTo>
              </a:path>
            </a:pathLst>
          </a:custGeom>
          <a:noFill/>
          <a:ln cap="flat" cmpd="sng" w="25400">
            <a:solidFill>
              <a:srgbClr val="1F1F1F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036" name="Google Shape;1036;g398dce9893b_0_1393"/>
          <p:cNvCxnSpPr/>
          <p:nvPr/>
        </p:nvCxnSpPr>
        <p:spPr>
          <a:xfrm flipH="1" rot="10800000">
            <a:off x="9330583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g398dce9893b_0_1393"/>
          <p:cNvSpPr txBox="1"/>
          <p:nvPr/>
        </p:nvSpPr>
        <p:spPr>
          <a:xfrm rot="-1640124">
            <a:off x="11005580" y="2793285"/>
            <a:ext cx="2654408" cy="56141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38" name="Google Shape;1038;g398dce9893b_0_1393"/>
          <p:cNvCxnSpPr/>
          <p:nvPr/>
        </p:nvCxnSpPr>
        <p:spPr>
          <a:xfrm flipH="1" rot="10800000">
            <a:off x="-3572617" y="2542717"/>
            <a:ext cx="4553700" cy="2307900"/>
          </a:xfrm>
          <a:prstGeom prst="straightConnector1">
            <a:avLst/>
          </a:prstGeom>
          <a:noFill/>
          <a:ln cap="flat" cmpd="sng" w="38100">
            <a:solidFill>
              <a:srgbClr val="1F1F1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9" name="Google Shape;1039;g398dce9893b_0_1393"/>
          <p:cNvSpPr txBox="1"/>
          <p:nvPr/>
        </p:nvSpPr>
        <p:spPr>
          <a:xfrm rot="-1640155">
            <a:off x="-2162172" y="2885642"/>
            <a:ext cx="2941814" cy="53337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ViewChange</a:t>
            </a: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Bv-1</a:t>
            </a:r>
            <a:r>
              <a:rPr baseline="-25000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398dce9893b_0_1420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1045" name="Google Shape;1045;g398dce9893b_0_1420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98dce9893b_0_1420"/>
          <p:cNvSpPr txBox="1"/>
          <p:nvPr/>
        </p:nvSpPr>
        <p:spPr>
          <a:xfrm rot="-611532">
            <a:off x="5009790" y="3420642"/>
            <a:ext cx="2443052" cy="63145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New-View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7" name="Google Shape;1047;g398dce9893b_0_1420" title="Screenshot 2025-11-06 162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5" y="1171283"/>
            <a:ext cx="2218168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g398dce9893b_0_1420" title="Screenshot 2025-11-06 162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50" y="1171300"/>
            <a:ext cx="2262041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g398dce9893b_0_1420" title="Screenshot 2025-11-06 163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000" y="3726337"/>
            <a:ext cx="2218201" cy="2201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0" name="Google Shape;1050;g398dce9893b_0_1420"/>
          <p:cNvCxnSpPr/>
          <p:nvPr/>
        </p:nvCxnSpPr>
        <p:spPr>
          <a:xfrm flipH="1" rot="10800000">
            <a:off x="13150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1" name="Google Shape;1051;g398dce9893b_0_1420"/>
          <p:cNvSpPr txBox="1"/>
          <p:nvPr/>
        </p:nvSpPr>
        <p:spPr>
          <a:xfrm rot="-894976">
            <a:off x="2458899" y="1251392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2" name="Google Shape;1052;g398dce9893b_0_1420"/>
          <p:cNvSpPr txBox="1"/>
          <p:nvPr/>
        </p:nvSpPr>
        <p:spPr>
          <a:xfrm rot="-894976">
            <a:off x="6058999" y="1086159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B2v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3" name="Google Shape;1053;g398dce9893b_0_1420"/>
          <p:cNvSpPr txBox="1"/>
          <p:nvPr/>
        </p:nvSpPr>
        <p:spPr>
          <a:xfrm rot="-1509163">
            <a:off x="8278281" y="1605695"/>
            <a:ext cx="1681989" cy="54150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BF-1v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g398dce9893b_0_1420"/>
          <p:cNvSpPr txBox="1"/>
          <p:nvPr/>
        </p:nvSpPr>
        <p:spPr>
          <a:xfrm>
            <a:off x="7241733" y="1712267"/>
            <a:ext cx="11712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4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55" name="Google Shape;1055;g398dce9893b_0_1420"/>
          <p:cNvCxnSpPr/>
          <p:nvPr/>
        </p:nvCxnSpPr>
        <p:spPr>
          <a:xfrm flipH="1">
            <a:off x="1333267" y="2838833"/>
            <a:ext cx="8692500" cy="14535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g398dce9893b_0_1420"/>
          <p:cNvCxnSpPr/>
          <p:nvPr/>
        </p:nvCxnSpPr>
        <p:spPr>
          <a:xfrm flipH="1" rot="10800000">
            <a:off x="1315067" y="4352900"/>
            <a:ext cx="2613900" cy="1399500"/>
          </a:xfrm>
          <a:prstGeom prst="straightConnector1">
            <a:avLst/>
          </a:prstGeom>
          <a:noFill/>
          <a:ln cap="flat" cmpd="sng" w="249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7" name="Google Shape;1057;g398dce9893b_0_1420"/>
          <p:cNvSpPr txBox="1"/>
          <p:nvPr/>
        </p:nvSpPr>
        <p:spPr>
          <a:xfrm rot="-1450385">
            <a:off x="2238591" y="4106906"/>
            <a:ext cx="1649106" cy="530779"/>
          </a:xfrm>
          <a:prstGeom prst="rect">
            <a:avLst/>
          </a:prstGeom>
          <a:noFill/>
          <a:ln>
            <a:noFill/>
          </a:ln>
        </p:spPr>
        <p:txBody>
          <a:bodyPr anchorCtr="0" anchor="t" bIns="119500" lIns="119500" spcFirstLastPara="1" rIns="119500" wrap="square" tIns="11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B1v+1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8" name="Google Shape;1058;g398dce9893b_0_1420"/>
          <p:cNvSpPr txBox="1"/>
          <p:nvPr/>
        </p:nvSpPr>
        <p:spPr>
          <a:xfrm>
            <a:off x="4365900" y="4392633"/>
            <a:ext cx="11712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sz="4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59" name="Google Shape;1059;g398dce9893b_0_1420"/>
          <p:cNvCxnSpPr/>
          <p:nvPr/>
        </p:nvCxnSpPr>
        <p:spPr>
          <a:xfrm flipH="1" rot="10800000">
            <a:off x="49726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60" name="Google Shape;1060;g398dce9893b_0_1420" title="Screenshot 2025-11-06 16533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1237" y="1030139"/>
            <a:ext cx="2152018" cy="21591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1" name="Google Shape;1061;g398dce9893b_0_1420"/>
          <p:cNvCxnSpPr/>
          <p:nvPr/>
        </p:nvCxnSpPr>
        <p:spPr>
          <a:xfrm flipH="1" rot="10800000">
            <a:off x="8415867" y="1795433"/>
            <a:ext cx="1813200" cy="1134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98dce9893b_0_1441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Tail-Forking</a:t>
            </a:r>
            <a:endParaRPr/>
          </a:p>
        </p:txBody>
      </p:sp>
      <p:sp>
        <p:nvSpPr>
          <p:cNvPr id="1067" name="Google Shape;1067;g398dce9893b_0_1441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That protects </a:t>
            </a:r>
            <a:r>
              <a:rPr i="1" lang="en-US"/>
              <a:t>more</a:t>
            </a:r>
            <a:r>
              <a:rPr lang="en-US"/>
              <a:t> transactions, but it doesn’t eliminate tail forking</a:t>
            </a:r>
            <a:endParaRPr/>
          </a:p>
        </p:txBody>
      </p:sp>
      <p:sp>
        <p:nvSpPr>
          <p:cNvPr id="1068" name="Google Shape;1068;g398dce9893b_0_1441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98dce9893b_0_1447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 Forking - Carry Blocks</a:t>
            </a:r>
            <a:endParaRPr/>
          </a:p>
        </p:txBody>
      </p:sp>
      <p:sp>
        <p:nvSpPr>
          <p:cNvPr id="1074" name="Google Shape;1074;g398dce9893b_0_1447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HotStuff-1 completely prevents tail forking for view v when:</a:t>
            </a:r>
            <a:endParaRPr/>
          </a:p>
          <a:p>
            <a:pPr indent="-393700" lvl="0" marL="6096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v’s leader L</a:t>
            </a:r>
            <a:r>
              <a:rPr baseline="-25000" lang="en-US"/>
              <a:t>v</a:t>
            </a:r>
            <a:r>
              <a:rPr lang="en-US"/>
              <a:t> has proposed at least 2 blocks (B</a:t>
            </a:r>
            <a:r>
              <a:rPr baseline="-25000" lang="en-US"/>
              <a:t>s-1,v</a:t>
            </a:r>
            <a:r>
              <a:rPr lang="en-US"/>
              <a:t>, B</a:t>
            </a:r>
            <a:r>
              <a:rPr baseline="-25000" lang="en-US"/>
              <a:t>s,v</a:t>
            </a:r>
            <a:r>
              <a:rPr lang="en-US"/>
              <a:t>)</a:t>
            </a:r>
            <a:endParaRPr/>
          </a:p>
          <a:p>
            <a:pPr indent="-393700" lvl="0" marL="609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The final block has f+1 votes</a:t>
            </a:r>
            <a:endParaRPr/>
          </a:p>
        </p:txBody>
      </p:sp>
      <p:sp>
        <p:nvSpPr>
          <p:cNvPr id="1075" name="Google Shape;1075;g398dce9893b_0_1447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98dce9893b_0_1453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 Forking - Carry Blocks</a:t>
            </a:r>
            <a:endParaRPr/>
          </a:p>
        </p:txBody>
      </p:sp>
      <p:sp>
        <p:nvSpPr>
          <p:cNvPr id="1081" name="Google Shape;1081;g398dce9893b_0_1453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98dce9893b_0_1453"/>
          <p:cNvSpPr txBox="1"/>
          <p:nvPr/>
        </p:nvSpPr>
        <p:spPr>
          <a:xfrm rot="5567">
            <a:off x="199012" y="3722430"/>
            <a:ext cx="1482002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New-View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3" name="Google Shape;1083;g398dce9893b_0_1453" title="Screenshot 2025-11-06 162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5" y="1171283"/>
            <a:ext cx="2218168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g398dce9893b_0_1453" title="Screenshot 2025-11-06 162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50" y="1171300"/>
            <a:ext cx="2262041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g398dce9893b_0_1453" title="Screenshot 2025-11-06 163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200" y="3726337"/>
            <a:ext cx="2218201" cy="2201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6" name="Google Shape;1086;g398dce9893b_0_1453"/>
          <p:cNvCxnSpPr/>
          <p:nvPr/>
        </p:nvCxnSpPr>
        <p:spPr>
          <a:xfrm flipH="1" rot="10800000">
            <a:off x="13150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7" name="Google Shape;1087;g398dce9893b_0_1453"/>
          <p:cNvSpPr txBox="1"/>
          <p:nvPr/>
        </p:nvSpPr>
        <p:spPr>
          <a:xfrm rot="-894976">
            <a:off x="2458899" y="1251392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88" name="Google Shape;1088;g398dce9893b_0_1453"/>
          <p:cNvCxnSpPr/>
          <p:nvPr/>
        </p:nvCxnSpPr>
        <p:spPr>
          <a:xfrm flipH="1" rot="10800000">
            <a:off x="4031067" y="4819255"/>
            <a:ext cx="2316900" cy="15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9" name="Google Shape;1089;g398dce9893b_0_1453"/>
          <p:cNvSpPr txBox="1"/>
          <p:nvPr>
            <p:ph idx="1" type="body"/>
          </p:nvPr>
        </p:nvSpPr>
        <p:spPr>
          <a:xfrm>
            <a:off x="6449467" y="3827933"/>
            <a:ext cx="52641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6096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</a:t>
            </a:r>
            <a:r>
              <a:rPr baseline="-25000" lang="en-US"/>
              <a:t>v+1</a:t>
            </a:r>
            <a:r>
              <a:rPr lang="en-US"/>
              <a:t> wants to lie about Block B</a:t>
            </a:r>
            <a:r>
              <a:rPr baseline="-25000" lang="en-US"/>
              <a:t>2,v</a:t>
            </a:r>
            <a:endParaRPr baseline="-25000"/>
          </a:p>
          <a:p>
            <a:pPr indent="-393700" lvl="0" marL="609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 + 1 replicas have seen B</a:t>
            </a:r>
            <a:r>
              <a:rPr baseline="-25000" lang="en-US"/>
              <a:t>2,v</a:t>
            </a:r>
            <a:endParaRPr baseline="-25000"/>
          </a:p>
          <a:p>
            <a:pPr indent="0" lvl="0" marL="0" rtl="0" algn="ctr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/>
              <a:t>What happens?</a:t>
            </a:r>
            <a:endParaRPr b="1"/>
          </a:p>
        </p:txBody>
      </p:sp>
      <p:cxnSp>
        <p:nvCxnSpPr>
          <p:cNvPr id="1090" name="Google Shape;1090;g398dce9893b_0_1453"/>
          <p:cNvCxnSpPr/>
          <p:nvPr/>
        </p:nvCxnSpPr>
        <p:spPr>
          <a:xfrm>
            <a:off x="732100" y="3266533"/>
            <a:ext cx="1165500" cy="1095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98eeecea42_3_0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 Forking - Carry Blocks</a:t>
            </a:r>
            <a:endParaRPr/>
          </a:p>
        </p:txBody>
      </p:sp>
      <p:sp>
        <p:nvSpPr>
          <p:cNvPr id="1096" name="Google Shape;1096;g398eeecea42_3_0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g398eeecea42_3_0"/>
          <p:cNvSpPr txBox="1"/>
          <p:nvPr/>
        </p:nvSpPr>
        <p:spPr>
          <a:xfrm rot="5567">
            <a:off x="199012" y="3722430"/>
            <a:ext cx="1482002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New-View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8" name="Google Shape;1098;g398eeecea42_3_0" title="Screenshot 2025-11-06 162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5" y="1171283"/>
            <a:ext cx="2218168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g398eeecea42_3_0" title="Screenshot 2025-11-06 162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50" y="1171300"/>
            <a:ext cx="2262041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g398eeecea42_3_0" title="Screenshot 2025-11-06 163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200" y="3726337"/>
            <a:ext cx="2218201" cy="2201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1" name="Google Shape;1101;g398eeecea42_3_0"/>
          <p:cNvCxnSpPr/>
          <p:nvPr/>
        </p:nvCxnSpPr>
        <p:spPr>
          <a:xfrm flipH="1" rot="10800000">
            <a:off x="1315067" y="1683100"/>
            <a:ext cx="2666100" cy="14277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g398eeecea42_3_0"/>
          <p:cNvSpPr txBox="1"/>
          <p:nvPr/>
        </p:nvSpPr>
        <p:spPr>
          <a:xfrm rot="-894976">
            <a:off x="2458899" y="1251392"/>
            <a:ext cx="1681771" cy="54163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New-Slot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3" name="Google Shape;1103;g398eeecea42_3_0"/>
          <p:cNvCxnSpPr/>
          <p:nvPr/>
        </p:nvCxnSpPr>
        <p:spPr>
          <a:xfrm flipH="1" rot="10800000">
            <a:off x="4031067" y="4819255"/>
            <a:ext cx="2316900" cy="15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g398eeecea42_3_0"/>
          <p:cNvSpPr txBox="1"/>
          <p:nvPr>
            <p:ph idx="1" type="body"/>
          </p:nvPr>
        </p:nvSpPr>
        <p:spPr>
          <a:xfrm>
            <a:off x="6449467" y="3827933"/>
            <a:ext cx="52641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2f replicas have only QC from slot</a:t>
            </a:r>
            <a:r>
              <a:rPr baseline="-25000" lang="en-US"/>
              <a:t>1,v</a:t>
            </a:r>
            <a:endParaRPr baseline="-2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f+1 replicas demand QC from slot</a:t>
            </a:r>
            <a:r>
              <a:rPr baseline="-25000" lang="en-US"/>
              <a:t>2,v</a:t>
            </a:r>
            <a:endParaRPr baseline="-25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can’t reach a 2f + 1 quorum</a:t>
            </a:r>
            <a:endParaRPr/>
          </a:p>
        </p:txBody>
      </p:sp>
      <p:cxnSp>
        <p:nvCxnSpPr>
          <p:cNvPr id="1105" name="Google Shape;1105;g398eeecea42_3_0"/>
          <p:cNvCxnSpPr/>
          <p:nvPr/>
        </p:nvCxnSpPr>
        <p:spPr>
          <a:xfrm>
            <a:off x="732100" y="3266533"/>
            <a:ext cx="1165500" cy="1095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98dce9893b_0_1481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Tail Forking - Carry Blocks</a:t>
            </a:r>
            <a:endParaRPr/>
          </a:p>
        </p:txBody>
      </p:sp>
      <p:sp>
        <p:nvSpPr>
          <p:cNvPr id="1111" name="Google Shape;1111;g398dce9893b_0_1481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98dce9893b_0_1481"/>
          <p:cNvSpPr txBox="1"/>
          <p:nvPr/>
        </p:nvSpPr>
        <p:spPr>
          <a:xfrm rot="5567">
            <a:off x="199012" y="3722430"/>
            <a:ext cx="1482002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New-View</a:t>
            </a: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Send δ</a:t>
            </a:r>
            <a:r>
              <a:rPr baseline="30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B1v</a:t>
            </a:r>
            <a:r>
              <a:rPr baseline="-25000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baseline="-25000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13" name="Google Shape;1113;g398dce9893b_0_1481" title="Screenshot 2025-11-06 1628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5" y="1171283"/>
            <a:ext cx="2218168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g398dce9893b_0_1481" title="Screenshot 2025-11-06 162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50" y="1171300"/>
            <a:ext cx="2262041" cy="22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g398dce9893b_0_1481" title="Screenshot 2025-11-06 1631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200" y="3726337"/>
            <a:ext cx="2218201" cy="22012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6" name="Google Shape;1116;g398dce9893b_0_1481"/>
          <p:cNvCxnSpPr/>
          <p:nvPr/>
        </p:nvCxnSpPr>
        <p:spPr>
          <a:xfrm>
            <a:off x="732100" y="3266533"/>
            <a:ext cx="1165500" cy="10953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g398dce9893b_0_1481"/>
          <p:cNvCxnSpPr>
            <a:stCxn id="1114" idx="1"/>
          </p:cNvCxnSpPr>
          <p:nvPr/>
        </p:nvCxnSpPr>
        <p:spPr>
          <a:xfrm flipH="1">
            <a:off x="1601050" y="2300150"/>
            <a:ext cx="2141700" cy="13968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BF9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8" name="Google Shape;1118;g398dce9893b_0_1481"/>
          <p:cNvSpPr txBox="1"/>
          <p:nvPr>
            <p:ph idx="1" type="body"/>
          </p:nvPr>
        </p:nvSpPr>
        <p:spPr>
          <a:xfrm>
            <a:off x="6449467" y="3827933"/>
            <a:ext cx="52641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 B</a:t>
            </a:r>
            <a:r>
              <a:rPr baseline="-25000" lang="en-US"/>
              <a:t>1,v+1</a:t>
            </a:r>
            <a:r>
              <a:rPr lang="en-US"/>
              <a:t> is allowed to extend it’s QC from Block B</a:t>
            </a:r>
            <a:r>
              <a:rPr baseline="-25000" lang="en-US"/>
              <a:t>1,v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BUT</a:t>
            </a:r>
            <a:r>
              <a:rPr lang="en-US"/>
              <a:t>, it has to use B</a:t>
            </a:r>
            <a:r>
              <a:rPr baseline="-25000" lang="en-US"/>
              <a:t>2,v </a:t>
            </a:r>
            <a:r>
              <a:rPr lang="en-US"/>
              <a:t>as a “carry block”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98dce9893b_0_1493"/>
          <p:cNvSpPr txBox="1"/>
          <p:nvPr>
            <p:ph type="title"/>
          </p:nvPr>
        </p:nvSpPr>
        <p:spPr>
          <a:xfrm>
            <a:off x="0" y="398633"/>
            <a:ext cx="5745300" cy="48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822975" spcFirstLastPara="1" rIns="18287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 of HotStuff-1</a:t>
            </a:r>
            <a:endParaRPr/>
          </a:p>
        </p:txBody>
      </p:sp>
      <p:sp>
        <p:nvSpPr>
          <p:cNvPr id="1124" name="Google Shape;1124;g398dce9893b_0_1493"/>
          <p:cNvSpPr txBox="1"/>
          <p:nvPr>
            <p:ph idx="1" type="body"/>
          </p:nvPr>
        </p:nvSpPr>
        <p:spPr>
          <a:xfrm>
            <a:off x="1178560" y="1733127"/>
            <a:ext cx="13177500" cy="59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New problems in streamlined (HotStuff) model: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5</a:t>
            </a:r>
            <a:r>
              <a:rPr lang="en-US" strike="sngStrike"/>
              <a:t> Higher Latency than stable-leader (which can speculatively execute)</a:t>
            </a:r>
            <a:endParaRPr strike="sngStrike"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Fixed with speculative execution in HotStuff-1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6</a:t>
            </a:r>
            <a:r>
              <a:rPr lang="en-US" strike="sngStrike"/>
              <a:t> Intentional Leader Slowness (↑↑ latency)</a:t>
            </a:r>
            <a:endParaRPr strike="sngStrike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trike="sngStrike"/>
              <a:t>D</a:t>
            </a:r>
            <a:r>
              <a:rPr b="1" baseline="-25000" lang="en-US" strike="sngStrike"/>
              <a:t>7</a:t>
            </a:r>
            <a:r>
              <a:rPr lang="en-US" strike="sngStrike"/>
              <a:t> Tail Forking Attack (↑↑ latency, possible failure to commit)</a:t>
            </a:r>
            <a:endParaRPr strike="sngStrike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Fixed with slotting in HotStuff-1</a:t>
            </a:r>
            <a:endParaRPr/>
          </a:p>
        </p:txBody>
      </p:sp>
      <p:sp>
        <p:nvSpPr>
          <p:cNvPr id="1125" name="Google Shape;1125;g398dce9893b_0_1493"/>
          <p:cNvSpPr txBox="1"/>
          <p:nvPr>
            <p:ph idx="11" type="ftr"/>
          </p:nvPr>
        </p:nvSpPr>
        <p:spPr>
          <a:xfrm>
            <a:off x="2598420" y="8299873"/>
            <a:ext cx="54081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a09dfc2a5f_6_0"/>
          <p:cNvSpPr txBox="1"/>
          <p:nvPr>
            <p:ph type="title"/>
          </p:nvPr>
        </p:nvSpPr>
        <p:spPr>
          <a:xfrm>
            <a:off x="0" y="398650"/>
            <a:ext cx="10767000" cy="480300"/>
          </a:xfrm>
          <a:prstGeom prst="rect">
            <a:avLst/>
          </a:prstGeom>
        </p:spPr>
        <p:txBody>
          <a:bodyPr anchorCtr="0" anchor="ctr" bIns="45700" lIns="822950" spcFirstLastPara="1" rIns="18287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132" name="Google Shape;1132;g3a09dfc2a5f_6_0"/>
          <p:cNvSpPr txBox="1"/>
          <p:nvPr>
            <p:ph idx="1" type="body"/>
          </p:nvPr>
        </p:nvSpPr>
        <p:spPr>
          <a:xfrm>
            <a:off x="883925" y="1091175"/>
            <a:ext cx="9883200" cy="490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[1]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</a:t>
            </a:r>
            <a:r>
              <a:rPr lang="en-US" sz="1800" u="sng">
                <a:hlinkClick r:id="rId3"/>
              </a:rPr>
              <a:t>https://doi.org/10.1145/3293611.3331591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[2] Maofan Yin, Dahlia Malkhi, Michael K. Reiter, Guy Golan Gueta, and Ittai Abraham. 2019. HotStuff: BFT Consensus with Linearity and Responsiveness. In Proceedings of the 2019 ACM Symposium on Principles of Distributed Computing (PODC '19). Association for Computing Machinery, New York, NY, USA, 347–356. </a:t>
            </a:r>
            <a:r>
              <a:rPr lang="en-US" sz="1800" u="sng">
                <a:hlinkClick r:id="rId4"/>
              </a:rPr>
              <a:t>https://doi.org/10.1145/3293611.3331591</a:t>
            </a:r>
            <a:r>
              <a:rPr lang="en-US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[3] Dakai Kang, Suyash Gupta, Dahlia Malkhi, and Mohammad Sadoghi. 2025. HotStuff-1: Linear Consensus with One-Phase Speculation. Proc. ACM Manag. Data 3, 3, Article 171 (June 2025), 29 pages. </a:t>
            </a:r>
            <a:r>
              <a:rPr lang="en-US" sz="1800" u="sng">
                <a:hlinkClick r:id="rId5"/>
              </a:rPr>
              <a:t>https://doi.org/10.1145/3725308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[4] Dahlia Malkhi and Kartik Nayak. 2023. Hotstuff-2: Optimal two-phase responsive bft. Cryptology ePrint Archive (2023).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2025-10-24T21:11:02Z</dcterms:created>
  <dc:creator>Yoshiki Yamaguchi</dc:creator>
</cp:coreProperties>
</file>