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5"/>
    <p:sldMasterId id="214748366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y="5143500" cx="9144000"/>
  <p:notesSz cx="6858000" cy="9144000"/>
  <p:embeddedFontLst>
    <p:embeddedFont>
      <p:font typeface="Proxima Nova"/>
      <p:regular r:id="rId59"/>
      <p:bold r:id="rId60"/>
      <p:italic r:id="rId61"/>
      <p:boldItalic r:id="rId62"/>
    </p:embeddedFont>
    <p:embeddedFont>
      <p:font typeface="Proxima Nova Semibold"/>
      <p:regular r:id="rId63"/>
      <p:bold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BBB327-8181-4FA9-B8C7-751322D248C9}">
  <a:tblStyle styleId="{CCBBB327-8181-4FA9-B8C7-751322D248C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D176C28-803B-420D-8054-5DEDF6F58ECB}"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ProximaNova-boldItalic.fntdata"/><Relationship Id="rId61" Type="http://schemas.openxmlformats.org/officeDocument/2006/relationships/font" Target="fonts/ProximaNova-italic.fntdata"/><Relationship Id="rId20" Type="http://schemas.openxmlformats.org/officeDocument/2006/relationships/slide" Target="slides/slide13.xml"/><Relationship Id="rId64" Type="http://schemas.openxmlformats.org/officeDocument/2006/relationships/font" Target="fonts/ProximaNovaSemibold-bold.fntdata"/><Relationship Id="rId63" Type="http://schemas.openxmlformats.org/officeDocument/2006/relationships/font" Target="fonts/ProximaNovaSemibold-regular.fntdata"/><Relationship Id="rId22" Type="http://schemas.openxmlformats.org/officeDocument/2006/relationships/slide" Target="slides/slide15.xml"/><Relationship Id="rId21" Type="http://schemas.openxmlformats.org/officeDocument/2006/relationships/slide" Target="slides/slide14.xml"/><Relationship Id="rId65" Type="http://schemas.openxmlformats.org/officeDocument/2006/relationships/font" Target="fonts/ProximaNovaSemibold-boldItalic.fntdata"/><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ProximaNova-bold.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font" Target="fonts/ProximaNova-regular.fntdata"/><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99f122c5db_6_3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“Today we’re presenting BEAT, a family of </a:t>
            </a:r>
            <a:r>
              <a:rPr i="1" lang="en">
                <a:solidFill>
                  <a:schemeClr val="dk1"/>
                </a:solidFill>
              </a:rPr>
              <a:t>fully asynchronous</a:t>
            </a:r>
            <a:r>
              <a:rPr lang="en">
                <a:solidFill>
                  <a:schemeClr val="dk1"/>
                </a:solidFill>
              </a:rPr>
              <a:t> BFT protocols designed to make asynchronous consensus practical.”</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“We’ll walk through why fault tolerance matters, what SMR is, the challenges with asynchronous consensus, and how BEAT improves over prior protocols like HoneyBadgerBFT.”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91" name="Google Shape;91;g399f122c5db_6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9f122c5db_6_4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“If we rely on a single server, it's a single point of failure or compromise.”</a:t>
            </a:r>
            <a:br>
              <a:rPr lang="en"/>
            </a:br>
            <a:endParaRPr/>
          </a:p>
          <a:p>
            <a:pPr indent="0" lvl="0" marL="0" rtl="0" algn="l">
              <a:spcBef>
                <a:spcPts val="0"/>
              </a:spcBef>
              <a:spcAft>
                <a:spcPts val="0"/>
              </a:spcAft>
              <a:buClr>
                <a:schemeClr val="dk1"/>
              </a:buClr>
              <a:buSzPts val="1100"/>
              <a:buFont typeface="Arial"/>
              <a:buNone/>
            </a:pPr>
            <a:r>
              <a:rPr lang="en"/>
              <a:t>“Failures can occur due to crashes, bugs, attacks, or network partitions.”</a:t>
            </a:r>
            <a:br>
              <a:rPr lang="en"/>
            </a:br>
            <a:endParaRPr/>
          </a:p>
          <a:p>
            <a:pPr indent="0" lvl="0" marL="0" rtl="0" algn="l">
              <a:spcBef>
                <a:spcPts val="0"/>
              </a:spcBef>
              <a:spcAft>
                <a:spcPts val="0"/>
              </a:spcAft>
              <a:buClr>
                <a:schemeClr val="dk1"/>
              </a:buClr>
              <a:buSzPts val="1100"/>
              <a:buFont typeface="Arial"/>
              <a:buNone/>
            </a:pPr>
            <a:r>
              <a:rPr lang="en"/>
              <a:t>“Distributed systems need to remain correct and available even when components fail.”</a:t>
            </a:r>
            <a:endParaRPr/>
          </a:p>
          <a:p>
            <a:pPr indent="0" lvl="0" marL="0" rtl="0" algn="l">
              <a:spcBef>
                <a:spcPts val="0"/>
              </a:spcBef>
              <a:spcAft>
                <a:spcPts val="0"/>
              </a:spcAft>
              <a:buNone/>
            </a:pPr>
            <a:r>
              <a:t/>
            </a:r>
            <a:endParaRPr/>
          </a:p>
        </p:txBody>
      </p:sp>
      <p:sp>
        <p:nvSpPr>
          <p:cNvPr id="97" name="Google Shape;97;g399f122c5db_6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917d2942c_1_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“If we rely on a single server, it's a single point of failure or compromise.”</a:t>
            </a:r>
            <a:br>
              <a:rPr lang="en"/>
            </a:br>
            <a:endParaRPr/>
          </a:p>
          <a:p>
            <a:pPr indent="0" lvl="0" marL="0" rtl="0" algn="l">
              <a:spcBef>
                <a:spcPts val="0"/>
              </a:spcBef>
              <a:spcAft>
                <a:spcPts val="0"/>
              </a:spcAft>
              <a:buClr>
                <a:schemeClr val="dk1"/>
              </a:buClr>
              <a:buSzPts val="1100"/>
              <a:buFont typeface="Arial"/>
              <a:buNone/>
            </a:pPr>
            <a:r>
              <a:rPr lang="en"/>
              <a:t>“Failures can occur due to crashes, bugs, attacks, or network partitions.”</a:t>
            </a:r>
            <a:br>
              <a:rPr lang="en"/>
            </a:br>
            <a:endParaRPr/>
          </a:p>
          <a:p>
            <a:pPr indent="0" lvl="0" marL="0" rtl="0" algn="l">
              <a:spcBef>
                <a:spcPts val="0"/>
              </a:spcBef>
              <a:spcAft>
                <a:spcPts val="0"/>
              </a:spcAft>
              <a:buClr>
                <a:schemeClr val="dk1"/>
              </a:buClr>
              <a:buSzPts val="1100"/>
              <a:buFont typeface="Arial"/>
              <a:buNone/>
            </a:pPr>
            <a:r>
              <a:rPr lang="en"/>
              <a:t>“Distributed systems need to remain correct and available even when components fail.”</a:t>
            </a:r>
            <a:endParaRPr/>
          </a:p>
          <a:p>
            <a:pPr indent="0" lvl="0" marL="0" rtl="0" algn="l">
              <a:spcBef>
                <a:spcPts val="0"/>
              </a:spcBef>
              <a:spcAft>
                <a:spcPts val="0"/>
              </a:spcAft>
              <a:buNone/>
            </a:pPr>
            <a:r>
              <a:t/>
            </a:r>
            <a:endParaRPr/>
          </a:p>
        </p:txBody>
      </p:sp>
      <p:sp>
        <p:nvSpPr>
          <p:cNvPr id="110" name="Google Shape;110;g3a917d2942c_1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917d2942c_1_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“Distributed systems must maintain correctness and availability despite failures.”</a:t>
            </a:r>
            <a:br>
              <a:rPr lang="en"/>
            </a:br>
            <a:endParaRPr/>
          </a:p>
          <a:p>
            <a:pPr indent="0" lvl="0" marL="0" rtl="0" algn="l">
              <a:spcBef>
                <a:spcPts val="0"/>
              </a:spcBef>
              <a:spcAft>
                <a:spcPts val="0"/>
              </a:spcAft>
              <a:buClr>
                <a:schemeClr val="dk1"/>
              </a:buClr>
              <a:buSzPts val="1100"/>
              <a:buFont typeface="Arial"/>
              <a:buNone/>
            </a:pPr>
            <a:r>
              <a:rPr lang="en"/>
              <a:t>“Single servers fail; multiple servers may diverge and become inconsistent.”</a:t>
            </a:r>
            <a:br>
              <a:rPr lang="en"/>
            </a:br>
            <a:endParaRPr/>
          </a:p>
          <a:p>
            <a:pPr indent="0" lvl="0" marL="0" rtl="0" algn="l">
              <a:spcBef>
                <a:spcPts val="0"/>
              </a:spcBef>
              <a:spcAft>
                <a:spcPts val="0"/>
              </a:spcAft>
              <a:buNone/>
            </a:pPr>
            <a:r>
              <a:rPr lang="en"/>
              <a:t>“SMR gives us a single logical machine that stays consistent even when some replicas fail.”</a:t>
            </a:r>
            <a:br>
              <a:rPr lang="en"/>
            </a:br>
            <a:br>
              <a:rPr lang="en"/>
            </a:br>
            <a:r>
              <a:rPr b="1" lang="en">
                <a:solidFill>
                  <a:schemeClr val="dk1"/>
                </a:solidFill>
              </a:rPr>
              <a:t>Correctness</a:t>
            </a:r>
            <a:r>
              <a:rPr lang="en">
                <a:solidFill>
                  <a:schemeClr val="dk1"/>
                </a:solidFill>
              </a:rPr>
              <a:t> (no double writes, no corruption)</a:t>
            </a:r>
            <a:br>
              <a:rPr lang="en">
                <a:solidFill>
                  <a:schemeClr val="dk1"/>
                </a:solidFill>
              </a:rPr>
            </a:br>
            <a:endParaRPr>
              <a:solidFill>
                <a:schemeClr val="dk1"/>
              </a:solidFill>
            </a:endParaRPr>
          </a:p>
          <a:p>
            <a:pPr indent="0" lvl="0" marL="0" rtl="0" algn="l">
              <a:spcBef>
                <a:spcPts val="0"/>
              </a:spcBef>
              <a:spcAft>
                <a:spcPts val="0"/>
              </a:spcAft>
              <a:buNone/>
            </a:pPr>
            <a:r>
              <a:rPr b="1" lang="en">
                <a:solidFill>
                  <a:schemeClr val="dk1"/>
                </a:solidFill>
              </a:rPr>
              <a:t>Consistency</a:t>
            </a:r>
            <a:r>
              <a:rPr lang="en">
                <a:solidFill>
                  <a:schemeClr val="dk1"/>
                </a:solidFill>
              </a:rPr>
              <a:t> (everyone sees the same state)</a:t>
            </a:r>
            <a:br>
              <a:rPr lang="en">
                <a:solidFill>
                  <a:schemeClr val="dk1"/>
                </a:solidFill>
              </a:rPr>
            </a:br>
            <a:endParaRPr>
              <a:solidFill>
                <a:schemeClr val="dk1"/>
              </a:solidFill>
            </a:endParaRPr>
          </a:p>
          <a:p>
            <a:pPr indent="0" lvl="0" marL="0" rtl="0" algn="l">
              <a:spcBef>
                <a:spcPts val="0"/>
              </a:spcBef>
              <a:spcAft>
                <a:spcPts val="0"/>
              </a:spcAft>
              <a:buNone/>
            </a:pPr>
            <a:r>
              <a:rPr b="1" lang="en">
                <a:solidFill>
                  <a:schemeClr val="dk1"/>
                </a:solidFill>
              </a:rPr>
              <a:t>Availability</a:t>
            </a:r>
            <a:r>
              <a:rPr lang="en">
                <a:solidFill>
                  <a:schemeClr val="dk1"/>
                </a:solidFill>
              </a:rPr>
              <a:t> (system survives failures)</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27" name="Google Shape;127;g3a917d2942c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917d2942c_1_1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State Machine Replication is a simple but powerful idea: each server runs the same state machine, and they all execute the exact same sequence of inputs. As long as the state machine is deterministic, every replica ends up in the same state.</a:t>
            </a:r>
            <a:endParaRPr/>
          </a:p>
          <a:p>
            <a:pPr indent="0" lvl="0" marL="0" rtl="0" algn="l">
              <a:lnSpc>
                <a:spcPct val="115000"/>
              </a:lnSpc>
              <a:spcBef>
                <a:spcPts val="1200"/>
              </a:spcBef>
              <a:spcAft>
                <a:spcPts val="0"/>
              </a:spcAft>
              <a:buClr>
                <a:schemeClr val="dk1"/>
              </a:buClr>
              <a:buSzPts val="1100"/>
              <a:buFont typeface="Arial"/>
              <a:buNone/>
            </a:pPr>
            <a:r>
              <a:rPr lang="en"/>
              <a:t>This is how systems achieve strong consistency and high reliability.</a:t>
            </a:r>
            <a:endParaRPr/>
          </a:p>
          <a:p>
            <a:pPr indent="0" lvl="0" marL="0" rtl="0" algn="l">
              <a:spcBef>
                <a:spcPts val="1200"/>
              </a:spcBef>
              <a:spcAft>
                <a:spcPts val="0"/>
              </a:spcAft>
              <a:buNone/>
            </a:pPr>
            <a:r>
              <a:t/>
            </a:r>
            <a:endParaRPr/>
          </a:p>
        </p:txBody>
      </p:sp>
      <p:sp>
        <p:nvSpPr>
          <p:cNvPr id="133" name="Google Shape;133;g3a917d2942c_1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917d2942c_1_10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next few slides illustrate why </a:t>
            </a:r>
            <a:r>
              <a:rPr i="1" lang="en">
                <a:solidFill>
                  <a:schemeClr val="dk1"/>
                </a:solidFill>
              </a:rPr>
              <a:t>total ordering</a:t>
            </a:r>
            <a:r>
              <a:rPr lang="en">
                <a:solidFill>
                  <a:schemeClr val="dk1"/>
                </a:solidFill>
              </a:rPr>
              <a:t> matters.”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“Total ordering means all replicas must process operations in exactly the same sequence.”</a:t>
            </a:r>
            <a:endParaRPr>
              <a:solidFill>
                <a:schemeClr val="dk1"/>
              </a:solidFill>
            </a:endParaRPr>
          </a:p>
          <a:p>
            <a:pPr indent="0" lvl="0" marL="0" rtl="0" algn="l">
              <a:spcBef>
                <a:spcPts val="0"/>
              </a:spcBef>
              <a:spcAft>
                <a:spcPts val="0"/>
              </a:spcAft>
              <a:buNone/>
            </a:pPr>
            <a:r>
              <a:t/>
            </a:r>
            <a:endParaRPr/>
          </a:p>
        </p:txBody>
      </p:sp>
      <p:sp>
        <p:nvSpPr>
          <p:cNvPr id="139" name="Google Shape;139;g3a917d2942c_1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917d2942c_1_1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a917d2942c_1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917d2942c_1_14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a917d2942c_1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917d2942c_1_17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a917d2942c_1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917d2942c_1_1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a917d2942c_1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917d2942c_1_2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“SMR only works if all replicas agree on the next transaction and its position in the log.”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“Consensus protocols enforce agreement even when some replicas are malicious or faulty.”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“They ensure convergence and prevent diverging histories.”</a:t>
            </a:r>
            <a:endParaRPr>
              <a:solidFill>
                <a:schemeClr val="dk1"/>
              </a:solidFill>
            </a:endParaRPr>
          </a:p>
        </p:txBody>
      </p:sp>
      <p:sp>
        <p:nvSpPr>
          <p:cNvPr id="236" name="Google Shape;236;g3a917d2942c_1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917d2942c_1_2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“In asynchronous networks, message delays have no upper bound.”</a:t>
            </a:r>
            <a:br>
              <a:rPr lang="en">
                <a:solidFill>
                  <a:schemeClr val="dk1"/>
                </a:solidFill>
              </a:rPr>
            </a:br>
            <a:endParaRPr>
              <a:solidFill>
                <a:schemeClr val="dk1"/>
              </a:solidFill>
            </a:endParaRPr>
          </a:p>
          <a:p>
            <a:pPr indent="0" lvl="0" marL="0" rtl="0" algn="l">
              <a:spcBef>
                <a:spcPts val="0"/>
              </a:spcBef>
              <a:spcAft>
                <a:spcPts val="0"/>
              </a:spcAft>
              <a:buNone/>
            </a:pPr>
            <a:r>
              <a:rPr lang="en">
                <a:solidFill>
                  <a:schemeClr val="dk1"/>
                </a:solidFill>
              </a:rPr>
              <a:t>“FLP tells us deterministic liveness is impossible here.”</a:t>
            </a:r>
            <a:br>
              <a:rPr lang="en">
                <a:solidFill>
                  <a:schemeClr val="dk1"/>
                </a:solidFill>
              </a:rPr>
            </a:br>
            <a:endParaRPr>
              <a:solidFill>
                <a:schemeClr val="dk1"/>
              </a:solidFill>
            </a:endParaRPr>
          </a:p>
          <a:p>
            <a:pPr indent="0" lvl="0" marL="0" rtl="0" algn="l">
              <a:spcBef>
                <a:spcPts val="0"/>
              </a:spcBef>
              <a:spcAft>
                <a:spcPts val="0"/>
              </a:spcAft>
              <a:buNone/>
            </a:pPr>
            <a:r>
              <a:rPr b="1" lang="en">
                <a:solidFill>
                  <a:schemeClr val="dk1"/>
                </a:solidFill>
              </a:rPr>
              <a:t>Probabilistic liveness: </a:t>
            </a:r>
            <a:r>
              <a:rPr lang="en">
                <a:solidFill>
                  <a:schemeClr val="dk1"/>
                </a:solidFill>
              </a:rPr>
              <a:t>The protocol makes progress with probability 1 (or very close to 1), but not deterministically in every execution.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It uses </a:t>
            </a:r>
            <a:r>
              <a:rPr b="1" lang="en">
                <a:solidFill>
                  <a:schemeClr val="dk1"/>
                </a:solidFill>
              </a:rPr>
              <a:t>randomness</a:t>
            </a:r>
            <a:r>
              <a:rPr lang="en">
                <a:solidFill>
                  <a:schemeClr val="dk1"/>
                </a:solidFill>
              </a:rPr>
              <a:t> — often through: common coins</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“Asynchronous protocols use randomness to ensure </a:t>
            </a:r>
            <a:r>
              <a:rPr i="1" lang="en">
                <a:solidFill>
                  <a:schemeClr val="dk1"/>
                </a:solidFill>
              </a:rPr>
              <a:t>probabilistic</a:t>
            </a:r>
            <a:r>
              <a:rPr lang="en">
                <a:solidFill>
                  <a:schemeClr val="dk1"/>
                </a:solidFill>
              </a:rPr>
              <a:t> liveness.”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“Partial synchrony assumes the network eventually stabilizes after GST.”</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“PBFT operates in this model; BEAT is fully asynchronous.”</a:t>
            </a:r>
            <a:endParaRPr>
              <a:solidFill>
                <a:schemeClr val="dk1"/>
              </a:solidFill>
            </a:endParaRPr>
          </a:p>
          <a:p>
            <a:pPr indent="0" lvl="0" marL="0" rtl="0" algn="l">
              <a:spcBef>
                <a:spcPts val="0"/>
              </a:spcBef>
              <a:spcAft>
                <a:spcPts val="0"/>
              </a:spcAft>
              <a:buNone/>
            </a:pPr>
            <a:r>
              <a:t/>
            </a:r>
            <a:endParaRPr/>
          </a:p>
        </p:txBody>
      </p:sp>
      <p:sp>
        <p:nvSpPr>
          <p:cNvPr id="242" name="Google Shape;242;g3a917d2942c_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917d2942c_1_3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“Asynchronous systems cannot use timeouts reliably.”</a:t>
            </a:r>
            <a:br>
              <a:rPr lang="en"/>
            </a:br>
            <a:endParaRPr/>
          </a:p>
          <a:p>
            <a:pPr indent="0" lvl="0" marL="0" rtl="0" algn="l">
              <a:spcBef>
                <a:spcPts val="0"/>
              </a:spcBef>
              <a:spcAft>
                <a:spcPts val="0"/>
              </a:spcAft>
              <a:buClr>
                <a:schemeClr val="dk1"/>
              </a:buClr>
              <a:buSzPts val="1100"/>
              <a:buFont typeface="Arial"/>
              <a:buNone/>
            </a:pPr>
            <a:r>
              <a:rPr lang="en"/>
              <a:t>“Broadcast and agreement are expensive without timing assumptions.”</a:t>
            </a:r>
            <a:br>
              <a:rPr lang="en"/>
            </a:br>
            <a:endParaRPr/>
          </a:p>
          <a:p>
            <a:pPr indent="0" lvl="0" marL="0" rtl="0" algn="l">
              <a:spcBef>
                <a:spcPts val="0"/>
              </a:spcBef>
              <a:spcAft>
                <a:spcPts val="0"/>
              </a:spcAft>
              <a:buClr>
                <a:schemeClr val="dk1"/>
              </a:buClr>
              <a:buSzPts val="1100"/>
              <a:buFont typeface="Arial"/>
              <a:buNone/>
            </a:pPr>
            <a:r>
              <a:rPr lang="en"/>
              <a:t>“HoneyBadgerBFT solved async BFT but suffers from high latency and CPU overhead.”</a:t>
            </a:r>
            <a:br>
              <a:rPr lang="en"/>
            </a:br>
            <a:endParaRPr/>
          </a:p>
          <a:p>
            <a:pPr indent="0" lvl="0" marL="0" rtl="0" algn="l">
              <a:spcBef>
                <a:spcPts val="0"/>
              </a:spcBef>
              <a:spcAft>
                <a:spcPts val="0"/>
              </a:spcAft>
              <a:buClr>
                <a:schemeClr val="dk1"/>
              </a:buClr>
              <a:buSzPts val="1100"/>
              <a:buFont typeface="Arial"/>
              <a:buNone/>
            </a:pPr>
            <a:r>
              <a:rPr lang="en"/>
              <a:t>“There is no one-size-fits-all design: workloads vary, batch sizes vary.”</a:t>
            </a:r>
            <a:endParaRPr/>
          </a:p>
          <a:p>
            <a:pPr indent="0" lvl="0" marL="0" rtl="0" algn="l">
              <a:spcBef>
                <a:spcPts val="0"/>
              </a:spcBef>
              <a:spcAft>
                <a:spcPts val="0"/>
              </a:spcAft>
              <a:buNone/>
            </a:pPr>
            <a:r>
              <a:t/>
            </a:r>
            <a:endParaRPr/>
          </a:p>
        </p:txBody>
      </p:sp>
      <p:sp>
        <p:nvSpPr>
          <p:cNvPr id="248" name="Google Shape;248;g3a917d2942c_1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a917d2942c_1_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“General SMR requires replicas to store full state, but BFT storage systems can use erasure coding to reduce storage.”</a:t>
            </a:r>
            <a:br>
              <a:rPr lang="en"/>
            </a:br>
            <a:endParaRPr/>
          </a:p>
          <a:p>
            <a:pPr indent="0" lvl="0" marL="0" rtl="0" algn="l">
              <a:spcBef>
                <a:spcPts val="0"/>
              </a:spcBef>
              <a:spcAft>
                <a:spcPts val="0"/>
              </a:spcAft>
              <a:buNone/>
            </a:pPr>
            <a:r>
              <a:rPr lang="en"/>
              <a:t>BFT Storage only allows read and write operations whereas general SMR needs to support </a:t>
            </a:r>
            <a:r>
              <a:rPr lang="en"/>
              <a:t>arbitrary</a:t>
            </a:r>
            <a:r>
              <a:rPr lang="en"/>
              <a:t> transactions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“Flexible reads—reading only needed fragments—become complicated under erasure coding.”</a:t>
            </a:r>
            <a:br>
              <a:rPr lang="en"/>
            </a:br>
            <a:endParaRPr/>
          </a:p>
          <a:p>
            <a:pPr indent="0" lvl="0" marL="0" rtl="0" algn="l">
              <a:spcBef>
                <a:spcPts val="0"/>
              </a:spcBef>
              <a:spcAft>
                <a:spcPts val="0"/>
              </a:spcAft>
              <a:buClr>
                <a:schemeClr val="dk1"/>
              </a:buClr>
              <a:buSzPts val="1100"/>
              <a:buFont typeface="Arial"/>
              <a:buNone/>
            </a:pPr>
            <a:r>
              <a:rPr lang="en"/>
              <a:t>“BEAT addresses these challenges with new engineering and coding techniques.”</a:t>
            </a:r>
            <a:endParaRPr/>
          </a:p>
          <a:p>
            <a:pPr indent="0" lvl="0" marL="0" rtl="0" algn="l">
              <a:spcBef>
                <a:spcPts val="0"/>
              </a:spcBef>
              <a:spcAft>
                <a:spcPts val="0"/>
              </a:spcAft>
              <a:buNone/>
            </a:pPr>
            <a:r>
              <a:t/>
            </a:r>
            <a:endParaRPr/>
          </a:p>
        </p:txBody>
      </p:sp>
      <p:sp>
        <p:nvSpPr>
          <p:cNvPr id="254" name="Google Shape;254;g3a917d2942c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99f0dd5ef5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99f0dd5ef5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“BEAT introduces a family of asynchronous BFT protocols optimized for different workloads.”</a:t>
            </a:r>
            <a:br>
              <a:rPr lang="en"/>
            </a:br>
            <a:endParaRPr/>
          </a:p>
          <a:p>
            <a:pPr indent="0" lvl="0" marL="0" rtl="0" algn="l">
              <a:spcBef>
                <a:spcPts val="0"/>
              </a:spcBef>
              <a:spcAft>
                <a:spcPts val="0"/>
              </a:spcAft>
              <a:buClr>
                <a:schemeClr val="dk1"/>
              </a:buClr>
              <a:buSzPts val="1100"/>
              <a:buFont typeface="Arial"/>
              <a:buNone/>
            </a:pPr>
            <a:r>
              <a:rPr lang="en"/>
              <a:t>“Each BEAT variant focuses on a different dimension: latency, throughput, bandwidth, or flexible reads.”</a:t>
            </a:r>
            <a:br>
              <a:rPr lang="en"/>
            </a:br>
            <a:endParaRPr/>
          </a:p>
          <a:p>
            <a:pPr indent="0" lvl="0" marL="0" rtl="0" algn="l">
              <a:spcBef>
                <a:spcPts val="0"/>
              </a:spcBef>
              <a:spcAft>
                <a:spcPts val="0"/>
              </a:spcAft>
              <a:buClr>
                <a:schemeClr val="dk1"/>
              </a:buClr>
              <a:buSzPts val="1100"/>
              <a:buFont typeface="Arial"/>
              <a:buNone/>
            </a:pPr>
            <a:r>
              <a:rPr lang="en"/>
              <a:t>“BEAT builds upon HoneyBadgerBFT but improves cryptography, broadcast efficiency, and coding.”</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99f122c5db_6_5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“PBFT is partially synchronous and relies on timeouts and view changes.”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“BEAT is </a:t>
            </a:r>
            <a:r>
              <a:rPr i="1" lang="en">
                <a:solidFill>
                  <a:schemeClr val="dk1"/>
                </a:solidFill>
              </a:rPr>
              <a:t>fully asynchronous</a:t>
            </a:r>
            <a:r>
              <a:rPr lang="en">
                <a:solidFill>
                  <a:schemeClr val="dk1"/>
                </a:solidFill>
              </a:rPr>
              <a:t> and avoids any timing assumptions.”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“PBFT has lower latency in stable networks but cannot guarantee liveness under arbitrary delays.”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“BEAT maintains safety and probabilistic liveness even in unpredictable networks.”</a:t>
            </a:r>
            <a:endParaRPr>
              <a:solidFill>
                <a:schemeClr val="dk1"/>
              </a:solidFill>
            </a:endParaRPr>
          </a:p>
          <a:p>
            <a:pPr indent="0" lvl="0" marL="0" rtl="0" algn="l">
              <a:spcBef>
                <a:spcPts val="0"/>
              </a:spcBef>
              <a:spcAft>
                <a:spcPts val="0"/>
              </a:spcAft>
              <a:buNone/>
            </a:pPr>
            <a:r>
              <a:t/>
            </a:r>
            <a:endParaRPr/>
          </a:p>
        </p:txBody>
      </p:sp>
      <p:sp>
        <p:nvSpPr>
          <p:cNvPr id="266" name="Google Shape;266;g399f122c5db_6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99f0dd5ef5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99f0dd5ef5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Overview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We will look into RBC in detail to understand bracha and AVID.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There are two spots where the crypto encryption is done, one is before the data enters the RBC phase, it encrypts the raw batch of transactions and encrypts them using the cryptograph algorithms. Inside every single </a:t>
            </a:r>
            <a:r>
              <a:rPr b="1" lang="en">
                <a:solidFill>
                  <a:schemeClr val="dk1"/>
                </a:solidFill>
              </a:rPr>
              <a:t>ABA</a:t>
            </a:r>
            <a:r>
              <a:rPr lang="en">
                <a:solidFill>
                  <a:schemeClr val="dk1"/>
                </a:solidFill>
              </a:rPr>
              <a:t> box on the right side of the diagram. When the voting gets stuck (deadlock), the ABA protocol calls for a random number. The nodes execute the </a:t>
            </a:r>
            <a:r>
              <a:rPr b="1" lang="en">
                <a:solidFill>
                  <a:schemeClr val="dk1"/>
                </a:solidFill>
              </a:rPr>
              <a:t>Coin Flip Protocol</a:t>
            </a:r>
            <a:r>
              <a:rPr lang="en">
                <a:solidFill>
                  <a:schemeClr val="dk1"/>
                </a:solidFill>
              </a:rPr>
              <a:t>. Generated the coin by verifying Threshold Signatures (which used pairings). This meant every time the network stuttered, it had to do "Calculus." Uses the </a:t>
            </a:r>
            <a:r>
              <a:rPr b="1" lang="en">
                <a:solidFill>
                  <a:schemeClr val="dk1"/>
                </a:solidFill>
              </a:rPr>
              <a:t>CKS Direct Coin protocol</a:t>
            </a:r>
            <a:r>
              <a:rPr lang="en">
                <a:solidFill>
                  <a:schemeClr val="dk1"/>
                </a:solidFill>
              </a:rPr>
              <a:t> on P-256. Now, every time the network stutters, it just does "Algebra."</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node participates in the AVID protocol for every proposed batch. As soon as a node successfully reconstructs a specific batch—proving it is available—it casts a </a:t>
            </a:r>
            <a:r>
              <a:rPr b="1" lang="en">
                <a:solidFill>
                  <a:schemeClr val="dk1"/>
                </a:solidFill>
              </a:rPr>
              <a:t>'Yes' (1)</a:t>
            </a:r>
            <a:r>
              <a:rPr lang="en">
                <a:solidFill>
                  <a:schemeClr val="dk1"/>
                </a:solidFill>
              </a:rPr>
              <a:t> vote in the ABA instance corresponding to that batch.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If the voting gets stuck in a deadlock, we use a </a:t>
            </a:r>
            <a:r>
              <a:rPr b="1" lang="en">
                <a:solidFill>
                  <a:schemeClr val="dk1"/>
                </a:solidFill>
              </a:rPr>
              <a:t>Random Cryptographic Coin Flip</a:t>
            </a:r>
            <a:r>
              <a:rPr lang="en">
                <a:solidFill>
                  <a:schemeClr val="dk1"/>
                </a:solidFill>
              </a:rPr>
              <a:t> to break the tie and force the network to agree on a value.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Crucially, we don't wait for everyone. As soon as we have 'Yes' votes for a supermajority of batches (</a:t>
            </a:r>
            <a:r>
              <a:rPr b="1" lang="en">
                <a:solidFill>
                  <a:schemeClr val="dk1"/>
                </a:solidFill>
              </a:rPr>
              <a:t>N-f</a:t>
            </a:r>
            <a:r>
              <a:rPr lang="en">
                <a:solidFill>
                  <a:schemeClr val="dk1"/>
                </a:solidFill>
              </a:rPr>
              <a:t>), we stop waiting.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result is a </a:t>
            </a:r>
            <a:r>
              <a:rPr b="1" lang="en">
                <a:solidFill>
                  <a:schemeClr val="dk1"/>
                </a:solidFill>
              </a:rPr>
              <a:t>Binary Vector</a:t>
            </a:r>
            <a:r>
              <a:rPr lang="en">
                <a:solidFill>
                  <a:schemeClr val="dk1"/>
                </a:solidFill>
              </a:rPr>
              <a:t> (e.g., 1, 0, 1) telling us which batches to accept. To ensure Total Order, we take the accepted batches, </a:t>
            </a:r>
            <a:r>
              <a:rPr b="1" lang="en">
                <a:solidFill>
                  <a:schemeClr val="dk1"/>
                </a:solidFill>
              </a:rPr>
              <a:t>sort them deterministically by the Proposer's ID</a:t>
            </a:r>
            <a:r>
              <a:rPr lang="en">
                <a:solidFill>
                  <a:schemeClr val="dk1"/>
                </a:solidFill>
              </a:rPr>
              <a:t>, and execute them. Since everyone sorts the same ingredients by the same rule, everyone writes the exact same ledger history.</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9f0dd5ef5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99f0dd5ef5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So we have two main mathematical gurantees: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If </a:t>
            </a:r>
            <a:r>
              <a:rPr i="1" lang="en">
                <a:solidFill>
                  <a:schemeClr val="dk1"/>
                </a:solidFill>
              </a:rPr>
              <a:t>any</a:t>
            </a:r>
            <a:r>
              <a:rPr lang="en">
                <a:solidFill>
                  <a:schemeClr val="dk1"/>
                </a:solidFill>
              </a:rPr>
              <a:t> correct node delivers a message, the protocol guarantees that </a:t>
            </a:r>
            <a:r>
              <a:rPr i="1" lang="en">
                <a:solidFill>
                  <a:schemeClr val="dk1"/>
                </a:solidFill>
              </a:rPr>
              <a:t>all</a:t>
            </a:r>
            <a:r>
              <a:rPr lang="en">
                <a:solidFill>
                  <a:schemeClr val="dk1"/>
                </a:solidFill>
              </a:rPr>
              <a:t> correct nodes will eventually deliver it. We either all get it, or none of us do.</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If the sender is honest, that message will not be lost.</a:t>
            </a:r>
            <a:endParaRPr>
              <a:solidFill>
                <a:schemeClr val="dk1"/>
              </a:solidFill>
            </a:endParaRPr>
          </a:p>
          <a:p>
            <a:pPr indent="0" lvl="0" marL="0" rtl="0" algn="l">
              <a:lnSpc>
                <a:spcPct val="115000"/>
              </a:lnSpc>
              <a:spcBef>
                <a:spcPts val="0"/>
              </a:spcBef>
              <a:spcAft>
                <a:spcPts val="0"/>
              </a:spcAft>
              <a:buNone/>
            </a:pPr>
            <a:r>
              <a:rPr lang="en">
                <a:solidFill>
                  <a:schemeClr val="dk1"/>
                </a:solidFill>
              </a:rPr>
              <a:t>There are two main algorithm that we will quickly go through it is bracha’s algorithm which has a communication complexity of O(n^2 * B)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Each node sends the message to </a:t>
            </a:r>
            <a:r>
              <a:rPr b="1" lang="en">
                <a:solidFill>
                  <a:schemeClr val="dk1"/>
                </a:solidFill>
              </a:rPr>
              <a:t>N</a:t>
            </a:r>
            <a:r>
              <a:rPr lang="en">
                <a:solidFill>
                  <a:schemeClr val="dk1"/>
                </a:solidFill>
              </a:rPr>
              <a:t> other nodes.</a:t>
            </a:r>
            <a:endParaRPr>
              <a:solidFill>
                <a:schemeClr val="dk1"/>
              </a:solidFill>
            </a:endParaRPr>
          </a:p>
          <a:p>
            <a:pPr indent="0" lvl="0" marL="0" rtl="0" algn="l">
              <a:lnSpc>
                <a:spcPct val="115000"/>
              </a:lnSpc>
              <a:spcBef>
                <a:spcPts val="0"/>
              </a:spcBef>
              <a:spcAft>
                <a:spcPts val="0"/>
              </a:spcAft>
              <a:buNone/>
            </a:pPr>
            <a:r>
              <a:rPr lang="en">
                <a:solidFill>
                  <a:schemeClr val="dk1"/>
                </a:solidFill>
              </a:rPr>
              <a:t>The message size is </a:t>
            </a:r>
            <a:r>
              <a:rPr b="1" lang="en">
                <a:solidFill>
                  <a:schemeClr val="dk1"/>
                </a:solidFill>
              </a:rPr>
              <a:t>B</a:t>
            </a:r>
            <a:r>
              <a:rPr lang="en">
                <a:solidFill>
                  <a:schemeClr val="dk1"/>
                </a:solidFill>
              </a:rPr>
              <a: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and AVID Broadcast which has a complexity of 0(n*B)</a:t>
            </a:r>
            <a:endParaRPr>
              <a:solidFill>
                <a:schemeClr val="dk1"/>
              </a:solidFill>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There are </a:t>
            </a:r>
            <a:r>
              <a:rPr b="1" lang="en">
                <a:solidFill>
                  <a:schemeClr val="dk1"/>
                </a:solidFill>
              </a:rPr>
              <a:t>N</a:t>
            </a:r>
            <a:r>
              <a:rPr lang="en">
                <a:solidFill>
                  <a:schemeClr val="dk1"/>
                </a:solidFill>
              </a:rPr>
              <a:t> nodes.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node sends its fragment to </a:t>
            </a:r>
            <a:r>
              <a:rPr b="1" lang="en">
                <a:solidFill>
                  <a:schemeClr val="dk1"/>
                </a:solidFill>
              </a:rPr>
              <a:t>N</a:t>
            </a:r>
            <a:r>
              <a:rPr lang="en">
                <a:solidFill>
                  <a:schemeClr val="dk1"/>
                </a:solidFill>
              </a:rPr>
              <a:t> other nodes.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size of the data sent is </a:t>
            </a:r>
            <a:r>
              <a:rPr b="1" lang="en">
                <a:solidFill>
                  <a:schemeClr val="dk1"/>
                </a:solidFill>
              </a:rPr>
              <a:t>B/N</a:t>
            </a:r>
            <a:r>
              <a:rPr lang="en">
                <a:solidFill>
                  <a:schemeClr val="dk1"/>
                </a:solidFill>
              </a:rPr>
              <a:t>.</a:t>
            </a:r>
            <a:endParaRPr>
              <a:solidFill>
                <a:schemeClr val="dk1"/>
              </a:solidFill>
            </a:endParaRPr>
          </a:p>
          <a:p>
            <a:pPr indent="0" lvl="0" marL="0" rtl="0" algn="l">
              <a:lnSpc>
                <a:spcPct val="115000"/>
              </a:lnSpc>
              <a:spcBef>
                <a:spcPts val="0"/>
              </a:spcBef>
              <a:spcAft>
                <a:spcPts val="0"/>
              </a:spcAft>
              <a:buNone/>
            </a:pPr>
            <a:r>
              <a:rPr b="1" lang="en">
                <a:solidFill>
                  <a:schemeClr val="dk1"/>
                </a:solidFill>
              </a:rPr>
              <a:t>Total Traffic:</a:t>
            </a:r>
            <a:r>
              <a:rPr lang="en">
                <a:solidFill>
                  <a:schemeClr val="dk1"/>
                </a:solidFill>
              </a:rPr>
              <a:t> N*N*(B/N) = N*B</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917d2942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a917d2942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Phase 1: </a:t>
            </a:r>
            <a:r>
              <a:rPr b="1" lang="en"/>
              <a:t>Initiate (The Proposal)</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The Broadcaster sends the message (or in BEAT's case, the erasure-coded fragments) to all replicas.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Each of the replicas only know for themselves that they have received the message….</a:t>
            </a:r>
            <a:r>
              <a:rPr lang="en">
                <a:solidFill>
                  <a:schemeClr val="dk1"/>
                </a:solidFill>
              </a:rPr>
              <a:t>To solve this, we move to the </a:t>
            </a:r>
            <a:r>
              <a:rPr b="1" lang="en">
                <a:solidFill>
                  <a:schemeClr val="dk1"/>
                </a:solidFill>
              </a:rPr>
              <a:t>Echo</a:t>
            </a:r>
            <a:r>
              <a:rPr lang="en">
                <a:solidFill>
                  <a:schemeClr val="dk1"/>
                </a:solidFill>
              </a:rPr>
              <a:t> phase.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br>
              <a:rPr lang="en">
                <a:solidFill>
                  <a:schemeClr val="dk1"/>
                </a:solidFill>
              </a:rPr>
            </a:br>
            <a:r>
              <a:rPr lang="en">
                <a:solidFill>
                  <a:schemeClr val="dk1"/>
                </a:solidFill>
              </a:rPr>
              <a:t>Phase 2: </a:t>
            </a:r>
            <a:r>
              <a:rPr b="1" lang="en">
                <a:solidFill>
                  <a:schemeClr val="dk1"/>
                </a:solidFill>
              </a:rPr>
              <a:t>Echo (The Verification)</a:t>
            </a:r>
            <a:r>
              <a:rPr lang="en">
                <a:solidFill>
                  <a:schemeClr val="dk1"/>
                </a:solidFill>
              </a:rPr>
              <a:t> To solve this, we move to the </a:t>
            </a:r>
            <a:r>
              <a:rPr b="1" lang="en">
                <a:solidFill>
                  <a:schemeClr val="dk1"/>
                </a:solidFill>
              </a:rPr>
              <a:t>Echo</a:t>
            </a:r>
            <a:r>
              <a:rPr lang="en">
                <a:solidFill>
                  <a:schemeClr val="dk1"/>
                </a:solidFill>
              </a:rPr>
              <a:t> phase.</a:t>
            </a:r>
            <a:endParaRPr>
              <a:solidFill>
                <a:schemeClr val="dk1"/>
              </a:solidFill>
            </a:endParaRPr>
          </a:p>
          <a:p>
            <a:pPr indent="0" lvl="0" marL="0" rtl="0" algn="l">
              <a:spcBef>
                <a:spcPts val="0"/>
              </a:spcBef>
              <a:spcAft>
                <a:spcPts val="0"/>
              </a:spcAft>
              <a:buNone/>
            </a:pPr>
            <a:r>
              <a:rPr lang="en">
                <a:solidFill>
                  <a:schemeClr val="dk1"/>
                </a:solidFill>
              </a:rPr>
              <a:t>As soon as each replica’s get the initial message, they broadcast an </a:t>
            </a:r>
            <a:r>
              <a:rPr b="1" lang="en">
                <a:solidFill>
                  <a:schemeClr val="dk1"/>
                </a:solidFill>
              </a:rPr>
              <a:t>'Echo'</a:t>
            </a:r>
            <a:r>
              <a:rPr lang="en">
                <a:solidFill>
                  <a:schemeClr val="dk1"/>
                </a:solidFill>
              </a:rPr>
              <a:t> to everyone else.</a:t>
            </a:r>
            <a:endParaRPr>
              <a:solidFill>
                <a:schemeClr val="dk1"/>
              </a:solidFill>
            </a:endParaRPr>
          </a:p>
          <a:p>
            <a:pPr indent="0" lvl="0" marL="0" rtl="0" algn="l">
              <a:spcBef>
                <a:spcPts val="0"/>
              </a:spcBef>
              <a:spcAft>
                <a:spcPts val="0"/>
              </a:spcAft>
              <a:buNone/>
            </a:pPr>
            <a:r>
              <a:rPr lang="en">
                <a:solidFill>
                  <a:schemeClr val="dk1"/>
                </a:solidFill>
              </a:rPr>
              <a:t>Wait till 2/3rd of the network </a:t>
            </a:r>
            <a:r>
              <a:rPr lang="en">
                <a:solidFill>
                  <a:schemeClr val="dk1"/>
                </a:solidFill>
              </a:rPr>
              <a:t>receives</a:t>
            </a:r>
            <a:r>
              <a:rPr lang="en">
                <a:solidFill>
                  <a:schemeClr val="dk1"/>
                </a:solidFill>
              </a:rPr>
              <a:t> and has the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Phase 3: </a:t>
            </a:r>
            <a:r>
              <a:rPr b="1" lang="en">
                <a:solidFill>
                  <a:schemeClr val="dk1"/>
                </a:solidFill>
              </a:rPr>
              <a:t>Ready (The Lock-In)</a:t>
            </a:r>
            <a:endParaRPr b="1">
              <a:solidFill>
                <a:schemeClr val="dk1"/>
              </a:solidFill>
            </a:endParaRPr>
          </a:p>
          <a:p>
            <a:pPr indent="0" lvl="0" marL="0" rtl="0" algn="l">
              <a:spcBef>
                <a:spcPts val="0"/>
              </a:spcBef>
              <a:spcAft>
                <a:spcPts val="0"/>
              </a:spcAft>
              <a:buNone/>
            </a:pPr>
            <a:r>
              <a:rPr lang="en">
                <a:solidFill>
                  <a:schemeClr val="dk1"/>
                </a:solidFill>
              </a:rPr>
              <a:t>Even with echoes there may be some honest nodes that still lag behind but here amplification </a:t>
            </a:r>
            <a:r>
              <a:rPr lang="en">
                <a:solidFill>
                  <a:schemeClr val="dk1"/>
                </a:solidFill>
              </a:rPr>
              <a:t>happens</a:t>
            </a:r>
            <a:r>
              <a:rPr lang="en">
                <a:solidFill>
                  <a:schemeClr val="dk1"/>
                </a:solidFill>
              </a:rPr>
              <a:t> and then if f+1 people confirm then it will catch up.</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But here the communication </a:t>
            </a:r>
            <a:r>
              <a:rPr lang="en">
                <a:solidFill>
                  <a:schemeClr val="dk1"/>
                </a:solidFill>
              </a:rPr>
              <a:t>complexity</a:t>
            </a:r>
            <a:r>
              <a:rPr lang="en">
                <a:solidFill>
                  <a:schemeClr val="dk1"/>
                </a:solidFill>
              </a:rPr>
              <a:t> is O(N^2)</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Comparison</a:t>
            </a:r>
            <a:r>
              <a:rPr b="1" lang="en">
                <a:solidFill>
                  <a:schemeClr val="dk1"/>
                </a:solidFill>
              </a:rPr>
              <a:t> with PBFT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n">
                <a:solidFill>
                  <a:schemeClr val="dk1"/>
                </a:solidFill>
              </a:rPr>
              <a:t>You can think of RBC as </a:t>
            </a:r>
            <a:r>
              <a:rPr b="1" lang="en">
                <a:solidFill>
                  <a:schemeClr val="dk1"/>
                </a:solidFill>
              </a:rPr>
              <a:t>'PBFT without the Ordering.'</a:t>
            </a:r>
            <a:r>
              <a:rPr lang="en">
                <a:solidFill>
                  <a:schemeClr val="dk1"/>
                </a:solidFill>
              </a:rPr>
              <a:t> It uses the exact same three-step handshake (Propose -&gt; Verify -&gt; Commit) to ensure security. The main difference is that PBFT crashes if the leader dies, whereas RBC just lets that specific message fail while the rest of the system keeps running.</a:t>
            </a:r>
            <a:endParaRPr b="1">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8189bce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a8189bce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the sender takes the Block B and uses Erasure Coding to split it into N fragments (d1 to d4).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solidFill>
                  <a:schemeClr val="dk1"/>
                </a:solidFill>
              </a:rPr>
              <a:t>Hashing:</a:t>
            </a:r>
            <a:r>
              <a:rPr lang="en">
                <a:solidFill>
                  <a:schemeClr val="dk1"/>
                </a:solidFill>
              </a:rPr>
              <a:t> "Next, the sender calculates the </a:t>
            </a:r>
            <a:r>
              <a:rPr b="1" lang="en">
                <a:solidFill>
                  <a:schemeClr val="dk1"/>
                </a:solidFill>
              </a:rPr>
              <a:t>Hash</a:t>
            </a:r>
            <a:r>
              <a:rPr lang="en">
                <a:solidFill>
                  <a:schemeClr val="dk1"/>
                </a:solidFill>
              </a:rPr>
              <a:t> of </a:t>
            </a:r>
            <a:r>
              <a:rPr i="1" lang="en">
                <a:solidFill>
                  <a:schemeClr val="dk1"/>
                </a:solidFill>
              </a:rPr>
              <a:t>every single fragment</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sender bundles all these red hashes together into a list called the </a:t>
            </a:r>
            <a:r>
              <a:rPr b="1" lang="en">
                <a:solidFill>
                  <a:schemeClr val="dk1"/>
                </a:solidFill>
              </a:rPr>
              <a:t>Cross-Checksum</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Now the sender transmits. Node 1 gets Fragment 1 + the cross checksum. Node 2 gets Fragment 2 + the Cross check sum No one gets the full block.</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8189bcec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a8189bcec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Replica 2 receives fragment d2  and the Cross-Checksum list from the Broadcaster. When it receives echoes of d3 and d4 from peers, it hashes them and validates them against that list before accepting them.</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It doesn't wait for </a:t>
            </a:r>
            <a:r>
              <a:rPr i="1" lang="en">
                <a:solidFill>
                  <a:schemeClr val="dk1"/>
                </a:solidFill>
              </a:rPr>
              <a:t>all</a:t>
            </a:r>
            <a:r>
              <a:rPr lang="en">
                <a:solidFill>
                  <a:schemeClr val="dk1"/>
                </a:solidFill>
              </a:rPr>
              <a:t> fragments; it waits until it collects </a:t>
            </a:r>
            <a:r>
              <a:rPr b="1" lang="en">
                <a:solidFill>
                  <a:schemeClr val="dk1"/>
                </a:solidFill>
              </a:rPr>
              <a:t>f+1 </a:t>
            </a:r>
            <a:r>
              <a:rPr lang="en">
                <a:solidFill>
                  <a:schemeClr val="dk1"/>
                </a:solidFill>
              </a:rPr>
              <a:t>valid pieces (the reconstruction threshold). Once it has enough,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then replica 2 tries to reconstruct Block B. Finally, to verify integrity, it re-encodes Block B into all potential fragments, recalculates their hashes, and confirms they match the original Cross-Checksum list perfectly.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99f0dd5ef5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99f0dd5ef5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Intro:</a:t>
            </a:r>
            <a:r>
              <a:rPr lang="en">
                <a:solidFill>
                  <a:schemeClr val="dk1"/>
                </a:solidFill>
              </a:rPr>
              <a:t> While HoneyBadger was a theoretical breakthrough, its implementation had bottlenecks. BEAT0 is essentially HoneyBadgerBFT v2.0 and is the baseline protocol of the BEAT family. It keeps the exact same architecture but swaps out the slow parts like cryptography and coding for fast. </a:t>
            </a:r>
            <a:endParaRPr>
              <a:solidFill>
                <a:schemeClr val="dk1"/>
              </a:solidFill>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There are two spots where the crypto encryption is done, one is before the data enters the RBC phase, it encrypts the raw batch of transactions and encrypts them using the cryptograph algorithms. Inside every single </a:t>
            </a:r>
            <a:r>
              <a:rPr b="1" lang="en">
                <a:solidFill>
                  <a:schemeClr val="dk1"/>
                </a:solidFill>
              </a:rPr>
              <a:t>ABA</a:t>
            </a:r>
            <a:r>
              <a:rPr lang="en">
                <a:solidFill>
                  <a:schemeClr val="dk1"/>
                </a:solidFill>
              </a:rPr>
              <a:t> box on the right side of the diagram. When the voting gets stuck (deadlock), the ABA protocol calls for a random number. The nodes execute the </a:t>
            </a:r>
            <a:r>
              <a:rPr b="1" lang="en">
                <a:solidFill>
                  <a:schemeClr val="dk1"/>
                </a:solidFill>
              </a:rPr>
              <a:t>Coin Flip Protocol</a:t>
            </a:r>
            <a:r>
              <a:rPr lang="en">
                <a:solidFill>
                  <a:schemeClr val="dk1"/>
                </a:solidFill>
              </a:rPr>
              <a:t>. Generated the coin by verifying Threshold Signatures (which used pairings). This meant every time the network stuttered, it had to do "Calculus." Uses the </a:t>
            </a:r>
            <a:r>
              <a:rPr b="1" lang="en">
                <a:solidFill>
                  <a:schemeClr val="dk1"/>
                </a:solidFill>
              </a:rPr>
              <a:t>CKS Direct Coin protocol</a:t>
            </a:r>
            <a:r>
              <a:rPr lang="en">
                <a:solidFill>
                  <a:schemeClr val="dk1"/>
                </a:solidFill>
              </a:rPr>
              <a:t> on P-256. Now, every time the network stutters, it just does "Algebra."</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b="1" lang="en">
                <a:solidFill>
                  <a:schemeClr val="dk1"/>
                </a:solidFill>
              </a:rPr>
              <a:t>First: </a:t>
            </a:r>
            <a:r>
              <a:rPr lang="en">
                <a:solidFill>
                  <a:schemeClr val="dk1"/>
                </a:solidFill>
              </a:rPr>
              <a:t>It moves the slow pairing based </a:t>
            </a:r>
            <a:r>
              <a:rPr lang="en">
                <a:solidFill>
                  <a:schemeClr val="dk1"/>
                </a:solidFill>
              </a:rPr>
              <a:t>cryptography</a:t>
            </a:r>
            <a:r>
              <a:rPr lang="en">
                <a:solidFill>
                  <a:schemeClr val="dk1"/>
                </a:solidFill>
              </a:rPr>
              <a:t>, which is like we do encryption by multiplying all the signatures of the senders and compress it into one tiny signature to verify it,  to standard elliptic curves referred to as P-256 which is recognized by NIST and used by everyone like (Google, Amazon, Banks) and this is the standard cryptography used to secure the internet as well.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Pairing involves high software intensive operations and P-256 involves hardware intensive tasks by the modern computers have built in special circuits that makes it possible to compute it easily. It is complex but still is proven to be faster and for better security. By implementing this there is also a security update as Honeybadger was using a 80 bit security which could be cracked by supercomputers in few months whereas now it’s being shifted to 128 bit security which will take indefinite time for even supercomputers to crack and overall also made the encryption/decryption 3x faster.</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Second : </a:t>
            </a:r>
            <a:r>
              <a:rPr lang="en">
                <a:solidFill>
                  <a:schemeClr val="dk1"/>
                </a:solidFill>
              </a:rPr>
              <a:t>HoneyBadger generated randomness as a side effect of creating a cryptographic signature. This required heavy, slow math. BEAT0 uses a protocol designed specifically to generate randomness directly using fast, standard math. It cuts out the 'Signature' middleman and the slow math that came with it.</a:t>
            </a:r>
            <a:endParaRPr>
              <a:solidFill>
                <a:schemeClr val="dk1"/>
              </a:solidFill>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Third : </a:t>
            </a:r>
            <a:r>
              <a:rPr lang="en">
                <a:solidFill>
                  <a:schemeClr val="dk1"/>
                </a:solidFill>
              </a:rPr>
              <a:t>It swaps the Python erasure coding library for </a:t>
            </a:r>
            <a:r>
              <a:rPr b="1" lang="en">
                <a:solidFill>
                  <a:schemeClr val="dk1"/>
                </a:solidFill>
              </a:rPr>
              <a:t>Jerasure (C++)</a:t>
            </a:r>
            <a:r>
              <a:rPr lang="en">
                <a:solidFill>
                  <a:schemeClr val="dk1"/>
                </a:solidFill>
              </a:rPr>
              <a:t>. This allows the network to scale beyond 128 nodes which was the hard limit for Honeybadger implementation.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So these 3 changes, results in significant performance gains, stronger security, higher speed, better scalability without changing the core logic.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a90abbbf8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a90abbbf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Replay Attack:</a:t>
            </a:r>
            <a:r>
              <a:rPr lang="en">
                <a:solidFill>
                  <a:schemeClr val="dk1"/>
                </a:solidFill>
              </a:rPr>
              <a:t> A malicious node could take a valid ciphertext from </a:t>
            </a:r>
            <a:r>
              <a:rPr b="1" lang="en">
                <a:solidFill>
                  <a:schemeClr val="dk1"/>
                </a:solidFill>
              </a:rPr>
              <a:t>Epoch 1</a:t>
            </a:r>
            <a:r>
              <a:rPr lang="en">
                <a:solidFill>
                  <a:schemeClr val="dk1"/>
                </a:solidFill>
              </a:rPr>
              <a:t> and broadcast it again in </a:t>
            </a:r>
            <a:r>
              <a:rPr b="1" lang="en">
                <a:solidFill>
                  <a:schemeClr val="dk1"/>
                </a:solidFill>
              </a:rPr>
              <a:t>Epoch 5</a:t>
            </a:r>
            <a:r>
              <a:rPr lang="en">
                <a:solidFill>
                  <a:schemeClr val="dk1"/>
                </a:solidFill>
              </a:rPr>
              <a:t>. </a:t>
            </a:r>
            <a:r>
              <a:rPr i="1" lang="en">
                <a:solidFill>
                  <a:schemeClr val="dk1"/>
                </a:solidFill>
              </a:rPr>
              <a:t>Why is this bad?</a:t>
            </a:r>
            <a:r>
              <a:rPr lang="en">
                <a:solidFill>
                  <a:schemeClr val="dk1"/>
                </a:solidFill>
              </a:rPr>
              <a:t> If the system isn't careful, it might decrypt the old batch again, leading to duplicate transactions or wasted computation.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Malleability (CCA):</a:t>
            </a:r>
            <a:r>
              <a:rPr lang="en">
                <a:solidFill>
                  <a:schemeClr val="dk1"/>
                </a:solidFill>
              </a:rPr>
              <a:t> In some weaker crypto schemes (CPA-secure), an attacker can take a ciphertext C and modify it slightly to create C' which decrypts to a related message. </a:t>
            </a:r>
            <a:r>
              <a:rPr i="1" lang="en">
                <a:solidFill>
                  <a:schemeClr val="dk1"/>
                </a:solidFill>
              </a:rPr>
              <a:t>Why is this bad?</a:t>
            </a:r>
            <a:r>
              <a:rPr lang="en">
                <a:solidFill>
                  <a:schemeClr val="dk1"/>
                </a:solidFill>
              </a:rPr>
              <a:t> An attacker could mess with the decryption process, potentially tricking nodes into revealing information or halting the consensus .</a:t>
            </a:r>
            <a:endParaRPr>
              <a:solidFill>
                <a:schemeClr val="dk1"/>
              </a:solidFill>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None/>
            </a:pPr>
            <a:r>
              <a:rPr lang="en">
                <a:solidFill>
                  <a:schemeClr val="dk1"/>
                </a:solidFill>
              </a:rPr>
              <a:t>TDH2 provides </a:t>
            </a:r>
            <a:r>
              <a:rPr b="1" lang="en">
                <a:solidFill>
                  <a:schemeClr val="dk1"/>
                </a:solidFill>
              </a:rPr>
              <a:t>Chosen Ciphertext Attack (CCA)</a:t>
            </a:r>
            <a:r>
              <a:rPr lang="en">
                <a:solidFill>
                  <a:schemeClr val="dk1"/>
                </a:solidFill>
              </a:rPr>
              <a:t> security. This guarantees that an adversary cannot modify a ciphertext without breaking it entirely. It enforces a strict "integrity check" on the encrypted data.</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a90f73048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a90f73048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BEAT1 is basically </a:t>
            </a:r>
            <a:r>
              <a:rPr b="1" lang="en">
                <a:solidFill>
                  <a:schemeClr val="dk1"/>
                </a:solidFill>
              </a:rPr>
              <a:t>BEAT0</a:t>
            </a:r>
            <a:r>
              <a:rPr lang="en">
                <a:solidFill>
                  <a:schemeClr val="dk1"/>
                </a:solidFill>
              </a:rPr>
              <a:t>, but with one important change — it replaces the erasure-coded broadcast with </a:t>
            </a:r>
            <a:r>
              <a:rPr b="1" lang="en">
                <a:solidFill>
                  <a:schemeClr val="dk1"/>
                </a:solidFill>
              </a:rPr>
              <a:t>Bracha’s Broadcast</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main goal of BEAT1 is to </a:t>
            </a:r>
            <a:r>
              <a:rPr b="1" lang="en">
                <a:solidFill>
                  <a:schemeClr val="dk1"/>
                </a:solidFill>
              </a:rPr>
              <a:t>reduce latency</a:t>
            </a:r>
            <a:r>
              <a:rPr lang="en">
                <a:solidFill>
                  <a:schemeClr val="dk1"/>
                </a:solidFill>
              </a:rPr>
              <a:t>, especially when the system is processing </a:t>
            </a:r>
            <a:r>
              <a:rPr b="1" lang="en">
                <a:solidFill>
                  <a:schemeClr val="dk1"/>
                </a:solidFill>
              </a:rPr>
              <a:t>small batches</a:t>
            </a:r>
            <a:r>
              <a:rPr lang="en">
                <a:solidFill>
                  <a:schemeClr val="dk1"/>
                </a:solidFill>
              </a:rPr>
              <a:t> of transactions.</a:t>
            </a:r>
            <a:br>
              <a:rPr lang="en">
                <a:solidFill>
                  <a:schemeClr val="dk1"/>
                </a:solidFill>
              </a:rPr>
            </a:br>
            <a:r>
              <a:rPr lang="en">
                <a:solidFill>
                  <a:schemeClr val="dk1"/>
                </a:solidFill>
              </a:rPr>
              <a:t> Even with this change, the protocol still keeps the </a:t>
            </a:r>
            <a:r>
              <a:rPr b="1" lang="en">
                <a:solidFill>
                  <a:schemeClr val="dk1"/>
                </a:solidFill>
              </a:rPr>
              <a:t>same security model</a:t>
            </a:r>
            <a:r>
              <a:rPr lang="en">
                <a:solidFill>
                  <a:schemeClr val="dk1"/>
                </a:solidFill>
              </a:rPr>
              <a:t>, and it remains a </a:t>
            </a:r>
            <a:r>
              <a:rPr b="1" lang="en">
                <a:solidFill>
                  <a:schemeClr val="dk1"/>
                </a:solidFill>
              </a:rPr>
              <a:t>fully asynchronous</a:t>
            </a:r>
            <a:r>
              <a:rPr lang="en">
                <a:solidFill>
                  <a:schemeClr val="dk1"/>
                </a:solidFill>
              </a:rPr>
              <a:t> BFT system.</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So overall, BEAT1 is best when the workload is light or when batches are small.</a:t>
            </a:r>
            <a:br>
              <a:rPr lang="en">
                <a:solidFill>
                  <a:schemeClr val="dk1"/>
                </a:solidFill>
              </a:rPr>
            </a:br>
            <a:br>
              <a:rPr lang="en">
                <a:solidFill>
                  <a:schemeClr val="dk1"/>
                </a:solidFill>
              </a:rPr>
            </a:br>
            <a:br>
              <a:rPr lang="en">
                <a:solidFill>
                  <a:schemeClr val="dk1"/>
                </a:solidFill>
              </a:rPr>
            </a:br>
            <a:r>
              <a:rPr lang="en">
                <a:solidFill>
                  <a:schemeClr val="dk1"/>
                </a:solidFill>
              </a:rPr>
              <a:t>Bracha’s Broadcast is a </a:t>
            </a:r>
            <a:r>
              <a:rPr b="1" lang="en">
                <a:solidFill>
                  <a:schemeClr val="dk1"/>
                </a:solidFill>
              </a:rPr>
              <a:t>simple reliable broadcast protocol</a:t>
            </a:r>
            <a:r>
              <a:rPr lang="en">
                <a:solidFill>
                  <a:schemeClr val="dk1"/>
                </a:solidFill>
              </a:rPr>
              <a:t> used in Byzantine systems.</a:t>
            </a:r>
            <a:br>
              <a:rPr lang="en">
                <a:solidFill>
                  <a:schemeClr val="dk1"/>
                </a:solidFill>
              </a:rPr>
            </a:br>
            <a:r>
              <a:rPr lang="en">
                <a:solidFill>
                  <a:schemeClr val="dk1"/>
                </a:solidFill>
              </a:rPr>
              <a:t> Its goal is: </a:t>
            </a:r>
            <a:r>
              <a:rPr b="1" lang="en">
                <a:solidFill>
                  <a:schemeClr val="dk1"/>
                </a:solidFill>
              </a:rPr>
              <a:t>make sure all honest nodes receive the exact same message from a sender, even if the sender is malicious.</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It works using three message steps: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SEND</a:t>
            </a:r>
            <a:r>
              <a:rPr lang="en">
                <a:solidFill>
                  <a:schemeClr val="dk1"/>
                </a:solidFill>
              </a:rPr>
              <a:t> — The sender sends its message to everyone.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ECHO</a:t>
            </a:r>
            <a:r>
              <a:rPr lang="en">
                <a:solidFill>
                  <a:schemeClr val="dk1"/>
                </a:solidFill>
              </a:rPr>
              <a:t> — When a node receives the message, it “echoes” it to everyone else.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READY</a:t>
            </a:r>
            <a:r>
              <a:rPr lang="en">
                <a:solidFill>
                  <a:schemeClr val="dk1"/>
                </a:solidFill>
              </a:rPr>
              <a:t> — Once enough matching ECHOs are received, nodes send READY messages.</a:t>
            </a:r>
            <a:br>
              <a:rPr lang="en">
                <a:solidFill>
                  <a:schemeClr val="dk1"/>
                </a:solidFill>
              </a:rPr>
            </a:br>
            <a:r>
              <a:rPr lang="en">
                <a:solidFill>
                  <a:schemeClr val="dk1"/>
                </a:solidFill>
              </a:rPr>
              <a:t> When enough READY messages are collected, the message is delivered.</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lang="en">
                <a:solidFill>
                  <a:schemeClr val="dk1"/>
                </a:solidFill>
              </a:rPr>
              <a:t>Because everyone keeps echoing and confirming, even if some nodes lie or go silent, the honest nodes will still agree on the same message.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“Bracha’s broadcast, on the other hand, doesn’t use erasure coding at all. It just uses a simple SEND → ECHO → READY message pattern.</a:t>
            </a:r>
            <a:endParaRPr b="1">
              <a:solidFill>
                <a:schemeClr val="dk1"/>
              </a:solidFill>
            </a:endParaRPr>
          </a:p>
          <a:p>
            <a:pPr indent="0" lvl="0" marL="0" rtl="0" algn="l">
              <a:lnSpc>
                <a:spcPct val="115000"/>
              </a:lnSpc>
              <a:spcBef>
                <a:spcPts val="1200"/>
              </a:spcBef>
              <a:spcAft>
                <a:spcPts val="1200"/>
              </a:spcAft>
              <a:buNone/>
            </a:pPr>
            <a:r>
              <a:rPr lang="en">
                <a:solidFill>
                  <a:schemeClr val="dk1"/>
                </a:solidFill>
              </a:rPr>
              <a:t>It has more message exchanges, but the operations are lightweight and almost no expensive cryptography is involved.”</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90f730484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a90f730484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BEAT1 was created because researchers noticed a problem in HoneyBadgerBFT.</a:t>
            </a:r>
            <a:br>
              <a:rPr lang="en">
                <a:solidFill>
                  <a:schemeClr val="dk1"/>
                </a:solidFill>
              </a:rPr>
            </a:br>
            <a:r>
              <a:rPr lang="en">
                <a:solidFill>
                  <a:schemeClr val="dk1"/>
                </a:solidFill>
              </a:rPr>
              <a:t> When the network load is small, the erasure-coded broadcast — called AVID — ends up creating </a:t>
            </a:r>
            <a:r>
              <a:rPr b="1" lang="en">
                <a:solidFill>
                  <a:schemeClr val="dk1"/>
                </a:solidFill>
              </a:rPr>
              <a:t>high latency</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happens because the erasure-coding process, the dispersal of coded fragments, and the verification steps all require </a:t>
            </a:r>
            <a:r>
              <a:rPr b="1" lang="en">
                <a:solidFill>
                  <a:schemeClr val="dk1"/>
                </a:solidFill>
              </a:rPr>
              <a:t>a lot of CPU work</a:t>
            </a:r>
            <a:r>
              <a:rPr lang="en">
                <a:solidFill>
                  <a:schemeClr val="dk1"/>
                </a:solidFill>
              </a:rPr>
              <a:t>, even when the message size is tiny.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Bracha’s Broadcast solves this because it avoids erasure coding completely.</a:t>
            </a:r>
            <a:br>
              <a:rPr lang="en">
                <a:solidFill>
                  <a:schemeClr val="dk1"/>
                </a:solidFill>
              </a:rPr>
            </a:br>
            <a:r>
              <a:rPr lang="en">
                <a:solidFill>
                  <a:schemeClr val="dk1"/>
                </a:solidFill>
              </a:rPr>
              <a:t> It requires </a:t>
            </a:r>
            <a:r>
              <a:rPr b="1" lang="en">
                <a:solidFill>
                  <a:schemeClr val="dk1"/>
                </a:solidFill>
              </a:rPr>
              <a:t>fewer cryptographic operations</a:t>
            </a:r>
            <a:r>
              <a:rPr lang="en">
                <a:solidFill>
                  <a:schemeClr val="dk1"/>
                </a:solidFill>
              </a:rPr>
              <a:t>, </a:t>
            </a:r>
            <a:r>
              <a:rPr b="1" lang="en">
                <a:solidFill>
                  <a:schemeClr val="dk1"/>
                </a:solidFill>
              </a:rPr>
              <a:t>uses less CPU</a:t>
            </a:r>
            <a:r>
              <a:rPr lang="en">
                <a:solidFill>
                  <a:schemeClr val="dk1"/>
                </a:solidFill>
              </a:rPr>
              <a:t>, and is simply </a:t>
            </a:r>
            <a:r>
              <a:rPr b="1" lang="en">
                <a:solidFill>
                  <a:schemeClr val="dk1"/>
                </a:solidFill>
              </a:rPr>
              <a:t>faster in practice for small batches</a:t>
            </a:r>
            <a:r>
              <a:rPr lang="en">
                <a:solidFill>
                  <a:schemeClr val="dk1"/>
                </a:solidFill>
              </a:rPr>
              <a:t>.</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So the motivation for BEAT1 is mainly to remove unnecessary overhead when the system is lightly loaded.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a90f730484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a90f730484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BEAT1 changes only one major component: the </a:t>
            </a:r>
            <a:r>
              <a:rPr b="1" lang="en">
                <a:solidFill>
                  <a:schemeClr val="dk1"/>
                </a:solidFill>
              </a:rPr>
              <a:t>broadcast mechanism</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BEAT0, reliable broadcast uses </a:t>
            </a:r>
            <a:r>
              <a:rPr b="1" lang="en">
                <a:solidFill>
                  <a:schemeClr val="dk1"/>
                </a:solidFill>
              </a:rPr>
              <a:t>erasure-coded AVID</a:t>
            </a:r>
            <a:r>
              <a:rPr lang="en">
                <a:solidFill>
                  <a:schemeClr val="dk1"/>
                </a:solidFill>
              </a:rPr>
              <a:t>, which has a theoretical complexity of </a:t>
            </a:r>
            <a:r>
              <a:rPr b="1" lang="en">
                <a:solidFill>
                  <a:schemeClr val="dk1"/>
                </a:solidFill>
              </a:rPr>
              <a:t>O(n)</a:t>
            </a:r>
            <a:r>
              <a:rPr lang="en">
                <a:solidFill>
                  <a:schemeClr val="dk1"/>
                </a:solidFill>
              </a:rPr>
              <a:t>, but is very heavy in real CPU cost.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BEAT1, they switch to </a:t>
            </a:r>
            <a:r>
              <a:rPr b="1" lang="en">
                <a:solidFill>
                  <a:schemeClr val="dk1"/>
                </a:solidFill>
              </a:rPr>
              <a:t>Bracha’s Broadcast</a:t>
            </a:r>
            <a:r>
              <a:rPr lang="en">
                <a:solidFill>
                  <a:schemeClr val="dk1"/>
                </a:solidFill>
              </a:rPr>
              <a:t>, which has </a:t>
            </a:r>
            <a:r>
              <a:rPr b="1" lang="en">
                <a:solidFill>
                  <a:schemeClr val="dk1"/>
                </a:solidFill>
              </a:rPr>
              <a:t>O(n²)</a:t>
            </a:r>
            <a:r>
              <a:rPr lang="en">
                <a:solidFill>
                  <a:schemeClr val="dk1"/>
                </a:solidFill>
              </a:rPr>
              <a:t> complexity.</a:t>
            </a:r>
            <a:br>
              <a:rPr lang="en">
                <a:solidFill>
                  <a:schemeClr val="dk1"/>
                </a:solidFill>
              </a:rPr>
            </a:br>
            <a:r>
              <a:rPr lang="en">
                <a:solidFill>
                  <a:schemeClr val="dk1"/>
                </a:solidFill>
              </a:rPr>
              <a:t> Even though O(n²) sounds worse on paper, it is actually </a:t>
            </a:r>
            <a:r>
              <a:rPr b="1" lang="en">
                <a:solidFill>
                  <a:schemeClr val="dk1"/>
                </a:solidFill>
              </a:rPr>
              <a:t>much faster for small batch sizes</a:t>
            </a:r>
            <a:r>
              <a:rPr lang="en">
                <a:solidFill>
                  <a:schemeClr val="dk1"/>
                </a:solidFill>
              </a:rPr>
              <a:t> because it avoids all the erasure coding overhead.</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So in practice, Bracha’s Broadcast is CPU-cheap, it does fewer cryptographic operations, and it removes the heavy encoding and verification steps.</a:t>
            </a:r>
            <a:br>
              <a:rPr lang="en">
                <a:solidFill>
                  <a:schemeClr val="dk1"/>
                </a:solidFill>
              </a:rPr>
            </a:br>
            <a:r>
              <a:rPr lang="en">
                <a:solidFill>
                  <a:schemeClr val="dk1"/>
                </a:solidFill>
              </a:rPr>
              <a:t> That’s the main reason BEAT1 performs better under light workloads.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90f730484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a90f730484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BEAT2 focuses on reducing latency even more.</a:t>
            </a:r>
            <a:br>
              <a:rPr lang="en">
                <a:solidFill>
                  <a:schemeClr val="dk1"/>
                </a:solidFill>
              </a:rPr>
            </a:br>
            <a:r>
              <a:rPr lang="en">
                <a:solidFill>
                  <a:schemeClr val="dk1"/>
                </a:solidFill>
              </a:rPr>
              <a:t> Its main idea is to move </a:t>
            </a:r>
            <a:r>
              <a:rPr b="1" lang="en">
                <a:solidFill>
                  <a:schemeClr val="dk1"/>
                </a:solidFill>
              </a:rPr>
              <a:t>threshold encryption from the replicas to the clients</a:t>
            </a:r>
            <a:r>
              <a:rPr lang="en">
                <a:solidFill>
                  <a:schemeClr val="dk1"/>
                </a:solidFill>
              </a:rPr>
              <a:t>.</a:t>
            </a:r>
            <a:br>
              <a:rPr lang="en">
                <a:solidFill>
                  <a:schemeClr val="dk1"/>
                </a:solidFill>
              </a:rPr>
            </a:br>
            <a:r>
              <a:rPr lang="en">
                <a:solidFill>
                  <a:schemeClr val="dk1"/>
                </a:solidFill>
              </a:rPr>
              <a:t> This means clients encrypt their own transactions before sending them to the 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By doing this, replicas have far less cryptographic work to do, which dramatically speeds up the protocol.</a:t>
            </a:r>
            <a:br>
              <a:rPr lang="en">
                <a:solidFill>
                  <a:schemeClr val="dk1"/>
                </a:solidFill>
              </a:rPr>
            </a:br>
            <a:r>
              <a:rPr lang="en">
                <a:solidFill>
                  <a:schemeClr val="dk1"/>
                </a:solidFill>
              </a:rPr>
              <a:t> BEAT2 also introduces </a:t>
            </a:r>
            <a:r>
              <a:rPr b="1" lang="en">
                <a:solidFill>
                  <a:schemeClr val="dk1"/>
                </a:solidFill>
              </a:rPr>
              <a:t>causal ordering</a:t>
            </a:r>
            <a:r>
              <a:rPr lang="en">
                <a:solidFill>
                  <a:schemeClr val="dk1"/>
                </a:solidFill>
              </a:rPr>
              <a:t>, so if one transaction depends on another, they will always be delivered in the correct order.</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“In BEAT0 and BEAT1, replicas are responsible for threshold encryption every single epoch.</a:t>
            </a:r>
            <a:br>
              <a:rPr lang="en">
                <a:solidFill>
                  <a:schemeClr val="dk1"/>
                </a:solidFill>
              </a:rPr>
            </a:br>
            <a:r>
              <a:rPr lang="en">
                <a:solidFill>
                  <a:schemeClr val="dk1"/>
                </a:solidFill>
              </a:rPr>
              <a:t> This is a very expensive cryptographic operation and becomes a major source of latency.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BEAT2 solves this by pushing encryption to the client side.</a:t>
            </a:r>
            <a:br>
              <a:rPr lang="en">
                <a:solidFill>
                  <a:schemeClr val="dk1"/>
                </a:solidFill>
              </a:rPr>
            </a:br>
            <a:r>
              <a:rPr lang="en">
                <a:solidFill>
                  <a:schemeClr val="dk1"/>
                </a:solidFill>
              </a:rPr>
              <a:t> Clients encrypt their own transactions, and replicas only process the ciphertext.</a:t>
            </a:r>
            <a:br>
              <a:rPr lang="en">
                <a:solidFill>
                  <a:schemeClr val="dk1"/>
                </a:solidFill>
              </a:rPr>
            </a:br>
            <a:r>
              <a:rPr lang="en">
                <a:solidFill>
                  <a:schemeClr val="dk1"/>
                </a:solidFill>
              </a:rPr>
              <a:t> This reduces replica workload and leads to </a:t>
            </a:r>
            <a:r>
              <a:rPr b="1" lang="en">
                <a:solidFill>
                  <a:schemeClr val="dk1"/>
                </a:solidFill>
              </a:rPr>
              <a:t>much faster consensus</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So the main contribution here is shifting the heavy crypto away from the consensus path.”</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a90f730484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a90f730484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BEAT2 also introduces </a:t>
            </a:r>
            <a:r>
              <a:rPr b="1" lang="en">
                <a:solidFill>
                  <a:schemeClr val="dk1"/>
                </a:solidFill>
              </a:rPr>
              <a:t>causal ordering</a:t>
            </a:r>
            <a:r>
              <a:rPr lang="en">
                <a:solidFill>
                  <a:schemeClr val="dk1"/>
                </a:solidFill>
              </a:rPr>
              <a:t>.</a:t>
            </a:r>
            <a:br>
              <a:rPr lang="en">
                <a:solidFill>
                  <a:schemeClr val="dk1"/>
                </a:solidFill>
              </a:rPr>
            </a:br>
            <a:r>
              <a:rPr lang="en">
                <a:solidFill>
                  <a:schemeClr val="dk1"/>
                </a:solidFill>
              </a:rPr>
              <a:t> This means that if a transaction T2 depends on T1, the system ensures </a:t>
            </a:r>
            <a:r>
              <a:rPr b="1" lang="en">
                <a:solidFill>
                  <a:schemeClr val="dk1"/>
                </a:solidFill>
              </a:rPr>
              <a:t>T1 is always delivered first</a:t>
            </a:r>
            <a:r>
              <a:rPr lang="en">
                <a:solidFill>
                  <a:schemeClr val="dk1"/>
                </a:solidFill>
              </a:rPr>
              <a:t>.</a:t>
            </a:r>
            <a:br>
              <a:rPr lang="en">
                <a:solidFill>
                  <a:schemeClr val="dk1"/>
                </a:solidFill>
              </a:rPr>
            </a:br>
            <a:r>
              <a:rPr lang="en">
                <a:solidFill>
                  <a:schemeClr val="dk1"/>
                </a:solidFill>
              </a:rPr>
              <a:t> This prevents any adversary from reordering dependent operations and is especially important in payments, trading systems, and any application where order matters.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There are a few tradeoffs:</a:t>
            </a:r>
            <a:br>
              <a:rPr lang="en">
                <a:solidFill>
                  <a:schemeClr val="dk1"/>
                </a:solidFill>
              </a:rPr>
            </a:br>
            <a:r>
              <a:rPr lang="en">
                <a:solidFill>
                  <a:schemeClr val="dk1"/>
                </a:solidFill>
              </a:rPr>
              <a:t> Censorship resistance becomes slightly weaker because attackers might delay messages from specific clients.</a:t>
            </a:r>
            <a:br>
              <a:rPr lang="en">
                <a:solidFill>
                  <a:schemeClr val="dk1"/>
                </a:solidFill>
              </a:rPr>
            </a:br>
            <a:r>
              <a:rPr lang="en">
                <a:solidFill>
                  <a:schemeClr val="dk1"/>
                </a:solidFill>
              </a:rPr>
              <a:t> To avoid that, clients may need to use anonymous networks like Tor.</a:t>
            </a:r>
            <a:br>
              <a:rPr lang="en">
                <a:solidFill>
                  <a:schemeClr val="dk1"/>
                </a:solidFill>
              </a:rPr>
            </a:br>
            <a:r>
              <a:rPr lang="en">
                <a:solidFill>
                  <a:schemeClr val="dk1"/>
                </a:solidFill>
              </a:rPr>
              <a:t> And since clients do the encryption, they handle a bit more work.</a:t>
            </a:r>
            <a:endParaRPr>
              <a:solidFill>
                <a:schemeClr val="dk1"/>
              </a:solidFill>
            </a:endParaRPr>
          </a:p>
          <a:p>
            <a:pPr indent="0" lvl="0" marL="0" rtl="0" algn="l">
              <a:lnSpc>
                <a:spcPct val="115000"/>
              </a:lnSpc>
              <a:spcBef>
                <a:spcPts val="1200"/>
              </a:spcBef>
              <a:spcAft>
                <a:spcPts val="0"/>
              </a:spcAft>
              <a:buNone/>
            </a:pPr>
            <a:r>
              <a:rPr lang="en">
                <a:solidFill>
                  <a:schemeClr val="dk1"/>
                </a:solidFill>
              </a:rPr>
              <a:t>But overall, BEAT2 gives the </a:t>
            </a:r>
            <a:r>
              <a:rPr b="1" lang="en">
                <a:solidFill>
                  <a:schemeClr val="dk1"/>
                </a:solidFill>
              </a:rPr>
              <a:t>lowest latency</a:t>
            </a:r>
            <a:r>
              <a:rPr lang="en">
                <a:solidFill>
                  <a:schemeClr val="dk1"/>
                </a:solidFill>
              </a:rPr>
              <a:t> in the entire BEAT family.</a:t>
            </a:r>
            <a:br>
              <a:rPr lang="en">
                <a:solidFill>
                  <a:schemeClr val="dk1"/>
                </a:solidFill>
              </a:rPr>
            </a:br>
            <a:br>
              <a:rPr lang="en">
                <a:solidFill>
                  <a:schemeClr val="dk1"/>
                </a:solidFill>
              </a:rPr>
            </a:br>
            <a:r>
              <a:rPr b="1" lang="en" sz="1300">
                <a:solidFill>
                  <a:schemeClr val="dk1"/>
                </a:solidFill>
              </a:rPr>
              <a:t>1. Why BEAT2 is slightly weaker</a:t>
            </a:r>
            <a:endParaRPr b="1" sz="1300">
              <a:solidFill>
                <a:schemeClr val="dk1"/>
              </a:solidFill>
            </a:endParaRPr>
          </a:p>
          <a:p>
            <a:pPr indent="0" lvl="0" marL="0" rtl="0" algn="l">
              <a:lnSpc>
                <a:spcPct val="115000"/>
              </a:lnSpc>
              <a:spcBef>
                <a:spcPts val="1200"/>
              </a:spcBef>
              <a:spcAft>
                <a:spcPts val="0"/>
              </a:spcAft>
              <a:buNone/>
            </a:pPr>
            <a:r>
              <a:rPr lang="en">
                <a:solidFill>
                  <a:schemeClr val="dk1"/>
                </a:solidFill>
              </a:rPr>
              <a:t>“In BEAT2, encryption happens on the </a:t>
            </a:r>
            <a:r>
              <a:rPr b="1" lang="en">
                <a:solidFill>
                  <a:schemeClr val="dk1"/>
                </a:solidFill>
              </a:rPr>
              <a:t>client side</a:t>
            </a:r>
            <a:r>
              <a:rPr lang="en">
                <a:solidFill>
                  <a:schemeClr val="dk1"/>
                </a:solidFill>
              </a:rPr>
              <a:t>, not at the replicas.</a:t>
            </a:r>
            <a:br>
              <a:rPr lang="en">
                <a:solidFill>
                  <a:schemeClr val="dk1"/>
                </a:solidFill>
              </a:rPr>
            </a:br>
            <a:r>
              <a:rPr lang="en">
                <a:solidFill>
                  <a:schemeClr val="dk1"/>
                </a:solidFill>
              </a:rPr>
              <a:t> This means replicas immediately see </a:t>
            </a:r>
            <a:r>
              <a:rPr i="1" lang="en">
                <a:solidFill>
                  <a:schemeClr val="dk1"/>
                </a:solidFill>
              </a:rPr>
              <a:t>which client</a:t>
            </a:r>
            <a:r>
              <a:rPr lang="en">
                <a:solidFill>
                  <a:schemeClr val="dk1"/>
                </a:solidFill>
              </a:rPr>
              <a:t> sent a ciphertext, even though they don’t know the contents inside it.</a:t>
            </a:r>
            <a:br>
              <a:rPr lang="en">
                <a:solidFill>
                  <a:schemeClr val="dk1"/>
                </a:solidFill>
              </a:rPr>
            </a:br>
            <a:r>
              <a:rPr lang="en">
                <a:solidFill>
                  <a:schemeClr val="dk1"/>
                </a:solidFill>
              </a:rPr>
              <a:t> A malicious leader or corrupted replicas could selectively </a:t>
            </a:r>
            <a:r>
              <a:rPr b="1" lang="en">
                <a:solidFill>
                  <a:schemeClr val="dk1"/>
                </a:solidFill>
              </a:rPr>
              <a:t>delay or ignore</a:t>
            </a:r>
            <a:r>
              <a:rPr lang="en">
                <a:solidFill>
                  <a:schemeClr val="dk1"/>
                </a:solidFill>
              </a:rPr>
              <a:t> messages from certain clients.”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Use this if someone asks </a:t>
            </a:r>
            <a:r>
              <a:rPr i="1" lang="en">
                <a:solidFill>
                  <a:schemeClr val="dk1"/>
                </a:solidFill>
              </a:rPr>
              <a:t>“Why is it weaker?”</a:t>
            </a:r>
            <a:endParaRPr i="1">
              <a:solidFill>
                <a:schemeClr val="dk1"/>
              </a:solidFill>
            </a:endParaRPr>
          </a:p>
          <a:p>
            <a:pPr indent="0" lvl="0" marL="0" rtl="0" algn="l">
              <a:lnSpc>
                <a:spcPct val="115000"/>
              </a:lnSpc>
              <a:spcBef>
                <a:spcPts val="1200"/>
              </a:spcBef>
              <a:spcAft>
                <a:spcPts val="0"/>
              </a:spcAft>
              <a:buNone/>
            </a:pPr>
            <a:r>
              <a:t/>
            </a:r>
            <a:endParaRPr i="1">
              <a:solidFill>
                <a:schemeClr val="dk1"/>
              </a:solidFill>
            </a:endParaRPr>
          </a:p>
          <a:p>
            <a:pPr indent="0" lvl="0" marL="0" rtl="0" algn="l">
              <a:lnSpc>
                <a:spcPct val="115000"/>
              </a:lnSpc>
              <a:spcBef>
                <a:spcPts val="1400"/>
              </a:spcBef>
              <a:spcAft>
                <a:spcPts val="0"/>
              </a:spcAft>
              <a:buNone/>
            </a:pPr>
            <a:r>
              <a:rPr b="1" lang="en" sz="1300">
                <a:solidFill>
                  <a:schemeClr val="dk1"/>
                </a:solidFill>
              </a:rPr>
              <a:t>✅ 2. What kind of censorship can happen?</a:t>
            </a:r>
            <a:endParaRPr b="1" sz="1300">
              <a:solidFill>
                <a:schemeClr val="dk1"/>
              </a:solidFill>
            </a:endParaRPr>
          </a:p>
          <a:p>
            <a:pPr indent="0" lvl="0" marL="0" rtl="0" algn="l">
              <a:lnSpc>
                <a:spcPct val="115000"/>
              </a:lnSpc>
              <a:spcBef>
                <a:spcPts val="1200"/>
              </a:spcBef>
              <a:spcAft>
                <a:spcPts val="0"/>
              </a:spcAft>
              <a:buNone/>
            </a:pPr>
            <a:r>
              <a:rPr lang="en">
                <a:solidFill>
                  <a:schemeClr val="dk1"/>
                </a:solidFill>
              </a:rPr>
              <a:t>“It’s not content-based censorship because the transaction is still encrypted.</a:t>
            </a:r>
            <a:br>
              <a:rPr lang="en">
                <a:solidFill>
                  <a:schemeClr val="dk1"/>
                </a:solidFill>
              </a:rPr>
            </a:br>
            <a:r>
              <a:rPr lang="en">
                <a:solidFill>
                  <a:schemeClr val="dk1"/>
                </a:solidFill>
              </a:rPr>
              <a:t> The attacker cannot read the transaction.</a:t>
            </a:r>
            <a:br>
              <a:rPr lang="en">
                <a:solidFill>
                  <a:schemeClr val="dk1"/>
                </a:solidFill>
              </a:rPr>
            </a:br>
            <a:r>
              <a:rPr lang="en">
                <a:solidFill>
                  <a:schemeClr val="dk1"/>
                </a:solidFill>
              </a:rPr>
              <a:t> But they </a:t>
            </a:r>
            <a:r>
              <a:rPr i="1" lang="en">
                <a:solidFill>
                  <a:schemeClr val="dk1"/>
                </a:solidFill>
              </a:rPr>
              <a:t>can</a:t>
            </a:r>
            <a:r>
              <a:rPr lang="en">
                <a:solidFill>
                  <a:schemeClr val="dk1"/>
                </a:solidFill>
              </a:rPr>
              <a:t> censor based on the </a:t>
            </a:r>
            <a:r>
              <a:rPr b="1" lang="en">
                <a:solidFill>
                  <a:schemeClr val="dk1"/>
                </a:solidFill>
              </a:rPr>
              <a:t>sender identity</a:t>
            </a:r>
            <a:r>
              <a:rPr lang="en">
                <a:solidFill>
                  <a:schemeClr val="dk1"/>
                </a:solidFill>
              </a:rPr>
              <a:t>, for example ignoring or delaying transactions from a particular client.”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Use if someone asks </a:t>
            </a:r>
            <a:r>
              <a:rPr i="1" lang="en">
                <a:solidFill>
                  <a:schemeClr val="dk1"/>
                </a:solidFill>
              </a:rPr>
              <a:t>“What does censorship mean here?”</a:t>
            </a:r>
            <a:endParaRPr i="1">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a8189bcec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a8189bcec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entire process is required because it generates the </a:t>
            </a:r>
            <a:r>
              <a:rPr b="1" lang="en">
                <a:solidFill>
                  <a:schemeClr val="dk1"/>
                </a:solidFill>
              </a:rPr>
              <a:t>fingerprinted cross-checksum</a:t>
            </a:r>
            <a:r>
              <a:rPr lang="en">
                <a:solidFill>
                  <a:schemeClr val="dk1"/>
                </a:solidFill>
              </a:rPr>
              <a:t>—the small piece of metadata that allows each receiving server to independently verify its fragment is consistent with the whole original block without having to download or reconstruct the data. This local verification capability is the foundation of BEAT3's O(B) bandwidth efficiency.</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fragment belongs with the original block</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a8189bcec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a8189bcec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$n$ (Total Servers):</a:t>
            </a:r>
            <a:r>
              <a:rPr lang="en">
                <a:solidFill>
                  <a:schemeClr val="dk1"/>
                </a:solidFill>
              </a:rPr>
              <a:t> The total number of server replicas participating in the dispersal protocol.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$m$ (Reconstruction Threshold):</a:t>
            </a:r>
            <a:r>
              <a:rPr lang="en">
                <a:solidFill>
                  <a:schemeClr val="dk1"/>
                </a:solidFill>
              </a:rPr>
              <a:t> The minimum number of fragments needed to successfully reconstruct the original data block.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$f$ (Byzantine Faults):</a:t>
            </a:r>
            <a:r>
              <a:rPr lang="en">
                <a:solidFill>
                  <a:schemeClr val="dk1"/>
                </a:solidFill>
              </a:rPr>
              <a:t> The maximum number of servers that are assumed to be faulty or malicious.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Communication complexity</a:t>
            </a:r>
            <a:r>
              <a:rPr lang="en">
                <a:solidFill>
                  <a:schemeClr val="dk1"/>
                </a:solidFill>
              </a:rPr>
              <a:t> is a fundamental metric used in distributed systems and algorithms to measure the </a:t>
            </a:r>
            <a:r>
              <a:rPr b="1" lang="en">
                <a:solidFill>
                  <a:schemeClr val="dk1"/>
                </a:solidFill>
              </a:rPr>
              <a:t>total amount of information (bits)</a:t>
            </a:r>
            <a:r>
              <a:rPr lang="en">
                <a:solidFill>
                  <a:schemeClr val="dk1"/>
                </a:solidFill>
              </a:rPr>
              <a:t> that must be exchanged among parties to successfully complete a protocol or task.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It quantifies the overhead of communication required for a distributed system to achieve its goals, such as consensus or data dispersal.</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a8189bcec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a8189bcec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Bandwidth-efficient</a:t>
            </a:r>
            <a:r>
              <a:rPr lang="en">
                <a:solidFill>
                  <a:schemeClr val="dk1"/>
                </a:solidFill>
              </a:rPr>
              <a:t> describes any protocol, algorithm, or system designed to </a:t>
            </a:r>
            <a:r>
              <a:rPr b="1" lang="en">
                <a:solidFill>
                  <a:schemeClr val="dk1"/>
                </a:solidFill>
              </a:rPr>
              <a:t>minimize the total volume of data transmitted</a:t>
            </a:r>
            <a:r>
              <a:rPr lang="en">
                <a:solidFill>
                  <a:schemeClr val="dk1"/>
                </a:solidFill>
              </a:rPr>
              <a:t> across a network to complete a given task, thereby maximizing the utilization of the available network capacity (bandwidth).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essence, it focuses on achieving the maximum amount of useful work for the fewest number of bits exchanged.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a917d294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a917d294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800"/>
              </a:spcBef>
              <a:spcAft>
                <a:spcPts val="0"/>
              </a:spcAft>
              <a:buClr>
                <a:schemeClr val="dk1"/>
              </a:buClr>
              <a:buSzPts val="1300"/>
              <a:buFont typeface="Noto Sans Symbols"/>
              <a:buAutoNum type="arabicPeriod"/>
            </a:pPr>
            <a:r>
              <a:rPr lang="en" sz="1500">
                <a:solidFill>
                  <a:schemeClr val="dk1"/>
                </a:solidFill>
                <a:latin typeface="Proxima Nova"/>
                <a:ea typeface="Proxima Nova"/>
                <a:cs typeface="Proxima Nova"/>
                <a:sym typeface="Proxima Nova"/>
              </a:rPr>
              <a:t>AVID-FP dispersal: The client uses Erasure Coding to divide the large batch B into N small fragments (d</a:t>
            </a:r>
            <a:r>
              <a:rPr baseline="-25000" lang="en" sz="1500">
                <a:solidFill>
                  <a:schemeClr val="dk1"/>
                </a:solidFill>
                <a:latin typeface="Proxima Nova"/>
                <a:ea typeface="Proxima Nova"/>
                <a:cs typeface="Proxima Nova"/>
                <a:sym typeface="Proxima Nova"/>
              </a:rPr>
              <a:t>1</a:t>
            </a:r>
            <a:r>
              <a:rPr lang="en" sz="1500">
                <a:solidFill>
                  <a:schemeClr val="dk1"/>
                </a:solidFill>
                <a:latin typeface="Proxima Nova"/>
                <a:ea typeface="Proxima Nova"/>
                <a:cs typeface="Proxima Nova"/>
                <a:sym typeface="Proxima Nova"/>
              </a:rPr>
              <a:t>, d</a:t>
            </a:r>
            <a:r>
              <a:rPr baseline="-25000" lang="en" sz="1500">
                <a:solidFill>
                  <a:schemeClr val="dk1"/>
                </a:solidFill>
                <a:latin typeface="Proxima Nova"/>
                <a:ea typeface="Proxima Nova"/>
                <a:cs typeface="Proxima Nova"/>
                <a:sym typeface="Proxima Nova"/>
              </a:rPr>
              <a:t>2</a:t>
            </a:r>
            <a:r>
              <a:rPr lang="en" sz="1500">
                <a:solidFill>
                  <a:schemeClr val="dk1"/>
                </a:solidFill>
                <a:latin typeface="Proxima Nova"/>
                <a:ea typeface="Proxima Nova"/>
                <a:cs typeface="Proxima Nova"/>
                <a:sym typeface="Proxima Nova"/>
              </a:rPr>
              <a:t>,</a:t>
            </a:r>
            <a:r>
              <a:rPr baseline="-25000" lang="en" sz="1500">
                <a:solidFill>
                  <a:schemeClr val="dk1"/>
                </a:solidFill>
                <a:latin typeface="Proxima Nova"/>
                <a:ea typeface="Proxima Nova"/>
                <a:cs typeface="Proxima Nova"/>
                <a:sym typeface="Proxima Nova"/>
              </a:rPr>
              <a:t> </a:t>
            </a:r>
            <a:r>
              <a:rPr lang="en" sz="1500">
                <a:solidFill>
                  <a:schemeClr val="dk1"/>
                </a:solidFill>
                <a:latin typeface="Proxima Nova"/>
                <a:ea typeface="Proxima Nova"/>
                <a:cs typeface="Proxima Nova"/>
                <a:sym typeface="Proxima Nova"/>
              </a:rPr>
              <a:t>d</a:t>
            </a:r>
            <a:r>
              <a:rPr baseline="-25000" lang="en" sz="1500">
                <a:solidFill>
                  <a:schemeClr val="dk1"/>
                </a:solidFill>
                <a:latin typeface="Proxima Nova"/>
                <a:ea typeface="Proxima Nova"/>
                <a:cs typeface="Proxima Nova"/>
                <a:sym typeface="Proxima Nova"/>
              </a:rPr>
              <a:t>3  </a:t>
            </a:r>
            <a:r>
              <a:rPr lang="en" sz="1500">
                <a:solidFill>
                  <a:schemeClr val="dk1"/>
                </a:solidFill>
                <a:latin typeface="Proxima Nova"/>
                <a:ea typeface="Proxima Nova"/>
                <a:cs typeface="Proxima Nova"/>
                <a:sym typeface="Proxima Nova"/>
              </a:rPr>
              <a:t>….. d</a:t>
            </a:r>
            <a:r>
              <a:rPr baseline="-25000" lang="en" sz="1500">
                <a:solidFill>
                  <a:schemeClr val="dk1"/>
                </a:solidFill>
                <a:latin typeface="Proxima Nova"/>
                <a:ea typeface="Proxima Nova"/>
                <a:cs typeface="Proxima Nova"/>
                <a:sym typeface="Proxima Nova"/>
              </a:rPr>
              <a:t>n</a:t>
            </a:r>
            <a:r>
              <a:rPr lang="en" sz="1500">
                <a:solidFill>
                  <a:schemeClr val="dk1"/>
                </a:solidFill>
                <a:latin typeface="Proxima Nova"/>
                <a:ea typeface="Proxima Nova"/>
                <a:cs typeface="Proxima Nova"/>
                <a:sym typeface="Proxima Nova"/>
              </a:rPr>
              <a:t>)</a:t>
            </a:r>
            <a:endParaRPr sz="1500">
              <a:solidFill>
                <a:schemeClr val="dk1"/>
              </a:solidFill>
              <a:latin typeface="Proxima Nova"/>
              <a:ea typeface="Proxima Nova"/>
              <a:cs typeface="Proxima Nova"/>
              <a:sym typeface="Proxima Nova"/>
            </a:endParaRPr>
          </a:p>
          <a:p>
            <a:pPr indent="-311150" lvl="0" marL="457200" rtl="0" algn="l">
              <a:lnSpc>
                <a:spcPct val="115000"/>
              </a:lnSpc>
              <a:spcBef>
                <a:spcPts val="0"/>
              </a:spcBef>
              <a:spcAft>
                <a:spcPts val="0"/>
              </a:spcAft>
              <a:buClr>
                <a:schemeClr val="dk1"/>
              </a:buClr>
              <a:buSzPts val="1300"/>
              <a:buFont typeface="Noto Sans Symbols"/>
              <a:buAutoNum type="arabicPeriod"/>
            </a:pPr>
            <a:r>
              <a:rPr lang="en" sz="1500">
                <a:solidFill>
                  <a:schemeClr val="dk1"/>
                </a:solidFill>
                <a:latin typeface="Proxima Nova"/>
                <a:ea typeface="Proxima Nova"/>
                <a:cs typeface="Proxima Nova"/>
                <a:sym typeface="Proxima Nova"/>
              </a:rPr>
              <a:t>Local verification: When a server receives its fragment d</a:t>
            </a:r>
            <a:r>
              <a:rPr baseline="-25000" lang="en" sz="1500">
                <a:solidFill>
                  <a:schemeClr val="dk1"/>
                </a:solidFill>
                <a:latin typeface="Proxima Nova"/>
                <a:ea typeface="Proxima Nova"/>
                <a:cs typeface="Proxima Nova"/>
                <a:sym typeface="Proxima Nova"/>
              </a:rPr>
              <a:t>i</a:t>
            </a:r>
            <a:r>
              <a:rPr lang="en" sz="1500">
                <a:solidFill>
                  <a:schemeClr val="dk1"/>
                </a:solidFill>
                <a:latin typeface="Proxima Nova"/>
                <a:ea typeface="Proxima Nova"/>
                <a:cs typeface="Proxima Nova"/>
                <a:sym typeface="Proxima Nova"/>
              </a:rPr>
              <a:t>, it performs a mathematical calculation using the Homomorphic Fingerprints</a:t>
            </a:r>
            <a:endParaRPr sz="1500">
              <a:solidFill>
                <a:schemeClr val="dk1"/>
              </a:solidFill>
              <a:latin typeface="Proxima Nova"/>
              <a:ea typeface="Proxima Nova"/>
              <a:cs typeface="Proxima Nova"/>
              <a:sym typeface="Proxima Nova"/>
            </a:endParaRPr>
          </a:p>
          <a:p>
            <a:pPr indent="-311150" lvl="0" marL="457200" rtl="0" algn="l">
              <a:lnSpc>
                <a:spcPct val="115000"/>
              </a:lnSpc>
              <a:spcBef>
                <a:spcPts val="0"/>
              </a:spcBef>
              <a:spcAft>
                <a:spcPts val="0"/>
              </a:spcAft>
              <a:buClr>
                <a:schemeClr val="dk1"/>
              </a:buClr>
              <a:buSzPts val="1300"/>
              <a:buFont typeface="Noto Sans Symbols"/>
              <a:buAutoNum type="arabicPeriod"/>
            </a:pPr>
            <a:r>
              <a:rPr lang="en" sz="1500">
                <a:solidFill>
                  <a:schemeClr val="dk1"/>
                </a:solidFill>
                <a:latin typeface="Proxima Nova"/>
                <a:ea typeface="Proxima Nova"/>
                <a:cs typeface="Proxima Nova"/>
                <a:sym typeface="Proxima Nova"/>
              </a:rPr>
              <a:t>ACS Finalization: ACS manages parallel ABA instances to vote on the availability of each node's checksum, then aggregates the approved metadata to form the final committed block.</a:t>
            </a:r>
            <a:endParaRPr sz="15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is a clear and accurate summary of the three core stages of the </a:t>
            </a:r>
            <a:r>
              <a:rPr b="1" lang="en">
                <a:solidFill>
                  <a:schemeClr val="dk1"/>
                </a:solidFill>
              </a:rPr>
              <a:t>BEAT3</a:t>
            </a:r>
            <a:r>
              <a:rPr lang="en">
                <a:solidFill>
                  <a:schemeClr val="dk1"/>
                </a:solidFill>
              </a:rPr>
              <a:t> protocol's execution logic, demonstrating how it achieves consensus</a:t>
            </a:r>
            <a:r>
              <a:rPr baseline="30000" lang="en" sz="2000">
                <a:solidFill>
                  <a:schemeClr val="dk1"/>
                </a:solidFill>
              </a:rPr>
              <a:t>1</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is an explanation of what each stage contributes to the overall BFT 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700">
                <a:solidFill>
                  <a:schemeClr val="dk1"/>
                </a:solidFill>
              </a:rPr>
              <a:t>The Three Stages of the BEAT3 Protocol</a:t>
            </a:r>
            <a:endParaRPr b="1" sz="17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b="1" lang="en" sz="1300">
                <a:solidFill>
                  <a:schemeClr val="dk1"/>
                </a:solidFill>
              </a:rPr>
              <a:t>1. AVID-FP Dispersal (The Network Efficiency Phase)</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This stage ensures the system minimizes bandwidth costs and efficiently distributes data fragments</a:t>
            </a:r>
            <a:r>
              <a:rPr baseline="30000" lang="en" sz="2000">
                <a:solidFill>
                  <a:schemeClr val="dk1"/>
                </a:solidFill>
              </a:rPr>
              <a:t>22</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Mechanism:</a:t>
            </a:r>
            <a:r>
              <a:rPr lang="en">
                <a:solidFill>
                  <a:schemeClr val="dk1"/>
                </a:solidFill>
              </a:rPr>
              <a:t> The client (proposer) applies </a:t>
            </a:r>
            <a:r>
              <a:rPr b="1" lang="en">
                <a:solidFill>
                  <a:schemeClr val="dk1"/>
                </a:solidFill>
              </a:rPr>
              <a:t>Erasure Coding</a:t>
            </a:r>
            <a:r>
              <a:rPr lang="en">
                <a:solidFill>
                  <a:schemeClr val="dk1"/>
                </a:solidFill>
              </a:rPr>
              <a:t> to the large transaction batch ($B$) to create $N$ small, redundant fragments ($d_1, d_2, \dots d_n$)</a:t>
            </a:r>
            <a:r>
              <a:rPr baseline="30000" lang="en" sz="2000">
                <a:solidFill>
                  <a:schemeClr val="dk1"/>
                </a:solidFill>
              </a:rPr>
              <a:t>3</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Efficiency:</a:t>
            </a:r>
            <a:r>
              <a:rPr lang="en">
                <a:solidFill>
                  <a:schemeClr val="dk1"/>
                </a:solidFill>
              </a:rPr>
              <a:t> The client sends only one unique fragment ($d_i$) and the full </a:t>
            </a:r>
            <a:r>
              <a:rPr b="1" lang="en">
                <a:solidFill>
                  <a:schemeClr val="dk1"/>
                </a:solidFill>
              </a:rPr>
              <a:t>Fingerprinted Cross-Checksum (fpcc)</a:t>
            </a:r>
            <a:r>
              <a:rPr lang="en">
                <a:solidFill>
                  <a:schemeClr val="dk1"/>
                </a:solidFill>
              </a:rPr>
              <a:t> metadata package to each server</a:t>
            </a:r>
            <a:r>
              <a:rPr baseline="30000" lang="en" sz="2000">
                <a:solidFill>
                  <a:schemeClr val="dk1"/>
                </a:solidFill>
              </a:rPr>
              <a:t>4</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Goal:</a:t>
            </a:r>
            <a:r>
              <a:rPr lang="en">
                <a:solidFill>
                  <a:schemeClr val="dk1"/>
                </a:solidFill>
              </a:rPr>
              <a:t> The data moves across the network exactly once, achieving $O(B)$ bandwidth complexity</a:t>
            </a:r>
            <a:r>
              <a:rPr baseline="30000" lang="en" sz="2000">
                <a:solidFill>
                  <a:schemeClr val="dk1"/>
                </a:solidFill>
              </a:rPr>
              <a:t>5</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rPr>
              <a:t>2. Local Verification (The Mathematical Trust Phase)</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This is the critical step that replaces the wasteful network echo found in older protocols, establishing immediate trust in the received fragment</a:t>
            </a:r>
            <a:r>
              <a:rPr baseline="30000" lang="en" sz="2000">
                <a:solidFill>
                  <a:schemeClr val="dk1"/>
                </a:solidFill>
              </a:rPr>
              <a:t>6</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Mechanism:</a:t>
            </a:r>
            <a:r>
              <a:rPr lang="en">
                <a:solidFill>
                  <a:schemeClr val="dk1"/>
                </a:solidFill>
              </a:rPr>
              <a:t> The server uses the </a:t>
            </a:r>
            <a:r>
              <a:rPr b="1" lang="en">
                <a:solidFill>
                  <a:schemeClr val="dk1"/>
                </a:solidFill>
              </a:rPr>
              <a:t>Homomorphic Fingerprints</a:t>
            </a:r>
            <a:r>
              <a:rPr lang="en">
                <a:solidFill>
                  <a:schemeClr val="dk1"/>
                </a:solidFill>
              </a:rPr>
              <a:t> contained within the fpcc to perform a local mathematical check on its fragment ($d_i$)</a:t>
            </a:r>
            <a:r>
              <a:rPr baseline="30000" lang="en" sz="2000">
                <a:solidFill>
                  <a:schemeClr val="dk1"/>
                </a:solidFill>
              </a:rPr>
              <a:t>7</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Goal:</a:t>
            </a:r>
            <a:r>
              <a:rPr lang="en">
                <a:solidFill>
                  <a:schemeClr val="dk1"/>
                </a:solidFill>
              </a:rPr>
              <a:t> The server confirms two things: 1) The fragment is uncorrupted, and 2) It is a mathematically valid piece of the original global block</a:t>
            </a:r>
            <a:r>
              <a:rPr baseline="30000" lang="en" sz="2000">
                <a:solidFill>
                  <a:schemeClr val="dk1"/>
                </a:solidFill>
              </a:rPr>
              <a:t>8</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Result:</a:t>
            </a:r>
            <a:r>
              <a:rPr lang="en">
                <a:solidFill>
                  <a:schemeClr val="dk1"/>
                </a:solidFill>
              </a:rPr>
              <a:t> The server verifies consistency without needing to download any data from its neighboring replicas</a:t>
            </a:r>
            <a:r>
              <a:rPr baseline="30000" lang="en" sz="2000">
                <a:solidFill>
                  <a:schemeClr val="dk1"/>
                </a:solidFill>
              </a:rPr>
              <a:t>9</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rPr>
              <a:t>3. ACS Finalization (The Consensus Phase)</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This stage uses the verified metadata (the checksums) to achieve total order and finalize the block commitment</a:t>
            </a:r>
            <a:r>
              <a:rPr baseline="30000" lang="en" sz="2000">
                <a:solidFill>
                  <a:schemeClr val="dk1"/>
                </a:solidFill>
              </a:rPr>
              <a:t>10</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Mechanism:</a:t>
            </a:r>
            <a:r>
              <a:rPr lang="en">
                <a:solidFill>
                  <a:schemeClr val="dk1"/>
                </a:solidFill>
              </a:rPr>
              <a:t> The </a:t>
            </a:r>
            <a:r>
              <a:rPr b="1" lang="en">
                <a:solidFill>
                  <a:schemeClr val="dk1"/>
                </a:solidFill>
              </a:rPr>
              <a:t>ACS (Asynchronous Common Subset)</a:t>
            </a:r>
            <a:r>
              <a:rPr lang="en">
                <a:solidFill>
                  <a:schemeClr val="dk1"/>
                </a:solidFill>
              </a:rPr>
              <a:t> framework manages $N$ parallel instances of </a:t>
            </a:r>
            <a:r>
              <a:rPr b="1" lang="en">
                <a:solidFill>
                  <a:schemeClr val="dk1"/>
                </a:solidFill>
              </a:rPr>
              <a:t>ABA (Asynchronous Binary Agreement)</a:t>
            </a:r>
            <a:r>
              <a:rPr baseline="30000" lang="en" sz="2000">
                <a:solidFill>
                  <a:schemeClr val="dk1"/>
                </a:solidFill>
              </a:rPr>
              <a:t>11</a:t>
            </a:r>
            <a:r>
              <a:rPr lang="en">
                <a:solidFill>
                  <a:schemeClr val="dk1"/>
                </a:solidFill>
              </a:rPr>
              <a:t>. Each ABA instance votes (0 or 1) on whether a specific node's checksum was successfully dispersed and locally verified</a:t>
            </a:r>
            <a:r>
              <a:rPr baseline="30000" lang="en" sz="2000">
                <a:solidFill>
                  <a:schemeClr val="dk1"/>
                </a:solidFill>
              </a:rPr>
              <a:t>12</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Aggregation:</a:t>
            </a:r>
            <a:r>
              <a:rPr lang="en">
                <a:solidFill>
                  <a:schemeClr val="dk1"/>
                </a:solidFill>
              </a:rPr>
              <a:t> ACS collects all the checksums that received a "Yes" vote, and that approved metadata list becomes the </a:t>
            </a:r>
            <a:r>
              <a:rPr b="1" lang="en">
                <a:solidFill>
                  <a:schemeClr val="dk1"/>
                </a:solidFill>
              </a:rPr>
              <a:t>final committed block</a:t>
            </a:r>
            <a:r>
              <a:rPr lang="en">
                <a:solidFill>
                  <a:schemeClr val="dk1"/>
                </a:solidFill>
              </a:rPr>
              <a:t> for the epoch</a:t>
            </a:r>
            <a:r>
              <a:rPr baseline="30000" lang="en" sz="2000">
                <a:solidFill>
                  <a:schemeClr val="dk1"/>
                </a:solidFill>
              </a:rPr>
              <a:t>13</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Result:</a:t>
            </a:r>
            <a:r>
              <a:rPr lang="en">
                <a:solidFill>
                  <a:schemeClr val="dk1"/>
                </a:solidFill>
              </a:rPr>
              <a:t> The network successfully agrees on a consistent, totally ordered sequence of transactions using only minimal metadata exchange</a:t>
            </a:r>
            <a:r>
              <a:rPr baseline="30000" lang="en" sz="2000">
                <a:solidFill>
                  <a:schemeClr val="dk1"/>
                </a:solidFill>
              </a:rPr>
              <a:t>14</a:t>
            </a:r>
            <a:r>
              <a:rPr lang="en">
                <a:solidFill>
                  <a:schemeClr val="dk1"/>
                </a:solidFill>
              </a:rPr>
              <a: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a928e7673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a928e7673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Optimized bandwidth for read operation:</a:t>
            </a:r>
            <a:br>
              <a:rPr lang="en">
                <a:solidFill>
                  <a:schemeClr val="dk1"/>
                </a:solidFill>
              </a:rPr>
            </a:br>
            <a:br>
              <a:rPr lang="en">
                <a:solidFill>
                  <a:schemeClr val="dk1"/>
                </a:solidFill>
              </a:rPr>
            </a:br>
            <a:r>
              <a:rPr lang="en">
                <a:solidFill>
                  <a:schemeClr val="dk1"/>
                </a:solidFill>
              </a:rPr>
              <a:t>In many blockchain systems, when a client needs only a </a:t>
            </a:r>
            <a:r>
              <a:rPr i="1" lang="en">
                <a:solidFill>
                  <a:schemeClr val="dk1"/>
                </a:solidFill>
              </a:rPr>
              <a:t>small part</a:t>
            </a:r>
            <a:r>
              <a:rPr lang="en">
                <a:solidFill>
                  <a:schemeClr val="dk1"/>
                </a:solidFill>
              </a:rPr>
              <a:t> of a large block -say </a:t>
            </a:r>
            <a:r>
              <a:rPr b="1" lang="en">
                <a:solidFill>
                  <a:schemeClr val="dk1"/>
                </a:solidFill>
              </a:rPr>
              <a:t>one transaction or the first few lines of a contract - </a:t>
            </a:r>
            <a:r>
              <a:rPr lang="en">
                <a:solidFill>
                  <a:schemeClr val="dk1"/>
                </a:solidFill>
              </a:rPr>
              <a:t>they are still forced to </a:t>
            </a:r>
            <a:r>
              <a:rPr b="1" lang="en">
                <a:solidFill>
                  <a:schemeClr val="dk1"/>
                </a:solidFill>
              </a:rPr>
              <a:t>download the </a:t>
            </a:r>
            <a:r>
              <a:rPr b="1" i="1" lang="en">
                <a:solidFill>
                  <a:schemeClr val="dk1"/>
                </a:solidFill>
              </a:rPr>
              <a:t>entire</a:t>
            </a:r>
            <a:r>
              <a:rPr b="1" lang="en">
                <a:solidFill>
                  <a:schemeClr val="dk1"/>
                </a:solidFill>
              </a:rPr>
              <a:t> block</a:t>
            </a:r>
            <a:r>
              <a:rPr lang="en">
                <a:solidFill>
                  <a:schemeClr val="dk1"/>
                </a:solidFill>
              </a:rPr>
              <a:t>.</a:t>
            </a:r>
            <a:br>
              <a:rPr lang="en">
                <a:solidFill>
                  <a:schemeClr val="dk1"/>
                </a:solidFill>
              </a:rPr>
            </a:br>
            <a:br>
              <a:rPr lang="en">
                <a:solidFill>
                  <a:schemeClr val="dk1"/>
                </a:solidFill>
              </a:rPr>
            </a:br>
            <a:r>
              <a:rPr lang="en">
                <a:solidFill>
                  <a:schemeClr val="dk1"/>
                </a:solidFill>
              </a:rPr>
              <a:t>This reduces read </a:t>
            </a:r>
            <a:r>
              <a:rPr b="1" lang="en">
                <a:solidFill>
                  <a:schemeClr val="dk1"/>
                </a:solidFill>
              </a:rPr>
              <a:t>bandwidth by nearly 50%</a:t>
            </a:r>
            <a:r>
              <a:rPr lang="en">
                <a:solidFill>
                  <a:schemeClr val="dk1"/>
                </a:solidFill>
              </a:rPr>
              <a:t>, while increasing</a:t>
            </a:r>
            <a:r>
              <a:rPr b="1" lang="en">
                <a:solidFill>
                  <a:schemeClr val="dk1"/>
                </a:solidFill>
              </a:rPr>
              <a:t> storage by just around 10%</a:t>
            </a:r>
            <a:r>
              <a:rPr lang="en">
                <a:solidFill>
                  <a:schemeClr val="dk1"/>
                </a:solidFill>
              </a:rPr>
              <a: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a928e76732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a928e76732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pyramid codes</a:t>
            </a:r>
            <a:r>
              <a:rPr lang="en">
                <a:solidFill>
                  <a:schemeClr val="dk1"/>
                </a:solidFill>
              </a:rPr>
              <a:t> – which are like traditional erasure codes but structured into groups that each have their own small, cheap-to-use redundancy. </a:t>
            </a:r>
            <a:endParaRPr>
              <a:solidFill>
                <a:schemeClr val="dk1"/>
              </a:solidFill>
            </a:endParaRPr>
          </a:p>
          <a:p>
            <a:pPr indent="0" lvl="0" marL="0" rtl="0" algn="l">
              <a:lnSpc>
                <a:spcPct val="115000"/>
              </a:lnSpc>
              <a:spcBef>
                <a:spcPts val="1200"/>
              </a:spcBef>
              <a:spcAft>
                <a:spcPts val="0"/>
              </a:spcAft>
              <a:buNone/>
            </a:pPr>
            <a:r>
              <a:rPr b="1" lang="en">
                <a:solidFill>
                  <a:schemeClr val="dk1"/>
                </a:solidFill>
                <a:latin typeface="Proxima Nova"/>
                <a:ea typeface="Proxima Nova"/>
                <a:cs typeface="Proxima Nova"/>
                <a:sym typeface="Proxima Nova"/>
              </a:rPr>
              <a:t>Fingerprinted Cross-Checksums:</a:t>
            </a:r>
            <a:br>
              <a:rPr b="1" lang="en" sz="1500">
                <a:solidFill>
                  <a:schemeClr val="dk1"/>
                </a:solidFill>
                <a:latin typeface="Proxima Nova"/>
                <a:ea typeface="Proxima Nova"/>
                <a:cs typeface="Proxima Nova"/>
                <a:sym typeface="Proxima Nova"/>
              </a:rPr>
            </a:br>
            <a:r>
              <a:rPr lang="en">
                <a:solidFill>
                  <a:schemeClr val="dk1"/>
                </a:solidFill>
              </a:rPr>
              <a:t>This ensures </a:t>
            </a:r>
            <a:r>
              <a:rPr b="1" lang="en">
                <a:solidFill>
                  <a:schemeClr val="dk1"/>
                </a:solidFill>
              </a:rPr>
              <a:t>each fragment is verifiable</a:t>
            </a:r>
            <a:r>
              <a:rPr lang="en">
                <a:solidFill>
                  <a:schemeClr val="dk1"/>
                </a:solidFill>
              </a:rPr>
              <a:t>—so even if some servers are malicious, the client can still trust the </a:t>
            </a:r>
            <a:r>
              <a:rPr b="1" lang="en">
                <a:solidFill>
                  <a:schemeClr val="dk1"/>
                </a:solidFill>
              </a:rPr>
              <a:t>fragment’s correctness.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AVID-FP-Pyramid</a:t>
            </a:r>
            <a:r>
              <a:rPr lang="en">
                <a:solidFill>
                  <a:schemeClr val="dk1"/>
                </a:solidFill>
              </a:rPr>
              <a:t>, which handles how data is encoded, distributed, verified, and later retrieved.</a:t>
            </a:r>
            <a:endParaRPr b="1">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a928e76732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a928e76732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a:solidFill>
                  <a:schemeClr val="dk1"/>
                </a:solidFill>
              </a:rPr>
              <a:t>MDS guarantees</a:t>
            </a:r>
            <a:r>
              <a:rPr lang="en">
                <a:solidFill>
                  <a:schemeClr val="dk1"/>
                </a:solidFill>
              </a:rPr>
              <a:t> something important: </a:t>
            </a:r>
            <a:r>
              <a:rPr i="1" lang="en">
                <a:solidFill>
                  <a:schemeClr val="dk1"/>
                </a:solidFill>
              </a:rPr>
              <a:t>any</a:t>
            </a:r>
            <a:r>
              <a:rPr lang="en">
                <a:solidFill>
                  <a:schemeClr val="dk1"/>
                </a:solidFill>
              </a:rPr>
              <a:t> 6 fragments can recover the original data.</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a928e76732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a928e76732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still have one redundant fragment left: d7.</a:t>
            </a:r>
            <a:br>
              <a:rPr lang="en">
                <a:solidFill>
                  <a:schemeClr val="dk1"/>
                </a:solidFill>
              </a:rPr>
            </a:br>
            <a:r>
              <a:rPr lang="en">
                <a:solidFill>
                  <a:schemeClr val="dk1"/>
                </a:solidFill>
              </a:rPr>
              <a:t>We split d7 into two local versions—one per group.</a:t>
            </a:r>
            <a:br>
              <a:rPr lang="en">
                <a:solidFill>
                  <a:schemeClr val="dk1"/>
                </a:solidFill>
              </a:rPr>
            </a:br>
            <a:r>
              <a:rPr lang="en">
                <a:solidFill>
                  <a:schemeClr val="dk1"/>
                </a:solidFill>
              </a:rPr>
              <a:t>To do that, we zero out all coefficients that don’t belong to the group.</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So pyramid codes preserve linearity while enabling local repair.</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a928e76732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a928e76732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This is where the </a:t>
            </a:r>
            <a:r>
              <a:rPr b="1" lang="en"/>
              <a:t>50% bandwidth savings</a:t>
            </a:r>
            <a:r>
              <a:rPr lang="en"/>
              <a:t> comes from.</a:t>
            </a:r>
            <a:endParaRPr/>
          </a:p>
          <a:p>
            <a:pPr indent="0" lvl="0" marL="0" rtl="0" algn="l">
              <a:lnSpc>
                <a:spcPct val="115000"/>
              </a:lnSpc>
              <a:spcBef>
                <a:spcPts val="1200"/>
              </a:spcBef>
              <a:spcAft>
                <a:spcPts val="0"/>
              </a:spcAft>
              <a:buNone/>
            </a:pPr>
            <a:r>
              <a:rPr lang="en"/>
              <a:t>If more fragments are lost inside the group, we fall back to</a:t>
            </a:r>
            <a:r>
              <a:rPr b="1" lang="en"/>
              <a:t> global decoding</a:t>
            </a:r>
            <a:r>
              <a:rPr lang="en"/>
              <a:t>, but that’s rare.</a:t>
            </a:r>
            <a:endParaRPr/>
          </a:p>
          <a:p>
            <a:pPr indent="0" lvl="0" marL="0" rtl="0" algn="l">
              <a:lnSpc>
                <a:spcPct val="115000"/>
              </a:lnSpc>
              <a:spcBef>
                <a:spcPts val="1400"/>
              </a:spcBef>
              <a:spcAft>
                <a:spcPts val="0"/>
              </a:spcAft>
              <a:buNone/>
            </a:pPr>
            <a:r>
              <a:rPr b="1" lang="en" sz="1300">
                <a:solidFill>
                  <a:schemeClr val="dk1"/>
                </a:solidFill>
              </a:rPr>
              <a:t>Known fragments: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d3 (survived)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d4, d5, d6 (other group)</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d8, d9 (global redundancy)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d7 (reconstructed)</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lang="en">
                <a:solidFill>
                  <a:schemeClr val="dk1"/>
                </a:solidFill>
              </a:rPr>
              <a:t>That’s </a:t>
            </a:r>
            <a:r>
              <a:rPr b="1" lang="en">
                <a:solidFill>
                  <a:schemeClr val="dk1"/>
                </a:solidFill>
              </a:rPr>
              <a:t>6 valid fragments</a:t>
            </a:r>
            <a:r>
              <a:rPr lang="en">
                <a:solidFill>
                  <a:schemeClr val="dk1"/>
                </a:solidFill>
              </a:rPr>
              <a:t>, which is enough to decode the original (9,6) MDS code.</a:t>
            </a:r>
            <a:br>
              <a:rPr lang="en">
                <a:solidFill>
                  <a:schemeClr val="dk1"/>
                </a:solidFill>
              </a:rPr>
            </a:br>
            <a:r>
              <a:rPr lang="en">
                <a:solidFill>
                  <a:schemeClr val="dk1"/>
                </a:solidFill>
              </a:rPr>
              <a:t>So with these:</a:t>
            </a:r>
            <a:br>
              <a:rPr lang="en">
                <a:solidFill>
                  <a:schemeClr val="dk1"/>
                </a:solidFill>
              </a:rPr>
            </a:br>
            <a:r>
              <a:rPr lang="en">
                <a:solidFill>
                  <a:schemeClr val="dk1"/>
                </a:solidFill>
              </a:rPr>
              <a:t>—We run the standard Reed–Solomon MDS decoding to recover </a:t>
            </a:r>
            <a:r>
              <a:rPr b="1" lang="en">
                <a:solidFill>
                  <a:schemeClr val="dk1"/>
                </a:solidFill>
              </a:rPr>
              <a:t>d1</a:t>
            </a:r>
            <a:r>
              <a:rPr lang="en">
                <a:solidFill>
                  <a:schemeClr val="dk1"/>
                </a:solidFill>
              </a:rPr>
              <a:t> and </a:t>
            </a:r>
            <a:r>
              <a:rPr b="1" lang="en">
                <a:solidFill>
                  <a:schemeClr val="dk1"/>
                </a:solidFill>
              </a:rPr>
              <a:t>d2</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a928e76732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a928e76732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Disperse</a:t>
            </a:r>
            <a:r>
              <a:rPr lang="en">
                <a:solidFill>
                  <a:schemeClr val="dk1"/>
                </a:solidFill>
              </a:rPr>
              <a:t> — store the encoded fragments across servers.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Retrieve</a:t>
            </a:r>
            <a:r>
              <a:rPr lang="en">
                <a:solidFill>
                  <a:schemeClr val="dk1"/>
                </a:solidFill>
              </a:rPr>
              <a:t> — reconstruct the full block when needed.</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Read</a:t>
            </a:r>
            <a:r>
              <a:rPr lang="en">
                <a:solidFill>
                  <a:schemeClr val="dk1"/>
                </a:solidFill>
              </a:rPr>
              <a:t> — efficiently read just a single fragment, which is BEAT-4’s main optimization.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a928e76732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a928e76732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a928e76732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a928e76732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This FPCC contains:</a:t>
            </a:r>
            <a:br>
              <a:rPr lang="en">
                <a:solidFill>
                  <a:schemeClr val="dk1"/>
                </a:solidFill>
              </a:rPr>
            </a:br>
            <a:r>
              <a:rPr lang="en">
                <a:solidFill>
                  <a:schemeClr val="dk1"/>
                </a:solidFill>
              </a:rPr>
              <a:t>Hashes of all fragments,</a:t>
            </a:r>
            <a:br>
              <a:rPr lang="en">
                <a:solidFill>
                  <a:schemeClr val="dk1"/>
                </a:solidFill>
              </a:rPr>
            </a:br>
            <a:r>
              <a:rPr lang="en">
                <a:solidFill>
                  <a:schemeClr val="dk1"/>
                </a:solidFill>
              </a:rPr>
              <a:t>Fingerprints of the m original data fragments.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client will send each server: its own fragment </a:t>
            </a:r>
            <a:r>
              <a:rPr i="1" lang="en">
                <a:solidFill>
                  <a:schemeClr val="dk1"/>
                </a:solidFill>
              </a:rPr>
              <a:t>and</a:t>
            </a:r>
            <a:r>
              <a:rPr lang="en">
                <a:solidFill>
                  <a:schemeClr val="dk1"/>
                </a:solidFill>
              </a:rPr>
              <a:t> the entire FPCC.</a:t>
            </a:r>
            <a:endParaRPr>
              <a:solidFill>
                <a:schemeClr val="dk1"/>
              </a:solidFill>
            </a:endParaRPr>
          </a:p>
          <a:p>
            <a:pPr indent="0" lvl="0" marL="0" rtl="0" algn="l">
              <a:spcBef>
                <a:spcPts val="1200"/>
              </a:spcBef>
              <a:spcAft>
                <a:spcPts val="0"/>
              </a:spcAft>
              <a:buNone/>
            </a:pPr>
            <a:r>
              <a:rPr lang="en">
                <a:solidFill>
                  <a:schemeClr val="dk1"/>
                </a:solidFill>
              </a:rPr>
              <a:t>After verification, servers exchange </a:t>
            </a:r>
            <a:r>
              <a:rPr b="1" lang="en">
                <a:solidFill>
                  <a:schemeClr val="dk1"/>
                </a:solidFill>
              </a:rPr>
              <a:t>‘echo’ </a:t>
            </a:r>
            <a:r>
              <a:rPr lang="en">
                <a:solidFill>
                  <a:schemeClr val="dk1"/>
                </a:solidFill>
              </a:rPr>
              <a:t>and </a:t>
            </a:r>
            <a:r>
              <a:rPr b="1" lang="en">
                <a:solidFill>
                  <a:schemeClr val="dk1"/>
                </a:solidFill>
              </a:rPr>
              <a:t>‘ready’ </a:t>
            </a:r>
            <a:r>
              <a:rPr lang="en">
                <a:solidFill>
                  <a:schemeClr val="dk1"/>
                </a:solidFill>
              </a:rPr>
              <a:t>messages among themselves.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Once they see </a:t>
            </a:r>
            <a:r>
              <a:rPr b="1" lang="en">
                <a:solidFill>
                  <a:schemeClr val="dk1"/>
                </a:solidFill>
              </a:rPr>
              <a:t>2f + 1 </a:t>
            </a:r>
            <a:r>
              <a:rPr lang="en">
                <a:solidFill>
                  <a:schemeClr val="dk1"/>
                </a:solidFill>
              </a:rPr>
              <a:t>matching ‘</a:t>
            </a:r>
            <a:r>
              <a:rPr b="1" lang="en">
                <a:solidFill>
                  <a:schemeClr val="dk1"/>
                </a:solidFill>
              </a:rPr>
              <a:t>ready</a:t>
            </a:r>
            <a:r>
              <a:rPr lang="en">
                <a:solidFill>
                  <a:schemeClr val="dk1"/>
                </a:solidFill>
              </a:rPr>
              <a:t>’ messages, the fragment is officially considered dispersed.</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a928e76732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a928e76732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First, it collects FPCC from f+1 servers to ensure consistency.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Next, it collects </a:t>
            </a:r>
            <a:r>
              <a:rPr b="1" lang="en">
                <a:solidFill>
                  <a:schemeClr val="dk1"/>
                </a:solidFill>
              </a:rPr>
              <a:t>m + д₀(L − 1)</a:t>
            </a:r>
            <a:r>
              <a:rPr lang="en">
                <a:solidFill>
                  <a:schemeClr val="dk1"/>
                </a:solidFill>
              </a:rPr>
              <a:t> consistent fragments — this is the number needed for full reconstruction under pyramid codes.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Finally, it runs the pyramid decoding algorithm to get back the entire block.</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Even if up to f servers are malicious, retrieval is guaranteed to succeed.</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a928e76732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a928e76732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a:t>
            </a:r>
            <a:r>
              <a:rPr b="1" lang="en">
                <a:solidFill>
                  <a:schemeClr val="dk1"/>
                </a:solidFill>
              </a:rPr>
              <a:t>Optimistic Mode</a:t>
            </a:r>
            <a:r>
              <a:rPr lang="en">
                <a:solidFill>
                  <a:schemeClr val="dk1"/>
                </a:solidFill>
              </a:rPr>
              <a:t>, the client wants just one fragment.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First, it gets FPCC from all servers. This is small and cheap.</a:t>
            </a:r>
            <a:br>
              <a:rPr lang="en">
                <a:solidFill>
                  <a:schemeClr val="dk1"/>
                </a:solidFill>
              </a:rPr>
            </a:br>
            <a:br>
              <a:rPr lang="en">
                <a:solidFill>
                  <a:schemeClr val="dk1"/>
                </a:solidFill>
              </a:rPr>
            </a:br>
            <a:r>
              <a:rPr lang="en">
                <a:solidFill>
                  <a:schemeClr val="dk1"/>
                </a:solidFill>
              </a:rPr>
              <a:t>Only if the entire group is corrupted do we fall back to a full global decode.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layered fallback strategy makes reads extremely efficient.</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a928e76732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a928e76732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Instead of trying server</a:t>
            </a:r>
            <a:r>
              <a:rPr b="1" lang="en">
                <a:solidFill>
                  <a:schemeClr val="dk1"/>
                </a:solidFill>
              </a:rPr>
              <a:t> i</a:t>
            </a:r>
            <a:r>
              <a:rPr lang="en">
                <a:solidFill>
                  <a:schemeClr val="dk1"/>
                </a:solidFill>
              </a:rPr>
              <a:t> first, the client skips directly to the entire local group.</a:t>
            </a:r>
            <a:br>
              <a:rPr lang="en">
                <a:solidFill>
                  <a:schemeClr val="dk1"/>
                </a:solidFill>
              </a:rPr>
            </a:br>
            <a:br>
              <a:rPr lang="en">
                <a:solidFill>
                  <a:schemeClr val="dk1"/>
                </a:solidFill>
              </a:rPr>
            </a:br>
            <a:r>
              <a:rPr lang="en">
                <a:solidFill>
                  <a:schemeClr val="dk1"/>
                </a:solidFill>
              </a:rPr>
              <a:t>Even then, reading from the local group is still about </a:t>
            </a:r>
            <a:r>
              <a:rPr b="1" lang="en">
                <a:solidFill>
                  <a:schemeClr val="dk1"/>
                </a:solidFill>
              </a:rPr>
              <a:t>50% cheaper</a:t>
            </a:r>
            <a:r>
              <a:rPr lang="en">
                <a:solidFill>
                  <a:schemeClr val="dk1"/>
                </a:solidFill>
              </a:rPr>
              <a:t> than reading using a full MDS code.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So </a:t>
            </a:r>
            <a:r>
              <a:rPr b="1" lang="en">
                <a:solidFill>
                  <a:schemeClr val="dk1"/>
                </a:solidFill>
              </a:rPr>
              <a:t>Optimistic Mode</a:t>
            </a:r>
            <a:r>
              <a:rPr lang="en">
                <a:solidFill>
                  <a:schemeClr val="dk1"/>
                </a:solidFill>
              </a:rPr>
              <a:t> is best for </a:t>
            </a:r>
            <a:r>
              <a:rPr b="1" lang="en">
                <a:solidFill>
                  <a:schemeClr val="dk1"/>
                </a:solidFill>
              </a:rPr>
              <a:t>speed</a:t>
            </a:r>
            <a:r>
              <a:rPr lang="en">
                <a:solidFill>
                  <a:schemeClr val="dk1"/>
                </a:solidFill>
              </a:rPr>
              <a:t>, while </a:t>
            </a:r>
            <a:r>
              <a:rPr b="1" lang="en">
                <a:solidFill>
                  <a:schemeClr val="dk1"/>
                </a:solidFill>
              </a:rPr>
              <a:t>Balanced Mode</a:t>
            </a:r>
            <a:r>
              <a:rPr lang="en">
                <a:solidFill>
                  <a:schemeClr val="dk1"/>
                </a:solidFill>
              </a:rPr>
              <a:t> is best for </a:t>
            </a:r>
            <a:r>
              <a:rPr b="1" lang="en">
                <a:solidFill>
                  <a:schemeClr val="dk1"/>
                </a:solidFill>
              </a:rPr>
              <a:t>predictable bandwidth usage</a:t>
            </a:r>
            <a:r>
              <a:rPr lang="en">
                <a:solidFill>
                  <a:schemeClr val="dk1"/>
                </a:solidFill>
              </a:rPr>
              <a: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99f122c5db_6_7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g399f122c5db_6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99f122c5db_4_2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g399f122c5db_4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99f122c5db_4_3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g399f122c5db_4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99f122c5db_4_4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g399f122c5db_4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99f122c5db_4_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g399f122c5db_4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aa311cbed8_3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prevents censorship and malicious reordering based on request content.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t>This includes:</a:t>
            </a:r>
            <a:endParaRPr/>
          </a:p>
          <a:p>
            <a:pPr indent="-298450" lvl="0" marL="457200" rtl="0" algn="l">
              <a:lnSpc>
                <a:spcPct val="115000"/>
              </a:lnSpc>
              <a:spcBef>
                <a:spcPts val="1200"/>
              </a:spcBef>
              <a:spcAft>
                <a:spcPts val="0"/>
              </a:spcAft>
              <a:buClr>
                <a:schemeClr val="dk1"/>
              </a:buClr>
              <a:buSzPts val="1100"/>
              <a:buChar char="●"/>
            </a:pPr>
            <a:r>
              <a:rPr lang="en"/>
              <a:t>Operation payload (e.g., “transfer A→B”)</a:t>
            </a:r>
            <a:br>
              <a:rPr lang="en"/>
            </a:br>
            <a:endParaRPr/>
          </a:p>
          <a:p>
            <a:pPr indent="-298450" lvl="0" marL="457200" rtl="0" algn="l">
              <a:lnSpc>
                <a:spcPct val="115000"/>
              </a:lnSpc>
              <a:spcBef>
                <a:spcPts val="0"/>
              </a:spcBef>
              <a:spcAft>
                <a:spcPts val="0"/>
              </a:spcAft>
              <a:buClr>
                <a:schemeClr val="dk1"/>
              </a:buClr>
              <a:buSzPts val="1100"/>
              <a:buChar char="●"/>
            </a:pPr>
            <a:r>
              <a:rPr lang="en"/>
              <a:t>Metadata the replicas will eventually need</a:t>
            </a:r>
            <a:br>
              <a:rPr lang="en"/>
            </a:br>
            <a:endParaRPr/>
          </a:p>
          <a:p>
            <a:pPr indent="-298450" lvl="0" marL="457200" rtl="0" algn="l">
              <a:lnSpc>
                <a:spcPct val="115000"/>
              </a:lnSpc>
              <a:spcBef>
                <a:spcPts val="0"/>
              </a:spcBef>
              <a:spcAft>
                <a:spcPts val="0"/>
              </a:spcAft>
              <a:buClr>
                <a:schemeClr val="dk1"/>
              </a:buClr>
              <a:buSzPts val="1100"/>
              <a:buChar char="●"/>
            </a:pPr>
            <a:r>
              <a:rPr lang="en"/>
              <a:t>All application-level data</a:t>
            </a:r>
            <a:endParaRPr/>
          </a:p>
          <a:p>
            <a:pPr indent="0" lvl="0" marL="0" rtl="0" algn="l">
              <a:spcBef>
                <a:spcPts val="1200"/>
              </a:spcBef>
              <a:spcAft>
                <a:spcPts val="0"/>
              </a:spcAft>
              <a:buNone/>
            </a:pPr>
            <a:r>
              <a:t/>
            </a:r>
            <a:endParaRPr/>
          </a:p>
        </p:txBody>
      </p:sp>
      <p:sp>
        <p:nvSpPr>
          <p:cNvPr id="495" name="Google Shape;495;g3aa311cbed8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aa311cbed8_3_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prevents censorship and malicious reordering based on request content.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None/>
            </a:pPr>
            <a:r>
              <a:rPr lang="en"/>
              <a:t>This includes:</a:t>
            </a:r>
            <a:endParaRPr/>
          </a:p>
          <a:p>
            <a:pPr indent="-298450" lvl="0" marL="457200" rtl="0" algn="l">
              <a:lnSpc>
                <a:spcPct val="115000"/>
              </a:lnSpc>
              <a:spcBef>
                <a:spcPts val="1200"/>
              </a:spcBef>
              <a:spcAft>
                <a:spcPts val="0"/>
              </a:spcAft>
              <a:buClr>
                <a:schemeClr val="dk1"/>
              </a:buClr>
              <a:buSzPts val="1100"/>
              <a:buChar char="●"/>
            </a:pPr>
            <a:r>
              <a:rPr lang="en"/>
              <a:t>Operation payload (e.g., “transfer A→B”)</a:t>
            </a:r>
            <a:br>
              <a:rPr lang="en"/>
            </a:br>
            <a:endParaRPr/>
          </a:p>
          <a:p>
            <a:pPr indent="-298450" lvl="0" marL="457200" rtl="0" algn="l">
              <a:lnSpc>
                <a:spcPct val="115000"/>
              </a:lnSpc>
              <a:spcBef>
                <a:spcPts val="0"/>
              </a:spcBef>
              <a:spcAft>
                <a:spcPts val="0"/>
              </a:spcAft>
              <a:buClr>
                <a:schemeClr val="dk1"/>
              </a:buClr>
              <a:buSzPts val="1100"/>
              <a:buChar char="●"/>
            </a:pPr>
            <a:r>
              <a:rPr lang="en"/>
              <a:t>Metadata the replicas will eventually need</a:t>
            </a:r>
            <a:br>
              <a:rPr lang="en"/>
            </a:br>
            <a:endParaRPr/>
          </a:p>
          <a:p>
            <a:pPr indent="-298450" lvl="0" marL="457200" rtl="0" algn="l">
              <a:lnSpc>
                <a:spcPct val="115000"/>
              </a:lnSpc>
              <a:spcBef>
                <a:spcPts val="0"/>
              </a:spcBef>
              <a:spcAft>
                <a:spcPts val="0"/>
              </a:spcAft>
              <a:buClr>
                <a:schemeClr val="dk1"/>
              </a:buClr>
              <a:buSzPts val="1100"/>
              <a:buChar char="●"/>
            </a:pPr>
            <a:r>
              <a:rPr lang="en"/>
              <a:t>All application-level data</a:t>
            </a:r>
            <a:endParaRPr/>
          </a:p>
          <a:p>
            <a:pPr indent="0" lvl="0" marL="0" rtl="0" algn="l">
              <a:spcBef>
                <a:spcPts val="1200"/>
              </a:spcBef>
              <a:spcAft>
                <a:spcPts val="0"/>
              </a:spcAft>
              <a:buNone/>
            </a:pPr>
            <a:r>
              <a:t/>
            </a:r>
            <a:endParaRPr/>
          </a:p>
        </p:txBody>
      </p:sp>
      <p:sp>
        <p:nvSpPr>
          <p:cNvPr id="501" name="Google Shape;501;g3aa311cbed8_3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aa311cbed8_3_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prevents censorship and malicious reordering based on request content.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None/>
            </a:pPr>
            <a:r>
              <a:rPr lang="en"/>
              <a:t>This includes:</a:t>
            </a:r>
            <a:endParaRPr/>
          </a:p>
          <a:p>
            <a:pPr indent="-298450" lvl="0" marL="457200" rtl="0" algn="l">
              <a:lnSpc>
                <a:spcPct val="115000"/>
              </a:lnSpc>
              <a:spcBef>
                <a:spcPts val="1200"/>
              </a:spcBef>
              <a:spcAft>
                <a:spcPts val="0"/>
              </a:spcAft>
              <a:buClr>
                <a:schemeClr val="dk1"/>
              </a:buClr>
              <a:buSzPts val="1100"/>
              <a:buChar char="●"/>
            </a:pPr>
            <a:r>
              <a:rPr lang="en"/>
              <a:t>Operation payload (e.g., “transfer A→B”)</a:t>
            </a:r>
            <a:br>
              <a:rPr lang="en"/>
            </a:br>
            <a:endParaRPr/>
          </a:p>
          <a:p>
            <a:pPr indent="-298450" lvl="0" marL="457200" rtl="0" algn="l">
              <a:lnSpc>
                <a:spcPct val="115000"/>
              </a:lnSpc>
              <a:spcBef>
                <a:spcPts val="0"/>
              </a:spcBef>
              <a:spcAft>
                <a:spcPts val="0"/>
              </a:spcAft>
              <a:buClr>
                <a:schemeClr val="dk1"/>
              </a:buClr>
              <a:buSzPts val="1100"/>
              <a:buChar char="●"/>
            </a:pPr>
            <a:r>
              <a:rPr lang="en"/>
              <a:t>Metadata the replicas will eventually need</a:t>
            </a:r>
            <a:br>
              <a:rPr lang="en"/>
            </a:br>
            <a:endParaRPr/>
          </a:p>
          <a:p>
            <a:pPr indent="-298450" lvl="0" marL="457200" rtl="0" algn="l">
              <a:lnSpc>
                <a:spcPct val="115000"/>
              </a:lnSpc>
              <a:spcBef>
                <a:spcPts val="0"/>
              </a:spcBef>
              <a:spcAft>
                <a:spcPts val="0"/>
              </a:spcAft>
              <a:buClr>
                <a:schemeClr val="dk1"/>
              </a:buClr>
              <a:buSzPts val="1100"/>
              <a:buChar char="●"/>
            </a:pPr>
            <a:r>
              <a:rPr lang="en"/>
              <a:t>All application-level data</a:t>
            </a:r>
            <a:endParaRPr/>
          </a:p>
          <a:p>
            <a:pPr indent="0" lvl="0" marL="0" rtl="0" algn="l">
              <a:spcBef>
                <a:spcPts val="1200"/>
              </a:spcBef>
              <a:spcAft>
                <a:spcPts val="0"/>
              </a:spcAft>
              <a:buNone/>
            </a:pPr>
            <a:r>
              <a:t/>
            </a:r>
            <a:endParaRPr/>
          </a:p>
        </p:txBody>
      </p:sp>
      <p:sp>
        <p:nvSpPr>
          <p:cNvPr id="507" name="Google Shape;507;g3aa311cbed8_3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spTree>
      <p:nvGrpSpPr>
        <p:cNvPr id="53" name="Shape 53"/>
        <p:cNvGrpSpPr/>
        <p:nvPr/>
      </p:nvGrpSpPr>
      <p:grpSpPr>
        <a:xfrm>
          <a:off x="0" y="0"/>
          <a:ext cx="0" cy="0"/>
          <a:chOff x="0" y="0"/>
          <a:chExt cx="0" cy="0"/>
        </a:xfrm>
      </p:grpSpPr>
      <p:pic>
        <p:nvPicPr>
          <p:cNvPr descr="A picture containing text, clipart&#10;&#10;Description automatically generated" id="54" name="Google Shape;54;p14"/>
          <p:cNvPicPr preferRelativeResize="0"/>
          <p:nvPr/>
        </p:nvPicPr>
        <p:blipFill rotWithShape="1">
          <a:blip r:embed="rId2">
            <a:alphaModFix/>
          </a:blip>
          <a:srcRect b="0" l="0" r="0" t="0"/>
          <a:stretch/>
        </p:blipFill>
        <p:spPr>
          <a:xfrm>
            <a:off x="516155" y="598804"/>
            <a:ext cx="3329701" cy="547719"/>
          </a:xfrm>
          <a:prstGeom prst="rect">
            <a:avLst/>
          </a:prstGeom>
          <a:noFill/>
          <a:ln>
            <a:noFill/>
          </a:ln>
        </p:spPr>
      </p:pic>
      <p:sp>
        <p:nvSpPr>
          <p:cNvPr id="55" name="Google Shape;55;p14"/>
          <p:cNvSpPr/>
          <p:nvPr/>
        </p:nvSpPr>
        <p:spPr>
          <a:xfrm>
            <a:off x="0" y="2102713"/>
            <a:ext cx="9144000" cy="3040787"/>
          </a:xfrm>
          <a:prstGeom prst="rect">
            <a:avLst/>
          </a:prstGeom>
          <a:solidFill>
            <a:srgbClr val="02285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roxima Nova"/>
              <a:ea typeface="Proxima Nova"/>
              <a:cs typeface="Proxima Nova"/>
              <a:sym typeface="Proxima Nova"/>
            </a:endParaRPr>
          </a:p>
        </p:txBody>
      </p:sp>
      <p:sp>
        <p:nvSpPr>
          <p:cNvPr id="56" name="Google Shape;56;p14"/>
          <p:cNvSpPr txBox="1"/>
          <p:nvPr>
            <p:ph type="ctrTitle"/>
          </p:nvPr>
        </p:nvSpPr>
        <p:spPr>
          <a:xfrm>
            <a:off x="4572000" y="494252"/>
            <a:ext cx="4055846" cy="712232"/>
          </a:xfrm>
          <a:prstGeom prst="rect">
            <a:avLst/>
          </a:prstGeom>
          <a:noFill/>
          <a:ln>
            <a:noFill/>
          </a:ln>
        </p:spPr>
        <p:txBody>
          <a:bodyPr anchorCtr="0" anchor="b" bIns="34275" lIns="68575" spcFirstLastPara="1" rIns="68575" wrap="square" tIns="34275">
            <a:noAutofit/>
          </a:bodyPr>
          <a:lstStyle>
            <a:lvl1pPr lvl="0" marR="0" rtl="0" algn="l">
              <a:lnSpc>
                <a:spcPct val="90000"/>
              </a:lnSpc>
              <a:spcBef>
                <a:spcPts val="0"/>
              </a:spcBef>
              <a:spcAft>
                <a:spcPts val="0"/>
              </a:spcAft>
              <a:buClr>
                <a:srgbClr val="333333"/>
              </a:buClr>
              <a:buSzPts val="2100"/>
              <a:buFont typeface="Proxima Nova"/>
              <a:buNone/>
              <a:defRPr b="0" i="0" sz="2100" u="none" cap="none" strike="noStrike">
                <a:solidFill>
                  <a:srgbClr val="333333"/>
                </a:solidFill>
                <a:latin typeface="Proxima Nova"/>
                <a:ea typeface="Proxima Nova"/>
                <a:cs typeface="Proxima Nova"/>
                <a:sym typeface="Proxima Nov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7" name="Google Shape;57;p14"/>
          <p:cNvSpPr txBox="1"/>
          <p:nvPr>
            <p:ph idx="1" type="body"/>
          </p:nvPr>
        </p:nvSpPr>
        <p:spPr>
          <a:xfrm>
            <a:off x="2809513" y="4134565"/>
            <a:ext cx="3524974" cy="784733"/>
          </a:xfrm>
          <a:prstGeom prst="rect">
            <a:avLst/>
          </a:prstGeom>
          <a:noFill/>
          <a:ln>
            <a:noFill/>
          </a:ln>
        </p:spPr>
        <p:txBody>
          <a:bodyPr anchorCtr="0" anchor="t" bIns="34275" lIns="68575" spcFirstLastPara="1" rIns="68575" wrap="square" tIns="34275">
            <a:normAutofit/>
          </a:bodyPr>
          <a:lstStyle>
            <a:lvl1pPr indent="-228600" lvl="0" marL="457200" marR="0" rtl="0" algn="ctr">
              <a:lnSpc>
                <a:spcPct val="100000"/>
              </a:lnSpc>
              <a:spcBef>
                <a:spcPts val="800"/>
              </a:spcBef>
              <a:spcAft>
                <a:spcPts val="0"/>
              </a:spcAft>
              <a:buClr>
                <a:schemeClr val="lt1"/>
              </a:buClr>
              <a:buSzPts val="1200"/>
              <a:buFont typeface="Arial"/>
              <a:buNone/>
              <a:defRPr b="0" i="0" sz="1200" u="none" cap="none" strike="noStrike">
                <a:solidFill>
                  <a:schemeClr val="lt1"/>
                </a:solidFill>
                <a:latin typeface="Proxima Nova"/>
                <a:ea typeface="Proxima Nova"/>
                <a:cs typeface="Proxima Nova"/>
                <a:sym typeface="Proxima Nova"/>
              </a:defRPr>
            </a:lvl1pPr>
            <a:lvl2pPr indent="-228600" lvl="1" marL="9144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9pPr>
          </a:lstStyle>
          <a:p/>
        </p:txBody>
      </p:sp>
      <p:sp>
        <p:nvSpPr>
          <p:cNvPr id="58" name="Google Shape;58;p14"/>
          <p:cNvSpPr/>
          <p:nvPr/>
        </p:nvSpPr>
        <p:spPr>
          <a:xfrm>
            <a:off x="1" y="2102712"/>
            <a:ext cx="9144000" cy="427531"/>
          </a:xfrm>
          <a:prstGeom prst="rect">
            <a:avLst/>
          </a:prstGeom>
          <a:solidFill>
            <a:srgbClr val="FFBF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roxima Nova"/>
              <a:ea typeface="Proxima Nova"/>
              <a:cs typeface="Proxima Nova"/>
              <a:sym typeface="Proxima Nov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Divider">
    <p:spTree>
      <p:nvGrpSpPr>
        <p:cNvPr id="59" name="Shape 59"/>
        <p:cNvGrpSpPr/>
        <p:nvPr/>
      </p:nvGrpSpPr>
      <p:grpSpPr>
        <a:xfrm>
          <a:off x="0" y="0"/>
          <a:ext cx="0" cy="0"/>
          <a:chOff x="0" y="0"/>
          <a:chExt cx="0" cy="0"/>
        </a:xfrm>
      </p:grpSpPr>
      <p:sp>
        <p:nvSpPr>
          <p:cNvPr id="60" name="Google Shape;60;p15"/>
          <p:cNvSpPr/>
          <p:nvPr/>
        </p:nvSpPr>
        <p:spPr>
          <a:xfrm>
            <a:off x="-1143" y="-35719"/>
            <a:ext cx="9145143" cy="2530243"/>
          </a:xfrm>
          <a:prstGeom prst="rect">
            <a:avLst/>
          </a:prstGeom>
          <a:solidFill>
            <a:srgbClr val="02285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roxima Nova"/>
              <a:ea typeface="Proxima Nova"/>
              <a:cs typeface="Proxima Nova"/>
              <a:sym typeface="Proxima Nova"/>
            </a:endParaRPr>
          </a:p>
        </p:txBody>
      </p:sp>
      <p:sp>
        <p:nvSpPr>
          <p:cNvPr id="61" name="Google Shape;61;p15"/>
          <p:cNvSpPr txBox="1"/>
          <p:nvPr>
            <p:ph type="ctrTitle"/>
          </p:nvPr>
        </p:nvSpPr>
        <p:spPr>
          <a:xfrm>
            <a:off x="1047172" y="1598159"/>
            <a:ext cx="6858000" cy="712232"/>
          </a:xfrm>
          <a:prstGeom prst="rect">
            <a:avLst/>
          </a:prstGeom>
          <a:noFill/>
          <a:ln>
            <a:noFill/>
          </a:ln>
        </p:spPr>
        <p:txBody>
          <a:bodyPr anchorCtr="0" anchor="b" bIns="34275" lIns="68575" spcFirstLastPara="1" rIns="68575" wrap="square" tIns="34275">
            <a:noAutofit/>
          </a:bodyPr>
          <a:lstStyle>
            <a:lvl1pPr lvl="0" marR="0" rtl="0" algn="l">
              <a:lnSpc>
                <a:spcPct val="90000"/>
              </a:lnSpc>
              <a:spcBef>
                <a:spcPts val="0"/>
              </a:spcBef>
              <a:spcAft>
                <a:spcPts val="0"/>
              </a:spcAft>
              <a:buClr>
                <a:schemeClr val="lt1"/>
              </a:buClr>
              <a:buSzPts val="2100"/>
              <a:buFont typeface="Proxima Nova"/>
              <a:buNone/>
              <a:defRPr b="0" i="0" sz="2100" u="none" cap="none" strike="noStrike">
                <a:solidFill>
                  <a:schemeClr val="lt1"/>
                </a:solidFill>
                <a:latin typeface="Proxima Nova"/>
                <a:ea typeface="Proxima Nova"/>
                <a:cs typeface="Proxima Nova"/>
                <a:sym typeface="Proxima Nov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2" name="Google Shape;62;p15"/>
          <p:cNvSpPr txBox="1"/>
          <p:nvPr>
            <p:ph idx="1" type="body"/>
          </p:nvPr>
        </p:nvSpPr>
        <p:spPr>
          <a:xfrm>
            <a:off x="1047172" y="2743200"/>
            <a:ext cx="6858000" cy="1569426"/>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800"/>
              </a:spcBef>
              <a:spcAft>
                <a:spcPts val="0"/>
              </a:spcAft>
              <a:buClr>
                <a:srgbClr val="333333"/>
              </a:buClr>
              <a:buSzPts val="1500"/>
              <a:buFont typeface="Arial"/>
              <a:buNone/>
              <a:defRPr b="0" i="0" sz="1500" u="none" cap="none" strike="noStrike">
                <a:solidFill>
                  <a:srgbClr val="333333"/>
                </a:solidFill>
                <a:latin typeface="Proxima Nova"/>
                <a:ea typeface="Proxima Nova"/>
                <a:cs typeface="Proxima Nova"/>
                <a:sym typeface="Proxima Nova"/>
              </a:defRPr>
            </a:lvl1pPr>
            <a:lvl2pPr indent="-228600" lvl="1" marL="9144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63" name="Shape 63"/>
        <p:cNvGrpSpPr/>
        <p:nvPr/>
      </p:nvGrpSpPr>
      <p:grpSpPr>
        <a:xfrm>
          <a:off x="0" y="0"/>
          <a:ext cx="0" cy="0"/>
          <a:chOff x="0" y="0"/>
          <a:chExt cx="0" cy="0"/>
        </a:xfrm>
      </p:grpSpPr>
      <p:sp>
        <p:nvSpPr>
          <p:cNvPr id="64" name="Google Shape;64;p16"/>
          <p:cNvSpPr/>
          <p:nvPr/>
        </p:nvSpPr>
        <p:spPr>
          <a:xfrm>
            <a:off x="-1143" y="-35718"/>
            <a:ext cx="9145143" cy="817685"/>
          </a:xfrm>
          <a:prstGeom prst="rect">
            <a:avLst/>
          </a:prstGeom>
          <a:solidFill>
            <a:srgbClr val="02285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roxima Nova"/>
              <a:ea typeface="Proxima Nova"/>
              <a:cs typeface="Proxima Nova"/>
              <a:sym typeface="Proxima Nova"/>
            </a:endParaRPr>
          </a:p>
        </p:txBody>
      </p:sp>
      <p:sp>
        <p:nvSpPr>
          <p:cNvPr id="65" name="Google Shape;65;p16"/>
          <p:cNvSpPr txBox="1"/>
          <p:nvPr>
            <p:ph type="ctrTitle"/>
          </p:nvPr>
        </p:nvSpPr>
        <p:spPr>
          <a:xfrm>
            <a:off x="1047172" y="320987"/>
            <a:ext cx="7479166" cy="338437"/>
          </a:xfrm>
          <a:prstGeom prst="rect">
            <a:avLst/>
          </a:prstGeom>
          <a:noFill/>
          <a:ln>
            <a:noFill/>
          </a:ln>
        </p:spPr>
        <p:txBody>
          <a:bodyPr anchorCtr="0" anchor="b" bIns="34275" lIns="68575" spcFirstLastPara="1" rIns="68575" wrap="square" tIns="34275">
            <a:noAutofit/>
          </a:bodyPr>
          <a:lstStyle>
            <a:lvl1pPr lvl="0" marR="0" rtl="0" algn="l">
              <a:lnSpc>
                <a:spcPct val="90000"/>
              </a:lnSpc>
              <a:spcBef>
                <a:spcPts val="0"/>
              </a:spcBef>
              <a:spcAft>
                <a:spcPts val="0"/>
              </a:spcAft>
              <a:buClr>
                <a:schemeClr val="lt1"/>
              </a:buClr>
              <a:buSzPts val="2100"/>
              <a:buFont typeface="Proxima Nova"/>
              <a:buNone/>
              <a:defRPr b="0" i="0" sz="2100" u="none" cap="none" strike="noStrike">
                <a:solidFill>
                  <a:schemeClr val="lt1"/>
                </a:solidFill>
                <a:latin typeface="Proxima Nova"/>
                <a:ea typeface="Proxima Nova"/>
                <a:cs typeface="Proxima Nova"/>
                <a:sym typeface="Proxima Nov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cxnSp>
        <p:nvCxnSpPr>
          <p:cNvPr id="66" name="Google Shape;66;p16"/>
          <p:cNvCxnSpPr/>
          <p:nvPr/>
        </p:nvCxnSpPr>
        <p:spPr>
          <a:xfrm rot="10800000">
            <a:off x="904098" y="182393"/>
            <a:ext cx="0" cy="1809345"/>
          </a:xfrm>
          <a:prstGeom prst="straightConnector1">
            <a:avLst/>
          </a:prstGeom>
          <a:noFill/>
          <a:ln cap="flat" cmpd="sng" w="9525">
            <a:solidFill>
              <a:schemeClr val="accent1"/>
            </a:solidFill>
            <a:prstDash val="solid"/>
            <a:miter lim="800000"/>
            <a:headEnd len="sm" w="sm" type="none"/>
            <a:tailEnd len="sm" w="sm" type="none"/>
          </a:ln>
        </p:spPr>
      </p:cxnSp>
      <p:sp>
        <p:nvSpPr>
          <p:cNvPr id="67" name="Google Shape;67;p16"/>
          <p:cNvSpPr txBox="1"/>
          <p:nvPr>
            <p:ph idx="1" type="body"/>
          </p:nvPr>
        </p:nvSpPr>
        <p:spPr>
          <a:xfrm>
            <a:off x="1047173" y="1071611"/>
            <a:ext cx="7479168" cy="3344609"/>
          </a:xfrm>
          <a:prstGeom prst="rect">
            <a:avLst/>
          </a:prstGeom>
          <a:noFill/>
          <a:ln>
            <a:noFill/>
          </a:ln>
        </p:spPr>
        <p:txBody>
          <a:bodyPr anchorCtr="0" anchor="t" bIns="34275" lIns="68575" spcFirstLastPara="1" rIns="68575" wrap="square" tIns="34275">
            <a:normAutofit/>
          </a:bodyPr>
          <a:lstStyle>
            <a:lvl1pPr indent="-311150" lvl="0" marL="457200" marR="0" rtl="0" algn="l">
              <a:lnSpc>
                <a:spcPct val="90000"/>
              </a:lnSpc>
              <a:spcBef>
                <a:spcPts val="800"/>
              </a:spcBef>
              <a:spcAft>
                <a:spcPts val="0"/>
              </a:spcAft>
              <a:buClr>
                <a:srgbClr val="333333"/>
              </a:buClr>
              <a:buSzPts val="1300"/>
              <a:buFont typeface="Noto Sans Symbols"/>
              <a:buChar char="▪"/>
              <a:defRPr b="0" i="0" sz="1500" u="none" cap="none" strike="noStrike">
                <a:solidFill>
                  <a:srgbClr val="333333"/>
                </a:solidFill>
                <a:latin typeface="Proxima Nova"/>
                <a:ea typeface="Proxima Nova"/>
                <a:cs typeface="Proxima Nova"/>
                <a:sym typeface="Proxima Nova"/>
              </a:defRPr>
            </a:lvl1pPr>
            <a:lvl2pPr indent="-311150" lvl="1" marL="914400" marR="0" rtl="0" algn="l">
              <a:lnSpc>
                <a:spcPct val="90000"/>
              </a:lnSpc>
              <a:spcBef>
                <a:spcPts val="400"/>
              </a:spcBef>
              <a:spcAft>
                <a:spcPts val="0"/>
              </a:spcAft>
              <a:buClr>
                <a:srgbClr val="333333"/>
              </a:buClr>
              <a:buSzPts val="1300"/>
              <a:buFont typeface="Proxima Nova"/>
              <a:buChar char="–"/>
              <a:defRPr b="0" i="0" sz="1500" u="none" cap="none" strike="noStrike">
                <a:solidFill>
                  <a:srgbClr val="333333"/>
                </a:solidFill>
                <a:latin typeface="Proxima Nova"/>
                <a:ea typeface="Proxima Nova"/>
                <a:cs typeface="Proxima Nova"/>
                <a:sym typeface="Proxima Nova"/>
              </a:defRPr>
            </a:lvl2pPr>
            <a:lvl3pPr indent="-228600" lvl="2" marL="1371600" marR="0" rtl="0" algn="l">
              <a:lnSpc>
                <a:spcPct val="90000"/>
              </a:lnSpc>
              <a:spcBef>
                <a:spcPts val="400"/>
              </a:spcBef>
              <a:spcAft>
                <a:spcPts val="0"/>
              </a:spcAft>
              <a:buClr>
                <a:srgbClr val="150221"/>
              </a:buClr>
              <a:buSzPts val="1500"/>
              <a:buFont typeface="Arial"/>
              <a:buNone/>
              <a:defRPr b="0" i="0" sz="1500" u="none" cap="none" strike="noStrike">
                <a:solidFill>
                  <a:srgbClr val="150221"/>
                </a:solidFill>
                <a:latin typeface="Proxima Nova"/>
                <a:ea typeface="Proxima Nova"/>
                <a:cs typeface="Proxima Nova"/>
                <a:sym typeface="Proxima Nova"/>
              </a:defRPr>
            </a:lvl3pPr>
            <a:lvl4pPr indent="-317500" lvl="3" marL="1828800" marR="0" rtl="0" algn="l">
              <a:lnSpc>
                <a:spcPct val="90000"/>
              </a:lnSpc>
              <a:spcBef>
                <a:spcPts val="400"/>
              </a:spcBef>
              <a:spcAft>
                <a:spcPts val="0"/>
              </a:spcAft>
              <a:buClr>
                <a:srgbClr val="150221"/>
              </a:buClr>
              <a:buSzPts val="1400"/>
              <a:buFont typeface="Arial"/>
              <a:buChar char="•"/>
              <a:defRPr b="0" i="0" sz="1400" u="none" cap="none" strike="noStrike">
                <a:solidFill>
                  <a:srgbClr val="150221"/>
                </a:solidFill>
                <a:latin typeface="Arial"/>
                <a:ea typeface="Arial"/>
                <a:cs typeface="Arial"/>
                <a:sym typeface="Arial"/>
              </a:defRPr>
            </a:lvl4pPr>
            <a:lvl5pPr indent="-317500" lvl="4" marL="2286000" marR="0" rtl="0" algn="l">
              <a:lnSpc>
                <a:spcPct val="90000"/>
              </a:lnSpc>
              <a:spcBef>
                <a:spcPts val="400"/>
              </a:spcBef>
              <a:spcAft>
                <a:spcPts val="0"/>
              </a:spcAft>
              <a:buClr>
                <a:srgbClr val="150221"/>
              </a:buClr>
              <a:buSzPts val="1400"/>
              <a:buFont typeface="Arial"/>
              <a:buChar char="•"/>
              <a:defRPr b="0" i="0" sz="1400" u="none" cap="none" strike="noStrike">
                <a:solidFill>
                  <a:srgbClr val="15022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Title">
  <p:cSld name="1_Section Title">
    <p:spTree>
      <p:nvGrpSpPr>
        <p:cNvPr id="68" name="Shape 68"/>
        <p:cNvGrpSpPr/>
        <p:nvPr/>
      </p:nvGrpSpPr>
      <p:grpSpPr>
        <a:xfrm>
          <a:off x="0" y="0"/>
          <a:ext cx="0" cy="0"/>
          <a:chOff x="0" y="0"/>
          <a:chExt cx="0" cy="0"/>
        </a:xfrm>
      </p:grpSpPr>
      <p:sp>
        <p:nvSpPr>
          <p:cNvPr id="69" name="Google Shape;69;p17"/>
          <p:cNvSpPr/>
          <p:nvPr/>
        </p:nvSpPr>
        <p:spPr>
          <a:xfrm>
            <a:off x="-1143" y="-35718"/>
            <a:ext cx="9145143" cy="817685"/>
          </a:xfrm>
          <a:prstGeom prst="rect">
            <a:avLst/>
          </a:prstGeom>
          <a:solidFill>
            <a:srgbClr val="02285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roxima Nova"/>
              <a:ea typeface="Proxima Nova"/>
              <a:cs typeface="Proxima Nova"/>
              <a:sym typeface="Proxima Nova"/>
            </a:endParaRPr>
          </a:p>
        </p:txBody>
      </p:sp>
      <p:sp>
        <p:nvSpPr>
          <p:cNvPr id="70" name="Google Shape;70;p17"/>
          <p:cNvSpPr txBox="1"/>
          <p:nvPr>
            <p:ph type="ctrTitle"/>
          </p:nvPr>
        </p:nvSpPr>
        <p:spPr>
          <a:xfrm>
            <a:off x="1047172" y="320987"/>
            <a:ext cx="7479166" cy="338437"/>
          </a:xfrm>
          <a:prstGeom prst="rect">
            <a:avLst/>
          </a:prstGeom>
          <a:noFill/>
          <a:ln>
            <a:noFill/>
          </a:ln>
        </p:spPr>
        <p:txBody>
          <a:bodyPr anchorCtr="0" anchor="b" bIns="34275" lIns="68575" spcFirstLastPara="1" rIns="68575" wrap="square" tIns="34275">
            <a:noAutofit/>
          </a:bodyPr>
          <a:lstStyle>
            <a:lvl1pPr lvl="0" marR="0" rtl="0" algn="l">
              <a:lnSpc>
                <a:spcPct val="90000"/>
              </a:lnSpc>
              <a:spcBef>
                <a:spcPts val="0"/>
              </a:spcBef>
              <a:spcAft>
                <a:spcPts val="0"/>
              </a:spcAft>
              <a:buClr>
                <a:schemeClr val="lt1"/>
              </a:buClr>
              <a:buSzPts val="2100"/>
              <a:buFont typeface="Proxima Nova"/>
              <a:buNone/>
              <a:defRPr b="0" i="0" sz="2100" u="none" cap="none" strike="noStrike">
                <a:solidFill>
                  <a:schemeClr val="lt1"/>
                </a:solidFill>
                <a:latin typeface="Proxima Nova"/>
                <a:ea typeface="Proxima Nova"/>
                <a:cs typeface="Proxima Nova"/>
                <a:sym typeface="Proxima Nov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cxnSp>
        <p:nvCxnSpPr>
          <p:cNvPr id="71" name="Google Shape;71;p17"/>
          <p:cNvCxnSpPr/>
          <p:nvPr/>
        </p:nvCxnSpPr>
        <p:spPr>
          <a:xfrm rot="10800000">
            <a:off x="904098" y="182393"/>
            <a:ext cx="0" cy="1809345"/>
          </a:xfrm>
          <a:prstGeom prst="straightConnector1">
            <a:avLst/>
          </a:prstGeom>
          <a:noFill/>
          <a:ln cap="flat" cmpd="sng" w="9525">
            <a:solidFill>
              <a:schemeClr val="accent1"/>
            </a:solidFill>
            <a:prstDash val="solid"/>
            <a:miter lim="800000"/>
            <a:headEnd len="sm" w="sm" type="none"/>
            <a:tailEnd len="sm" w="sm" type="none"/>
          </a:ln>
        </p:spPr>
      </p:cxnSp>
      <p:sp>
        <p:nvSpPr>
          <p:cNvPr id="72" name="Google Shape;72;p17"/>
          <p:cNvSpPr txBox="1"/>
          <p:nvPr>
            <p:ph idx="1" type="body"/>
          </p:nvPr>
        </p:nvSpPr>
        <p:spPr>
          <a:xfrm>
            <a:off x="1047172" y="1071611"/>
            <a:ext cx="3524825" cy="3344609"/>
          </a:xfrm>
          <a:prstGeom prst="rect">
            <a:avLst/>
          </a:prstGeom>
          <a:noFill/>
          <a:ln>
            <a:noFill/>
          </a:ln>
        </p:spPr>
        <p:txBody>
          <a:bodyPr anchorCtr="0" anchor="t" bIns="34275" lIns="68575" spcFirstLastPara="1" rIns="68575" wrap="square" tIns="34275">
            <a:normAutofit/>
          </a:bodyPr>
          <a:lstStyle>
            <a:lvl1pPr indent="-311150" lvl="0" marL="457200" marR="0" rtl="0" algn="l">
              <a:lnSpc>
                <a:spcPct val="90000"/>
              </a:lnSpc>
              <a:spcBef>
                <a:spcPts val="800"/>
              </a:spcBef>
              <a:spcAft>
                <a:spcPts val="0"/>
              </a:spcAft>
              <a:buClr>
                <a:srgbClr val="333333"/>
              </a:buClr>
              <a:buSzPts val="1300"/>
              <a:buFont typeface="Noto Sans Symbols"/>
              <a:buChar char="▪"/>
              <a:defRPr b="0" i="0" sz="1500" u="none" cap="none" strike="noStrike">
                <a:solidFill>
                  <a:srgbClr val="333333"/>
                </a:solidFill>
                <a:latin typeface="Proxima Nova"/>
                <a:ea typeface="Proxima Nova"/>
                <a:cs typeface="Proxima Nova"/>
                <a:sym typeface="Proxima Nova"/>
              </a:defRPr>
            </a:lvl1pPr>
            <a:lvl2pPr indent="-311150" lvl="1" marL="914400" marR="0" rtl="0" algn="l">
              <a:lnSpc>
                <a:spcPct val="90000"/>
              </a:lnSpc>
              <a:spcBef>
                <a:spcPts val="400"/>
              </a:spcBef>
              <a:spcAft>
                <a:spcPts val="0"/>
              </a:spcAft>
              <a:buClr>
                <a:srgbClr val="333333"/>
              </a:buClr>
              <a:buSzPts val="1300"/>
              <a:buFont typeface="Proxima Nova"/>
              <a:buChar char="–"/>
              <a:defRPr b="0" i="0" sz="1500" u="none" cap="none" strike="noStrike">
                <a:solidFill>
                  <a:srgbClr val="333333"/>
                </a:solidFill>
                <a:latin typeface="Proxima Nova"/>
                <a:ea typeface="Proxima Nova"/>
                <a:cs typeface="Proxima Nova"/>
                <a:sym typeface="Proxima Nova"/>
              </a:defRPr>
            </a:lvl2pPr>
            <a:lvl3pPr indent="-228600" lvl="2" marL="1371600" marR="0" rtl="0" algn="l">
              <a:lnSpc>
                <a:spcPct val="90000"/>
              </a:lnSpc>
              <a:spcBef>
                <a:spcPts val="400"/>
              </a:spcBef>
              <a:spcAft>
                <a:spcPts val="0"/>
              </a:spcAft>
              <a:buClr>
                <a:srgbClr val="150221"/>
              </a:buClr>
              <a:buSzPts val="1500"/>
              <a:buFont typeface="Arial"/>
              <a:buNone/>
              <a:defRPr b="0" i="0" sz="1500" u="none" cap="none" strike="noStrike">
                <a:solidFill>
                  <a:srgbClr val="150221"/>
                </a:solidFill>
                <a:latin typeface="Proxima Nova"/>
                <a:ea typeface="Proxima Nova"/>
                <a:cs typeface="Proxima Nova"/>
                <a:sym typeface="Proxima Nova"/>
              </a:defRPr>
            </a:lvl3pPr>
            <a:lvl4pPr indent="-317500" lvl="3" marL="1828800" marR="0" rtl="0" algn="l">
              <a:lnSpc>
                <a:spcPct val="90000"/>
              </a:lnSpc>
              <a:spcBef>
                <a:spcPts val="400"/>
              </a:spcBef>
              <a:spcAft>
                <a:spcPts val="0"/>
              </a:spcAft>
              <a:buClr>
                <a:srgbClr val="150221"/>
              </a:buClr>
              <a:buSzPts val="1400"/>
              <a:buFont typeface="Arial"/>
              <a:buChar char="•"/>
              <a:defRPr b="0" i="0" sz="1400" u="none" cap="none" strike="noStrike">
                <a:solidFill>
                  <a:srgbClr val="150221"/>
                </a:solidFill>
                <a:latin typeface="Arial"/>
                <a:ea typeface="Arial"/>
                <a:cs typeface="Arial"/>
                <a:sym typeface="Arial"/>
              </a:defRPr>
            </a:lvl4pPr>
            <a:lvl5pPr indent="-317500" lvl="4" marL="2286000" marR="0" rtl="0" algn="l">
              <a:lnSpc>
                <a:spcPct val="90000"/>
              </a:lnSpc>
              <a:spcBef>
                <a:spcPts val="400"/>
              </a:spcBef>
              <a:spcAft>
                <a:spcPts val="0"/>
              </a:spcAft>
              <a:buClr>
                <a:srgbClr val="150221"/>
              </a:buClr>
              <a:buSzPts val="1400"/>
              <a:buFont typeface="Arial"/>
              <a:buChar char="•"/>
              <a:defRPr b="0" i="0" sz="1400" u="none" cap="none" strike="noStrike">
                <a:solidFill>
                  <a:srgbClr val="15022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73" name="Google Shape;73;p17"/>
          <p:cNvSpPr txBox="1"/>
          <p:nvPr>
            <p:ph idx="2" type="body"/>
          </p:nvPr>
        </p:nvSpPr>
        <p:spPr>
          <a:xfrm>
            <a:off x="5001513" y="1071611"/>
            <a:ext cx="3524825" cy="3344609"/>
          </a:xfrm>
          <a:prstGeom prst="rect">
            <a:avLst/>
          </a:prstGeom>
          <a:noFill/>
          <a:ln>
            <a:noFill/>
          </a:ln>
        </p:spPr>
        <p:txBody>
          <a:bodyPr anchorCtr="0" anchor="t" bIns="34275" lIns="68575" spcFirstLastPara="1" rIns="68575" wrap="square" tIns="34275">
            <a:normAutofit/>
          </a:bodyPr>
          <a:lstStyle>
            <a:lvl1pPr indent="-311150" lvl="0" marL="457200" marR="0" rtl="0" algn="l">
              <a:lnSpc>
                <a:spcPct val="90000"/>
              </a:lnSpc>
              <a:spcBef>
                <a:spcPts val="800"/>
              </a:spcBef>
              <a:spcAft>
                <a:spcPts val="0"/>
              </a:spcAft>
              <a:buClr>
                <a:srgbClr val="333333"/>
              </a:buClr>
              <a:buSzPts val="1300"/>
              <a:buFont typeface="Noto Sans Symbols"/>
              <a:buChar char="▪"/>
              <a:defRPr b="0" i="0" sz="1500" u="none" cap="none" strike="noStrike">
                <a:solidFill>
                  <a:srgbClr val="333333"/>
                </a:solidFill>
                <a:latin typeface="Proxima Nova"/>
                <a:ea typeface="Proxima Nova"/>
                <a:cs typeface="Proxima Nova"/>
                <a:sym typeface="Proxima Nova"/>
              </a:defRPr>
            </a:lvl1pPr>
            <a:lvl2pPr indent="-311150" lvl="1" marL="914400" marR="0" rtl="0" algn="l">
              <a:lnSpc>
                <a:spcPct val="90000"/>
              </a:lnSpc>
              <a:spcBef>
                <a:spcPts val="400"/>
              </a:spcBef>
              <a:spcAft>
                <a:spcPts val="0"/>
              </a:spcAft>
              <a:buClr>
                <a:srgbClr val="333333"/>
              </a:buClr>
              <a:buSzPts val="1300"/>
              <a:buFont typeface="Proxima Nova"/>
              <a:buChar char="–"/>
              <a:defRPr b="0" i="0" sz="1500" u="none" cap="none" strike="noStrike">
                <a:solidFill>
                  <a:srgbClr val="333333"/>
                </a:solidFill>
                <a:latin typeface="Proxima Nova"/>
                <a:ea typeface="Proxima Nova"/>
                <a:cs typeface="Proxima Nova"/>
                <a:sym typeface="Proxima Nova"/>
              </a:defRPr>
            </a:lvl2pPr>
            <a:lvl3pPr indent="-228600" lvl="2" marL="1371600" marR="0" rtl="0" algn="l">
              <a:lnSpc>
                <a:spcPct val="90000"/>
              </a:lnSpc>
              <a:spcBef>
                <a:spcPts val="400"/>
              </a:spcBef>
              <a:spcAft>
                <a:spcPts val="0"/>
              </a:spcAft>
              <a:buClr>
                <a:srgbClr val="150221"/>
              </a:buClr>
              <a:buSzPts val="1500"/>
              <a:buFont typeface="Arial"/>
              <a:buNone/>
              <a:defRPr b="0" i="0" sz="1500" u="none" cap="none" strike="noStrike">
                <a:solidFill>
                  <a:srgbClr val="150221"/>
                </a:solidFill>
                <a:latin typeface="Proxima Nova"/>
                <a:ea typeface="Proxima Nova"/>
                <a:cs typeface="Proxima Nova"/>
                <a:sym typeface="Proxima Nova"/>
              </a:defRPr>
            </a:lvl3pPr>
            <a:lvl4pPr indent="-317500" lvl="3" marL="1828800" marR="0" rtl="0" algn="l">
              <a:lnSpc>
                <a:spcPct val="90000"/>
              </a:lnSpc>
              <a:spcBef>
                <a:spcPts val="400"/>
              </a:spcBef>
              <a:spcAft>
                <a:spcPts val="0"/>
              </a:spcAft>
              <a:buClr>
                <a:srgbClr val="150221"/>
              </a:buClr>
              <a:buSzPts val="1400"/>
              <a:buFont typeface="Arial"/>
              <a:buChar char="•"/>
              <a:defRPr b="0" i="0" sz="1400" u="none" cap="none" strike="noStrike">
                <a:solidFill>
                  <a:srgbClr val="150221"/>
                </a:solidFill>
                <a:latin typeface="Arial"/>
                <a:ea typeface="Arial"/>
                <a:cs typeface="Arial"/>
                <a:sym typeface="Arial"/>
              </a:defRPr>
            </a:lvl4pPr>
            <a:lvl5pPr indent="-317500" lvl="4" marL="2286000" marR="0" rtl="0" algn="l">
              <a:lnSpc>
                <a:spcPct val="90000"/>
              </a:lnSpc>
              <a:spcBef>
                <a:spcPts val="400"/>
              </a:spcBef>
              <a:spcAft>
                <a:spcPts val="0"/>
              </a:spcAft>
              <a:buClr>
                <a:srgbClr val="150221"/>
              </a:buClr>
              <a:buSzPts val="1400"/>
              <a:buFont typeface="Arial"/>
              <a:buChar char="•"/>
              <a:defRPr b="0" i="0" sz="1400" u="none" cap="none" strike="noStrike">
                <a:solidFill>
                  <a:srgbClr val="15022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 add picture or insert">
  <p:cSld name="Section Title - add picture or insert">
    <p:spTree>
      <p:nvGrpSpPr>
        <p:cNvPr id="74" name="Shape 74"/>
        <p:cNvGrpSpPr/>
        <p:nvPr/>
      </p:nvGrpSpPr>
      <p:grpSpPr>
        <a:xfrm>
          <a:off x="0" y="0"/>
          <a:ext cx="0" cy="0"/>
          <a:chOff x="0" y="0"/>
          <a:chExt cx="0" cy="0"/>
        </a:xfrm>
      </p:grpSpPr>
      <p:sp>
        <p:nvSpPr>
          <p:cNvPr id="75" name="Google Shape;75;p18"/>
          <p:cNvSpPr/>
          <p:nvPr>
            <p:ph idx="2" type="pic"/>
          </p:nvPr>
        </p:nvSpPr>
        <p:spPr>
          <a:xfrm>
            <a:off x="5708405" y="1079761"/>
            <a:ext cx="2980593" cy="3281417"/>
          </a:xfrm>
          <a:prstGeom prst="rect">
            <a:avLst/>
          </a:prstGeom>
          <a:solidFill>
            <a:srgbClr val="F2F2F2"/>
          </a:solidFill>
          <a:ln>
            <a:noFill/>
          </a:ln>
        </p:spPr>
      </p:sp>
      <p:sp>
        <p:nvSpPr>
          <p:cNvPr id="76" name="Google Shape;76;p18"/>
          <p:cNvSpPr/>
          <p:nvPr/>
        </p:nvSpPr>
        <p:spPr>
          <a:xfrm>
            <a:off x="-1143" y="1"/>
            <a:ext cx="9145143" cy="817685"/>
          </a:xfrm>
          <a:prstGeom prst="rect">
            <a:avLst/>
          </a:prstGeom>
          <a:solidFill>
            <a:srgbClr val="02285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roxima Nova"/>
              <a:ea typeface="Proxima Nova"/>
              <a:cs typeface="Proxima Nova"/>
              <a:sym typeface="Proxima Nova"/>
            </a:endParaRPr>
          </a:p>
        </p:txBody>
      </p:sp>
      <p:sp>
        <p:nvSpPr>
          <p:cNvPr id="77" name="Google Shape;77;p18"/>
          <p:cNvSpPr txBox="1"/>
          <p:nvPr>
            <p:ph type="ctrTitle"/>
          </p:nvPr>
        </p:nvSpPr>
        <p:spPr>
          <a:xfrm>
            <a:off x="1047172" y="320987"/>
            <a:ext cx="7641823" cy="338437"/>
          </a:xfrm>
          <a:prstGeom prst="rect">
            <a:avLst/>
          </a:prstGeom>
          <a:noFill/>
          <a:ln>
            <a:noFill/>
          </a:ln>
        </p:spPr>
        <p:txBody>
          <a:bodyPr anchorCtr="0" anchor="b" bIns="34275" lIns="68575" spcFirstLastPara="1" rIns="68575" wrap="square" tIns="34275">
            <a:noAutofit/>
          </a:bodyPr>
          <a:lstStyle>
            <a:lvl1pPr lvl="0" marR="0" rtl="0" algn="l">
              <a:lnSpc>
                <a:spcPct val="90000"/>
              </a:lnSpc>
              <a:spcBef>
                <a:spcPts val="0"/>
              </a:spcBef>
              <a:spcAft>
                <a:spcPts val="0"/>
              </a:spcAft>
              <a:buClr>
                <a:schemeClr val="lt1"/>
              </a:buClr>
              <a:buSzPts val="2100"/>
              <a:buFont typeface="Proxima Nova"/>
              <a:buNone/>
              <a:defRPr b="0" i="0" sz="2100" u="none" cap="none" strike="noStrike">
                <a:solidFill>
                  <a:schemeClr val="lt1"/>
                </a:solidFill>
                <a:latin typeface="Proxima Nova"/>
                <a:ea typeface="Proxima Nova"/>
                <a:cs typeface="Proxima Nova"/>
                <a:sym typeface="Proxima Nov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cxnSp>
        <p:nvCxnSpPr>
          <p:cNvPr id="78" name="Google Shape;78;p18"/>
          <p:cNvCxnSpPr/>
          <p:nvPr/>
        </p:nvCxnSpPr>
        <p:spPr>
          <a:xfrm rot="10800000">
            <a:off x="904098" y="182393"/>
            <a:ext cx="0" cy="1809345"/>
          </a:xfrm>
          <a:prstGeom prst="straightConnector1">
            <a:avLst/>
          </a:prstGeom>
          <a:noFill/>
          <a:ln cap="flat" cmpd="sng" w="9525">
            <a:solidFill>
              <a:schemeClr val="accent1"/>
            </a:solidFill>
            <a:prstDash val="solid"/>
            <a:miter lim="800000"/>
            <a:headEnd len="sm" w="sm" type="none"/>
            <a:tailEnd len="sm" w="sm" type="none"/>
          </a:ln>
        </p:spPr>
      </p:cxnSp>
      <p:sp>
        <p:nvSpPr>
          <p:cNvPr id="79" name="Google Shape;79;p18"/>
          <p:cNvSpPr txBox="1"/>
          <p:nvPr>
            <p:ph idx="1" type="body"/>
          </p:nvPr>
        </p:nvSpPr>
        <p:spPr>
          <a:xfrm>
            <a:off x="1047172" y="1071610"/>
            <a:ext cx="4274372" cy="2858691"/>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100000"/>
              </a:lnSpc>
              <a:spcBef>
                <a:spcPts val="800"/>
              </a:spcBef>
              <a:spcAft>
                <a:spcPts val="0"/>
              </a:spcAft>
              <a:buClr>
                <a:srgbClr val="333333"/>
              </a:buClr>
              <a:buSzPts val="1500"/>
              <a:buFont typeface="Arial"/>
              <a:buNone/>
              <a:defRPr b="0" i="0" sz="1500" u="none" cap="none" strike="noStrike">
                <a:solidFill>
                  <a:srgbClr val="333333"/>
                </a:solidFill>
                <a:latin typeface="Proxima Nova"/>
                <a:ea typeface="Proxima Nova"/>
                <a:cs typeface="Proxima Nova"/>
                <a:sym typeface="Proxima Nova"/>
              </a:defRPr>
            </a:lvl1pPr>
            <a:lvl2pPr indent="-228600" lvl="1" marL="9144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 add picture or insert">
  <p:cSld name="Slide - add picture or insert">
    <p:spTree>
      <p:nvGrpSpPr>
        <p:cNvPr id="80" name="Shape 80"/>
        <p:cNvGrpSpPr/>
        <p:nvPr/>
      </p:nvGrpSpPr>
      <p:grpSpPr>
        <a:xfrm>
          <a:off x="0" y="0"/>
          <a:ext cx="0" cy="0"/>
          <a:chOff x="0" y="0"/>
          <a:chExt cx="0" cy="0"/>
        </a:xfrm>
      </p:grpSpPr>
      <p:sp>
        <p:nvSpPr>
          <p:cNvPr id="81" name="Google Shape;81;p19"/>
          <p:cNvSpPr/>
          <p:nvPr>
            <p:ph idx="2" type="pic"/>
          </p:nvPr>
        </p:nvSpPr>
        <p:spPr>
          <a:xfrm>
            <a:off x="5708405" y="1079761"/>
            <a:ext cx="2980593" cy="3281417"/>
          </a:xfrm>
          <a:prstGeom prst="rect">
            <a:avLst/>
          </a:prstGeom>
          <a:solidFill>
            <a:srgbClr val="F2F2F2"/>
          </a:solidFill>
          <a:ln>
            <a:noFill/>
          </a:ln>
        </p:spPr>
      </p:sp>
      <p:sp>
        <p:nvSpPr>
          <p:cNvPr id="82" name="Google Shape;82;p19"/>
          <p:cNvSpPr txBox="1"/>
          <p:nvPr>
            <p:ph type="ctrTitle"/>
          </p:nvPr>
        </p:nvSpPr>
        <p:spPr>
          <a:xfrm>
            <a:off x="1047172" y="320987"/>
            <a:ext cx="7641825" cy="338437"/>
          </a:xfrm>
          <a:prstGeom prst="rect">
            <a:avLst/>
          </a:prstGeom>
          <a:noFill/>
          <a:ln>
            <a:noFill/>
          </a:ln>
        </p:spPr>
        <p:txBody>
          <a:bodyPr anchorCtr="0" anchor="b" bIns="34275" lIns="68575" spcFirstLastPara="1" rIns="68575" wrap="square" tIns="34275">
            <a:noAutofit/>
          </a:bodyPr>
          <a:lstStyle>
            <a:lvl1pPr lvl="0" marR="0" rtl="0" algn="l">
              <a:lnSpc>
                <a:spcPct val="90000"/>
              </a:lnSpc>
              <a:spcBef>
                <a:spcPts val="0"/>
              </a:spcBef>
              <a:spcAft>
                <a:spcPts val="0"/>
              </a:spcAft>
              <a:buClr>
                <a:srgbClr val="333333"/>
              </a:buClr>
              <a:buSzPts val="2100"/>
              <a:buFont typeface="Proxima Nova"/>
              <a:buNone/>
              <a:defRPr b="0" i="0" sz="2100" u="none" cap="none" strike="noStrike">
                <a:solidFill>
                  <a:srgbClr val="333333"/>
                </a:solidFill>
                <a:latin typeface="Proxima Nova"/>
                <a:ea typeface="Proxima Nova"/>
                <a:cs typeface="Proxima Nova"/>
                <a:sym typeface="Proxima Nov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cxnSp>
        <p:nvCxnSpPr>
          <p:cNvPr id="83" name="Google Shape;83;p19"/>
          <p:cNvCxnSpPr/>
          <p:nvPr/>
        </p:nvCxnSpPr>
        <p:spPr>
          <a:xfrm rot="10800000">
            <a:off x="904098" y="182393"/>
            <a:ext cx="0" cy="1809345"/>
          </a:xfrm>
          <a:prstGeom prst="straightConnector1">
            <a:avLst/>
          </a:prstGeom>
          <a:noFill/>
          <a:ln cap="flat" cmpd="sng" w="9525">
            <a:solidFill>
              <a:schemeClr val="accent1"/>
            </a:solidFill>
            <a:prstDash val="solid"/>
            <a:miter lim="800000"/>
            <a:headEnd len="sm" w="sm" type="none"/>
            <a:tailEnd len="sm" w="sm" type="none"/>
          </a:ln>
        </p:spPr>
      </p:cxnSp>
      <p:sp>
        <p:nvSpPr>
          <p:cNvPr id="84" name="Google Shape;84;p19"/>
          <p:cNvSpPr txBox="1"/>
          <p:nvPr>
            <p:ph idx="1" type="body"/>
          </p:nvPr>
        </p:nvSpPr>
        <p:spPr>
          <a:xfrm>
            <a:off x="1047172" y="1071610"/>
            <a:ext cx="4274372" cy="3241016"/>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800"/>
              </a:spcBef>
              <a:spcAft>
                <a:spcPts val="0"/>
              </a:spcAft>
              <a:buClr>
                <a:srgbClr val="333333"/>
              </a:buClr>
              <a:buSzPts val="1500"/>
              <a:buFont typeface="Arial"/>
              <a:buNone/>
              <a:defRPr b="0" i="0" sz="1500" u="none" cap="none" strike="noStrike">
                <a:solidFill>
                  <a:srgbClr val="333333"/>
                </a:solidFill>
                <a:latin typeface="Proxima Nova"/>
                <a:ea typeface="Proxima Nova"/>
                <a:cs typeface="Proxima Nova"/>
                <a:sym typeface="Proxima Nova"/>
              </a:defRPr>
            </a:lvl1pPr>
            <a:lvl2pPr indent="-228600" lvl="1" marL="9144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ypical">
  <p:cSld name="Slide Typical">
    <p:spTree>
      <p:nvGrpSpPr>
        <p:cNvPr id="85" name="Shape 85"/>
        <p:cNvGrpSpPr/>
        <p:nvPr/>
      </p:nvGrpSpPr>
      <p:grpSpPr>
        <a:xfrm>
          <a:off x="0" y="0"/>
          <a:ext cx="0" cy="0"/>
          <a:chOff x="0" y="0"/>
          <a:chExt cx="0" cy="0"/>
        </a:xfrm>
      </p:grpSpPr>
      <p:sp>
        <p:nvSpPr>
          <p:cNvPr id="86" name="Google Shape;86;p20"/>
          <p:cNvSpPr txBox="1"/>
          <p:nvPr>
            <p:ph type="ctrTitle"/>
          </p:nvPr>
        </p:nvSpPr>
        <p:spPr>
          <a:xfrm>
            <a:off x="1047172" y="320987"/>
            <a:ext cx="6858000" cy="338437"/>
          </a:xfrm>
          <a:prstGeom prst="rect">
            <a:avLst/>
          </a:prstGeom>
          <a:noFill/>
          <a:ln>
            <a:noFill/>
          </a:ln>
        </p:spPr>
        <p:txBody>
          <a:bodyPr anchorCtr="0" anchor="b" bIns="34275" lIns="68575" spcFirstLastPara="1" rIns="68575" wrap="square" tIns="34275">
            <a:noAutofit/>
          </a:bodyPr>
          <a:lstStyle>
            <a:lvl1pPr lvl="0" marR="0" rtl="0" algn="l">
              <a:lnSpc>
                <a:spcPct val="90000"/>
              </a:lnSpc>
              <a:spcBef>
                <a:spcPts val="0"/>
              </a:spcBef>
              <a:spcAft>
                <a:spcPts val="0"/>
              </a:spcAft>
              <a:buClr>
                <a:srgbClr val="333333"/>
              </a:buClr>
              <a:buSzPts val="2100"/>
              <a:buFont typeface="Proxima Nova"/>
              <a:buNone/>
              <a:defRPr b="0" i="0" sz="2100" u="none" cap="none" strike="noStrike">
                <a:solidFill>
                  <a:srgbClr val="333333"/>
                </a:solidFill>
                <a:latin typeface="Proxima Nova"/>
                <a:ea typeface="Proxima Nova"/>
                <a:cs typeface="Proxima Nova"/>
                <a:sym typeface="Proxima Nov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cxnSp>
        <p:nvCxnSpPr>
          <p:cNvPr id="87" name="Google Shape;87;p20"/>
          <p:cNvCxnSpPr/>
          <p:nvPr/>
        </p:nvCxnSpPr>
        <p:spPr>
          <a:xfrm rot="10800000">
            <a:off x="904098" y="182393"/>
            <a:ext cx="0" cy="1809345"/>
          </a:xfrm>
          <a:prstGeom prst="straightConnector1">
            <a:avLst/>
          </a:prstGeom>
          <a:noFill/>
          <a:ln cap="flat" cmpd="sng" w="9525">
            <a:solidFill>
              <a:schemeClr val="accent1"/>
            </a:solidFill>
            <a:prstDash val="solid"/>
            <a:miter lim="800000"/>
            <a:headEnd len="sm" w="sm" type="none"/>
            <a:tailEnd len="sm" w="sm" type="none"/>
          </a:ln>
        </p:spPr>
      </p:cxnSp>
      <p:sp>
        <p:nvSpPr>
          <p:cNvPr id="88" name="Google Shape;88;p20"/>
          <p:cNvSpPr txBox="1"/>
          <p:nvPr>
            <p:ph idx="1" type="body"/>
          </p:nvPr>
        </p:nvSpPr>
        <p:spPr>
          <a:xfrm>
            <a:off x="1047173" y="1071611"/>
            <a:ext cx="7479168" cy="3344609"/>
          </a:xfrm>
          <a:prstGeom prst="rect">
            <a:avLst/>
          </a:prstGeom>
          <a:noFill/>
          <a:ln>
            <a:noFill/>
          </a:ln>
        </p:spPr>
        <p:txBody>
          <a:bodyPr anchorCtr="0" anchor="t" bIns="34275" lIns="68575" spcFirstLastPara="1" rIns="68575" wrap="square" tIns="34275">
            <a:normAutofit/>
          </a:bodyPr>
          <a:lstStyle>
            <a:lvl1pPr indent="-311150" lvl="0" marL="457200" marR="0" rtl="0" algn="l">
              <a:lnSpc>
                <a:spcPct val="90000"/>
              </a:lnSpc>
              <a:spcBef>
                <a:spcPts val="800"/>
              </a:spcBef>
              <a:spcAft>
                <a:spcPts val="0"/>
              </a:spcAft>
              <a:buClr>
                <a:srgbClr val="333333"/>
              </a:buClr>
              <a:buSzPts val="1300"/>
              <a:buFont typeface="Noto Sans Symbols"/>
              <a:buChar char="▪"/>
              <a:defRPr b="0" i="0" sz="1500" u="none" cap="none" strike="noStrike">
                <a:solidFill>
                  <a:srgbClr val="333333"/>
                </a:solidFill>
                <a:latin typeface="Proxima Nova"/>
                <a:ea typeface="Proxima Nova"/>
                <a:cs typeface="Proxima Nova"/>
                <a:sym typeface="Proxima Nova"/>
              </a:defRPr>
            </a:lvl1pPr>
            <a:lvl2pPr indent="-311150" lvl="1" marL="914400" marR="0" rtl="0" algn="l">
              <a:lnSpc>
                <a:spcPct val="90000"/>
              </a:lnSpc>
              <a:spcBef>
                <a:spcPts val="400"/>
              </a:spcBef>
              <a:spcAft>
                <a:spcPts val="0"/>
              </a:spcAft>
              <a:buClr>
                <a:srgbClr val="333333"/>
              </a:buClr>
              <a:buSzPts val="1300"/>
              <a:buFont typeface="Proxima Nova"/>
              <a:buChar char="–"/>
              <a:defRPr b="0" i="0" sz="1500" u="none" cap="none" strike="noStrike">
                <a:solidFill>
                  <a:srgbClr val="333333"/>
                </a:solidFill>
                <a:latin typeface="Proxima Nova"/>
                <a:ea typeface="Proxima Nova"/>
                <a:cs typeface="Proxima Nova"/>
                <a:sym typeface="Proxima Nova"/>
              </a:defRPr>
            </a:lvl2pPr>
            <a:lvl3pPr indent="-228600" lvl="2" marL="1371600" marR="0" rtl="0" algn="l">
              <a:lnSpc>
                <a:spcPct val="90000"/>
              </a:lnSpc>
              <a:spcBef>
                <a:spcPts val="400"/>
              </a:spcBef>
              <a:spcAft>
                <a:spcPts val="0"/>
              </a:spcAft>
              <a:buClr>
                <a:srgbClr val="150221"/>
              </a:buClr>
              <a:buSzPts val="1500"/>
              <a:buFont typeface="Arial"/>
              <a:buNone/>
              <a:defRPr b="0" i="0" sz="1500" u="none" cap="none" strike="noStrike">
                <a:solidFill>
                  <a:srgbClr val="150221"/>
                </a:solidFill>
                <a:latin typeface="Proxima Nova"/>
                <a:ea typeface="Proxima Nova"/>
                <a:cs typeface="Proxima Nova"/>
                <a:sym typeface="Proxima Nova"/>
              </a:defRPr>
            </a:lvl3pPr>
            <a:lvl4pPr indent="-317500" lvl="3" marL="1828800" marR="0" rtl="0" algn="l">
              <a:lnSpc>
                <a:spcPct val="90000"/>
              </a:lnSpc>
              <a:spcBef>
                <a:spcPts val="400"/>
              </a:spcBef>
              <a:spcAft>
                <a:spcPts val="0"/>
              </a:spcAft>
              <a:buClr>
                <a:srgbClr val="150221"/>
              </a:buClr>
              <a:buSzPts val="1400"/>
              <a:buFont typeface="Arial"/>
              <a:buChar char="•"/>
              <a:defRPr b="0" i="0" sz="1400" u="none" cap="none" strike="noStrike">
                <a:solidFill>
                  <a:srgbClr val="150221"/>
                </a:solidFill>
                <a:latin typeface="Arial"/>
                <a:ea typeface="Arial"/>
                <a:cs typeface="Arial"/>
                <a:sym typeface="Arial"/>
              </a:defRPr>
            </a:lvl4pPr>
            <a:lvl5pPr indent="-317500" lvl="4" marL="2286000" marR="0" rtl="0" algn="l">
              <a:lnSpc>
                <a:spcPct val="90000"/>
              </a:lnSpc>
              <a:spcBef>
                <a:spcPts val="400"/>
              </a:spcBef>
              <a:spcAft>
                <a:spcPts val="0"/>
              </a:spcAft>
              <a:buClr>
                <a:srgbClr val="150221"/>
              </a:buClr>
              <a:buSzPts val="1400"/>
              <a:buFont typeface="Arial"/>
              <a:buChar char="•"/>
              <a:defRPr b="0" i="0" sz="1400" u="none" cap="none" strike="noStrike">
                <a:solidFill>
                  <a:srgbClr val="15022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theme" Target="../theme/theme1.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p14:dur="1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1">
            <a:alphaModFix/>
          </a:blip>
          <a:srcRect b="0" l="0" r="0" t="0"/>
          <a:stretch/>
        </p:blipFill>
        <p:spPr>
          <a:xfrm>
            <a:off x="235818" y="4787818"/>
            <a:ext cx="1544408" cy="254047"/>
          </a:xfrm>
          <a:prstGeom prst="rect">
            <a:avLst/>
          </a:prstGeom>
          <a:noFill/>
          <a:ln>
            <a:noFill/>
          </a:ln>
        </p:spPr>
      </p:pic>
      <p:cxnSp>
        <p:nvCxnSpPr>
          <p:cNvPr id="52" name="Google Shape;52;p13"/>
          <p:cNvCxnSpPr/>
          <p:nvPr/>
        </p:nvCxnSpPr>
        <p:spPr>
          <a:xfrm flipH="1">
            <a:off x="235819" y="4715969"/>
            <a:ext cx="8672363" cy="8890"/>
          </a:xfrm>
          <a:prstGeom prst="straightConnector1">
            <a:avLst/>
          </a:prstGeom>
          <a:noFill/>
          <a:ln cap="flat" cmpd="sng" w="9525">
            <a:solidFill>
              <a:srgbClr val="FFBF00"/>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Lst>
  <mc:AlternateContent>
    <mc:Choice Requires="p14">
      <p:transition p14:dur="1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hyperlink" Target="http://fpcc.fp"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 Id="rId3"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6.xml"/><Relationship Id="rId3"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 Id="rId3"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8.xml"/><Relationship Id="rId3" Type="http://schemas.openxmlformats.org/officeDocument/2006/relationships/image" Target="../media/image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1"/>
          <p:cNvSpPr txBox="1"/>
          <p:nvPr>
            <p:ph type="ctrTitle"/>
          </p:nvPr>
        </p:nvSpPr>
        <p:spPr>
          <a:xfrm>
            <a:off x="1552050" y="1379200"/>
            <a:ext cx="6517800" cy="5322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rgbClr val="333333"/>
              </a:buClr>
              <a:buSzPts val="2100"/>
              <a:buFont typeface="Proxima Nova"/>
              <a:buNone/>
            </a:pPr>
            <a:r>
              <a:rPr lang="en" sz="2700"/>
              <a:t>BEAT: Asynchronous BFT Made Practical</a:t>
            </a:r>
            <a:endParaRPr sz="2700"/>
          </a:p>
        </p:txBody>
      </p:sp>
      <p:sp>
        <p:nvSpPr>
          <p:cNvPr id="94" name="Google Shape;94;p21"/>
          <p:cNvSpPr txBox="1"/>
          <p:nvPr>
            <p:ph idx="1" type="body"/>
          </p:nvPr>
        </p:nvSpPr>
        <p:spPr>
          <a:xfrm>
            <a:off x="2034600" y="4358700"/>
            <a:ext cx="5074800" cy="784800"/>
          </a:xfrm>
          <a:prstGeom prst="rect">
            <a:avLst/>
          </a:prstGeom>
          <a:noFill/>
          <a:ln>
            <a:noFill/>
          </a:ln>
        </p:spPr>
        <p:txBody>
          <a:bodyPr anchorCtr="0" anchor="t" bIns="34275" lIns="68575" spcFirstLastPara="1" rIns="68575" wrap="square" tIns="34275">
            <a:normAutofit/>
          </a:bodyPr>
          <a:lstStyle/>
          <a:p>
            <a:pPr indent="0" lvl="0" marL="0" rtl="0" algn="ctr">
              <a:lnSpc>
                <a:spcPct val="100000"/>
              </a:lnSpc>
              <a:spcBef>
                <a:spcPts val="0"/>
              </a:spcBef>
              <a:spcAft>
                <a:spcPts val="0"/>
              </a:spcAft>
              <a:buClr>
                <a:schemeClr val="lt1"/>
              </a:buClr>
              <a:buSzPts val="1200"/>
              <a:buNone/>
            </a:pPr>
            <a:r>
              <a:rPr lang="en" sz="1500"/>
              <a:t>Presenters : Aviral, Rahul, Pavan, </a:t>
            </a:r>
            <a:r>
              <a:rPr lang="en" sz="1500"/>
              <a:t>Vikhas</a:t>
            </a:r>
            <a:r>
              <a:rPr lang="en" sz="1500"/>
              <a:t>, Rithvik</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2"/>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Why do we even need Fault-Tolerant Distributed Systems?</a:t>
            </a:r>
            <a:endParaRPr/>
          </a:p>
        </p:txBody>
      </p:sp>
      <p:grpSp>
        <p:nvGrpSpPr>
          <p:cNvPr id="100" name="Google Shape;100;p22"/>
          <p:cNvGrpSpPr/>
          <p:nvPr/>
        </p:nvGrpSpPr>
        <p:grpSpPr>
          <a:xfrm>
            <a:off x="2422425" y="1776850"/>
            <a:ext cx="3983800" cy="1090808"/>
            <a:chOff x="2708675" y="1217675"/>
            <a:chExt cx="3983800" cy="1090808"/>
          </a:xfrm>
        </p:grpSpPr>
        <p:pic>
          <p:nvPicPr>
            <p:cNvPr id="101" name="Google Shape;101;p22"/>
            <p:cNvPicPr preferRelativeResize="0"/>
            <p:nvPr/>
          </p:nvPicPr>
          <p:blipFill>
            <a:blip r:embed="rId3">
              <a:alphaModFix/>
            </a:blip>
            <a:stretch>
              <a:fillRect/>
            </a:stretch>
          </p:blipFill>
          <p:spPr>
            <a:xfrm>
              <a:off x="2708675" y="1217675"/>
              <a:ext cx="1090800" cy="1090800"/>
            </a:xfrm>
            <a:prstGeom prst="rect">
              <a:avLst/>
            </a:prstGeom>
            <a:noFill/>
            <a:ln>
              <a:noFill/>
            </a:ln>
          </p:spPr>
        </p:pic>
        <p:pic>
          <p:nvPicPr>
            <p:cNvPr id="102" name="Google Shape;102;p22"/>
            <p:cNvPicPr preferRelativeResize="0"/>
            <p:nvPr/>
          </p:nvPicPr>
          <p:blipFill>
            <a:blip r:embed="rId4">
              <a:alphaModFix/>
            </a:blip>
            <a:stretch>
              <a:fillRect/>
            </a:stretch>
          </p:blipFill>
          <p:spPr>
            <a:xfrm>
              <a:off x="5601675" y="1217683"/>
              <a:ext cx="1090800" cy="1090800"/>
            </a:xfrm>
            <a:prstGeom prst="rect">
              <a:avLst/>
            </a:prstGeom>
            <a:noFill/>
            <a:ln>
              <a:noFill/>
            </a:ln>
          </p:spPr>
        </p:pic>
        <p:cxnSp>
          <p:nvCxnSpPr>
            <p:cNvPr id="103" name="Google Shape;103;p22"/>
            <p:cNvCxnSpPr/>
            <p:nvPr/>
          </p:nvCxnSpPr>
          <p:spPr>
            <a:xfrm>
              <a:off x="3799475" y="1665075"/>
              <a:ext cx="1802100" cy="0"/>
            </a:xfrm>
            <a:prstGeom prst="straightConnector1">
              <a:avLst/>
            </a:prstGeom>
            <a:noFill/>
            <a:ln cap="flat" cmpd="sng" w="9525">
              <a:solidFill>
                <a:schemeClr val="dk2"/>
              </a:solidFill>
              <a:prstDash val="solid"/>
              <a:round/>
              <a:headEnd len="med" w="med" type="none"/>
              <a:tailEnd len="med" w="med" type="triangle"/>
            </a:ln>
          </p:spPr>
        </p:cxnSp>
        <p:cxnSp>
          <p:nvCxnSpPr>
            <p:cNvPr id="104" name="Google Shape;104;p22"/>
            <p:cNvCxnSpPr/>
            <p:nvPr/>
          </p:nvCxnSpPr>
          <p:spPr>
            <a:xfrm rot="10800000">
              <a:off x="3799475" y="1821283"/>
              <a:ext cx="1802100" cy="0"/>
            </a:xfrm>
            <a:prstGeom prst="straightConnector1">
              <a:avLst/>
            </a:prstGeom>
            <a:noFill/>
            <a:ln cap="flat" cmpd="sng" w="9525">
              <a:solidFill>
                <a:schemeClr val="dk2"/>
              </a:solidFill>
              <a:prstDash val="solid"/>
              <a:round/>
              <a:headEnd len="med" w="med" type="none"/>
              <a:tailEnd len="med" w="med" type="triangle"/>
            </a:ln>
          </p:spPr>
        </p:cxnSp>
        <p:sp>
          <p:nvSpPr>
            <p:cNvPr id="105" name="Google Shape;105;p22"/>
            <p:cNvSpPr txBox="1"/>
            <p:nvPr/>
          </p:nvSpPr>
          <p:spPr>
            <a:xfrm>
              <a:off x="4287025" y="1326375"/>
              <a:ext cx="690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Request</a:t>
              </a:r>
              <a:endParaRPr b="1" sz="1000"/>
            </a:p>
          </p:txBody>
        </p:sp>
        <p:sp>
          <p:nvSpPr>
            <p:cNvPr id="106" name="Google Shape;106;p22"/>
            <p:cNvSpPr txBox="1"/>
            <p:nvPr/>
          </p:nvSpPr>
          <p:spPr>
            <a:xfrm>
              <a:off x="4226575" y="1821275"/>
              <a:ext cx="811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Response</a:t>
              </a:r>
              <a:endParaRPr b="1" sz="1000"/>
            </a:p>
          </p:txBody>
        </p:sp>
      </p:grpSp>
      <p:sp>
        <p:nvSpPr>
          <p:cNvPr id="107" name="Google Shape;107;p22"/>
          <p:cNvSpPr txBox="1"/>
          <p:nvPr>
            <p:ph idx="1" type="body"/>
          </p:nvPr>
        </p:nvSpPr>
        <p:spPr>
          <a:xfrm>
            <a:off x="1929450" y="3292200"/>
            <a:ext cx="5285100" cy="5043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None/>
            </a:pPr>
            <a:r>
              <a:rPr lang="en" sz="1700"/>
              <a:t>Single Server  → Single point of failure or compromise</a:t>
            </a:r>
            <a:endParaRPr sz="1700"/>
          </a:p>
          <a:p>
            <a:pPr indent="0" lvl="0" marL="0" rtl="0" algn="l">
              <a:lnSpc>
                <a:spcPct val="150000"/>
              </a:lnSpc>
              <a:spcBef>
                <a:spcPts val="0"/>
              </a:spcBef>
              <a:spcAft>
                <a:spcPts val="0"/>
              </a:spcAft>
              <a:buNone/>
            </a:pPr>
            <a:r>
              <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State Machine Replication (SMR)</a:t>
            </a:r>
            <a:endParaRPr/>
          </a:p>
        </p:txBody>
      </p:sp>
      <p:grpSp>
        <p:nvGrpSpPr>
          <p:cNvPr id="113" name="Google Shape;113;p23"/>
          <p:cNvGrpSpPr/>
          <p:nvPr/>
        </p:nvGrpSpPr>
        <p:grpSpPr>
          <a:xfrm>
            <a:off x="2887484" y="938536"/>
            <a:ext cx="3369038" cy="2899721"/>
            <a:chOff x="2222375" y="858108"/>
            <a:chExt cx="4247400" cy="3655725"/>
          </a:xfrm>
        </p:grpSpPr>
        <p:pic>
          <p:nvPicPr>
            <p:cNvPr id="114" name="Google Shape;114;p23"/>
            <p:cNvPicPr preferRelativeResize="0"/>
            <p:nvPr/>
          </p:nvPicPr>
          <p:blipFill>
            <a:blip r:embed="rId3">
              <a:alphaModFix/>
            </a:blip>
            <a:stretch>
              <a:fillRect/>
            </a:stretch>
          </p:blipFill>
          <p:spPr>
            <a:xfrm>
              <a:off x="2222375" y="2140575"/>
              <a:ext cx="1090800" cy="1090800"/>
            </a:xfrm>
            <a:prstGeom prst="rect">
              <a:avLst/>
            </a:prstGeom>
            <a:noFill/>
            <a:ln>
              <a:noFill/>
            </a:ln>
          </p:spPr>
        </p:pic>
        <p:pic>
          <p:nvPicPr>
            <p:cNvPr id="115" name="Google Shape;115;p23"/>
            <p:cNvPicPr preferRelativeResize="0"/>
            <p:nvPr/>
          </p:nvPicPr>
          <p:blipFill>
            <a:blip r:embed="rId4">
              <a:alphaModFix/>
            </a:blip>
            <a:stretch>
              <a:fillRect/>
            </a:stretch>
          </p:blipFill>
          <p:spPr>
            <a:xfrm>
              <a:off x="5378975" y="2140571"/>
              <a:ext cx="1090800" cy="1090800"/>
            </a:xfrm>
            <a:prstGeom prst="rect">
              <a:avLst/>
            </a:prstGeom>
            <a:noFill/>
            <a:ln>
              <a:noFill/>
            </a:ln>
          </p:spPr>
        </p:pic>
        <p:cxnSp>
          <p:nvCxnSpPr>
            <p:cNvPr id="116" name="Google Shape;116;p23"/>
            <p:cNvCxnSpPr/>
            <p:nvPr/>
          </p:nvCxnSpPr>
          <p:spPr>
            <a:xfrm flipH="1" rot="10800000">
              <a:off x="3504925" y="2607975"/>
              <a:ext cx="1841700" cy="20700"/>
            </a:xfrm>
            <a:prstGeom prst="straightConnector1">
              <a:avLst/>
            </a:prstGeom>
            <a:noFill/>
            <a:ln cap="flat" cmpd="sng" w="7550">
              <a:solidFill>
                <a:schemeClr val="dk2"/>
              </a:solidFill>
              <a:prstDash val="solid"/>
              <a:round/>
              <a:headEnd len="med" w="med" type="none"/>
              <a:tailEnd len="med" w="med" type="triangle"/>
            </a:ln>
          </p:spPr>
        </p:cxnSp>
        <p:cxnSp>
          <p:nvCxnSpPr>
            <p:cNvPr id="117" name="Google Shape;117;p23"/>
            <p:cNvCxnSpPr/>
            <p:nvPr/>
          </p:nvCxnSpPr>
          <p:spPr>
            <a:xfrm flipH="1">
              <a:off x="3495225" y="2764083"/>
              <a:ext cx="1851300" cy="9300"/>
            </a:xfrm>
            <a:prstGeom prst="straightConnector1">
              <a:avLst/>
            </a:prstGeom>
            <a:noFill/>
            <a:ln cap="flat" cmpd="sng" w="7550">
              <a:solidFill>
                <a:schemeClr val="dk2"/>
              </a:solidFill>
              <a:prstDash val="solid"/>
              <a:round/>
              <a:headEnd len="med" w="med" type="none"/>
              <a:tailEnd len="med" w="med" type="triangle"/>
            </a:ln>
          </p:spPr>
        </p:cxnSp>
        <p:pic>
          <p:nvPicPr>
            <p:cNvPr id="118" name="Google Shape;118;p23"/>
            <p:cNvPicPr preferRelativeResize="0"/>
            <p:nvPr/>
          </p:nvPicPr>
          <p:blipFill>
            <a:blip r:embed="rId4">
              <a:alphaModFix/>
            </a:blip>
            <a:stretch>
              <a:fillRect/>
            </a:stretch>
          </p:blipFill>
          <p:spPr>
            <a:xfrm>
              <a:off x="5378975" y="858108"/>
              <a:ext cx="1090800" cy="1090800"/>
            </a:xfrm>
            <a:prstGeom prst="rect">
              <a:avLst/>
            </a:prstGeom>
            <a:noFill/>
            <a:ln>
              <a:noFill/>
            </a:ln>
          </p:spPr>
        </p:pic>
        <p:pic>
          <p:nvPicPr>
            <p:cNvPr id="119" name="Google Shape;119;p23"/>
            <p:cNvPicPr preferRelativeResize="0"/>
            <p:nvPr/>
          </p:nvPicPr>
          <p:blipFill>
            <a:blip r:embed="rId5">
              <a:alphaModFix/>
            </a:blip>
            <a:stretch>
              <a:fillRect/>
            </a:stretch>
          </p:blipFill>
          <p:spPr>
            <a:xfrm>
              <a:off x="5378975" y="3423033"/>
              <a:ext cx="1090800" cy="1090800"/>
            </a:xfrm>
            <a:prstGeom prst="rect">
              <a:avLst/>
            </a:prstGeom>
            <a:noFill/>
            <a:ln>
              <a:noFill/>
            </a:ln>
          </p:spPr>
        </p:pic>
        <p:cxnSp>
          <p:nvCxnSpPr>
            <p:cNvPr id="120" name="Google Shape;120;p23"/>
            <p:cNvCxnSpPr/>
            <p:nvPr/>
          </p:nvCxnSpPr>
          <p:spPr>
            <a:xfrm>
              <a:off x="3447025" y="2918200"/>
              <a:ext cx="1883400" cy="1032300"/>
            </a:xfrm>
            <a:prstGeom prst="straightConnector1">
              <a:avLst/>
            </a:prstGeom>
            <a:noFill/>
            <a:ln cap="flat" cmpd="sng" w="7550">
              <a:solidFill>
                <a:schemeClr val="dk2"/>
              </a:solidFill>
              <a:prstDash val="solid"/>
              <a:round/>
              <a:headEnd len="med" w="med" type="none"/>
              <a:tailEnd len="med" w="med" type="triangle"/>
            </a:ln>
          </p:spPr>
        </p:cxnSp>
        <p:cxnSp>
          <p:nvCxnSpPr>
            <p:cNvPr id="121" name="Google Shape;121;p23"/>
            <p:cNvCxnSpPr/>
            <p:nvPr/>
          </p:nvCxnSpPr>
          <p:spPr>
            <a:xfrm rot="10800000">
              <a:off x="3408521" y="3043691"/>
              <a:ext cx="1857000" cy="1049100"/>
            </a:xfrm>
            <a:prstGeom prst="straightConnector1">
              <a:avLst/>
            </a:prstGeom>
            <a:noFill/>
            <a:ln cap="flat" cmpd="sng" w="7550">
              <a:solidFill>
                <a:schemeClr val="dk2"/>
              </a:solidFill>
              <a:prstDash val="solid"/>
              <a:round/>
              <a:headEnd len="med" w="med" type="none"/>
              <a:tailEnd len="med" w="med" type="triangle"/>
            </a:ln>
          </p:spPr>
        </p:cxnSp>
        <p:cxnSp>
          <p:nvCxnSpPr>
            <p:cNvPr id="122" name="Google Shape;122;p23"/>
            <p:cNvCxnSpPr/>
            <p:nvPr/>
          </p:nvCxnSpPr>
          <p:spPr>
            <a:xfrm flipH="1" rot="10800000">
              <a:off x="3350500" y="1259875"/>
              <a:ext cx="1943100" cy="982800"/>
            </a:xfrm>
            <a:prstGeom prst="straightConnector1">
              <a:avLst/>
            </a:prstGeom>
            <a:noFill/>
            <a:ln cap="flat" cmpd="sng" w="7550">
              <a:solidFill>
                <a:schemeClr val="dk2"/>
              </a:solidFill>
              <a:prstDash val="solid"/>
              <a:round/>
              <a:headEnd len="med" w="med" type="none"/>
              <a:tailEnd len="med" w="med" type="triangle"/>
            </a:ln>
          </p:spPr>
        </p:cxnSp>
        <p:cxnSp>
          <p:nvCxnSpPr>
            <p:cNvPr id="123" name="Google Shape;123;p23"/>
            <p:cNvCxnSpPr/>
            <p:nvPr/>
          </p:nvCxnSpPr>
          <p:spPr>
            <a:xfrm flipH="1">
              <a:off x="3350517" y="1401451"/>
              <a:ext cx="2009400" cy="986100"/>
            </a:xfrm>
            <a:prstGeom prst="straightConnector1">
              <a:avLst/>
            </a:prstGeom>
            <a:noFill/>
            <a:ln cap="flat" cmpd="sng" w="7550">
              <a:solidFill>
                <a:schemeClr val="dk2"/>
              </a:solidFill>
              <a:prstDash val="solid"/>
              <a:round/>
              <a:headEnd len="med" w="med" type="none"/>
              <a:tailEnd len="med" w="med" type="triangle"/>
            </a:ln>
          </p:spPr>
        </p:cxnSp>
      </p:grpSp>
      <p:sp>
        <p:nvSpPr>
          <p:cNvPr id="124" name="Google Shape;124;p23"/>
          <p:cNvSpPr txBox="1"/>
          <p:nvPr/>
        </p:nvSpPr>
        <p:spPr>
          <a:xfrm>
            <a:off x="2007625" y="3989350"/>
            <a:ext cx="55584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Can tolerate minority of replicas being faulty or malicious</a:t>
            </a:r>
            <a:endParaRPr/>
          </a:p>
          <a:p>
            <a:pPr indent="-317500" lvl="0" marL="457200" rtl="0" algn="l">
              <a:spcBef>
                <a:spcPts val="0"/>
              </a:spcBef>
              <a:spcAft>
                <a:spcPts val="0"/>
              </a:spcAft>
              <a:buSzPts val="1400"/>
              <a:buChar char="●"/>
            </a:pPr>
            <a:r>
              <a:rPr lang="en"/>
              <a:t>Client can obtain the correct answer by majority vote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Why do we need State Machine Replication (SMR)?</a:t>
            </a:r>
            <a:endParaRPr/>
          </a:p>
        </p:txBody>
      </p:sp>
      <p:sp>
        <p:nvSpPr>
          <p:cNvPr id="130" name="Google Shape;130;p24"/>
          <p:cNvSpPr txBox="1"/>
          <p:nvPr>
            <p:ph idx="1" type="body"/>
          </p:nvPr>
        </p:nvSpPr>
        <p:spPr>
          <a:xfrm>
            <a:off x="1047175" y="1082325"/>
            <a:ext cx="7737600" cy="35391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None/>
            </a:pPr>
            <a:r>
              <a:rPr lang="en" sz="1700"/>
              <a:t>Distributed Systems must remain </a:t>
            </a:r>
            <a:r>
              <a:rPr b="1" lang="en" sz="1700"/>
              <a:t>correct </a:t>
            </a:r>
            <a:r>
              <a:rPr lang="en" sz="1700"/>
              <a:t>and </a:t>
            </a:r>
            <a:r>
              <a:rPr b="1" lang="en" sz="1700"/>
              <a:t>available </a:t>
            </a:r>
            <a:r>
              <a:rPr lang="en" sz="1700"/>
              <a:t>despite failures</a:t>
            </a:r>
            <a:endParaRPr sz="1700"/>
          </a:p>
          <a:p>
            <a:pPr indent="-336550" lvl="0" marL="457200" rtl="0" algn="l">
              <a:lnSpc>
                <a:spcPct val="150000"/>
              </a:lnSpc>
              <a:spcBef>
                <a:spcPts val="0"/>
              </a:spcBef>
              <a:spcAft>
                <a:spcPts val="0"/>
              </a:spcAft>
              <a:buSzPts val="1700"/>
              <a:buChar char="●"/>
            </a:pPr>
            <a:r>
              <a:rPr lang="en" sz="1700"/>
              <a:t>Single Server  → Single point of failure</a:t>
            </a:r>
            <a:endParaRPr sz="1700"/>
          </a:p>
          <a:p>
            <a:pPr indent="-336550" lvl="0" marL="457200" rtl="0" algn="l">
              <a:lnSpc>
                <a:spcPct val="150000"/>
              </a:lnSpc>
              <a:spcBef>
                <a:spcPts val="0"/>
              </a:spcBef>
              <a:spcAft>
                <a:spcPts val="0"/>
              </a:spcAft>
              <a:buSzPts val="1700"/>
              <a:buChar char="●"/>
            </a:pPr>
            <a:r>
              <a:rPr lang="en" sz="1700"/>
              <a:t>Replicated servers diverge → inconsistent state</a:t>
            </a:r>
            <a:endParaRPr sz="1700"/>
          </a:p>
          <a:p>
            <a:pPr indent="0" lvl="0" marL="0" rtl="0" algn="l">
              <a:lnSpc>
                <a:spcPct val="150000"/>
              </a:lnSpc>
              <a:spcBef>
                <a:spcPts val="0"/>
              </a:spcBef>
              <a:spcAft>
                <a:spcPts val="0"/>
              </a:spcAft>
              <a:buNone/>
            </a:pPr>
            <a:r>
              <a:t/>
            </a:r>
            <a:endParaRPr sz="1700"/>
          </a:p>
          <a:p>
            <a:pPr indent="0" lvl="0" marL="0" rtl="0" algn="l">
              <a:lnSpc>
                <a:spcPct val="150000"/>
              </a:lnSpc>
              <a:spcBef>
                <a:spcPts val="0"/>
              </a:spcBef>
              <a:spcAft>
                <a:spcPts val="0"/>
              </a:spcAft>
              <a:buNone/>
            </a:pPr>
            <a:r>
              <a:rPr b="1" lang="en" sz="1700"/>
              <a:t>What We Want</a:t>
            </a:r>
            <a:endParaRPr b="1" sz="1700"/>
          </a:p>
          <a:p>
            <a:pPr indent="-336550" lvl="0" marL="457200" rtl="0" algn="l">
              <a:lnSpc>
                <a:spcPct val="150000"/>
              </a:lnSpc>
              <a:spcBef>
                <a:spcPts val="0"/>
              </a:spcBef>
              <a:spcAft>
                <a:spcPts val="0"/>
              </a:spcAft>
              <a:buSzPts val="1700"/>
              <a:buChar char="●"/>
            </a:pPr>
            <a:r>
              <a:rPr lang="en" sz="1700"/>
              <a:t>A system that behaves like </a:t>
            </a:r>
            <a:r>
              <a:rPr b="1" lang="en" sz="1700"/>
              <a:t>one reliable machine</a:t>
            </a:r>
            <a:r>
              <a:rPr lang="en" sz="1700"/>
              <a:t>, even if some replicas fail</a:t>
            </a:r>
            <a:endParaRPr sz="1700"/>
          </a:p>
          <a:p>
            <a:pPr indent="-336550" lvl="0" marL="457200" rtl="0" algn="l">
              <a:lnSpc>
                <a:spcPct val="150000"/>
              </a:lnSpc>
              <a:spcBef>
                <a:spcPts val="0"/>
              </a:spcBef>
              <a:spcAft>
                <a:spcPts val="0"/>
              </a:spcAft>
              <a:buSzPts val="1700"/>
              <a:buChar char="●"/>
            </a:pPr>
            <a:r>
              <a:rPr lang="en" sz="1700"/>
              <a:t>Strong consistency across replicas</a:t>
            </a:r>
            <a:endParaRPr sz="1700"/>
          </a:p>
        </p:txBody>
      </p:sp>
    </p:spTree>
  </p:cSld>
  <p:clrMapOvr>
    <a:masterClrMapping/>
  </p:clrMapOvr>
  <mc:AlternateContent>
    <mc:Choice Requires="p14">
      <p:transition p14:dur="100">
        <p:fade thruBlk="1"/>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What is State Machine Replication (SMR)?</a:t>
            </a:r>
            <a:endParaRPr/>
          </a:p>
        </p:txBody>
      </p:sp>
      <p:sp>
        <p:nvSpPr>
          <p:cNvPr id="136" name="Google Shape;136;p25"/>
          <p:cNvSpPr txBox="1"/>
          <p:nvPr>
            <p:ph idx="1" type="body"/>
          </p:nvPr>
        </p:nvSpPr>
        <p:spPr>
          <a:xfrm>
            <a:off x="1047175" y="906425"/>
            <a:ext cx="7737600" cy="35391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None/>
            </a:pPr>
            <a:r>
              <a:rPr b="1" lang="en" sz="1600"/>
              <a:t>SMR Idea</a:t>
            </a:r>
            <a:endParaRPr b="1" sz="1600"/>
          </a:p>
          <a:p>
            <a:pPr indent="-330200" lvl="0" marL="457200" rtl="0" algn="l">
              <a:lnSpc>
                <a:spcPct val="150000"/>
              </a:lnSpc>
              <a:spcBef>
                <a:spcPts val="0"/>
              </a:spcBef>
              <a:spcAft>
                <a:spcPts val="0"/>
              </a:spcAft>
              <a:buSzPts val="1600"/>
              <a:buChar char="●"/>
            </a:pPr>
            <a:r>
              <a:rPr lang="en" sz="1600"/>
              <a:t>Replicate the same deterministic state machine across multiple nodes</a:t>
            </a:r>
            <a:endParaRPr sz="1600"/>
          </a:p>
          <a:p>
            <a:pPr indent="-330200" lvl="0" marL="457200" rtl="0" algn="l">
              <a:lnSpc>
                <a:spcPct val="150000"/>
              </a:lnSpc>
              <a:spcBef>
                <a:spcPts val="0"/>
              </a:spcBef>
              <a:spcAft>
                <a:spcPts val="0"/>
              </a:spcAft>
              <a:buSzPts val="1600"/>
              <a:buChar char="●"/>
            </a:pPr>
            <a:r>
              <a:rPr lang="en" sz="1600"/>
              <a:t>Ensure all replicas: </a:t>
            </a:r>
            <a:endParaRPr sz="1600"/>
          </a:p>
          <a:p>
            <a:pPr indent="-330200" lvl="1" marL="914400" rtl="0" algn="l">
              <a:lnSpc>
                <a:spcPct val="150000"/>
              </a:lnSpc>
              <a:spcBef>
                <a:spcPts val="0"/>
              </a:spcBef>
              <a:spcAft>
                <a:spcPts val="0"/>
              </a:spcAft>
              <a:buSzPts val="1600"/>
              <a:buChar char="○"/>
            </a:pPr>
            <a:r>
              <a:rPr lang="en" sz="1600"/>
              <a:t>Start from the same state</a:t>
            </a:r>
            <a:endParaRPr sz="1600"/>
          </a:p>
          <a:p>
            <a:pPr indent="-330200" lvl="1" marL="914400" rtl="0" algn="l">
              <a:lnSpc>
                <a:spcPct val="150000"/>
              </a:lnSpc>
              <a:spcBef>
                <a:spcPts val="0"/>
              </a:spcBef>
              <a:spcAft>
                <a:spcPts val="0"/>
              </a:spcAft>
              <a:buSzPts val="1600"/>
              <a:buChar char="○"/>
            </a:pPr>
            <a:r>
              <a:rPr lang="en" sz="1600"/>
              <a:t>Operations are deterministic</a:t>
            </a:r>
            <a:endParaRPr sz="1600"/>
          </a:p>
          <a:p>
            <a:pPr indent="-330200" lvl="1" marL="914400" rtl="0" algn="l">
              <a:lnSpc>
                <a:spcPct val="150000"/>
              </a:lnSpc>
              <a:spcBef>
                <a:spcPts val="0"/>
              </a:spcBef>
              <a:spcAft>
                <a:spcPts val="0"/>
              </a:spcAft>
              <a:buSzPts val="1600"/>
              <a:buChar char="○"/>
            </a:pPr>
            <a:r>
              <a:rPr lang="en" sz="1600"/>
              <a:t>Replicas execute operations in the same order (total oder)</a:t>
            </a:r>
            <a:endParaRPr sz="1600"/>
          </a:p>
          <a:p>
            <a:pPr indent="0" lvl="0" marL="0" rtl="0" algn="l">
              <a:lnSpc>
                <a:spcPct val="150000"/>
              </a:lnSpc>
              <a:spcBef>
                <a:spcPts val="0"/>
              </a:spcBef>
              <a:spcAft>
                <a:spcPts val="0"/>
              </a:spcAft>
              <a:buNone/>
            </a:pPr>
            <a:r>
              <a:rPr b="1" lang="en" sz="1600"/>
              <a:t>Why this works?</a:t>
            </a:r>
            <a:endParaRPr b="1" sz="1600"/>
          </a:p>
          <a:p>
            <a:pPr indent="-330200" lvl="0" marL="457200" rtl="0" algn="l">
              <a:lnSpc>
                <a:spcPct val="150000"/>
              </a:lnSpc>
              <a:spcBef>
                <a:spcPts val="0"/>
              </a:spcBef>
              <a:spcAft>
                <a:spcPts val="0"/>
              </a:spcAft>
              <a:buSzPts val="1600"/>
              <a:buChar char="●"/>
            </a:pPr>
            <a:r>
              <a:rPr lang="en" sz="1600"/>
              <a:t>Replication → Availability</a:t>
            </a:r>
            <a:endParaRPr sz="1600"/>
          </a:p>
          <a:p>
            <a:pPr indent="-330200" lvl="0" marL="457200" rtl="0" algn="l">
              <a:lnSpc>
                <a:spcPct val="150000"/>
              </a:lnSpc>
              <a:spcBef>
                <a:spcPts val="0"/>
              </a:spcBef>
              <a:spcAft>
                <a:spcPts val="0"/>
              </a:spcAft>
              <a:buSzPts val="1600"/>
              <a:buChar char="●"/>
            </a:pPr>
            <a:r>
              <a:rPr lang="en" sz="1600"/>
              <a:t>Ordered Execution → Consistency </a:t>
            </a:r>
            <a:endParaRPr sz="1600"/>
          </a:p>
          <a:p>
            <a:pPr indent="-330200" lvl="0" marL="457200" rtl="0" algn="l">
              <a:lnSpc>
                <a:spcPct val="150000"/>
              </a:lnSpc>
              <a:spcBef>
                <a:spcPts val="0"/>
              </a:spcBef>
              <a:spcAft>
                <a:spcPts val="0"/>
              </a:spcAft>
              <a:buSzPts val="1600"/>
              <a:buChar char="●"/>
            </a:pPr>
            <a:r>
              <a:rPr lang="en" sz="1600"/>
              <a:t>Determinism → Identical State</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Total order?</a:t>
            </a:r>
            <a:endParaRPr/>
          </a:p>
        </p:txBody>
      </p:sp>
      <p:grpSp>
        <p:nvGrpSpPr>
          <p:cNvPr id="142" name="Google Shape;142;p26"/>
          <p:cNvGrpSpPr/>
          <p:nvPr/>
        </p:nvGrpSpPr>
        <p:grpSpPr>
          <a:xfrm>
            <a:off x="1820774" y="1243674"/>
            <a:ext cx="865222" cy="2964972"/>
            <a:chOff x="1955874" y="1179786"/>
            <a:chExt cx="865222" cy="2964972"/>
          </a:xfrm>
        </p:grpSpPr>
        <p:pic>
          <p:nvPicPr>
            <p:cNvPr id="143" name="Google Shape;143;p26"/>
            <p:cNvPicPr preferRelativeResize="0"/>
            <p:nvPr/>
          </p:nvPicPr>
          <p:blipFill>
            <a:blip r:embed="rId3">
              <a:alphaModFix/>
            </a:blip>
            <a:stretch>
              <a:fillRect/>
            </a:stretch>
          </p:blipFill>
          <p:spPr>
            <a:xfrm>
              <a:off x="1955874" y="1179786"/>
              <a:ext cx="865222" cy="865222"/>
            </a:xfrm>
            <a:prstGeom prst="rect">
              <a:avLst/>
            </a:prstGeom>
            <a:noFill/>
            <a:ln>
              <a:noFill/>
            </a:ln>
          </p:spPr>
        </p:pic>
        <p:pic>
          <p:nvPicPr>
            <p:cNvPr id="144" name="Google Shape;144;p26"/>
            <p:cNvPicPr preferRelativeResize="0"/>
            <p:nvPr/>
          </p:nvPicPr>
          <p:blipFill>
            <a:blip r:embed="rId3">
              <a:alphaModFix/>
            </a:blip>
            <a:stretch>
              <a:fillRect/>
            </a:stretch>
          </p:blipFill>
          <p:spPr>
            <a:xfrm>
              <a:off x="1955874" y="2229649"/>
              <a:ext cx="865222" cy="865222"/>
            </a:xfrm>
            <a:prstGeom prst="rect">
              <a:avLst/>
            </a:prstGeom>
            <a:noFill/>
            <a:ln>
              <a:noFill/>
            </a:ln>
          </p:spPr>
        </p:pic>
        <p:pic>
          <p:nvPicPr>
            <p:cNvPr id="145" name="Google Shape;145;p26"/>
            <p:cNvPicPr preferRelativeResize="0"/>
            <p:nvPr/>
          </p:nvPicPr>
          <p:blipFill>
            <a:blip r:embed="rId4">
              <a:alphaModFix/>
            </a:blip>
            <a:stretch>
              <a:fillRect/>
            </a:stretch>
          </p:blipFill>
          <p:spPr>
            <a:xfrm>
              <a:off x="1955874" y="3279536"/>
              <a:ext cx="865222" cy="865222"/>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Total order?</a:t>
            </a:r>
            <a:endParaRPr/>
          </a:p>
        </p:txBody>
      </p:sp>
      <p:grpSp>
        <p:nvGrpSpPr>
          <p:cNvPr id="151" name="Google Shape;151;p27"/>
          <p:cNvGrpSpPr/>
          <p:nvPr/>
        </p:nvGrpSpPr>
        <p:grpSpPr>
          <a:xfrm>
            <a:off x="1820774" y="1243674"/>
            <a:ext cx="865222" cy="2964972"/>
            <a:chOff x="1955874" y="1179786"/>
            <a:chExt cx="865222" cy="2964972"/>
          </a:xfrm>
        </p:grpSpPr>
        <p:pic>
          <p:nvPicPr>
            <p:cNvPr id="152" name="Google Shape;152;p27"/>
            <p:cNvPicPr preferRelativeResize="0"/>
            <p:nvPr/>
          </p:nvPicPr>
          <p:blipFill>
            <a:blip r:embed="rId3">
              <a:alphaModFix/>
            </a:blip>
            <a:stretch>
              <a:fillRect/>
            </a:stretch>
          </p:blipFill>
          <p:spPr>
            <a:xfrm>
              <a:off x="1955874" y="1179786"/>
              <a:ext cx="865222" cy="865222"/>
            </a:xfrm>
            <a:prstGeom prst="rect">
              <a:avLst/>
            </a:prstGeom>
            <a:noFill/>
            <a:ln>
              <a:noFill/>
            </a:ln>
          </p:spPr>
        </p:pic>
        <p:pic>
          <p:nvPicPr>
            <p:cNvPr id="153" name="Google Shape;153;p27"/>
            <p:cNvPicPr preferRelativeResize="0"/>
            <p:nvPr/>
          </p:nvPicPr>
          <p:blipFill>
            <a:blip r:embed="rId3">
              <a:alphaModFix/>
            </a:blip>
            <a:stretch>
              <a:fillRect/>
            </a:stretch>
          </p:blipFill>
          <p:spPr>
            <a:xfrm>
              <a:off x="1955874" y="2229649"/>
              <a:ext cx="865222" cy="865222"/>
            </a:xfrm>
            <a:prstGeom prst="rect">
              <a:avLst/>
            </a:prstGeom>
            <a:noFill/>
            <a:ln>
              <a:noFill/>
            </a:ln>
          </p:spPr>
        </p:pic>
        <p:pic>
          <p:nvPicPr>
            <p:cNvPr id="154" name="Google Shape;154;p27"/>
            <p:cNvPicPr preferRelativeResize="0"/>
            <p:nvPr/>
          </p:nvPicPr>
          <p:blipFill>
            <a:blip r:embed="rId4">
              <a:alphaModFix/>
            </a:blip>
            <a:stretch>
              <a:fillRect/>
            </a:stretch>
          </p:blipFill>
          <p:spPr>
            <a:xfrm>
              <a:off x="1955874" y="3279536"/>
              <a:ext cx="865222" cy="865222"/>
            </a:xfrm>
            <a:prstGeom prst="rect">
              <a:avLst/>
            </a:prstGeom>
            <a:noFill/>
            <a:ln>
              <a:noFill/>
            </a:ln>
          </p:spPr>
        </p:pic>
      </p:grpSp>
      <p:pic>
        <p:nvPicPr>
          <p:cNvPr id="155" name="Google Shape;155;p27"/>
          <p:cNvPicPr preferRelativeResize="0"/>
          <p:nvPr/>
        </p:nvPicPr>
        <p:blipFill>
          <a:blip r:embed="rId5">
            <a:alphaModFix/>
          </a:blip>
          <a:stretch>
            <a:fillRect/>
          </a:stretch>
        </p:blipFill>
        <p:spPr>
          <a:xfrm>
            <a:off x="7008059" y="1706539"/>
            <a:ext cx="865222" cy="865222"/>
          </a:xfrm>
          <a:prstGeom prst="rect">
            <a:avLst/>
          </a:prstGeom>
          <a:noFill/>
          <a:ln>
            <a:noFill/>
          </a:ln>
        </p:spPr>
      </p:pic>
      <p:sp>
        <p:nvSpPr>
          <p:cNvPr id="156" name="Google Shape;156;p27"/>
          <p:cNvSpPr/>
          <p:nvPr/>
        </p:nvSpPr>
        <p:spPr>
          <a:xfrm>
            <a:off x="2576875" y="2686575"/>
            <a:ext cx="4419900" cy="169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27"/>
          <p:cNvSpPr/>
          <p:nvPr/>
        </p:nvSpPr>
        <p:spPr>
          <a:xfrm>
            <a:off x="2576875" y="1588075"/>
            <a:ext cx="4419900" cy="169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27"/>
          <p:cNvSpPr txBox="1"/>
          <p:nvPr/>
        </p:nvSpPr>
        <p:spPr>
          <a:xfrm>
            <a:off x="2576875" y="1306350"/>
            <a:ext cx="7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$100</a:t>
            </a:r>
            <a:endParaRPr/>
          </a:p>
        </p:txBody>
      </p:sp>
      <p:sp>
        <p:nvSpPr>
          <p:cNvPr id="159" name="Google Shape;159;p27"/>
          <p:cNvSpPr txBox="1"/>
          <p:nvPr/>
        </p:nvSpPr>
        <p:spPr>
          <a:xfrm>
            <a:off x="2576875" y="2371650"/>
            <a:ext cx="7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$100</a:t>
            </a:r>
            <a:endParaRPr/>
          </a:p>
        </p:txBody>
      </p:sp>
      <p:sp>
        <p:nvSpPr>
          <p:cNvPr id="160" name="Google Shape;160;p27"/>
          <p:cNvSpPr txBox="1"/>
          <p:nvPr/>
        </p:nvSpPr>
        <p:spPr>
          <a:xfrm>
            <a:off x="2576875" y="3604875"/>
            <a:ext cx="7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$100</a:t>
            </a:r>
            <a:endParaRPr/>
          </a:p>
        </p:txBody>
      </p:sp>
      <p:sp>
        <p:nvSpPr>
          <p:cNvPr id="161" name="Google Shape;161;p27"/>
          <p:cNvSpPr/>
          <p:nvPr/>
        </p:nvSpPr>
        <p:spPr>
          <a:xfrm>
            <a:off x="3244375" y="1134475"/>
            <a:ext cx="1086300" cy="453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Deposit $100</a:t>
            </a:r>
            <a:endParaRPr sz="1200"/>
          </a:p>
        </p:txBody>
      </p:sp>
      <p:sp>
        <p:nvSpPr>
          <p:cNvPr id="162" name="Google Shape;162;p27"/>
          <p:cNvSpPr/>
          <p:nvPr/>
        </p:nvSpPr>
        <p:spPr>
          <a:xfrm>
            <a:off x="3244375" y="2232975"/>
            <a:ext cx="1086300" cy="453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Deposit $100</a:t>
            </a:r>
            <a:endParaRPr sz="1200"/>
          </a:p>
        </p:txBody>
      </p:sp>
      <p:sp>
        <p:nvSpPr>
          <p:cNvPr id="163" name="Google Shape;163;p27"/>
          <p:cNvSpPr txBox="1"/>
          <p:nvPr/>
        </p:nvSpPr>
        <p:spPr>
          <a:xfrm>
            <a:off x="4330675" y="1261525"/>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$200</a:t>
            </a:r>
            <a:endParaRPr sz="1200"/>
          </a:p>
        </p:txBody>
      </p:sp>
      <p:sp>
        <p:nvSpPr>
          <p:cNvPr id="164" name="Google Shape;164;p27"/>
          <p:cNvSpPr txBox="1"/>
          <p:nvPr/>
        </p:nvSpPr>
        <p:spPr>
          <a:xfrm>
            <a:off x="4330675" y="2371650"/>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$200</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Total order?</a:t>
            </a:r>
            <a:endParaRPr/>
          </a:p>
        </p:txBody>
      </p:sp>
      <p:grpSp>
        <p:nvGrpSpPr>
          <p:cNvPr id="170" name="Google Shape;170;p28"/>
          <p:cNvGrpSpPr/>
          <p:nvPr/>
        </p:nvGrpSpPr>
        <p:grpSpPr>
          <a:xfrm>
            <a:off x="1820774" y="1243674"/>
            <a:ext cx="865222" cy="2964972"/>
            <a:chOff x="1955874" y="1179786"/>
            <a:chExt cx="865222" cy="2964972"/>
          </a:xfrm>
        </p:grpSpPr>
        <p:pic>
          <p:nvPicPr>
            <p:cNvPr id="171" name="Google Shape;171;p28"/>
            <p:cNvPicPr preferRelativeResize="0"/>
            <p:nvPr/>
          </p:nvPicPr>
          <p:blipFill>
            <a:blip r:embed="rId3">
              <a:alphaModFix/>
            </a:blip>
            <a:stretch>
              <a:fillRect/>
            </a:stretch>
          </p:blipFill>
          <p:spPr>
            <a:xfrm>
              <a:off x="1955874" y="1179786"/>
              <a:ext cx="865222" cy="865222"/>
            </a:xfrm>
            <a:prstGeom prst="rect">
              <a:avLst/>
            </a:prstGeom>
            <a:noFill/>
            <a:ln>
              <a:noFill/>
            </a:ln>
          </p:spPr>
        </p:pic>
        <p:pic>
          <p:nvPicPr>
            <p:cNvPr id="172" name="Google Shape;172;p28"/>
            <p:cNvPicPr preferRelativeResize="0"/>
            <p:nvPr/>
          </p:nvPicPr>
          <p:blipFill>
            <a:blip r:embed="rId3">
              <a:alphaModFix/>
            </a:blip>
            <a:stretch>
              <a:fillRect/>
            </a:stretch>
          </p:blipFill>
          <p:spPr>
            <a:xfrm>
              <a:off x="1955874" y="2229649"/>
              <a:ext cx="865222" cy="865222"/>
            </a:xfrm>
            <a:prstGeom prst="rect">
              <a:avLst/>
            </a:prstGeom>
            <a:noFill/>
            <a:ln>
              <a:noFill/>
            </a:ln>
          </p:spPr>
        </p:pic>
        <p:pic>
          <p:nvPicPr>
            <p:cNvPr id="173" name="Google Shape;173;p28"/>
            <p:cNvPicPr preferRelativeResize="0"/>
            <p:nvPr/>
          </p:nvPicPr>
          <p:blipFill>
            <a:blip r:embed="rId4">
              <a:alphaModFix/>
            </a:blip>
            <a:stretch>
              <a:fillRect/>
            </a:stretch>
          </p:blipFill>
          <p:spPr>
            <a:xfrm>
              <a:off x="1955874" y="3279536"/>
              <a:ext cx="865222" cy="865222"/>
            </a:xfrm>
            <a:prstGeom prst="rect">
              <a:avLst/>
            </a:prstGeom>
            <a:noFill/>
            <a:ln>
              <a:noFill/>
            </a:ln>
          </p:spPr>
        </p:pic>
      </p:grpSp>
      <p:pic>
        <p:nvPicPr>
          <p:cNvPr id="174" name="Google Shape;174;p28"/>
          <p:cNvPicPr preferRelativeResize="0"/>
          <p:nvPr/>
        </p:nvPicPr>
        <p:blipFill>
          <a:blip r:embed="rId5">
            <a:alphaModFix/>
          </a:blip>
          <a:stretch>
            <a:fillRect/>
          </a:stretch>
        </p:blipFill>
        <p:spPr>
          <a:xfrm>
            <a:off x="7008059" y="1706539"/>
            <a:ext cx="865222" cy="865222"/>
          </a:xfrm>
          <a:prstGeom prst="rect">
            <a:avLst/>
          </a:prstGeom>
          <a:noFill/>
          <a:ln>
            <a:noFill/>
          </a:ln>
        </p:spPr>
      </p:pic>
      <p:sp>
        <p:nvSpPr>
          <p:cNvPr id="175" name="Google Shape;175;p28"/>
          <p:cNvSpPr/>
          <p:nvPr/>
        </p:nvSpPr>
        <p:spPr>
          <a:xfrm>
            <a:off x="2576875" y="2686575"/>
            <a:ext cx="4419900" cy="169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8"/>
          <p:cNvSpPr/>
          <p:nvPr/>
        </p:nvSpPr>
        <p:spPr>
          <a:xfrm>
            <a:off x="2576875" y="1588075"/>
            <a:ext cx="4419900" cy="169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28"/>
          <p:cNvSpPr txBox="1"/>
          <p:nvPr/>
        </p:nvSpPr>
        <p:spPr>
          <a:xfrm>
            <a:off x="2576875" y="1306350"/>
            <a:ext cx="7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$100</a:t>
            </a:r>
            <a:endParaRPr/>
          </a:p>
        </p:txBody>
      </p:sp>
      <p:sp>
        <p:nvSpPr>
          <p:cNvPr id="178" name="Google Shape;178;p28"/>
          <p:cNvSpPr txBox="1"/>
          <p:nvPr/>
        </p:nvSpPr>
        <p:spPr>
          <a:xfrm>
            <a:off x="2576875" y="2371650"/>
            <a:ext cx="7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$100</a:t>
            </a:r>
            <a:endParaRPr/>
          </a:p>
        </p:txBody>
      </p:sp>
      <p:sp>
        <p:nvSpPr>
          <p:cNvPr id="179" name="Google Shape;179;p28"/>
          <p:cNvSpPr txBox="1"/>
          <p:nvPr/>
        </p:nvSpPr>
        <p:spPr>
          <a:xfrm>
            <a:off x="2576875" y="3604875"/>
            <a:ext cx="7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$100</a:t>
            </a:r>
            <a:endParaRPr/>
          </a:p>
        </p:txBody>
      </p:sp>
      <p:sp>
        <p:nvSpPr>
          <p:cNvPr id="180" name="Google Shape;180;p28"/>
          <p:cNvSpPr/>
          <p:nvPr/>
        </p:nvSpPr>
        <p:spPr>
          <a:xfrm>
            <a:off x="3244375" y="1134475"/>
            <a:ext cx="1086300" cy="453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Deposit $100</a:t>
            </a:r>
            <a:endParaRPr sz="1200"/>
          </a:p>
        </p:txBody>
      </p:sp>
      <p:sp>
        <p:nvSpPr>
          <p:cNvPr id="181" name="Google Shape;181;p28"/>
          <p:cNvSpPr/>
          <p:nvPr/>
        </p:nvSpPr>
        <p:spPr>
          <a:xfrm>
            <a:off x="3244375" y="2232975"/>
            <a:ext cx="1086300" cy="453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Deposit $100</a:t>
            </a:r>
            <a:endParaRPr sz="1200"/>
          </a:p>
        </p:txBody>
      </p:sp>
      <p:sp>
        <p:nvSpPr>
          <p:cNvPr id="182" name="Google Shape;182;p28"/>
          <p:cNvSpPr txBox="1"/>
          <p:nvPr/>
        </p:nvSpPr>
        <p:spPr>
          <a:xfrm>
            <a:off x="4330675" y="1261525"/>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$200</a:t>
            </a:r>
            <a:endParaRPr sz="1200"/>
          </a:p>
        </p:txBody>
      </p:sp>
      <p:sp>
        <p:nvSpPr>
          <p:cNvPr id="183" name="Google Shape;183;p28"/>
          <p:cNvSpPr/>
          <p:nvPr/>
        </p:nvSpPr>
        <p:spPr>
          <a:xfrm>
            <a:off x="5085525" y="1113100"/>
            <a:ext cx="1086300" cy="4536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10% Tax</a:t>
            </a:r>
            <a:endParaRPr sz="1200"/>
          </a:p>
        </p:txBody>
      </p:sp>
      <p:sp>
        <p:nvSpPr>
          <p:cNvPr id="184" name="Google Shape;184;p28"/>
          <p:cNvSpPr txBox="1"/>
          <p:nvPr/>
        </p:nvSpPr>
        <p:spPr>
          <a:xfrm>
            <a:off x="4330675" y="2371650"/>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$200</a:t>
            </a:r>
            <a:endParaRPr sz="1200"/>
          </a:p>
        </p:txBody>
      </p:sp>
      <p:sp>
        <p:nvSpPr>
          <p:cNvPr id="185" name="Google Shape;185;p28"/>
          <p:cNvSpPr txBox="1"/>
          <p:nvPr/>
        </p:nvSpPr>
        <p:spPr>
          <a:xfrm>
            <a:off x="6171825" y="1240150"/>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$180</a:t>
            </a:r>
            <a:endParaRPr sz="1200"/>
          </a:p>
        </p:txBody>
      </p:sp>
      <p:sp>
        <p:nvSpPr>
          <p:cNvPr id="186" name="Google Shape;186;p28"/>
          <p:cNvSpPr/>
          <p:nvPr/>
        </p:nvSpPr>
        <p:spPr>
          <a:xfrm>
            <a:off x="5085525" y="2211600"/>
            <a:ext cx="1086300" cy="4536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10% Tax</a:t>
            </a:r>
            <a:endParaRPr sz="1200"/>
          </a:p>
        </p:txBody>
      </p:sp>
      <p:sp>
        <p:nvSpPr>
          <p:cNvPr id="187" name="Google Shape;187;p28"/>
          <p:cNvSpPr txBox="1"/>
          <p:nvPr/>
        </p:nvSpPr>
        <p:spPr>
          <a:xfrm>
            <a:off x="6171825" y="2338650"/>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$180</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Total order?</a:t>
            </a:r>
            <a:endParaRPr/>
          </a:p>
        </p:txBody>
      </p:sp>
      <p:grpSp>
        <p:nvGrpSpPr>
          <p:cNvPr id="193" name="Google Shape;193;p29"/>
          <p:cNvGrpSpPr/>
          <p:nvPr/>
        </p:nvGrpSpPr>
        <p:grpSpPr>
          <a:xfrm>
            <a:off x="1820774" y="1243674"/>
            <a:ext cx="865222" cy="2964972"/>
            <a:chOff x="1955874" y="1179786"/>
            <a:chExt cx="865222" cy="2964972"/>
          </a:xfrm>
        </p:grpSpPr>
        <p:pic>
          <p:nvPicPr>
            <p:cNvPr id="194" name="Google Shape;194;p29"/>
            <p:cNvPicPr preferRelativeResize="0"/>
            <p:nvPr/>
          </p:nvPicPr>
          <p:blipFill>
            <a:blip r:embed="rId3">
              <a:alphaModFix/>
            </a:blip>
            <a:stretch>
              <a:fillRect/>
            </a:stretch>
          </p:blipFill>
          <p:spPr>
            <a:xfrm>
              <a:off x="1955874" y="1179786"/>
              <a:ext cx="865222" cy="865222"/>
            </a:xfrm>
            <a:prstGeom prst="rect">
              <a:avLst/>
            </a:prstGeom>
            <a:noFill/>
            <a:ln>
              <a:noFill/>
            </a:ln>
          </p:spPr>
        </p:pic>
        <p:pic>
          <p:nvPicPr>
            <p:cNvPr id="195" name="Google Shape;195;p29"/>
            <p:cNvPicPr preferRelativeResize="0"/>
            <p:nvPr/>
          </p:nvPicPr>
          <p:blipFill>
            <a:blip r:embed="rId3">
              <a:alphaModFix/>
            </a:blip>
            <a:stretch>
              <a:fillRect/>
            </a:stretch>
          </p:blipFill>
          <p:spPr>
            <a:xfrm>
              <a:off x="1955874" y="2229649"/>
              <a:ext cx="865222" cy="865222"/>
            </a:xfrm>
            <a:prstGeom prst="rect">
              <a:avLst/>
            </a:prstGeom>
            <a:noFill/>
            <a:ln>
              <a:noFill/>
            </a:ln>
          </p:spPr>
        </p:pic>
        <p:pic>
          <p:nvPicPr>
            <p:cNvPr id="196" name="Google Shape;196;p29"/>
            <p:cNvPicPr preferRelativeResize="0"/>
            <p:nvPr/>
          </p:nvPicPr>
          <p:blipFill>
            <a:blip r:embed="rId4">
              <a:alphaModFix/>
            </a:blip>
            <a:stretch>
              <a:fillRect/>
            </a:stretch>
          </p:blipFill>
          <p:spPr>
            <a:xfrm>
              <a:off x="1955874" y="3279536"/>
              <a:ext cx="865222" cy="865222"/>
            </a:xfrm>
            <a:prstGeom prst="rect">
              <a:avLst/>
            </a:prstGeom>
            <a:noFill/>
            <a:ln>
              <a:noFill/>
            </a:ln>
          </p:spPr>
        </p:pic>
      </p:grpSp>
      <p:pic>
        <p:nvPicPr>
          <p:cNvPr id="197" name="Google Shape;197;p29"/>
          <p:cNvPicPr preferRelativeResize="0"/>
          <p:nvPr/>
        </p:nvPicPr>
        <p:blipFill>
          <a:blip r:embed="rId5">
            <a:alphaModFix/>
          </a:blip>
          <a:stretch>
            <a:fillRect/>
          </a:stretch>
        </p:blipFill>
        <p:spPr>
          <a:xfrm>
            <a:off x="7008059" y="1706539"/>
            <a:ext cx="865222" cy="865222"/>
          </a:xfrm>
          <a:prstGeom prst="rect">
            <a:avLst/>
          </a:prstGeom>
          <a:noFill/>
          <a:ln>
            <a:noFill/>
          </a:ln>
        </p:spPr>
      </p:pic>
      <p:sp>
        <p:nvSpPr>
          <p:cNvPr id="198" name="Google Shape;198;p29"/>
          <p:cNvSpPr/>
          <p:nvPr/>
        </p:nvSpPr>
        <p:spPr>
          <a:xfrm>
            <a:off x="2576875" y="2686575"/>
            <a:ext cx="4419900" cy="169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9"/>
          <p:cNvSpPr/>
          <p:nvPr/>
        </p:nvSpPr>
        <p:spPr>
          <a:xfrm>
            <a:off x="2576875" y="1588075"/>
            <a:ext cx="4419900" cy="169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29"/>
          <p:cNvSpPr txBox="1"/>
          <p:nvPr/>
        </p:nvSpPr>
        <p:spPr>
          <a:xfrm>
            <a:off x="2576875" y="1306350"/>
            <a:ext cx="7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$100</a:t>
            </a:r>
            <a:endParaRPr/>
          </a:p>
        </p:txBody>
      </p:sp>
      <p:sp>
        <p:nvSpPr>
          <p:cNvPr id="201" name="Google Shape;201;p29"/>
          <p:cNvSpPr txBox="1"/>
          <p:nvPr/>
        </p:nvSpPr>
        <p:spPr>
          <a:xfrm>
            <a:off x="2576875" y="2371650"/>
            <a:ext cx="7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$100</a:t>
            </a:r>
            <a:endParaRPr/>
          </a:p>
        </p:txBody>
      </p:sp>
      <p:sp>
        <p:nvSpPr>
          <p:cNvPr id="202" name="Google Shape;202;p29"/>
          <p:cNvSpPr txBox="1"/>
          <p:nvPr/>
        </p:nvSpPr>
        <p:spPr>
          <a:xfrm>
            <a:off x="2576875" y="3604875"/>
            <a:ext cx="7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$100</a:t>
            </a:r>
            <a:endParaRPr/>
          </a:p>
        </p:txBody>
      </p:sp>
      <p:sp>
        <p:nvSpPr>
          <p:cNvPr id="203" name="Google Shape;203;p29"/>
          <p:cNvSpPr/>
          <p:nvPr/>
        </p:nvSpPr>
        <p:spPr>
          <a:xfrm>
            <a:off x="3244375" y="1134475"/>
            <a:ext cx="1086300" cy="4536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10% Tax</a:t>
            </a:r>
            <a:endParaRPr sz="1200"/>
          </a:p>
        </p:txBody>
      </p:sp>
      <p:sp>
        <p:nvSpPr>
          <p:cNvPr id="204" name="Google Shape;204;p29"/>
          <p:cNvSpPr/>
          <p:nvPr/>
        </p:nvSpPr>
        <p:spPr>
          <a:xfrm>
            <a:off x="3244375" y="2232975"/>
            <a:ext cx="1086300" cy="4536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10% Tax</a:t>
            </a:r>
            <a:endParaRPr sz="1200"/>
          </a:p>
        </p:txBody>
      </p:sp>
      <p:sp>
        <p:nvSpPr>
          <p:cNvPr id="205" name="Google Shape;205;p29"/>
          <p:cNvSpPr txBox="1"/>
          <p:nvPr/>
        </p:nvSpPr>
        <p:spPr>
          <a:xfrm>
            <a:off x="4330675" y="1261525"/>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$90</a:t>
            </a:r>
            <a:endParaRPr sz="1200"/>
          </a:p>
        </p:txBody>
      </p:sp>
      <p:sp>
        <p:nvSpPr>
          <p:cNvPr id="206" name="Google Shape;206;p29"/>
          <p:cNvSpPr/>
          <p:nvPr/>
        </p:nvSpPr>
        <p:spPr>
          <a:xfrm>
            <a:off x="5085525" y="1113100"/>
            <a:ext cx="1086300" cy="453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Deposit $100</a:t>
            </a:r>
            <a:endParaRPr sz="1200"/>
          </a:p>
        </p:txBody>
      </p:sp>
      <p:sp>
        <p:nvSpPr>
          <p:cNvPr id="207" name="Google Shape;207;p29"/>
          <p:cNvSpPr txBox="1"/>
          <p:nvPr/>
        </p:nvSpPr>
        <p:spPr>
          <a:xfrm>
            <a:off x="4330675" y="2371650"/>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$90</a:t>
            </a:r>
            <a:endParaRPr sz="1200"/>
          </a:p>
        </p:txBody>
      </p:sp>
      <p:sp>
        <p:nvSpPr>
          <p:cNvPr id="208" name="Google Shape;208;p29"/>
          <p:cNvSpPr txBox="1"/>
          <p:nvPr/>
        </p:nvSpPr>
        <p:spPr>
          <a:xfrm>
            <a:off x="6171825" y="1240150"/>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$190</a:t>
            </a:r>
            <a:endParaRPr sz="1200"/>
          </a:p>
        </p:txBody>
      </p:sp>
      <p:sp>
        <p:nvSpPr>
          <p:cNvPr id="209" name="Google Shape;209;p29"/>
          <p:cNvSpPr/>
          <p:nvPr/>
        </p:nvSpPr>
        <p:spPr>
          <a:xfrm>
            <a:off x="5085525" y="2211600"/>
            <a:ext cx="1086300" cy="453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Deposit $100</a:t>
            </a:r>
            <a:endParaRPr sz="1200"/>
          </a:p>
        </p:txBody>
      </p:sp>
      <p:sp>
        <p:nvSpPr>
          <p:cNvPr id="210" name="Google Shape;210;p29"/>
          <p:cNvSpPr txBox="1"/>
          <p:nvPr/>
        </p:nvSpPr>
        <p:spPr>
          <a:xfrm>
            <a:off x="6171825" y="2338650"/>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$190</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0"/>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Total order?</a:t>
            </a:r>
            <a:endParaRPr/>
          </a:p>
        </p:txBody>
      </p:sp>
      <p:grpSp>
        <p:nvGrpSpPr>
          <p:cNvPr id="216" name="Google Shape;216;p30"/>
          <p:cNvGrpSpPr/>
          <p:nvPr/>
        </p:nvGrpSpPr>
        <p:grpSpPr>
          <a:xfrm>
            <a:off x="1820774" y="1243674"/>
            <a:ext cx="865222" cy="2964972"/>
            <a:chOff x="1955874" y="1179786"/>
            <a:chExt cx="865222" cy="2964972"/>
          </a:xfrm>
        </p:grpSpPr>
        <p:pic>
          <p:nvPicPr>
            <p:cNvPr id="217" name="Google Shape;217;p30"/>
            <p:cNvPicPr preferRelativeResize="0"/>
            <p:nvPr/>
          </p:nvPicPr>
          <p:blipFill>
            <a:blip r:embed="rId3">
              <a:alphaModFix/>
            </a:blip>
            <a:stretch>
              <a:fillRect/>
            </a:stretch>
          </p:blipFill>
          <p:spPr>
            <a:xfrm>
              <a:off x="1955874" y="1179786"/>
              <a:ext cx="865222" cy="865222"/>
            </a:xfrm>
            <a:prstGeom prst="rect">
              <a:avLst/>
            </a:prstGeom>
            <a:noFill/>
            <a:ln>
              <a:noFill/>
            </a:ln>
          </p:spPr>
        </p:pic>
        <p:pic>
          <p:nvPicPr>
            <p:cNvPr id="218" name="Google Shape;218;p30"/>
            <p:cNvPicPr preferRelativeResize="0"/>
            <p:nvPr/>
          </p:nvPicPr>
          <p:blipFill>
            <a:blip r:embed="rId3">
              <a:alphaModFix/>
            </a:blip>
            <a:stretch>
              <a:fillRect/>
            </a:stretch>
          </p:blipFill>
          <p:spPr>
            <a:xfrm>
              <a:off x="1955874" y="2229649"/>
              <a:ext cx="865222" cy="865222"/>
            </a:xfrm>
            <a:prstGeom prst="rect">
              <a:avLst/>
            </a:prstGeom>
            <a:noFill/>
            <a:ln>
              <a:noFill/>
            </a:ln>
          </p:spPr>
        </p:pic>
        <p:pic>
          <p:nvPicPr>
            <p:cNvPr id="219" name="Google Shape;219;p30"/>
            <p:cNvPicPr preferRelativeResize="0"/>
            <p:nvPr/>
          </p:nvPicPr>
          <p:blipFill>
            <a:blip r:embed="rId4">
              <a:alphaModFix/>
            </a:blip>
            <a:stretch>
              <a:fillRect/>
            </a:stretch>
          </p:blipFill>
          <p:spPr>
            <a:xfrm>
              <a:off x="1955874" y="3279536"/>
              <a:ext cx="865222" cy="865222"/>
            </a:xfrm>
            <a:prstGeom prst="rect">
              <a:avLst/>
            </a:prstGeom>
            <a:noFill/>
            <a:ln>
              <a:noFill/>
            </a:ln>
          </p:spPr>
        </p:pic>
      </p:grpSp>
      <p:pic>
        <p:nvPicPr>
          <p:cNvPr id="220" name="Google Shape;220;p30"/>
          <p:cNvPicPr preferRelativeResize="0"/>
          <p:nvPr/>
        </p:nvPicPr>
        <p:blipFill>
          <a:blip r:embed="rId5">
            <a:alphaModFix/>
          </a:blip>
          <a:stretch>
            <a:fillRect/>
          </a:stretch>
        </p:blipFill>
        <p:spPr>
          <a:xfrm>
            <a:off x="7008059" y="1706539"/>
            <a:ext cx="865222" cy="865222"/>
          </a:xfrm>
          <a:prstGeom prst="rect">
            <a:avLst/>
          </a:prstGeom>
          <a:noFill/>
          <a:ln>
            <a:noFill/>
          </a:ln>
        </p:spPr>
      </p:pic>
      <p:sp>
        <p:nvSpPr>
          <p:cNvPr id="221" name="Google Shape;221;p30"/>
          <p:cNvSpPr/>
          <p:nvPr/>
        </p:nvSpPr>
        <p:spPr>
          <a:xfrm>
            <a:off x="2576875" y="2686575"/>
            <a:ext cx="4419900" cy="169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30"/>
          <p:cNvSpPr/>
          <p:nvPr/>
        </p:nvSpPr>
        <p:spPr>
          <a:xfrm>
            <a:off x="2576875" y="1588075"/>
            <a:ext cx="4419900" cy="169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30"/>
          <p:cNvSpPr txBox="1"/>
          <p:nvPr/>
        </p:nvSpPr>
        <p:spPr>
          <a:xfrm>
            <a:off x="2576875" y="1306350"/>
            <a:ext cx="7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$100</a:t>
            </a:r>
            <a:endParaRPr/>
          </a:p>
        </p:txBody>
      </p:sp>
      <p:sp>
        <p:nvSpPr>
          <p:cNvPr id="224" name="Google Shape;224;p30"/>
          <p:cNvSpPr txBox="1"/>
          <p:nvPr/>
        </p:nvSpPr>
        <p:spPr>
          <a:xfrm>
            <a:off x="2576875" y="2371650"/>
            <a:ext cx="7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$100</a:t>
            </a:r>
            <a:endParaRPr/>
          </a:p>
        </p:txBody>
      </p:sp>
      <p:sp>
        <p:nvSpPr>
          <p:cNvPr id="225" name="Google Shape;225;p30"/>
          <p:cNvSpPr txBox="1"/>
          <p:nvPr/>
        </p:nvSpPr>
        <p:spPr>
          <a:xfrm>
            <a:off x="2576875" y="3604875"/>
            <a:ext cx="7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$100</a:t>
            </a:r>
            <a:endParaRPr/>
          </a:p>
        </p:txBody>
      </p:sp>
      <p:sp>
        <p:nvSpPr>
          <p:cNvPr id="226" name="Google Shape;226;p30"/>
          <p:cNvSpPr/>
          <p:nvPr/>
        </p:nvSpPr>
        <p:spPr>
          <a:xfrm>
            <a:off x="3244375" y="1134475"/>
            <a:ext cx="1086300" cy="4536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10% Tax</a:t>
            </a:r>
            <a:endParaRPr sz="1200"/>
          </a:p>
        </p:txBody>
      </p:sp>
      <p:sp>
        <p:nvSpPr>
          <p:cNvPr id="227" name="Google Shape;227;p30"/>
          <p:cNvSpPr/>
          <p:nvPr/>
        </p:nvSpPr>
        <p:spPr>
          <a:xfrm>
            <a:off x="3244375" y="2232975"/>
            <a:ext cx="1086300" cy="453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Deposit $100</a:t>
            </a:r>
            <a:endParaRPr sz="1200"/>
          </a:p>
        </p:txBody>
      </p:sp>
      <p:sp>
        <p:nvSpPr>
          <p:cNvPr id="228" name="Google Shape;228;p30"/>
          <p:cNvSpPr txBox="1"/>
          <p:nvPr/>
        </p:nvSpPr>
        <p:spPr>
          <a:xfrm>
            <a:off x="4330675" y="1261525"/>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$90</a:t>
            </a:r>
            <a:endParaRPr sz="1200"/>
          </a:p>
        </p:txBody>
      </p:sp>
      <p:sp>
        <p:nvSpPr>
          <p:cNvPr id="229" name="Google Shape;229;p30"/>
          <p:cNvSpPr/>
          <p:nvPr/>
        </p:nvSpPr>
        <p:spPr>
          <a:xfrm>
            <a:off x="5085525" y="1113100"/>
            <a:ext cx="1086300" cy="453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Deposit $100</a:t>
            </a:r>
            <a:endParaRPr sz="1200"/>
          </a:p>
        </p:txBody>
      </p:sp>
      <p:sp>
        <p:nvSpPr>
          <p:cNvPr id="230" name="Google Shape;230;p30"/>
          <p:cNvSpPr txBox="1"/>
          <p:nvPr/>
        </p:nvSpPr>
        <p:spPr>
          <a:xfrm>
            <a:off x="4330675" y="2371650"/>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$200</a:t>
            </a:r>
            <a:endParaRPr sz="1200"/>
          </a:p>
        </p:txBody>
      </p:sp>
      <p:sp>
        <p:nvSpPr>
          <p:cNvPr id="231" name="Google Shape;231;p30"/>
          <p:cNvSpPr txBox="1"/>
          <p:nvPr/>
        </p:nvSpPr>
        <p:spPr>
          <a:xfrm>
            <a:off x="6171825" y="1240150"/>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$190</a:t>
            </a:r>
            <a:endParaRPr sz="1200"/>
          </a:p>
        </p:txBody>
      </p:sp>
      <p:sp>
        <p:nvSpPr>
          <p:cNvPr id="232" name="Google Shape;232;p30"/>
          <p:cNvSpPr/>
          <p:nvPr/>
        </p:nvSpPr>
        <p:spPr>
          <a:xfrm>
            <a:off x="5085525" y="2211600"/>
            <a:ext cx="1086300" cy="4536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10% Tax</a:t>
            </a:r>
            <a:endParaRPr sz="1200"/>
          </a:p>
        </p:txBody>
      </p:sp>
      <p:sp>
        <p:nvSpPr>
          <p:cNvPr id="233" name="Google Shape;233;p30"/>
          <p:cNvSpPr txBox="1"/>
          <p:nvPr/>
        </p:nvSpPr>
        <p:spPr>
          <a:xfrm>
            <a:off x="6171825" y="2338650"/>
            <a:ext cx="71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$180</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Why we need </a:t>
            </a:r>
            <a:r>
              <a:rPr lang="en"/>
              <a:t>consensus</a:t>
            </a:r>
            <a:r>
              <a:rPr lang="en"/>
              <a:t> protocols?</a:t>
            </a:r>
            <a:endParaRPr/>
          </a:p>
        </p:txBody>
      </p:sp>
      <p:sp>
        <p:nvSpPr>
          <p:cNvPr id="239" name="Google Shape;239;p31"/>
          <p:cNvSpPr txBox="1"/>
          <p:nvPr>
            <p:ph idx="1" type="body"/>
          </p:nvPr>
        </p:nvSpPr>
        <p:spPr>
          <a:xfrm>
            <a:off x="1047175" y="954950"/>
            <a:ext cx="7737600" cy="35391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None/>
            </a:pPr>
            <a:r>
              <a:rPr b="1" lang="en" sz="1600"/>
              <a:t>The missing piece</a:t>
            </a:r>
            <a:endParaRPr b="1" sz="1600"/>
          </a:p>
          <a:p>
            <a:pPr indent="0" lvl="0" marL="0" rtl="0" algn="l">
              <a:lnSpc>
                <a:spcPct val="150000"/>
              </a:lnSpc>
              <a:spcBef>
                <a:spcPts val="0"/>
              </a:spcBef>
              <a:spcAft>
                <a:spcPts val="0"/>
              </a:spcAft>
              <a:buNone/>
            </a:pPr>
            <a:r>
              <a:rPr lang="en" sz="1600"/>
              <a:t>SMR only works if all replicas agree on</a:t>
            </a:r>
            <a:endParaRPr sz="1600"/>
          </a:p>
          <a:p>
            <a:pPr indent="-330200" lvl="0" marL="457200" rtl="0" algn="l">
              <a:lnSpc>
                <a:spcPct val="150000"/>
              </a:lnSpc>
              <a:spcBef>
                <a:spcPts val="0"/>
              </a:spcBef>
              <a:spcAft>
                <a:spcPts val="0"/>
              </a:spcAft>
              <a:buSzPts val="1600"/>
              <a:buChar char="●"/>
            </a:pPr>
            <a:r>
              <a:rPr lang="en" sz="1600"/>
              <a:t>Which transaction comes next </a:t>
            </a:r>
            <a:endParaRPr sz="1600"/>
          </a:p>
          <a:p>
            <a:pPr indent="-330200" lvl="0" marL="457200" rtl="0" algn="l">
              <a:lnSpc>
                <a:spcPct val="150000"/>
              </a:lnSpc>
              <a:spcBef>
                <a:spcPts val="0"/>
              </a:spcBef>
              <a:spcAft>
                <a:spcPts val="0"/>
              </a:spcAft>
              <a:buSzPts val="1600"/>
              <a:buChar char="●"/>
            </a:pPr>
            <a:r>
              <a:rPr lang="en" sz="1600"/>
              <a:t>In what order</a:t>
            </a:r>
            <a:endParaRPr sz="1600"/>
          </a:p>
          <a:p>
            <a:pPr indent="-330200" lvl="0" marL="457200" rtl="0" algn="l">
              <a:lnSpc>
                <a:spcPct val="150000"/>
              </a:lnSpc>
              <a:spcBef>
                <a:spcPts val="0"/>
              </a:spcBef>
              <a:spcAft>
                <a:spcPts val="0"/>
              </a:spcAft>
              <a:buSzPts val="1600"/>
              <a:buChar char="●"/>
            </a:pPr>
            <a:r>
              <a:rPr lang="en" sz="1600"/>
              <a:t>Even if some replicas lie or fail</a:t>
            </a:r>
            <a:endParaRPr sz="1600"/>
          </a:p>
          <a:p>
            <a:pPr indent="0" lvl="0" marL="0" rtl="0" algn="l">
              <a:lnSpc>
                <a:spcPct val="150000"/>
              </a:lnSpc>
              <a:spcBef>
                <a:spcPts val="0"/>
              </a:spcBef>
              <a:spcAft>
                <a:spcPts val="0"/>
              </a:spcAft>
              <a:buNone/>
            </a:pPr>
            <a:r>
              <a:rPr b="1" lang="en" sz="1600"/>
              <a:t>Consensus protocols solve</a:t>
            </a:r>
            <a:endParaRPr b="1" sz="1600"/>
          </a:p>
          <a:p>
            <a:pPr indent="-330200" lvl="0" marL="457200" rtl="0" algn="l">
              <a:lnSpc>
                <a:spcPct val="150000"/>
              </a:lnSpc>
              <a:spcBef>
                <a:spcPts val="0"/>
              </a:spcBef>
              <a:spcAft>
                <a:spcPts val="0"/>
              </a:spcAft>
              <a:buSzPts val="1600"/>
              <a:buChar char="●"/>
            </a:pPr>
            <a:r>
              <a:rPr lang="en" sz="1600"/>
              <a:t>Ordering of transactions</a:t>
            </a:r>
            <a:endParaRPr sz="1600"/>
          </a:p>
          <a:p>
            <a:pPr indent="-330200" lvl="0" marL="457200" rtl="0" algn="l">
              <a:lnSpc>
                <a:spcPct val="150000"/>
              </a:lnSpc>
              <a:spcBef>
                <a:spcPts val="0"/>
              </a:spcBef>
              <a:spcAft>
                <a:spcPts val="0"/>
              </a:spcAft>
              <a:buSzPts val="1600"/>
              <a:buChar char="●"/>
            </a:pPr>
            <a:r>
              <a:rPr lang="en" sz="1600"/>
              <a:t>Handling failures (crashes or Byzantine)</a:t>
            </a:r>
            <a:endParaRPr sz="1600"/>
          </a:p>
          <a:p>
            <a:pPr indent="-330200" lvl="0" marL="457200" rtl="0" algn="l">
              <a:lnSpc>
                <a:spcPct val="150000"/>
              </a:lnSpc>
              <a:spcBef>
                <a:spcPts val="0"/>
              </a:spcBef>
              <a:spcAft>
                <a:spcPts val="0"/>
              </a:spcAft>
              <a:buSzPts val="1600"/>
              <a:buChar char="●"/>
            </a:pPr>
            <a:r>
              <a:rPr lang="en" sz="1600"/>
              <a:t>Ensuring all replicas converge</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2"/>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Asynchrony vs Partial Synchrony</a:t>
            </a:r>
            <a:endParaRPr/>
          </a:p>
        </p:txBody>
      </p:sp>
      <p:sp>
        <p:nvSpPr>
          <p:cNvPr id="245" name="Google Shape;245;p32"/>
          <p:cNvSpPr txBox="1"/>
          <p:nvPr>
            <p:ph idx="1" type="body"/>
          </p:nvPr>
        </p:nvSpPr>
        <p:spPr>
          <a:xfrm>
            <a:off x="1047175" y="838475"/>
            <a:ext cx="7737600" cy="37752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None/>
            </a:pPr>
            <a:r>
              <a:rPr b="1" lang="en"/>
              <a:t>Asynchronous</a:t>
            </a:r>
            <a:endParaRPr b="1"/>
          </a:p>
          <a:p>
            <a:pPr indent="-323850" lvl="0" marL="457200" rtl="0" algn="l">
              <a:lnSpc>
                <a:spcPct val="150000"/>
              </a:lnSpc>
              <a:spcBef>
                <a:spcPts val="0"/>
              </a:spcBef>
              <a:spcAft>
                <a:spcPts val="0"/>
              </a:spcAft>
              <a:buSzPts val="1500"/>
              <a:buChar char="●"/>
            </a:pPr>
            <a:r>
              <a:rPr lang="en"/>
              <a:t>No bounds on message transmission delays or process execution rates </a:t>
            </a:r>
            <a:endParaRPr/>
          </a:p>
          <a:p>
            <a:pPr indent="-323850" lvl="0" marL="457200" rtl="0" algn="l">
              <a:lnSpc>
                <a:spcPct val="150000"/>
              </a:lnSpc>
              <a:spcBef>
                <a:spcPts val="0"/>
              </a:spcBef>
              <a:spcAft>
                <a:spcPts val="0"/>
              </a:spcAft>
              <a:buSzPts val="1500"/>
              <a:buChar char="●"/>
            </a:pPr>
            <a:r>
              <a:rPr lang="en"/>
              <a:t>Protocols are more robust to timing and denial of service attacks</a:t>
            </a:r>
            <a:endParaRPr/>
          </a:p>
          <a:p>
            <a:pPr indent="-323850" lvl="0" marL="457200" rtl="0" algn="l">
              <a:lnSpc>
                <a:spcPct val="150000"/>
              </a:lnSpc>
              <a:spcBef>
                <a:spcPts val="0"/>
              </a:spcBef>
              <a:spcAft>
                <a:spcPts val="0"/>
              </a:spcAft>
              <a:buSzPts val="1500"/>
              <a:buChar char="●"/>
            </a:pPr>
            <a:r>
              <a:rPr lang="en"/>
              <a:t>Deterministic ordering is impossible (FLP Impossibility), so the protocols are probabilistically live </a:t>
            </a:r>
            <a:endParaRPr/>
          </a:p>
          <a:p>
            <a:pPr indent="0" lvl="0" marL="0" rtl="0" algn="l">
              <a:lnSpc>
                <a:spcPct val="150000"/>
              </a:lnSpc>
              <a:spcBef>
                <a:spcPts val="0"/>
              </a:spcBef>
              <a:spcAft>
                <a:spcPts val="0"/>
              </a:spcAft>
              <a:buNone/>
            </a:pPr>
            <a:r>
              <a:rPr b="1" lang="en"/>
              <a:t>Partially Synchronous</a:t>
            </a:r>
            <a:endParaRPr b="1"/>
          </a:p>
          <a:p>
            <a:pPr indent="-311150" lvl="0" marL="457200" rtl="0" algn="l">
              <a:lnSpc>
                <a:spcPct val="150000"/>
              </a:lnSpc>
              <a:spcBef>
                <a:spcPts val="0"/>
              </a:spcBef>
              <a:spcAft>
                <a:spcPts val="0"/>
              </a:spcAft>
              <a:buSzPts val="1300"/>
              <a:buChar char="●"/>
            </a:pPr>
            <a:r>
              <a:rPr lang="en"/>
              <a:t>Bounds exist, but are unknown to the participants in the system</a:t>
            </a:r>
            <a:endParaRPr/>
          </a:p>
          <a:p>
            <a:pPr indent="-311150" lvl="0" marL="457200" rtl="0" algn="l">
              <a:lnSpc>
                <a:spcPct val="150000"/>
              </a:lnSpc>
              <a:spcBef>
                <a:spcPts val="0"/>
              </a:spcBef>
              <a:spcAft>
                <a:spcPts val="0"/>
              </a:spcAft>
              <a:buSzPts val="1300"/>
              <a:buChar char="●"/>
            </a:pPr>
            <a:r>
              <a:rPr lang="en"/>
              <a:t>Basically, before some unknown time, the Global Stabilization Time (GST), the network behaves asynchronous. After GST, the network behaves like a synchronous system. Every message is delivered within some known bound Δ</a:t>
            </a:r>
            <a:endParaRPr baseline="-25000"/>
          </a:p>
          <a:p>
            <a:pPr indent="0" lvl="0" marL="45720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t/>
            </a:r>
            <a:endParaRPr b="1" sz="1600"/>
          </a:p>
        </p:txBody>
      </p:sp>
    </p:spTree>
  </p:cSld>
  <p:clrMapOvr>
    <a:masterClrMapping/>
  </p:clrMapOvr>
  <mc:AlternateContent>
    <mc:Choice Requires="p14">
      <p:transition p14:dur="100">
        <p:fade thruBlk="1"/>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Challenges and opportunities of asynchronous BFT </a:t>
            </a:r>
            <a:endParaRPr/>
          </a:p>
        </p:txBody>
      </p:sp>
      <p:sp>
        <p:nvSpPr>
          <p:cNvPr id="251" name="Google Shape;251;p33"/>
          <p:cNvSpPr txBox="1"/>
          <p:nvPr>
            <p:ph idx="1" type="body"/>
          </p:nvPr>
        </p:nvSpPr>
        <p:spPr>
          <a:xfrm>
            <a:off x="1047175" y="1498425"/>
            <a:ext cx="7737600" cy="2300100"/>
          </a:xfrm>
          <a:prstGeom prst="rect">
            <a:avLst/>
          </a:prstGeom>
          <a:noFill/>
          <a:ln>
            <a:noFill/>
          </a:ln>
        </p:spPr>
        <p:txBody>
          <a:bodyPr anchorCtr="0" anchor="t" bIns="34275" lIns="68575" spcFirstLastPara="1" rIns="68575" wrap="square" tIns="34275">
            <a:noAutofit/>
          </a:bodyPr>
          <a:lstStyle/>
          <a:p>
            <a:pPr indent="-323850" lvl="0" marL="457200" rtl="0" algn="l">
              <a:lnSpc>
                <a:spcPct val="150000"/>
              </a:lnSpc>
              <a:spcBef>
                <a:spcPts val="0"/>
              </a:spcBef>
              <a:spcAft>
                <a:spcPts val="0"/>
              </a:spcAft>
              <a:buSzPts val="1500"/>
              <a:buChar char="●"/>
            </a:pPr>
            <a:r>
              <a:rPr lang="en" sz="1700"/>
              <a:t>No timeouts or clocks you can trust</a:t>
            </a:r>
            <a:endParaRPr sz="1700"/>
          </a:p>
          <a:p>
            <a:pPr indent="-323850" lvl="0" marL="457200" rtl="0" algn="l">
              <a:lnSpc>
                <a:spcPct val="150000"/>
              </a:lnSpc>
              <a:spcBef>
                <a:spcPts val="0"/>
              </a:spcBef>
              <a:spcAft>
                <a:spcPts val="0"/>
              </a:spcAft>
              <a:buSzPts val="1500"/>
              <a:buChar char="●"/>
            </a:pPr>
            <a:r>
              <a:rPr lang="en" sz="1700"/>
              <a:t>Need to tolerate </a:t>
            </a:r>
            <a:r>
              <a:rPr lang="en" sz="1700"/>
              <a:t>arbitrary</a:t>
            </a:r>
            <a:r>
              <a:rPr lang="en" sz="1700"/>
              <a:t> delays </a:t>
            </a:r>
            <a:endParaRPr sz="1700"/>
          </a:p>
          <a:p>
            <a:pPr indent="-323850" lvl="0" marL="457200" rtl="0" algn="l">
              <a:lnSpc>
                <a:spcPct val="150000"/>
              </a:lnSpc>
              <a:spcBef>
                <a:spcPts val="0"/>
              </a:spcBef>
              <a:spcAft>
                <a:spcPts val="0"/>
              </a:spcAft>
              <a:buSzPts val="1500"/>
              <a:buChar char="●"/>
            </a:pPr>
            <a:r>
              <a:rPr lang="en" sz="1700"/>
              <a:t>Broadcast and agreement become expensive</a:t>
            </a:r>
            <a:endParaRPr sz="1700"/>
          </a:p>
          <a:p>
            <a:pPr indent="-323850" lvl="0" marL="457200" rtl="0" algn="l">
              <a:lnSpc>
                <a:spcPct val="150000"/>
              </a:lnSpc>
              <a:spcBef>
                <a:spcPts val="0"/>
              </a:spcBef>
              <a:spcAft>
                <a:spcPts val="0"/>
              </a:spcAft>
              <a:buSzPts val="1500"/>
              <a:buChar char="●"/>
            </a:pPr>
            <a:r>
              <a:rPr lang="en" sz="1700"/>
              <a:t>Current async protocols (e.g., HoneyBadgerBFT) have:</a:t>
            </a:r>
            <a:endParaRPr sz="1700"/>
          </a:p>
          <a:p>
            <a:pPr indent="-323850" lvl="1" marL="914400" rtl="0" algn="l">
              <a:lnSpc>
                <a:spcPct val="150000"/>
              </a:lnSpc>
              <a:spcBef>
                <a:spcPts val="0"/>
              </a:spcBef>
              <a:spcAft>
                <a:spcPts val="0"/>
              </a:spcAft>
              <a:buSzPts val="1500"/>
              <a:buChar char="○"/>
            </a:pPr>
            <a:r>
              <a:rPr lang="en" sz="1700"/>
              <a:t>Performance</a:t>
            </a:r>
            <a:r>
              <a:rPr lang="en" sz="1700"/>
              <a:t> (latency and throughput) issues</a:t>
            </a:r>
            <a:endParaRPr sz="1700"/>
          </a:p>
          <a:p>
            <a:pPr indent="-323850" lvl="1" marL="914400" rtl="0" algn="l">
              <a:lnSpc>
                <a:spcPct val="150000"/>
              </a:lnSpc>
              <a:spcBef>
                <a:spcPts val="0"/>
              </a:spcBef>
              <a:spcAft>
                <a:spcPts val="0"/>
              </a:spcAft>
              <a:buSzPts val="1500"/>
              <a:buChar char="○"/>
            </a:pPr>
            <a:r>
              <a:rPr lang="en" sz="1700"/>
              <a:t>No one-size-fits-all design</a:t>
            </a:r>
            <a:endParaRPr sz="1700"/>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t/>
            </a:r>
            <a:endParaRPr b="1"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4"/>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Challenges and opportunities of asynchronous BFT </a:t>
            </a:r>
            <a:endParaRPr/>
          </a:p>
        </p:txBody>
      </p:sp>
      <p:sp>
        <p:nvSpPr>
          <p:cNvPr id="257" name="Google Shape;257;p34"/>
          <p:cNvSpPr txBox="1"/>
          <p:nvPr>
            <p:ph idx="1" type="body"/>
          </p:nvPr>
        </p:nvSpPr>
        <p:spPr>
          <a:xfrm>
            <a:off x="1047175" y="954950"/>
            <a:ext cx="7737600" cy="36294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None/>
            </a:pPr>
            <a:r>
              <a:rPr b="1" lang="en"/>
              <a:t>Append-only ledger vs Smart Contracts: </a:t>
            </a:r>
            <a:endParaRPr b="1"/>
          </a:p>
          <a:p>
            <a:pPr indent="-311150" lvl="0" marL="457200" rtl="0" algn="l">
              <a:lnSpc>
                <a:spcPct val="115000"/>
              </a:lnSpc>
              <a:spcBef>
                <a:spcPts val="0"/>
              </a:spcBef>
              <a:spcAft>
                <a:spcPts val="0"/>
              </a:spcAft>
              <a:buSzPts val="1300"/>
              <a:buChar char="●"/>
            </a:pPr>
            <a:r>
              <a:rPr lang="en"/>
              <a:t>The former corresponds to append-only, linearizable storage systems (hereinafter, </a:t>
            </a:r>
            <a:r>
              <a:rPr b="1" lang="en"/>
              <a:t>BFT storage</a:t>
            </a:r>
            <a:r>
              <a:rPr lang="en"/>
              <a:t>), and the latter corresponds to general SMR.</a:t>
            </a:r>
            <a:endParaRPr/>
          </a:p>
          <a:p>
            <a:pPr indent="-311150" lvl="0" marL="457200" rtl="0" algn="l">
              <a:lnSpc>
                <a:spcPct val="115000"/>
              </a:lnSpc>
              <a:spcBef>
                <a:spcPts val="0"/>
              </a:spcBef>
              <a:spcAft>
                <a:spcPts val="0"/>
              </a:spcAft>
              <a:buSzPts val="1300"/>
              <a:buChar char="●"/>
            </a:pPr>
            <a:r>
              <a:rPr lang="en"/>
              <a:t>General SMR requires each replica to maintain a copy of all service state to support contracts that operate on that state.</a:t>
            </a:r>
            <a:endParaRPr/>
          </a:p>
          <a:p>
            <a:pPr indent="-311150" lvl="0" marL="457200" rtl="0" algn="l">
              <a:lnSpc>
                <a:spcPct val="115000"/>
              </a:lnSpc>
              <a:spcBef>
                <a:spcPts val="0"/>
              </a:spcBef>
              <a:spcAft>
                <a:spcPts val="0"/>
              </a:spcAft>
              <a:buSzPts val="1300"/>
              <a:buChar char="●"/>
            </a:pPr>
            <a:r>
              <a:rPr lang="en"/>
              <a:t>In contrast, BFT storage may leverage erasure coding to reduce overall storage by allowing servers to keep only fragments</a:t>
            </a:r>
            <a:endParaRPr/>
          </a:p>
          <a:p>
            <a:pPr indent="0" lvl="0" marL="0" rtl="0" algn="l">
              <a:lnSpc>
                <a:spcPct val="115000"/>
              </a:lnSpc>
              <a:spcBef>
                <a:spcPts val="0"/>
              </a:spcBef>
              <a:spcAft>
                <a:spcPts val="0"/>
              </a:spcAft>
              <a:buNone/>
            </a:pPr>
            <a:r>
              <a:rPr b="1" lang="en"/>
              <a:t>Flexible Read: </a:t>
            </a:r>
            <a:endParaRPr b="1"/>
          </a:p>
          <a:p>
            <a:pPr indent="-311150" lvl="0" marL="457200" rtl="0" algn="l">
              <a:lnSpc>
                <a:spcPct val="115000"/>
              </a:lnSpc>
              <a:spcBef>
                <a:spcPts val="0"/>
              </a:spcBef>
              <a:spcAft>
                <a:spcPts val="0"/>
              </a:spcAft>
              <a:buSzPts val="1300"/>
              <a:buChar char="●"/>
            </a:pPr>
            <a:r>
              <a:rPr lang="en"/>
              <a:t>Some systems benefit from flexible reading, i.e., reading just a portion of data as needed, instead of reading the whole block.</a:t>
            </a:r>
            <a:endParaRPr/>
          </a:p>
          <a:p>
            <a:pPr indent="-311150" lvl="0" marL="457200" rtl="0" algn="l">
              <a:lnSpc>
                <a:spcPct val="115000"/>
              </a:lnSpc>
              <a:spcBef>
                <a:spcPts val="0"/>
              </a:spcBef>
              <a:spcAft>
                <a:spcPts val="0"/>
              </a:spcAft>
              <a:buSzPts val="1300"/>
              <a:buChar char="●"/>
            </a:pPr>
            <a:r>
              <a:rPr lang="en"/>
              <a:t>This can be challenging when we use erasure coding as the underlying storage mechanism.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0" st="0"/>
                                            </p:txEl>
                                          </p:spTgt>
                                        </p:tgtEl>
                                        <p:attrNameLst>
                                          <p:attrName>style.visibility</p:attrName>
                                        </p:attrNameLst>
                                      </p:cBhvr>
                                      <p:to>
                                        <p:strVal val="visible"/>
                                      </p:to>
                                    </p:set>
                                    <p:animEffect filter="fade" transition="in">
                                      <p:cBhvr>
                                        <p:cTn dur="1000"/>
                                        <p:tgtEl>
                                          <p:spTgt spid="2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1" st="1"/>
                                            </p:txEl>
                                          </p:spTgt>
                                        </p:tgtEl>
                                        <p:attrNameLst>
                                          <p:attrName>style.visibility</p:attrName>
                                        </p:attrNameLst>
                                      </p:cBhvr>
                                      <p:to>
                                        <p:strVal val="visible"/>
                                      </p:to>
                                    </p:set>
                                    <p:animEffect filter="fade" transition="in">
                                      <p:cBhvr>
                                        <p:cTn dur="1000"/>
                                        <p:tgtEl>
                                          <p:spTgt spid="2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2" st="2"/>
                                            </p:txEl>
                                          </p:spTgt>
                                        </p:tgtEl>
                                        <p:attrNameLst>
                                          <p:attrName>style.visibility</p:attrName>
                                        </p:attrNameLst>
                                      </p:cBhvr>
                                      <p:to>
                                        <p:strVal val="visible"/>
                                      </p:to>
                                    </p:set>
                                    <p:animEffect filter="fade" transition="in">
                                      <p:cBhvr>
                                        <p:cTn dur="1000"/>
                                        <p:tgtEl>
                                          <p:spTgt spid="2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3" st="3"/>
                                            </p:txEl>
                                          </p:spTgt>
                                        </p:tgtEl>
                                        <p:attrNameLst>
                                          <p:attrName>style.visibility</p:attrName>
                                        </p:attrNameLst>
                                      </p:cBhvr>
                                      <p:to>
                                        <p:strVal val="visible"/>
                                      </p:to>
                                    </p:set>
                                    <p:animEffect filter="fade" transition="in">
                                      <p:cBhvr>
                                        <p:cTn dur="1000"/>
                                        <p:tgtEl>
                                          <p:spTgt spid="2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4" st="4"/>
                                            </p:txEl>
                                          </p:spTgt>
                                        </p:tgtEl>
                                        <p:attrNameLst>
                                          <p:attrName>style.visibility</p:attrName>
                                        </p:attrNameLst>
                                      </p:cBhvr>
                                      <p:to>
                                        <p:strVal val="visible"/>
                                      </p:to>
                                    </p:set>
                                    <p:animEffect filter="fade" transition="in">
                                      <p:cBhvr>
                                        <p:cTn dur="1000"/>
                                        <p:tgtEl>
                                          <p:spTgt spid="2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5" st="5"/>
                                            </p:txEl>
                                          </p:spTgt>
                                        </p:tgtEl>
                                        <p:attrNameLst>
                                          <p:attrName>style.visibility</p:attrName>
                                        </p:attrNameLst>
                                      </p:cBhvr>
                                      <p:to>
                                        <p:strVal val="visible"/>
                                      </p:to>
                                    </p:set>
                                    <p:animEffect filter="fade" transition="in">
                                      <p:cBhvr>
                                        <p:cTn dur="1000"/>
                                        <p:tgtEl>
                                          <p:spTgt spid="2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6" st="6"/>
                                            </p:txEl>
                                          </p:spTgt>
                                        </p:tgtEl>
                                        <p:attrNameLst>
                                          <p:attrName>style.visibility</p:attrName>
                                        </p:attrNameLst>
                                      </p:cBhvr>
                                      <p:to>
                                        <p:strVal val="visible"/>
                                      </p:to>
                                    </p:set>
                                    <p:animEffect filter="fade" transition="in">
                                      <p:cBhvr>
                                        <p:cTn dur="1000"/>
                                        <p:tgtEl>
                                          <p:spTgt spid="25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5"/>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Enter BEAT </a:t>
            </a:r>
            <a:endParaRPr/>
          </a:p>
        </p:txBody>
      </p:sp>
      <p:graphicFrame>
        <p:nvGraphicFramePr>
          <p:cNvPr id="263" name="Google Shape;263;p35"/>
          <p:cNvGraphicFramePr/>
          <p:nvPr/>
        </p:nvGraphicFramePr>
        <p:xfrm>
          <a:off x="1047175" y="933850"/>
          <a:ext cx="3000000" cy="3000000"/>
        </p:xfrm>
        <a:graphic>
          <a:graphicData uri="http://schemas.openxmlformats.org/drawingml/2006/table">
            <a:tbl>
              <a:tblPr>
                <a:noFill/>
                <a:tableStyleId>{CCBBB327-8181-4FA9-B8C7-751322D248C9}</a:tableStyleId>
              </a:tblPr>
              <a:tblGrid>
                <a:gridCol w="996725"/>
                <a:gridCol w="2478025"/>
                <a:gridCol w="2410425"/>
                <a:gridCol w="1961725"/>
              </a:tblGrid>
              <a:tr h="429425">
                <a:tc>
                  <a:txBody>
                    <a:bodyPr/>
                    <a:lstStyle/>
                    <a:p>
                      <a:pPr indent="0" lvl="0" marL="0" rtl="0" algn="l">
                        <a:spcBef>
                          <a:spcPts val="0"/>
                        </a:spcBef>
                        <a:spcAft>
                          <a:spcPts val="0"/>
                        </a:spcAft>
                        <a:buNone/>
                      </a:pPr>
                      <a:r>
                        <a:rPr lang="en" sz="1000"/>
                        <a:t>BEAT </a:t>
                      </a:r>
                      <a:endParaRPr sz="1000"/>
                    </a:p>
                  </a:txBody>
                  <a:tcPr marT="91425" marB="91425" marR="91425" marL="91425"/>
                </a:tc>
                <a:tc>
                  <a:txBody>
                    <a:bodyPr/>
                    <a:lstStyle/>
                    <a:p>
                      <a:pPr indent="0" lvl="0" marL="0" rtl="0" algn="l">
                        <a:spcBef>
                          <a:spcPts val="0"/>
                        </a:spcBef>
                        <a:spcAft>
                          <a:spcPts val="0"/>
                        </a:spcAft>
                        <a:buNone/>
                      </a:pPr>
                      <a:r>
                        <a:rPr lang="en" sz="1000"/>
                        <a:t>New Techniques</a:t>
                      </a:r>
                      <a:endParaRPr sz="1000"/>
                    </a:p>
                  </a:txBody>
                  <a:tcPr marT="91425" marB="91425" marR="91425" marL="91425"/>
                </a:tc>
                <a:tc>
                  <a:txBody>
                    <a:bodyPr/>
                    <a:lstStyle/>
                    <a:p>
                      <a:pPr indent="0" lvl="0" marL="0" rtl="0" algn="l">
                        <a:spcBef>
                          <a:spcPts val="0"/>
                        </a:spcBef>
                        <a:spcAft>
                          <a:spcPts val="0"/>
                        </a:spcAft>
                        <a:buNone/>
                      </a:pPr>
                      <a:r>
                        <a:rPr lang="en" sz="1000"/>
                        <a:t>Features</a:t>
                      </a:r>
                      <a:endParaRPr sz="1000"/>
                    </a:p>
                  </a:txBody>
                  <a:tcPr marT="91425" marB="91425" marR="91425" marL="91425"/>
                </a:tc>
                <a:tc>
                  <a:txBody>
                    <a:bodyPr/>
                    <a:lstStyle/>
                    <a:p>
                      <a:pPr indent="0" lvl="0" marL="0" rtl="0" algn="l">
                        <a:spcBef>
                          <a:spcPts val="0"/>
                        </a:spcBef>
                        <a:spcAft>
                          <a:spcPts val="0"/>
                        </a:spcAft>
                        <a:buNone/>
                      </a:pPr>
                      <a:r>
                        <a:rPr lang="en" sz="1000"/>
                        <a:t>Applicability</a:t>
                      </a:r>
                      <a:endParaRPr sz="1000"/>
                    </a:p>
                  </a:txBody>
                  <a:tcPr marT="91425" marB="91425" marR="91425" marL="91425"/>
                </a:tc>
              </a:tr>
              <a:tr h="790450">
                <a:tc>
                  <a:txBody>
                    <a:bodyPr/>
                    <a:lstStyle/>
                    <a:p>
                      <a:pPr indent="0" lvl="0" marL="0" rtl="0" algn="l">
                        <a:spcBef>
                          <a:spcPts val="0"/>
                        </a:spcBef>
                        <a:spcAft>
                          <a:spcPts val="0"/>
                        </a:spcAft>
                        <a:buNone/>
                      </a:pPr>
                      <a:r>
                        <a:rPr lang="en" sz="1000"/>
                        <a:t>BEAT-0</a:t>
                      </a:r>
                      <a:endParaRPr sz="1000"/>
                    </a:p>
                  </a:txBody>
                  <a:tcPr marT="91425" marB="91425" marR="91425" marL="91425"/>
                </a:tc>
                <a:tc>
                  <a:txBody>
                    <a:bodyPr/>
                    <a:lstStyle/>
                    <a:p>
                      <a:pPr indent="0" lvl="0" marL="0" rtl="0" algn="l">
                        <a:spcBef>
                          <a:spcPts val="0"/>
                        </a:spcBef>
                        <a:spcAft>
                          <a:spcPts val="0"/>
                        </a:spcAft>
                        <a:buNone/>
                      </a:pPr>
                      <a:r>
                        <a:rPr lang="en" sz="1000"/>
                        <a:t>more efficient labeled threshold encryption and coin flipping;</a:t>
                      </a:r>
                      <a:endParaRPr sz="1000"/>
                    </a:p>
                    <a:p>
                      <a:pPr indent="0" lvl="0" marL="0" rtl="0" algn="l">
                        <a:spcBef>
                          <a:spcPts val="0"/>
                        </a:spcBef>
                        <a:spcAft>
                          <a:spcPts val="0"/>
                        </a:spcAft>
                        <a:buNone/>
                      </a:pPr>
                      <a:r>
                        <a:rPr lang="en" sz="1000"/>
                        <a:t>more flexible and efficient erasure coding support</a:t>
                      </a:r>
                      <a:endParaRPr sz="1000"/>
                    </a:p>
                    <a:p>
                      <a:pPr indent="0" lvl="0" marL="0" rtl="0" algn="l">
                        <a:spcBef>
                          <a:spcPts val="0"/>
                        </a:spcBef>
                        <a:spcAft>
                          <a:spcPts val="0"/>
                        </a:spcAft>
                        <a:buNone/>
                      </a:pPr>
                      <a:r>
                        <a:t/>
                      </a:r>
                      <a:endParaRPr sz="1000"/>
                    </a:p>
                  </a:txBody>
                  <a:tcPr marT="91425" marB="91425" marR="91425" marL="91425"/>
                </a:tc>
                <a:tc>
                  <a:txBody>
                    <a:bodyPr/>
                    <a:lstStyle/>
                    <a:p>
                      <a:pPr indent="0" lvl="0" marL="0" rtl="0" algn="l">
                        <a:spcBef>
                          <a:spcPts val="0"/>
                        </a:spcBef>
                        <a:spcAft>
                          <a:spcPts val="0"/>
                        </a:spcAft>
                        <a:buNone/>
                      </a:pPr>
                      <a:r>
                        <a:rPr lang="en" sz="1000"/>
                        <a:t>baseline protocol; outperform</a:t>
                      </a:r>
                      <a:endParaRPr sz="1000"/>
                    </a:p>
                    <a:p>
                      <a:pPr indent="0" lvl="0" marL="0" rtl="0" algn="l">
                        <a:spcBef>
                          <a:spcPts val="0"/>
                        </a:spcBef>
                        <a:spcAft>
                          <a:spcPts val="0"/>
                        </a:spcAft>
                        <a:buNone/>
                      </a:pPr>
                      <a:r>
                        <a:rPr lang="en" sz="1000"/>
                        <a:t>HoneyBadgerBFT in all metrics</a:t>
                      </a:r>
                      <a:endParaRPr sz="1000"/>
                    </a:p>
                  </a:txBody>
                  <a:tcPr marT="91425" marB="91425" marR="91425" marL="91425"/>
                </a:tc>
                <a:tc>
                  <a:txBody>
                    <a:bodyPr/>
                    <a:lstStyle/>
                    <a:p>
                      <a:pPr indent="0" lvl="0" marL="0" rtl="0" algn="l">
                        <a:spcBef>
                          <a:spcPts val="0"/>
                        </a:spcBef>
                        <a:spcAft>
                          <a:spcPts val="0"/>
                        </a:spcAft>
                        <a:buNone/>
                      </a:pPr>
                      <a:r>
                        <a:rPr lang="en" sz="1000"/>
                        <a:t>general SMR</a:t>
                      </a:r>
                      <a:endParaRPr sz="1000"/>
                    </a:p>
                  </a:txBody>
                  <a:tcPr marT="91425" marB="91425" marR="91425" marL="91425"/>
                </a:tc>
              </a:tr>
              <a:tr h="516650">
                <a:tc>
                  <a:txBody>
                    <a:bodyPr/>
                    <a:lstStyle/>
                    <a:p>
                      <a:pPr indent="0" lvl="0" marL="0" rtl="0" algn="l">
                        <a:spcBef>
                          <a:spcPts val="0"/>
                        </a:spcBef>
                        <a:spcAft>
                          <a:spcPts val="0"/>
                        </a:spcAft>
                        <a:buNone/>
                      </a:pPr>
                      <a:r>
                        <a:rPr lang="en" sz="1000"/>
                        <a:t>BEAT-1</a:t>
                      </a:r>
                      <a:endParaRPr sz="1000"/>
                    </a:p>
                  </a:txBody>
                  <a:tcPr marT="91425" marB="91425" marR="91425" marL="91425"/>
                </a:tc>
                <a:tc>
                  <a:txBody>
                    <a:bodyPr/>
                    <a:lstStyle/>
                    <a:p>
                      <a:pPr indent="0" lvl="0" marL="0" rtl="0" algn="l">
                        <a:spcBef>
                          <a:spcPts val="0"/>
                        </a:spcBef>
                        <a:spcAft>
                          <a:spcPts val="0"/>
                        </a:spcAft>
                        <a:buNone/>
                      </a:pPr>
                      <a:r>
                        <a:rPr lang="en" sz="1000"/>
                        <a:t>replacing AVID broadcast with Bracha’s broadcast</a:t>
                      </a:r>
                      <a:endParaRPr sz="1000"/>
                    </a:p>
                  </a:txBody>
                  <a:tcPr marT="91425" marB="91425" marR="91425" marL="91425"/>
                </a:tc>
                <a:tc>
                  <a:txBody>
                    <a:bodyPr/>
                    <a:lstStyle/>
                    <a:p>
                      <a:pPr indent="0" lvl="0" marL="0" rtl="0" algn="l">
                        <a:spcBef>
                          <a:spcPts val="0"/>
                        </a:spcBef>
                        <a:spcAft>
                          <a:spcPts val="0"/>
                        </a:spcAft>
                        <a:buNone/>
                      </a:pPr>
                      <a:r>
                        <a:rPr lang="en" sz="1000"/>
                        <a:t>Latency optimized</a:t>
                      </a:r>
                      <a:endParaRPr sz="1000"/>
                    </a:p>
                  </a:txBody>
                  <a:tcPr marT="91425" marB="91425" marR="91425" marL="91425"/>
                </a:tc>
                <a:tc>
                  <a:txBody>
                    <a:bodyPr/>
                    <a:lstStyle/>
                    <a:p>
                      <a:pPr indent="0" lvl="0" marL="0" rtl="0" algn="l">
                        <a:spcBef>
                          <a:spcPts val="0"/>
                        </a:spcBef>
                        <a:spcAft>
                          <a:spcPts val="0"/>
                        </a:spcAft>
                        <a:buNone/>
                      </a:pPr>
                      <a:r>
                        <a:rPr lang="en" sz="1000"/>
                        <a:t>General SMR</a:t>
                      </a:r>
                      <a:endParaRPr sz="1000"/>
                    </a:p>
                  </a:txBody>
                  <a:tcPr marT="91425" marB="91425" marR="91425" marL="91425"/>
                </a:tc>
              </a:tr>
              <a:tr h="516650">
                <a:tc>
                  <a:txBody>
                    <a:bodyPr/>
                    <a:lstStyle/>
                    <a:p>
                      <a:pPr indent="0" lvl="0" marL="0" rtl="0" algn="l">
                        <a:spcBef>
                          <a:spcPts val="0"/>
                        </a:spcBef>
                        <a:spcAft>
                          <a:spcPts val="0"/>
                        </a:spcAft>
                        <a:buNone/>
                      </a:pPr>
                      <a:r>
                        <a:rPr lang="en" sz="1000"/>
                        <a:t>BEAT-2</a:t>
                      </a:r>
                      <a:endParaRPr sz="1000"/>
                    </a:p>
                  </a:txBody>
                  <a:tcPr marT="91425" marB="91425" marR="91425" marL="91425"/>
                </a:tc>
                <a:tc>
                  <a:txBody>
                    <a:bodyPr/>
                    <a:lstStyle/>
                    <a:p>
                      <a:pPr indent="0" lvl="0" marL="0" rtl="0" algn="l">
                        <a:spcBef>
                          <a:spcPts val="0"/>
                        </a:spcBef>
                        <a:spcAft>
                          <a:spcPts val="0"/>
                        </a:spcAft>
                        <a:buNone/>
                      </a:pPr>
                      <a:r>
                        <a:rPr lang="en" sz="1000"/>
                        <a:t>client-side labeled CCA threshold encryption</a:t>
                      </a:r>
                      <a:endParaRPr sz="1000"/>
                    </a:p>
                  </a:txBody>
                  <a:tcPr marT="91425" marB="91425" marR="91425" marL="91425"/>
                </a:tc>
                <a:tc>
                  <a:txBody>
                    <a:bodyPr/>
                    <a:lstStyle/>
                    <a:p>
                      <a:pPr indent="0" lvl="0" marL="0" rtl="0" algn="l">
                        <a:spcBef>
                          <a:spcPts val="0"/>
                        </a:spcBef>
                        <a:spcAft>
                          <a:spcPts val="0"/>
                        </a:spcAft>
                        <a:buNone/>
                      </a:pPr>
                      <a:r>
                        <a:rPr lang="en" sz="1000"/>
                        <a:t>Latency optimized </a:t>
                      </a:r>
                      <a:endParaRPr sz="1000"/>
                    </a:p>
                    <a:p>
                      <a:pPr indent="0" lvl="0" marL="0" rtl="0" algn="l">
                        <a:spcBef>
                          <a:spcPts val="0"/>
                        </a:spcBef>
                        <a:spcAft>
                          <a:spcPts val="0"/>
                        </a:spcAft>
                        <a:buNone/>
                      </a:pPr>
                      <a:r>
                        <a:rPr lang="en" sz="1000"/>
                        <a:t>Additional achieve casual order</a:t>
                      </a:r>
                      <a:endParaRPr sz="1000"/>
                    </a:p>
                  </a:txBody>
                  <a:tcPr marT="91425" marB="91425" marR="91425" marL="91425"/>
                </a:tc>
                <a:tc>
                  <a:txBody>
                    <a:bodyPr/>
                    <a:lstStyle/>
                    <a:p>
                      <a:pPr indent="0" lvl="0" marL="0" rtl="0" algn="l">
                        <a:spcBef>
                          <a:spcPts val="0"/>
                        </a:spcBef>
                        <a:spcAft>
                          <a:spcPts val="0"/>
                        </a:spcAft>
                        <a:buNone/>
                      </a:pPr>
                      <a:r>
                        <a:rPr lang="en" sz="1000"/>
                        <a:t>General SMR</a:t>
                      </a:r>
                      <a:endParaRPr sz="1000"/>
                    </a:p>
                    <a:p>
                      <a:pPr indent="0" lvl="0" marL="0" rtl="0" algn="l">
                        <a:spcBef>
                          <a:spcPts val="0"/>
                        </a:spcBef>
                        <a:spcAft>
                          <a:spcPts val="0"/>
                        </a:spcAft>
                        <a:buNone/>
                      </a:pPr>
                      <a:r>
                        <a:rPr lang="en" sz="1000"/>
                        <a:t>Anonymous networks</a:t>
                      </a:r>
                      <a:endParaRPr sz="1000"/>
                    </a:p>
                  </a:txBody>
                  <a:tcPr marT="91425" marB="91425" marR="91425" marL="91425"/>
                </a:tc>
              </a:tr>
              <a:tr h="516650">
                <a:tc>
                  <a:txBody>
                    <a:bodyPr/>
                    <a:lstStyle/>
                    <a:p>
                      <a:pPr indent="0" lvl="0" marL="0" rtl="0" algn="l">
                        <a:spcBef>
                          <a:spcPts val="0"/>
                        </a:spcBef>
                        <a:spcAft>
                          <a:spcPts val="0"/>
                        </a:spcAft>
                        <a:buNone/>
                      </a:pPr>
                      <a:r>
                        <a:rPr lang="en" sz="1000"/>
                        <a:t>BEAT-3</a:t>
                      </a:r>
                      <a:endParaRPr sz="1000"/>
                    </a:p>
                  </a:txBody>
                  <a:tcPr marT="91425" marB="91425" marR="91425" marL="91425"/>
                </a:tc>
                <a:tc>
                  <a:txBody>
                    <a:bodyPr/>
                    <a:lstStyle/>
                    <a:p>
                      <a:pPr indent="0" lvl="0" marL="0" rtl="0" algn="l">
                        <a:spcBef>
                          <a:spcPts val="0"/>
                        </a:spcBef>
                        <a:spcAft>
                          <a:spcPts val="0"/>
                        </a:spcAft>
                        <a:buNone/>
                      </a:pPr>
                      <a:r>
                        <a:rPr lang="en" sz="1000"/>
                        <a:t>a novel protocol combining AVID-FP and ABA</a:t>
                      </a:r>
                      <a:endParaRPr sz="1000"/>
                    </a:p>
                  </a:txBody>
                  <a:tcPr marT="91425" marB="91425" marR="91425" marL="91425"/>
                </a:tc>
                <a:tc>
                  <a:txBody>
                    <a:bodyPr/>
                    <a:lstStyle/>
                    <a:p>
                      <a:pPr indent="0" lvl="0" marL="0" rtl="0" algn="l">
                        <a:spcBef>
                          <a:spcPts val="0"/>
                        </a:spcBef>
                        <a:spcAft>
                          <a:spcPts val="0"/>
                        </a:spcAft>
                        <a:buNone/>
                      </a:pPr>
                      <a:r>
                        <a:rPr lang="en" sz="1000"/>
                        <a:t>Storage, bandwidth, throughput optimized</a:t>
                      </a:r>
                      <a:endParaRPr sz="1000"/>
                    </a:p>
                  </a:txBody>
                  <a:tcPr marT="91425" marB="91425" marR="91425" marL="91425"/>
                </a:tc>
                <a:tc>
                  <a:txBody>
                    <a:bodyPr/>
                    <a:lstStyle/>
                    <a:p>
                      <a:pPr indent="0" lvl="0" marL="0" rtl="0" algn="l">
                        <a:spcBef>
                          <a:spcPts val="0"/>
                        </a:spcBef>
                        <a:spcAft>
                          <a:spcPts val="0"/>
                        </a:spcAft>
                        <a:buNone/>
                      </a:pPr>
                      <a:r>
                        <a:rPr lang="en" sz="1000"/>
                        <a:t>BFT Storage</a:t>
                      </a:r>
                      <a:endParaRPr sz="1000"/>
                    </a:p>
                  </a:txBody>
                  <a:tcPr marT="91425" marB="91425" marR="91425" marL="91425"/>
                </a:tc>
              </a:tr>
              <a:tr h="724875">
                <a:tc>
                  <a:txBody>
                    <a:bodyPr/>
                    <a:lstStyle/>
                    <a:p>
                      <a:pPr indent="0" lvl="0" marL="0" rtl="0" algn="l">
                        <a:spcBef>
                          <a:spcPts val="0"/>
                        </a:spcBef>
                        <a:spcAft>
                          <a:spcPts val="0"/>
                        </a:spcAft>
                        <a:buNone/>
                      </a:pPr>
                      <a:r>
                        <a:rPr lang="en" sz="1000"/>
                        <a:t>BEAT-4</a:t>
                      </a:r>
                      <a:endParaRPr sz="1000"/>
                    </a:p>
                  </a:txBody>
                  <a:tcPr marT="91425" marB="91425" marR="91425" marL="91425"/>
                </a:tc>
                <a:tc>
                  <a:txBody>
                    <a:bodyPr/>
                    <a:lstStyle/>
                    <a:p>
                      <a:pPr indent="0" lvl="0" marL="0" rtl="0" algn="l">
                        <a:spcBef>
                          <a:spcPts val="0"/>
                        </a:spcBef>
                        <a:spcAft>
                          <a:spcPts val="0"/>
                        </a:spcAft>
                        <a:buNone/>
                      </a:pPr>
                      <a:r>
                        <a:rPr lang="en" sz="1000"/>
                        <a:t>extending fpcc to single fragments and pyramid</a:t>
                      </a:r>
                      <a:endParaRPr sz="1000"/>
                    </a:p>
                    <a:p>
                      <a:pPr indent="0" lvl="0" marL="0" rtl="0" algn="l">
                        <a:spcBef>
                          <a:spcPts val="0"/>
                        </a:spcBef>
                        <a:spcAft>
                          <a:spcPts val="0"/>
                        </a:spcAft>
                        <a:buNone/>
                      </a:pPr>
                      <a:r>
                        <a:rPr lang="en" sz="1000"/>
                        <a:t>codes; a novel AVID-FP saving bandwidth</a:t>
                      </a:r>
                      <a:endParaRPr sz="1000"/>
                    </a:p>
                  </a:txBody>
                  <a:tcPr marT="91425" marB="91425" marR="91425" marL="91425"/>
                </a:tc>
                <a:tc>
                  <a:txBody>
                    <a:bodyPr/>
                    <a:lstStyle/>
                    <a:p>
                      <a:pPr indent="0" lvl="0" marL="0" rtl="0" algn="l">
                        <a:spcBef>
                          <a:spcPts val="0"/>
                        </a:spcBef>
                        <a:spcAft>
                          <a:spcPts val="0"/>
                        </a:spcAft>
                        <a:buNone/>
                      </a:pPr>
                      <a:r>
                        <a:rPr lang="en" sz="1000"/>
                        <a:t>Further saving read bandwidth</a:t>
                      </a:r>
                      <a:endParaRPr sz="1000"/>
                    </a:p>
                  </a:txBody>
                  <a:tcPr marT="91425" marB="91425" marR="91425" marL="91425"/>
                </a:tc>
                <a:tc>
                  <a:txBody>
                    <a:bodyPr/>
                    <a:lstStyle/>
                    <a:p>
                      <a:pPr indent="0" lvl="0" marL="0" rtl="0" algn="l">
                        <a:spcBef>
                          <a:spcPts val="0"/>
                        </a:spcBef>
                        <a:spcAft>
                          <a:spcPts val="0"/>
                        </a:spcAft>
                        <a:buNone/>
                      </a:pPr>
                      <a:r>
                        <a:rPr lang="en" sz="1000"/>
                        <a:t>BFT Storage</a:t>
                      </a:r>
                      <a:endParaRPr sz="1000"/>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type="ctrTitle"/>
          </p:nvPr>
        </p:nvSpPr>
        <p:spPr>
          <a:xfrm>
            <a:off x="1047172" y="320987"/>
            <a:ext cx="7479166" cy="338437"/>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Comparison</a:t>
            </a:r>
            <a:r>
              <a:rPr lang="en"/>
              <a:t> with PBFT</a:t>
            </a:r>
            <a:endParaRPr/>
          </a:p>
        </p:txBody>
      </p:sp>
      <p:sp>
        <p:nvSpPr>
          <p:cNvPr id="269" name="Google Shape;269;p36"/>
          <p:cNvSpPr txBox="1"/>
          <p:nvPr>
            <p:ph idx="2" type="body"/>
          </p:nvPr>
        </p:nvSpPr>
        <p:spPr>
          <a:xfrm>
            <a:off x="5946338" y="5752211"/>
            <a:ext cx="3524700" cy="3344700"/>
          </a:xfrm>
          <a:prstGeom prst="rect">
            <a:avLst/>
          </a:prstGeom>
          <a:noFill/>
          <a:ln>
            <a:noFill/>
          </a:ln>
        </p:spPr>
        <p:txBody>
          <a:bodyPr anchorCtr="0" anchor="t" bIns="34275" lIns="68575" spcFirstLastPara="1" rIns="68575" wrap="square" tIns="34275">
            <a:normAutofit/>
          </a:bodyPr>
          <a:lstStyle/>
          <a:p>
            <a:pPr indent="0" lvl="0" marL="76200" rtl="0" algn="l">
              <a:lnSpc>
                <a:spcPct val="90000"/>
              </a:lnSpc>
              <a:spcBef>
                <a:spcPts val="0"/>
              </a:spcBef>
              <a:spcAft>
                <a:spcPts val="0"/>
              </a:spcAft>
              <a:buClr>
                <a:srgbClr val="333333"/>
              </a:buClr>
              <a:buSzPts val="1300"/>
              <a:buFont typeface="Noto Sans Symbols"/>
              <a:buNone/>
            </a:pPr>
            <a:r>
              <a:t/>
            </a:r>
            <a:endParaRPr/>
          </a:p>
        </p:txBody>
      </p:sp>
      <p:graphicFrame>
        <p:nvGraphicFramePr>
          <p:cNvPr id="270" name="Google Shape;270;p36"/>
          <p:cNvGraphicFramePr/>
          <p:nvPr/>
        </p:nvGraphicFramePr>
        <p:xfrm>
          <a:off x="989263" y="1088475"/>
          <a:ext cx="3000000" cy="3000000"/>
        </p:xfrm>
        <a:graphic>
          <a:graphicData uri="http://schemas.openxmlformats.org/drawingml/2006/table">
            <a:tbl>
              <a:tblPr>
                <a:noFill/>
                <a:tableStyleId>{BD176C28-803B-420D-8054-5DEDF6F58ECB}</a:tableStyleId>
              </a:tblPr>
              <a:tblGrid>
                <a:gridCol w="1508600"/>
                <a:gridCol w="2643125"/>
                <a:gridCol w="3584100"/>
              </a:tblGrid>
              <a:tr h="463100">
                <a:tc>
                  <a:txBody>
                    <a:bodyPr/>
                    <a:lstStyle/>
                    <a:p>
                      <a:pPr indent="0" lvl="0" marL="0" rtl="0" algn="l">
                        <a:lnSpc>
                          <a:spcPct val="115000"/>
                        </a:lnSpc>
                        <a:spcBef>
                          <a:spcPts val="0"/>
                        </a:spcBef>
                        <a:spcAft>
                          <a:spcPts val="0"/>
                        </a:spcAft>
                        <a:buNone/>
                      </a:pPr>
                      <a:r>
                        <a:rPr b="1" lang="en" sz="1100">
                          <a:solidFill>
                            <a:srgbClr val="1F1F1F"/>
                          </a:solidFill>
                        </a:rPr>
                        <a:t>Feature</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PBFT</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BEAT</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720400">
                <a:tc>
                  <a:txBody>
                    <a:bodyPr/>
                    <a:lstStyle/>
                    <a:p>
                      <a:pPr indent="0" lvl="0" marL="0" rtl="0" algn="l">
                        <a:lnSpc>
                          <a:spcPct val="115000"/>
                        </a:lnSpc>
                        <a:spcBef>
                          <a:spcPts val="0"/>
                        </a:spcBef>
                        <a:spcAft>
                          <a:spcPts val="0"/>
                        </a:spcAft>
                        <a:buNone/>
                      </a:pPr>
                      <a:r>
                        <a:rPr b="1" lang="en" sz="1100">
                          <a:solidFill>
                            <a:srgbClr val="1F1F1F"/>
                          </a:solidFill>
                        </a:rPr>
                        <a:t>Network Model</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Partial Synchrony</a:t>
                      </a:r>
                      <a:r>
                        <a:rPr lang="en" sz="1100">
                          <a:solidFill>
                            <a:srgbClr val="1F1F1F"/>
                          </a:solidFill>
                        </a:rPr>
                        <a:t> (Relies on timing bounds)</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Asynchronous</a:t>
                      </a:r>
                      <a:r>
                        <a:rPr lang="en" sz="1100">
                          <a:solidFill>
                            <a:srgbClr val="1F1F1F"/>
                          </a:solidFill>
                        </a:rPr>
                        <a:t> (No timing assumptions)</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720400">
                <a:tc>
                  <a:txBody>
                    <a:bodyPr/>
                    <a:lstStyle/>
                    <a:p>
                      <a:pPr indent="0" lvl="0" marL="0" rtl="0" algn="l">
                        <a:lnSpc>
                          <a:spcPct val="115000"/>
                        </a:lnSpc>
                        <a:spcBef>
                          <a:spcPts val="0"/>
                        </a:spcBef>
                        <a:spcAft>
                          <a:spcPts val="0"/>
                        </a:spcAft>
                        <a:buNone/>
                      </a:pPr>
                      <a:r>
                        <a:rPr b="1" lang="en" sz="1100">
                          <a:solidFill>
                            <a:srgbClr val="1F1F1F"/>
                          </a:solidFill>
                        </a:rPr>
                        <a:t>Liveness Under Attack</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Can stall (zero throughput) if network is slow/attacked</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Guaranteed progress even under network attacks</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720400">
                <a:tc>
                  <a:txBody>
                    <a:bodyPr/>
                    <a:lstStyle/>
                    <a:p>
                      <a:pPr indent="0" lvl="0" marL="0" rtl="0" algn="l">
                        <a:lnSpc>
                          <a:spcPct val="115000"/>
                        </a:lnSpc>
                        <a:spcBef>
                          <a:spcPts val="0"/>
                        </a:spcBef>
                        <a:spcAft>
                          <a:spcPts val="0"/>
                        </a:spcAft>
                        <a:buNone/>
                      </a:pPr>
                      <a:r>
                        <a:rPr b="1" lang="en" sz="1100">
                          <a:solidFill>
                            <a:srgbClr val="1F1F1F"/>
                          </a:solidFill>
                        </a:rPr>
                        <a:t>Scalability</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O(nB)</a:t>
                      </a:r>
                      <a:r>
                        <a:rPr lang="en" sz="1100">
                          <a:solidFill>
                            <a:srgbClr val="1F1F1F"/>
                          </a:solidFill>
                        </a:rPr>
                        <a:t>: Slows down significantly as more nodes are added</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O(B)</a:t>
                      </a:r>
                      <a:r>
                        <a:rPr lang="en" sz="1100">
                          <a:solidFill>
                            <a:srgbClr val="1F1F1F"/>
                          </a:solidFill>
                        </a:rPr>
                        <a:t> (BEAT3): Optimal bandwidth; performance is independent of node count</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720400">
                <a:tc>
                  <a:txBody>
                    <a:bodyPr/>
                    <a:lstStyle/>
                    <a:p>
                      <a:pPr indent="0" lvl="0" marL="0" rtl="0" algn="l">
                        <a:lnSpc>
                          <a:spcPct val="115000"/>
                        </a:lnSpc>
                        <a:spcBef>
                          <a:spcPts val="0"/>
                        </a:spcBef>
                        <a:spcAft>
                          <a:spcPts val="0"/>
                        </a:spcAft>
                        <a:buNone/>
                      </a:pPr>
                      <a:r>
                        <a:rPr b="1" lang="en" sz="1100">
                          <a:solidFill>
                            <a:srgbClr val="1F1F1F"/>
                          </a:solidFill>
                        </a:rPr>
                        <a:t>Primary Design</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General-purpose "one-size-fits-all"</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Modular family (specialized for different needs)</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7"/>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Quick recap of HoneyBadger BFT</a:t>
            </a:r>
            <a:endParaRPr/>
          </a:p>
        </p:txBody>
      </p:sp>
      <p:sp>
        <p:nvSpPr>
          <p:cNvPr id="276" name="Google Shape;276;p37"/>
          <p:cNvSpPr txBox="1"/>
          <p:nvPr>
            <p:ph idx="1" type="body"/>
          </p:nvPr>
        </p:nvSpPr>
        <p:spPr>
          <a:xfrm>
            <a:off x="1047175" y="944350"/>
            <a:ext cx="7479300" cy="3471900"/>
          </a:xfrm>
          <a:prstGeom prst="rect">
            <a:avLst/>
          </a:prstGeom>
        </p:spPr>
        <p:txBody>
          <a:bodyPr anchorCtr="0" anchor="t" bIns="34275" lIns="68575" spcFirstLastPara="1" rIns="68575" wrap="square" tIns="34275">
            <a:normAutofit/>
          </a:bodyPr>
          <a:lstStyle/>
          <a:p>
            <a:pPr indent="-311150" lvl="0" marL="457200" rtl="0" algn="l">
              <a:lnSpc>
                <a:spcPct val="115000"/>
              </a:lnSpc>
              <a:spcBef>
                <a:spcPts val="800"/>
              </a:spcBef>
              <a:spcAft>
                <a:spcPts val="0"/>
              </a:spcAft>
              <a:buSzPts val="1300"/>
              <a:buChar char="▪"/>
            </a:pPr>
            <a:r>
              <a:rPr lang="en"/>
              <a:t>Implements total order using </a:t>
            </a:r>
            <a:r>
              <a:rPr b="1" lang="en"/>
              <a:t>Asynchronous Common Subset (ACS)</a:t>
            </a:r>
            <a:endParaRPr b="1"/>
          </a:p>
          <a:p>
            <a:pPr indent="-311150" lvl="0" marL="457200" rtl="0" algn="l">
              <a:lnSpc>
                <a:spcPct val="100000"/>
              </a:lnSpc>
              <a:spcBef>
                <a:spcPts val="0"/>
              </a:spcBef>
              <a:spcAft>
                <a:spcPts val="0"/>
              </a:spcAft>
              <a:buSzPts val="1300"/>
              <a:buChar char="▪"/>
            </a:pPr>
            <a:r>
              <a:rPr lang="en"/>
              <a:t>Implements ACS, in turn using </a:t>
            </a:r>
            <a:r>
              <a:rPr b="1" lang="en"/>
              <a:t>Reliable broadcast (RBC) </a:t>
            </a:r>
            <a:r>
              <a:rPr lang="en"/>
              <a:t>and </a:t>
            </a:r>
            <a:r>
              <a:rPr b="1" lang="en"/>
              <a:t>asynchronous binary Byzantine agreement (ABA).</a:t>
            </a:r>
            <a:endParaRPr b="1"/>
          </a:p>
          <a:p>
            <a:pPr indent="0" lvl="0" marL="0" rtl="0" algn="l">
              <a:lnSpc>
                <a:spcPct val="100000"/>
              </a:lnSpc>
              <a:spcBef>
                <a:spcPts val="800"/>
              </a:spcBef>
              <a:spcAft>
                <a:spcPts val="0"/>
              </a:spcAft>
              <a:buNone/>
            </a:pPr>
            <a:r>
              <a:t/>
            </a:r>
            <a:endParaRPr b="1"/>
          </a:p>
          <a:p>
            <a:pPr indent="0" lvl="0" marL="0" rtl="0" algn="l">
              <a:lnSpc>
                <a:spcPct val="100000"/>
              </a:lnSpc>
              <a:spcBef>
                <a:spcPts val="800"/>
              </a:spcBef>
              <a:spcAft>
                <a:spcPts val="0"/>
              </a:spcAft>
              <a:buNone/>
            </a:pPr>
            <a:r>
              <a:t/>
            </a:r>
            <a:endParaRPr b="1"/>
          </a:p>
        </p:txBody>
      </p:sp>
      <p:pic>
        <p:nvPicPr>
          <p:cNvPr id="277" name="Google Shape;277;p37"/>
          <p:cNvPicPr preferRelativeResize="0"/>
          <p:nvPr/>
        </p:nvPicPr>
        <p:blipFill>
          <a:blip r:embed="rId3">
            <a:alphaModFix/>
          </a:blip>
          <a:stretch>
            <a:fillRect/>
          </a:stretch>
        </p:blipFill>
        <p:spPr>
          <a:xfrm>
            <a:off x="1686500" y="1957547"/>
            <a:ext cx="6108951" cy="2530200"/>
          </a:xfrm>
          <a:prstGeom prst="rect">
            <a:avLst/>
          </a:prstGeom>
          <a:noFill/>
          <a:ln>
            <a:noFill/>
          </a:ln>
        </p:spPr>
      </p:pic>
    </p:spTree>
  </p:cSld>
  <p:clrMapOvr>
    <a:masterClrMapping/>
  </p:clrMapOvr>
  <mc:AlternateContent>
    <mc:Choice Requires="p14">
      <p:transition p14:dur="100">
        <p:fade thruBlk="1"/>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8"/>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Reliable Broadcast [RBC] </a:t>
            </a:r>
            <a:endParaRPr/>
          </a:p>
        </p:txBody>
      </p:sp>
      <p:sp>
        <p:nvSpPr>
          <p:cNvPr id="283" name="Google Shape;283;p38"/>
          <p:cNvSpPr txBox="1"/>
          <p:nvPr>
            <p:ph idx="1" type="body"/>
          </p:nvPr>
        </p:nvSpPr>
        <p:spPr>
          <a:xfrm>
            <a:off x="1047175" y="911399"/>
            <a:ext cx="7479300" cy="35049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A Designated replica (the </a:t>
            </a:r>
            <a:r>
              <a:rPr lang="en"/>
              <a:t>broadcaster</a:t>
            </a:r>
            <a:r>
              <a:rPr lang="en"/>
              <a:t>) broadcasts a message to all the replicas, with the following </a:t>
            </a:r>
            <a:r>
              <a:rPr lang="en"/>
              <a:t>guarantees</a:t>
            </a:r>
            <a:r>
              <a:rPr lang="en"/>
              <a:t> :</a:t>
            </a:r>
            <a:endParaRPr/>
          </a:p>
          <a:p>
            <a:pPr indent="-311150" lvl="0" marL="457200" rtl="0" algn="l">
              <a:spcBef>
                <a:spcPts val="800"/>
              </a:spcBef>
              <a:spcAft>
                <a:spcPts val="0"/>
              </a:spcAft>
              <a:buSzPts val="1300"/>
              <a:buChar char="▪"/>
            </a:pPr>
            <a:r>
              <a:rPr lang="en"/>
              <a:t>If any correct replica delivers a </a:t>
            </a:r>
            <a:r>
              <a:rPr lang="en"/>
              <a:t>broadcast</a:t>
            </a:r>
            <a:r>
              <a:rPr lang="en"/>
              <a:t> message B, then all correct replicas deliver B.</a:t>
            </a:r>
            <a:endParaRPr/>
          </a:p>
          <a:p>
            <a:pPr indent="-311150" lvl="0" marL="457200" rtl="0" algn="l">
              <a:spcBef>
                <a:spcPts val="0"/>
              </a:spcBef>
              <a:spcAft>
                <a:spcPts val="0"/>
              </a:spcAft>
              <a:buSzPts val="1300"/>
              <a:buChar char="▪"/>
            </a:pPr>
            <a:r>
              <a:rPr lang="en"/>
              <a:t>If the broadcaster is correct, then every correct </a:t>
            </a:r>
            <a:r>
              <a:rPr lang="en"/>
              <a:t>replica</a:t>
            </a:r>
            <a:r>
              <a:rPr lang="en"/>
              <a:t> delivers the broadcaster’s message.</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Communication complexity:</a:t>
            </a:r>
            <a:endParaRPr/>
          </a:p>
          <a:p>
            <a:pPr indent="-311150" lvl="0" marL="457200" rtl="0" algn="l">
              <a:spcBef>
                <a:spcPts val="800"/>
              </a:spcBef>
              <a:spcAft>
                <a:spcPts val="0"/>
              </a:spcAft>
              <a:buSzPts val="1300"/>
              <a:buChar char="▪"/>
            </a:pPr>
            <a:r>
              <a:rPr lang="en"/>
              <a:t>Bracha’s broadcast : </a:t>
            </a:r>
            <a:r>
              <a:rPr b="1" lang="en"/>
              <a:t>O(n^2 * B)</a:t>
            </a:r>
            <a:r>
              <a:rPr lang="en"/>
              <a:t> to </a:t>
            </a:r>
            <a:r>
              <a:rPr lang="en"/>
              <a:t>broadcast a message B</a:t>
            </a:r>
            <a:endParaRPr/>
          </a:p>
          <a:p>
            <a:pPr indent="-311150" lvl="0" marL="457200" rtl="0" algn="l">
              <a:spcBef>
                <a:spcPts val="0"/>
              </a:spcBef>
              <a:spcAft>
                <a:spcPts val="0"/>
              </a:spcAft>
              <a:buSzPts val="1300"/>
              <a:buChar char="▪"/>
            </a:pPr>
            <a:r>
              <a:rPr lang="en"/>
              <a:t>Erasure-coded variant of Bracha’s </a:t>
            </a:r>
            <a:r>
              <a:rPr lang="en"/>
              <a:t>broadcast</a:t>
            </a:r>
            <a:r>
              <a:rPr lang="en"/>
              <a:t> (AVID broadcast) : </a:t>
            </a:r>
            <a:r>
              <a:rPr b="1" lang="en"/>
              <a:t>O(n *B)</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Reliable Broadcast - Bracha</a:t>
            </a:r>
            <a:endParaRPr/>
          </a:p>
        </p:txBody>
      </p:sp>
      <p:pic>
        <p:nvPicPr>
          <p:cNvPr id="289" name="Google Shape;289;p39" title="Screenshot 2025-11-23 at 7.03.56 PM.png"/>
          <p:cNvPicPr preferRelativeResize="0"/>
          <p:nvPr/>
        </p:nvPicPr>
        <p:blipFill>
          <a:blip r:embed="rId3">
            <a:alphaModFix/>
          </a:blip>
          <a:stretch>
            <a:fillRect/>
          </a:stretch>
        </p:blipFill>
        <p:spPr>
          <a:xfrm>
            <a:off x="1462750" y="926913"/>
            <a:ext cx="6521850" cy="3546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0"/>
          <p:cNvSpPr txBox="1"/>
          <p:nvPr>
            <p:ph idx="1" type="body"/>
          </p:nvPr>
        </p:nvSpPr>
        <p:spPr>
          <a:xfrm>
            <a:off x="832347" y="1126611"/>
            <a:ext cx="7479300" cy="3344700"/>
          </a:xfrm>
          <a:prstGeom prst="rect">
            <a:avLst/>
          </a:prstGeom>
        </p:spPr>
        <p:txBody>
          <a:bodyPr anchorCtr="0" anchor="t" bIns="34275" lIns="68575" spcFirstLastPara="1" rIns="68575" wrap="square" tIns="34275">
            <a:normAutofit/>
          </a:bodyPr>
          <a:lstStyle/>
          <a:p>
            <a:pPr indent="-311150" lvl="0" marL="457200" rtl="0" algn="l">
              <a:spcBef>
                <a:spcPts val="800"/>
              </a:spcBef>
              <a:spcAft>
                <a:spcPts val="0"/>
              </a:spcAft>
              <a:buClr>
                <a:srgbClr val="000000"/>
              </a:buClr>
              <a:buSzPts val="1300"/>
              <a:buChar char="●"/>
            </a:pPr>
            <a:r>
              <a:rPr lang="en">
                <a:solidFill>
                  <a:srgbClr val="000000"/>
                </a:solidFill>
              </a:rPr>
              <a:t>We erasure encode the </a:t>
            </a:r>
            <a:r>
              <a:rPr lang="en">
                <a:solidFill>
                  <a:srgbClr val="000000"/>
                </a:solidFill>
              </a:rPr>
              <a:t>broadcast</a:t>
            </a:r>
            <a:r>
              <a:rPr lang="en">
                <a:solidFill>
                  <a:srgbClr val="000000"/>
                </a:solidFill>
              </a:rPr>
              <a:t> message (B) the data into n fragments.</a:t>
            </a:r>
            <a:endParaRPr>
              <a:solidFill>
                <a:srgbClr val="000000"/>
              </a:solidFill>
            </a:endParaRPr>
          </a:p>
          <a:p>
            <a:pPr indent="-311150" lvl="0" marL="457200" rtl="0" algn="l">
              <a:spcBef>
                <a:spcPts val="0"/>
              </a:spcBef>
              <a:spcAft>
                <a:spcPts val="0"/>
              </a:spcAft>
              <a:buClr>
                <a:srgbClr val="000000"/>
              </a:buClr>
              <a:buSzPts val="1300"/>
              <a:buChar char="●"/>
            </a:pPr>
            <a:r>
              <a:rPr lang="en">
                <a:solidFill>
                  <a:srgbClr val="000000"/>
                </a:solidFill>
              </a:rPr>
              <a:t>Cross-checksum(d</a:t>
            </a:r>
            <a:r>
              <a:rPr baseline="-25000" lang="en">
                <a:solidFill>
                  <a:srgbClr val="000000"/>
                </a:solidFill>
              </a:rPr>
              <a:t>i</a:t>
            </a:r>
            <a:r>
              <a:rPr lang="en">
                <a:solidFill>
                  <a:srgbClr val="000000"/>
                </a:solidFill>
              </a:rPr>
              <a:t>) = hash(d</a:t>
            </a:r>
            <a:r>
              <a:rPr baseline="-25000" lang="en">
                <a:solidFill>
                  <a:srgbClr val="000000"/>
                </a:solidFill>
              </a:rPr>
              <a:t>1</a:t>
            </a:r>
            <a:r>
              <a:rPr lang="en">
                <a:solidFill>
                  <a:srgbClr val="000000"/>
                </a:solidFill>
              </a:rPr>
              <a:t>,d</a:t>
            </a:r>
            <a:r>
              <a:rPr baseline="-25000" lang="en">
                <a:solidFill>
                  <a:srgbClr val="000000"/>
                </a:solidFill>
              </a:rPr>
              <a:t>2</a:t>
            </a:r>
            <a:r>
              <a:rPr lang="en">
                <a:solidFill>
                  <a:srgbClr val="000000"/>
                </a:solidFill>
              </a:rPr>
              <a:t>….d</a:t>
            </a:r>
            <a:r>
              <a:rPr baseline="-25000" lang="en">
                <a:solidFill>
                  <a:srgbClr val="000000"/>
                </a:solidFill>
              </a:rPr>
              <a:t>n</a:t>
            </a:r>
            <a:r>
              <a:rPr lang="en">
                <a:solidFill>
                  <a:srgbClr val="000000"/>
                </a:solidFill>
              </a:rPr>
              <a:t>)</a:t>
            </a:r>
            <a:endParaRPr>
              <a:solidFill>
                <a:srgbClr val="000000"/>
              </a:solidFill>
            </a:endParaRPr>
          </a:p>
          <a:p>
            <a:pPr indent="-311150" lvl="0" marL="457200" rtl="0" algn="l">
              <a:spcBef>
                <a:spcPts val="0"/>
              </a:spcBef>
              <a:spcAft>
                <a:spcPts val="0"/>
              </a:spcAft>
              <a:buClr>
                <a:srgbClr val="000000"/>
              </a:buClr>
              <a:buSzPts val="1300"/>
              <a:buChar char="●"/>
            </a:pPr>
            <a:r>
              <a:rPr lang="en">
                <a:solidFill>
                  <a:srgbClr val="000000"/>
                </a:solidFill>
              </a:rPr>
              <a:t>Broadcaster sends replica R</a:t>
            </a:r>
            <a:r>
              <a:rPr baseline="-25000" lang="en">
                <a:solidFill>
                  <a:srgbClr val="000000"/>
                </a:solidFill>
              </a:rPr>
              <a:t>i</a:t>
            </a:r>
            <a:r>
              <a:rPr lang="en">
                <a:solidFill>
                  <a:srgbClr val="000000"/>
                </a:solidFill>
              </a:rPr>
              <a:t> fragment d</a:t>
            </a:r>
            <a:r>
              <a:rPr baseline="-25000" lang="en">
                <a:solidFill>
                  <a:srgbClr val="000000"/>
                </a:solidFill>
              </a:rPr>
              <a:t>i</a:t>
            </a:r>
            <a:r>
              <a:rPr lang="en">
                <a:solidFill>
                  <a:srgbClr val="000000"/>
                </a:solidFill>
              </a:rPr>
              <a:t> and cross-checksum of all the fragments </a:t>
            </a:r>
            <a:endParaRPr>
              <a:solidFill>
                <a:srgbClr val="000000"/>
              </a:solidFill>
            </a:endParaRPr>
          </a:p>
        </p:txBody>
      </p:sp>
      <p:sp>
        <p:nvSpPr>
          <p:cNvPr id="295" name="Google Shape;295;p40"/>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AVID (Asynchronous Verifiable Information Dispersal) protocol</a:t>
            </a:r>
            <a:endParaRPr/>
          </a:p>
        </p:txBody>
      </p:sp>
      <p:pic>
        <p:nvPicPr>
          <p:cNvPr id="296" name="Google Shape;296;p40"/>
          <p:cNvPicPr preferRelativeResize="0"/>
          <p:nvPr/>
        </p:nvPicPr>
        <p:blipFill rotWithShape="1">
          <a:blip r:embed="rId3">
            <a:alphaModFix/>
          </a:blip>
          <a:srcRect b="0" l="0" r="0" t="4479"/>
          <a:stretch/>
        </p:blipFill>
        <p:spPr>
          <a:xfrm>
            <a:off x="1208100" y="2092400"/>
            <a:ext cx="5685750" cy="2470301"/>
          </a:xfrm>
          <a:prstGeom prst="rect">
            <a:avLst/>
          </a:prstGeom>
          <a:noFill/>
          <a:ln>
            <a:noFill/>
          </a:ln>
        </p:spPr>
      </p:pic>
    </p:spTree>
  </p:cSld>
  <p:clrMapOvr>
    <a:masterClrMapping/>
  </p:clrMapOvr>
  <mc:AlternateContent>
    <mc:Choice Requires="p14">
      <p:transition p14:dur="100">
        <p:fade thruBlk="1"/>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1"/>
          <p:cNvSpPr txBox="1"/>
          <p:nvPr>
            <p:ph idx="1" type="body"/>
          </p:nvPr>
        </p:nvSpPr>
        <p:spPr>
          <a:xfrm>
            <a:off x="832347" y="1126611"/>
            <a:ext cx="7479300" cy="3344700"/>
          </a:xfrm>
          <a:prstGeom prst="rect">
            <a:avLst/>
          </a:prstGeom>
        </p:spPr>
        <p:txBody>
          <a:bodyPr anchorCtr="0" anchor="t" bIns="34275" lIns="68575" spcFirstLastPara="1" rIns="68575" wrap="square" tIns="34275">
            <a:normAutofit/>
          </a:bodyPr>
          <a:lstStyle/>
          <a:p>
            <a:pPr indent="-311150" lvl="0" marL="457200" rtl="0" algn="l">
              <a:spcBef>
                <a:spcPts val="800"/>
              </a:spcBef>
              <a:spcAft>
                <a:spcPts val="0"/>
              </a:spcAft>
              <a:buClr>
                <a:srgbClr val="000000"/>
              </a:buClr>
              <a:buSzPts val="1300"/>
              <a:buChar char="●"/>
            </a:pPr>
            <a:r>
              <a:rPr lang="en">
                <a:solidFill>
                  <a:srgbClr val="000000"/>
                </a:solidFill>
              </a:rPr>
              <a:t>During the echo phase a replica R</a:t>
            </a:r>
            <a:r>
              <a:rPr baseline="-25000" lang="en">
                <a:solidFill>
                  <a:srgbClr val="000000"/>
                </a:solidFill>
              </a:rPr>
              <a:t>i</a:t>
            </a:r>
            <a:r>
              <a:rPr lang="en">
                <a:solidFill>
                  <a:srgbClr val="000000"/>
                </a:solidFill>
              </a:rPr>
              <a:t> send the </a:t>
            </a:r>
            <a:r>
              <a:rPr lang="en">
                <a:solidFill>
                  <a:srgbClr val="000000"/>
                </a:solidFill>
              </a:rPr>
              <a:t>fragment</a:t>
            </a:r>
            <a:r>
              <a:rPr lang="en">
                <a:solidFill>
                  <a:srgbClr val="000000"/>
                </a:solidFill>
              </a:rPr>
              <a:t> d</a:t>
            </a:r>
            <a:r>
              <a:rPr baseline="-25000" lang="en">
                <a:solidFill>
                  <a:srgbClr val="000000"/>
                </a:solidFill>
              </a:rPr>
              <a:t>i </a:t>
            </a:r>
            <a:r>
              <a:rPr lang="en">
                <a:solidFill>
                  <a:srgbClr val="000000"/>
                </a:solidFill>
              </a:rPr>
              <a:t>and it’s cross-checksum to other replicas</a:t>
            </a:r>
            <a:endParaRPr>
              <a:solidFill>
                <a:srgbClr val="000000"/>
              </a:solidFill>
            </a:endParaRPr>
          </a:p>
          <a:p>
            <a:pPr indent="-311150" lvl="0" marL="457200" rtl="0" algn="l">
              <a:spcBef>
                <a:spcPts val="0"/>
              </a:spcBef>
              <a:spcAft>
                <a:spcPts val="0"/>
              </a:spcAft>
              <a:buClr>
                <a:srgbClr val="000000"/>
              </a:buClr>
              <a:buSzPts val="1300"/>
              <a:buChar char="●"/>
            </a:pPr>
            <a:r>
              <a:rPr lang="en">
                <a:solidFill>
                  <a:srgbClr val="000000"/>
                </a:solidFill>
              </a:rPr>
              <a:t>Communication</a:t>
            </a:r>
            <a:r>
              <a:rPr lang="en">
                <a:solidFill>
                  <a:srgbClr val="000000"/>
                </a:solidFill>
              </a:rPr>
              <a:t> complexity is O(n.B), where n is the number of replicas and B is the broadcast message size</a:t>
            </a:r>
            <a:endParaRPr>
              <a:solidFill>
                <a:srgbClr val="000000"/>
              </a:solidFill>
            </a:endParaRPr>
          </a:p>
          <a:p>
            <a:pPr indent="-311150" lvl="0" marL="457200" rtl="0" algn="l">
              <a:spcBef>
                <a:spcPts val="0"/>
              </a:spcBef>
              <a:spcAft>
                <a:spcPts val="0"/>
              </a:spcAft>
              <a:buClr>
                <a:srgbClr val="000000"/>
              </a:buClr>
              <a:buSzPts val="1300"/>
              <a:buChar char="●"/>
            </a:pPr>
            <a:r>
              <a:rPr lang="en">
                <a:solidFill>
                  <a:srgbClr val="000000"/>
                </a:solidFill>
              </a:rPr>
              <a:t>The image explains the reconstruction process for a block from different fragments</a:t>
            </a:r>
            <a:endParaRPr>
              <a:solidFill>
                <a:srgbClr val="000000"/>
              </a:solidFill>
            </a:endParaRPr>
          </a:p>
        </p:txBody>
      </p:sp>
      <p:sp>
        <p:nvSpPr>
          <p:cNvPr id="302" name="Google Shape;302;p41"/>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AVID (Asynchronous Verifiable Information Dispersal) protocol</a:t>
            </a:r>
            <a:endParaRPr/>
          </a:p>
        </p:txBody>
      </p:sp>
      <p:pic>
        <p:nvPicPr>
          <p:cNvPr id="303" name="Google Shape;303;p41"/>
          <p:cNvPicPr preferRelativeResize="0"/>
          <p:nvPr/>
        </p:nvPicPr>
        <p:blipFill>
          <a:blip r:embed="rId3">
            <a:alphaModFix/>
          </a:blip>
          <a:stretch>
            <a:fillRect/>
          </a:stretch>
        </p:blipFill>
        <p:spPr>
          <a:xfrm>
            <a:off x="230925" y="2461730"/>
            <a:ext cx="8789448" cy="2154445"/>
          </a:xfrm>
          <a:prstGeom prst="rect">
            <a:avLst/>
          </a:prstGeom>
          <a:noFill/>
          <a:ln>
            <a:noFill/>
          </a:ln>
        </p:spPr>
      </p:pic>
    </p:spTree>
  </p:cSld>
  <p:clrMapOvr>
    <a:masterClrMapping/>
  </p:clrMapOvr>
  <mc:AlternateContent>
    <mc:Choice Requires="p14">
      <p:transition p14:dur="100">
        <p:fade thruBlk="1"/>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2"/>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Introducing BEAT0</a:t>
            </a:r>
            <a:endParaRPr/>
          </a:p>
        </p:txBody>
      </p:sp>
      <p:sp>
        <p:nvSpPr>
          <p:cNvPr id="309" name="Google Shape;309;p42"/>
          <p:cNvSpPr txBox="1"/>
          <p:nvPr>
            <p:ph idx="1" type="body"/>
          </p:nvPr>
        </p:nvSpPr>
        <p:spPr>
          <a:xfrm>
            <a:off x="832347" y="1126611"/>
            <a:ext cx="7479300" cy="3344700"/>
          </a:xfrm>
          <a:prstGeom prst="rect">
            <a:avLst/>
          </a:prstGeom>
        </p:spPr>
        <p:txBody>
          <a:bodyPr anchorCtr="0" anchor="t" bIns="34275" lIns="68575" spcFirstLastPara="1" rIns="68575" wrap="square" tIns="34275">
            <a:normAutofit/>
          </a:bodyPr>
          <a:lstStyle/>
          <a:p>
            <a:pPr indent="-311150" lvl="0" marL="457200" rtl="0" algn="l">
              <a:spcBef>
                <a:spcPts val="800"/>
              </a:spcBef>
              <a:spcAft>
                <a:spcPts val="0"/>
              </a:spcAft>
              <a:buClr>
                <a:srgbClr val="000000"/>
              </a:buClr>
              <a:buSzPts val="1300"/>
              <a:buChar char="▪"/>
            </a:pPr>
            <a:r>
              <a:rPr b="1" lang="en">
                <a:solidFill>
                  <a:srgbClr val="000000"/>
                </a:solidFill>
              </a:rPr>
              <a:t>The Baseline Improvement:</a:t>
            </a:r>
            <a:r>
              <a:rPr lang="en">
                <a:solidFill>
                  <a:srgbClr val="000000"/>
                </a:solidFill>
              </a:rPr>
              <a:t> Same architecture as HBBFT, better engineering.</a:t>
            </a:r>
            <a:endParaRPr>
              <a:solidFill>
                <a:srgbClr val="000000"/>
              </a:solidFill>
            </a:endParaRPr>
          </a:p>
          <a:p>
            <a:pPr indent="0" lvl="0" marL="457200" rtl="0" algn="l">
              <a:spcBef>
                <a:spcPts val="800"/>
              </a:spcBef>
              <a:spcAft>
                <a:spcPts val="0"/>
              </a:spcAft>
              <a:buNone/>
            </a:pPr>
            <a:r>
              <a:t/>
            </a:r>
            <a:endParaRPr>
              <a:solidFill>
                <a:srgbClr val="000000"/>
              </a:solidFill>
            </a:endParaRPr>
          </a:p>
          <a:p>
            <a:pPr indent="-311150" lvl="0" marL="457200" rtl="0" algn="l">
              <a:spcBef>
                <a:spcPts val="800"/>
              </a:spcBef>
              <a:spcAft>
                <a:spcPts val="0"/>
              </a:spcAft>
              <a:buClr>
                <a:srgbClr val="000000"/>
              </a:buClr>
              <a:buSzPts val="1300"/>
              <a:buChar char="▪"/>
            </a:pPr>
            <a:r>
              <a:rPr b="1" lang="en">
                <a:solidFill>
                  <a:srgbClr val="000000"/>
                </a:solidFill>
              </a:rPr>
              <a:t>Crypto Upgrade:</a:t>
            </a:r>
            <a:r>
              <a:rPr lang="en">
                <a:solidFill>
                  <a:srgbClr val="000000"/>
                </a:solidFill>
              </a:rPr>
              <a:t> Replaces pairing-based crypto (slow) with standard Elliptic Curve (P-256). Also upgrades security.</a:t>
            </a:r>
            <a:endParaRPr>
              <a:solidFill>
                <a:srgbClr val="000000"/>
              </a:solidFill>
            </a:endParaRPr>
          </a:p>
          <a:p>
            <a:pPr indent="0" lvl="0" marL="457200" rtl="0" algn="l">
              <a:spcBef>
                <a:spcPts val="800"/>
              </a:spcBef>
              <a:spcAft>
                <a:spcPts val="0"/>
              </a:spcAft>
              <a:buNone/>
            </a:pPr>
            <a:r>
              <a:t/>
            </a:r>
            <a:endParaRPr>
              <a:solidFill>
                <a:srgbClr val="000000"/>
              </a:solidFill>
            </a:endParaRPr>
          </a:p>
          <a:p>
            <a:pPr indent="-311150" lvl="0" marL="457200" rtl="0" algn="l">
              <a:spcBef>
                <a:spcPts val="800"/>
              </a:spcBef>
              <a:spcAft>
                <a:spcPts val="0"/>
              </a:spcAft>
              <a:buClr>
                <a:srgbClr val="000000"/>
              </a:buClr>
              <a:buSzPts val="1300"/>
              <a:buChar char="▪"/>
            </a:pPr>
            <a:r>
              <a:rPr b="1" lang="en">
                <a:solidFill>
                  <a:srgbClr val="000000"/>
                </a:solidFill>
              </a:rPr>
              <a:t>Coin Flip:</a:t>
            </a:r>
            <a:r>
              <a:rPr lang="en">
                <a:solidFill>
                  <a:srgbClr val="000000"/>
                </a:solidFill>
              </a:rPr>
              <a:t> Direct Threshold Coin-Flipping (faster) instead of Threshold Signatures.</a:t>
            </a:r>
            <a:endParaRPr>
              <a:solidFill>
                <a:srgbClr val="000000"/>
              </a:solidFill>
            </a:endParaRPr>
          </a:p>
          <a:p>
            <a:pPr indent="0" lvl="0" marL="457200" rtl="0" algn="l">
              <a:spcBef>
                <a:spcPts val="800"/>
              </a:spcBef>
              <a:spcAft>
                <a:spcPts val="0"/>
              </a:spcAft>
              <a:buNone/>
            </a:pPr>
            <a:r>
              <a:t/>
            </a:r>
            <a:endParaRPr>
              <a:solidFill>
                <a:srgbClr val="000000"/>
              </a:solidFill>
            </a:endParaRPr>
          </a:p>
          <a:p>
            <a:pPr indent="-311150" lvl="0" marL="457200" rtl="0" algn="l">
              <a:spcBef>
                <a:spcPts val="800"/>
              </a:spcBef>
              <a:spcAft>
                <a:spcPts val="0"/>
              </a:spcAft>
              <a:buSzPts val="1300"/>
              <a:buChar char="▪"/>
            </a:pPr>
            <a:r>
              <a:rPr b="1" lang="en">
                <a:solidFill>
                  <a:srgbClr val="000000"/>
                </a:solidFill>
              </a:rPr>
              <a:t>Erasure Coding:</a:t>
            </a:r>
            <a:r>
              <a:rPr lang="en">
                <a:solidFill>
                  <a:srgbClr val="000000"/>
                </a:solidFill>
              </a:rPr>
              <a:t> Uses C/C++ based </a:t>
            </a:r>
            <a:r>
              <a:rPr lang="en">
                <a:solidFill>
                  <a:srgbClr val="188038"/>
                </a:solidFill>
              </a:rPr>
              <a:t>Jerasure</a:t>
            </a:r>
            <a:r>
              <a:rPr lang="en">
                <a:solidFill>
                  <a:srgbClr val="000000"/>
                </a:solidFill>
              </a:rPr>
              <a:t> library (fast) instead of Python-based </a:t>
            </a:r>
            <a:r>
              <a:rPr lang="en">
                <a:solidFill>
                  <a:srgbClr val="188038"/>
                </a:solidFill>
              </a:rPr>
              <a:t>zfec</a:t>
            </a:r>
            <a:r>
              <a:rPr lang="en">
                <a:solidFill>
                  <a:srgbClr val="000000"/>
                </a:solidFill>
              </a:rPr>
              <a:t>.</a:t>
            </a:r>
            <a:endParaRPr>
              <a:solidFill>
                <a:srgbClr val="000000"/>
              </a:solidFill>
            </a:endParaRPr>
          </a:p>
          <a:p>
            <a:pPr indent="0" lvl="0" marL="0" rtl="0" algn="l">
              <a:spcBef>
                <a:spcPts val="800"/>
              </a:spcBef>
              <a:spcAft>
                <a:spcPts val="0"/>
              </a:spcAft>
              <a:buNone/>
            </a:pPr>
            <a:r>
              <a:t/>
            </a:r>
            <a:endParaRPr/>
          </a:p>
        </p:txBody>
      </p:sp>
    </p:spTree>
  </p:cSld>
  <p:clrMapOvr>
    <a:masterClrMapping/>
  </p:clrMapOvr>
  <mc:AlternateContent>
    <mc:Choice Requires="p14">
      <p:transition p14:dur="100">
        <p:fade thruBlk="1"/>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3"/>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The "Labeled" Threshold Encryption</a:t>
            </a:r>
            <a:endParaRPr/>
          </a:p>
        </p:txBody>
      </p:sp>
      <p:sp>
        <p:nvSpPr>
          <p:cNvPr id="315" name="Google Shape;315;p43"/>
          <p:cNvSpPr txBox="1"/>
          <p:nvPr>
            <p:ph idx="1" type="body"/>
          </p:nvPr>
        </p:nvSpPr>
        <p:spPr>
          <a:xfrm>
            <a:off x="1047172" y="1071611"/>
            <a:ext cx="7479300" cy="3344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
                <a:solidFill>
                  <a:srgbClr val="000000"/>
                </a:solidFill>
              </a:rPr>
              <a:t>The Problem:</a:t>
            </a:r>
            <a:r>
              <a:rPr lang="en">
                <a:solidFill>
                  <a:srgbClr val="000000"/>
                </a:solidFill>
              </a:rPr>
              <a:t> In HBBFT, encryption was somewhat generic. An adversary might try to replay old ciphertexts or confuse the system.</a:t>
            </a:r>
            <a:endParaRPr>
              <a:solidFill>
                <a:srgbClr val="000000"/>
              </a:solidFill>
            </a:endParaRPr>
          </a:p>
          <a:p>
            <a:pPr indent="0" lvl="0" marL="0" rtl="0" algn="l">
              <a:spcBef>
                <a:spcPts val="800"/>
              </a:spcBef>
              <a:spcAft>
                <a:spcPts val="0"/>
              </a:spcAft>
              <a:buNone/>
            </a:pPr>
            <a:r>
              <a:t/>
            </a:r>
            <a:endParaRPr>
              <a:solidFill>
                <a:srgbClr val="000000"/>
              </a:solidFill>
            </a:endParaRPr>
          </a:p>
          <a:p>
            <a:pPr indent="0" lvl="0" marL="0" rtl="0" algn="l">
              <a:spcBef>
                <a:spcPts val="800"/>
              </a:spcBef>
              <a:spcAft>
                <a:spcPts val="0"/>
              </a:spcAft>
              <a:buNone/>
            </a:pPr>
            <a:r>
              <a:rPr b="1" lang="en">
                <a:solidFill>
                  <a:srgbClr val="000000"/>
                </a:solidFill>
              </a:rPr>
              <a:t>The Fix:</a:t>
            </a:r>
            <a:r>
              <a:rPr lang="en">
                <a:solidFill>
                  <a:srgbClr val="000000"/>
                </a:solidFill>
              </a:rPr>
              <a:t> BEAT0 uses </a:t>
            </a:r>
            <a:r>
              <a:rPr b="1" lang="en">
                <a:solidFill>
                  <a:srgbClr val="000000"/>
                </a:solidFill>
              </a:rPr>
              <a:t>Labeled</a:t>
            </a:r>
            <a:r>
              <a:rPr lang="en">
                <a:solidFill>
                  <a:srgbClr val="000000"/>
                </a:solidFill>
              </a:rPr>
              <a:t> Threshold Encryption.</a:t>
            </a:r>
            <a:endParaRPr>
              <a:solidFill>
                <a:srgbClr val="000000"/>
              </a:solidFill>
            </a:endParaRPr>
          </a:p>
          <a:p>
            <a:pPr indent="-323850" lvl="0" marL="457200" rtl="0" algn="l">
              <a:spcBef>
                <a:spcPts val="800"/>
              </a:spcBef>
              <a:spcAft>
                <a:spcPts val="0"/>
              </a:spcAft>
              <a:buClr>
                <a:srgbClr val="000000"/>
              </a:buClr>
              <a:buSzPts val="1500"/>
              <a:buFont typeface="Arial"/>
              <a:buChar char="▪"/>
            </a:pPr>
            <a:r>
              <a:rPr lang="en">
                <a:solidFill>
                  <a:srgbClr val="000000"/>
                </a:solidFill>
              </a:rPr>
              <a:t>Every encrypted batch is tagged with a label: lb = (Epoch_Number, Node_ID).</a:t>
            </a:r>
            <a:endParaRPr>
              <a:solidFill>
                <a:srgbClr val="000000"/>
              </a:solidFill>
            </a:endParaRPr>
          </a:p>
          <a:p>
            <a:pPr indent="-323850" lvl="0" marL="457200" rtl="0" algn="l">
              <a:spcBef>
                <a:spcPts val="0"/>
              </a:spcBef>
              <a:spcAft>
                <a:spcPts val="0"/>
              </a:spcAft>
              <a:buClr>
                <a:srgbClr val="000000"/>
              </a:buClr>
              <a:buSzPts val="1500"/>
              <a:buFont typeface="Arial"/>
              <a:buChar char="▪"/>
            </a:pPr>
            <a:r>
              <a:rPr i="1" lang="en">
                <a:solidFill>
                  <a:srgbClr val="000000"/>
                </a:solidFill>
              </a:rPr>
              <a:t>Why?</a:t>
            </a:r>
            <a:r>
              <a:rPr lang="en">
                <a:solidFill>
                  <a:srgbClr val="000000"/>
                </a:solidFill>
              </a:rPr>
              <a:t> Uniqueness. A node will only accept </a:t>
            </a:r>
            <a:r>
              <a:rPr b="1" lang="en">
                <a:solidFill>
                  <a:srgbClr val="000000"/>
                </a:solidFill>
              </a:rPr>
              <a:t>one</a:t>
            </a:r>
            <a:r>
              <a:rPr lang="en">
                <a:solidFill>
                  <a:srgbClr val="000000"/>
                </a:solidFill>
              </a:rPr>
              <a:t> ciphertext for (Epoch 5, Node 3). If a malicious node tries to send a different ciphertext for the same slot, the protocol instantly rejects it. This prevents replay attacks and confusion.</a:t>
            </a:r>
            <a:endParaRPr>
              <a:solidFill>
                <a:srgbClr val="000000"/>
              </a:solidFill>
            </a:endParaRPr>
          </a:p>
          <a:p>
            <a:pPr indent="0" lvl="0" marL="0" rtl="0" algn="l">
              <a:spcBef>
                <a:spcPts val="800"/>
              </a:spcBef>
              <a:spcAft>
                <a:spcPts val="0"/>
              </a:spcAft>
              <a:buNone/>
            </a:pPr>
            <a:r>
              <a:t/>
            </a:r>
            <a:endParaRPr>
              <a:solidFill>
                <a:srgbClr val="000000"/>
              </a:solidFill>
            </a:endParaRPr>
          </a:p>
          <a:p>
            <a:pPr indent="0" lvl="0" marL="0" rtl="0" algn="l">
              <a:spcBef>
                <a:spcPts val="800"/>
              </a:spcBef>
              <a:spcAft>
                <a:spcPts val="0"/>
              </a:spcAft>
              <a:buNone/>
            </a:pPr>
            <a:r>
              <a:rPr lang="en">
                <a:solidFill>
                  <a:srgbClr val="000000"/>
                </a:solidFill>
              </a:rPr>
              <a:t>Uses scheme called </a:t>
            </a:r>
            <a:r>
              <a:rPr b="1" lang="en">
                <a:solidFill>
                  <a:srgbClr val="000000"/>
                </a:solidFill>
              </a:rPr>
              <a:t>TDH2</a:t>
            </a:r>
            <a:r>
              <a:rPr lang="en">
                <a:solidFill>
                  <a:srgbClr val="000000"/>
                </a:solidFill>
              </a:rPr>
              <a:t> (by Shoup and Gennaro) to implement this.</a:t>
            </a:r>
            <a:endParaRPr>
              <a:solidFill>
                <a:srgbClr val="000000"/>
              </a:solidFill>
            </a:endParaRPr>
          </a:p>
        </p:txBody>
      </p:sp>
    </p:spTree>
  </p:cSld>
  <p:clrMapOvr>
    <a:masterClrMapping/>
  </p:clrMapOvr>
  <mc:AlternateContent>
    <mc:Choice Requires="p14">
      <p:transition p14:dur="100">
        <p:fade thruBlk="1"/>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4"/>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BEAT1: Overview</a:t>
            </a:r>
            <a:endParaRPr/>
          </a:p>
        </p:txBody>
      </p:sp>
      <p:sp>
        <p:nvSpPr>
          <p:cNvPr id="321" name="Google Shape;321;p44"/>
          <p:cNvSpPr txBox="1"/>
          <p:nvPr>
            <p:ph idx="1" type="body"/>
          </p:nvPr>
        </p:nvSpPr>
        <p:spPr>
          <a:xfrm>
            <a:off x="1047172" y="1071611"/>
            <a:ext cx="7479300" cy="3344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b="1"/>
          </a:p>
          <a:p>
            <a:pPr indent="0" lvl="0" marL="0" rtl="0" algn="l">
              <a:spcBef>
                <a:spcPts val="800"/>
              </a:spcBef>
              <a:spcAft>
                <a:spcPts val="0"/>
              </a:spcAft>
              <a:buNone/>
            </a:pPr>
            <a:r>
              <a:rPr b="1" i="1" lang="en"/>
              <a:t>BEAT1</a:t>
            </a:r>
            <a:r>
              <a:rPr lang="en"/>
              <a:t> =  </a:t>
            </a:r>
            <a:r>
              <a:rPr b="1" i="1" lang="en"/>
              <a:t>BEAT0</a:t>
            </a:r>
            <a:r>
              <a:rPr lang="en"/>
              <a:t> + </a:t>
            </a:r>
            <a:r>
              <a:rPr i="1" lang="en"/>
              <a:t>Replacement with Bracha’s Broadcast</a:t>
            </a:r>
            <a:endParaRPr i="1"/>
          </a:p>
          <a:p>
            <a:pPr indent="0" lvl="0" marL="0" rtl="0" algn="l">
              <a:spcBef>
                <a:spcPts val="800"/>
              </a:spcBef>
              <a:spcAft>
                <a:spcPts val="0"/>
              </a:spcAft>
              <a:buNone/>
            </a:pPr>
            <a:r>
              <a:t/>
            </a:r>
            <a:endParaRPr b="1"/>
          </a:p>
          <a:p>
            <a:pPr indent="-311150" lvl="0" marL="457200" rtl="0" algn="l">
              <a:lnSpc>
                <a:spcPct val="150000"/>
              </a:lnSpc>
              <a:spcBef>
                <a:spcPts val="800"/>
              </a:spcBef>
              <a:spcAft>
                <a:spcPts val="0"/>
              </a:spcAft>
              <a:buSzPts val="1300"/>
              <a:buChar char="●"/>
            </a:pPr>
            <a:r>
              <a:rPr b="1" lang="en"/>
              <a:t>Focus:</a:t>
            </a:r>
            <a:r>
              <a:rPr lang="en"/>
              <a:t> Reduces latency for small batches</a:t>
            </a:r>
            <a:endParaRPr/>
          </a:p>
          <a:p>
            <a:pPr indent="-311150" lvl="0" marL="457200" rtl="0" algn="l">
              <a:lnSpc>
                <a:spcPct val="150000"/>
              </a:lnSpc>
              <a:spcBef>
                <a:spcPts val="0"/>
              </a:spcBef>
              <a:spcAft>
                <a:spcPts val="0"/>
              </a:spcAft>
              <a:buSzPts val="1300"/>
              <a:buChar char="●"/>
            </a:pPr>
            <a:r>
              <a:rPr lang="en"/>
              <a:t>Same security model as original BEAT</a:t>
            </a:r>
            <a:endParaRPr/>
          </a:p>
          <a:p>
            <a:pPr indent="-311150" lvl="0" marL="457200" rtl="0" algn="l">
              <a:lnSpc>
                <a:spcPct val="150000"/>
              </a:lnSpc>
              <a:spcBef>
                <a:spcPts val="0"/>
              </a:spcBef>
              <a:spcAft>
                <a:spcPts val="0"/>
              </a:spcAft>
              <a:buSzPts val="1300"/>
              <a:buChar char="●"/>
            </a:pPr>
            <a:r>
              <a:rPr lang="en"/>
              <a:t>Best when workload is light or batches are small</a:t>
            </a:r>
            <a:endParaRPr/>
          </a:p>
          <a:p>
            <a:pPr indent="-311150" lvl="0" marL="457200" rtl="0" algn="l">
              <a:lnSpc>
                <a:spcPct val="150000"/>
              </a:lnSpc>
              <a:spcBef>
                <a:spcPts val="0"/>
              </a:spcBef>
              <a:spcAft>
                <a:spcPts val="0"/>
              </a:spcAft>
              <a:buSzPts val="1300"/>
              <a:buChar char="●"/>
            </a:pPr>
            <a:r>
              <a:rPr lang="en"/>
              <a:t>It is still asynchronous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b="1"/>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5"/>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Why was BEAT1 Created?</a:t>
            </a:r>
            <a:endParaRPr/>
          </a:p>
        </p:txBody>
      </p:sp>
      <p:sp>
        <p:nvSpPr>
          <p:cNvPr id="327" name="Google Shape;327;p45"/>
          <p:cNvSpPr txBox="1"/>
          <p:nvPr>
            <p:ph idx="1" type="body"/>
          </p:nvPr>
        </p:nvSpPr>
        <p:spPr>
          <a:xfrm>
            <a:off x="1047172" y="1071611"/>
            <a:ext cx="7479300" cy="3344700"/>
          </a:xfrm>
          <a:prstGeom prst="rect">
            <a:avLst/>
          </a:prstGeom>
        </p:spPr>
        <p:txBody>
          <a:bodyPr anchorCtr="0" anchor="t" bIns="34275" lIns="68575" spcFirstLastPara="1" rIns="68575" wrap="square" tIns="34275">
            <a:normAutofit/>
          </a:bodyPr>
          <a:lstStyle/>
          <a:p>
            <a:pPr indent="0" lvl="0" marL="0" rtl="0" algn="l">
              <a:lnSpc>
                <a:spcPct val="115000"/>
              </a:lnSpc>
              <a:spcBef>
                <a:spcPts val="800"/>
              </a:spcBef>
              <a:spcAft>
                <a:spcPts val="0"/>
              </a:spcAft>
              <a:buNone/>
            </a:pPr>
            <a:r>
              <a:rPr lang="en"/>
              <a:t>Researchers found that in HoneyBadgerBFT, when the network load is small, the erasure-coded broadcast (AVID) creates high latency.</a:t>
            </a:r>
            <a:endParaRPr/>
          </a:p>
          <a:p>
            <a:pPr indent="0" lvl="0" marL="457200" rtl="0" algn="l">
              <a:lnSpc>
                <a:spcPct val="100000"/>
              </a:lnSpc>
              <a:spcBef>
                <a:spcPts val="800"/>
              </a:spcBef>
              <a:spcAft>
                <a:spcPts val="0"/>
              </a:spcAft>
              <a:buNone/>
            </a:pPr>
            <a:r>
              <a:rPr lang="en">
                <a:solidFill>
                  <a:srgbClr val="150221"/>
                </a:solidFill>
              </a:rPr>
              <a:t>This is because: </a:t>
            </a:r>
            <a:endParaRPr>
              <a:solidFill>
                <a:srgbClr val="150221"/>
              </a:solidFill>
            </a:endParaRPr>
          </a:p>
          <a:p>
            <a:pPr indent="0" lvl="0" marL="457200" rtl="0" algn="l">
              <a:spcBef>
                <a:spcPts val="800"/>
              </a:spcBef>
              <a:spcAft>
                <a:spcPts val="0"/>
              </a:spcAft>
              <a:buNone/>
            </a:pPr>
            <a:r>
              <a:rPr lang="en"/>
              <a:t>Erasure-coding + Dispersal + Verification          Involves high CPU workload</a:t>
            </a:r>
            <a:endParaRPr/>
          </a:p>
          <a:p>
            <a:pPr indent="0" lvl="0" marL="0" rtl="0" algn="l">
              <a:spcBef>
                <a:spcPts val="800"/>
              </a:spcBef>
              <a:spcAft>
                <a:spcPts val="0"/>
              </a:spcAft>
              <a:buNone/>
            </a:pPr>
            <a:r>
              <a:t/>
            </a:r>
            <a:endParaRPr/>
          </a:p>
          <a:p>
            <a:pPr indent="0" lvl="0" marL="0" rtl="0" algn="l">
              <a:lnSpc>
                <a:spcPct val="115000"/>
              </a:lnSpc>
              <a:spcBef>
                <a:spcPts val="800"/>
              </a:spcBef>
              <a:spcAft>
                <a:spcPts val="0"/>
              </a:spcAft>
              <a:buNone/>
            </a:pPr>
            <a:r>
              <a:rPr lang="en">
                <a:latin typeface="Proxima Nova Semibold"/>
                <a:ea typeface="Proxima Nova Semibold"/>
                <a:cs typeface="Proxima Nova Semibold"/>
                <a:sym typeface="Proxima Nova Semibold"/>
              </a:rPr>
              <a:t>Bracha’s Broadcast Advantages:</a:t>
            </a:r>
            <a:endParaRPr>
              <a:latin typeface="Proxima Nova Semibold"/>
              <a:ea typeface="Proxima Nova Semibold"/>
              <a:cs typeface="Proxima Nova Semibold"/>
              <a:sym typeface="Proxima Nova Semibold"/>
            </a:endParaRPr>
          </a:p>
          <a:p>
            <a:pPr indent="-311150" lvl="0" marL="457200" rtl="0" algn="l">
              <a:lnSpc>
                <a:spcPct val="50000"/>
              </a:lnSpc>
              <a:spcBef>
                <a:spcPts val="800"/>
              </a:spcBef>
              <a:spcAft>
                <a:spcPts val="0"/>
              </a:spcAft>
              <a:buSzPts val="1300"/>
              <a:buChar char="▪"/>
            </a:pPr>
            <a:r>
              <a:rPr lang="en"/>
              <a:t>No erasure coding required</a:t>
            </a:r>
            <a:br>
              <a:rPr lang="en"/>
            </a:br>
            <a:endParaRPr/>
          </a:p>
          <a:p>
            <a:pPr indent="-311150" lvl="0" marL="457200" rtl="0" algn="l">
              <a:lnSpc>
                <a:spcPct val="50000"/>
              </a:lnSpc>
              <a:spcBef>
                <a:spcPts val="0"/>
              </a:spcBef>
              <a:spcAft>
                <a:spcPts val="0"/>
              </a:spcAft>
              <a:buSzPts val="1300"/>
              <a:buChar char="▪"/>
            </a:pPr>
            <a:r>
              <a:rPr lang="en"/>
              <a:t>Fewer cryptographic operations</a:t>
            </a:r>
            <a:br>
              <a:rPr lang="en"/>
            </a:br>
            <a:endParaRPr/>
          </a:p>
          <a:p>
            <a:pPr indent="-311150" lvl="0" marL="457200" rtl="0" algn="l">
              <a:lnSpc>
                <a:spcPct val="50000"/>
              </a:lnSpc>
              <a:spcBef>
                <a:spcPts val="0"/>
              </a:spcBef>
              <a:spcAft>
                <a:spcPts val="0"/>
              </a:spcAft>
              <a:buSzPts val="1300"/>
              <a:buChar char="▪"/>
            </a:pPr>
            <a:r>
              <a:rPr lang="en"/>
              <a:t>Lower CPU usage</a:t>
            </a:r>
            <a:br>
              <a:rPr lang="en"/>
            </a:br>
            <a:endParaRPr/>
          </a:p>
          <a:p>
            <a:pPr indent="-311150" lvl="0" marL="457200" rtl="0" algn="l">
              <a:lnSpc>
                <a:spcPct val="50000"/>
              </a:lnSpc>
              <a:spcBef>
                <a:spcPts val="0"/>
              </a:spcBef>
              <a:spcAft>
                <a:spcPts val="0"/>
              </a:spcAft>
              <a:buSzPts val="1300"/>
              <a:buChar char="▪"/>
            </a:pPr>
            <a:r>
              <a:rPr lang="en"/>
              <a:t>Faster in practice for small batch sizes</a:t>
            </a:r>
            <a:endParaRPr/>
          </a:p>
          <a:p>
            <a:pPr indent="0" lvl="0" marL="457200" rtl="0" algn="l">
              <a:spcBef>
                <a:spcPts val="800"/>
              </a:spcBef>
              <a:spcAft>
                <a:spcPts val="0"/>
              </a:spcAft>
              <a:buNone/>
            </a:pPr>
            <a:r>
              <a:t/>
            </a:r>
            <a:endParaRPr/>
          </a:p>
        </p:txBody>
      </p:sp>
      <p:cxnSp>
        <p:nvCxnSpPr>
          <p:cNvPr id="328" name="Google Shape;328;p45"/>
          <p:cNvCxnSpPr/>
          <p:nvPr/>
        </p:nvCxnSpPr>
        <p:spPr>
          <a:xfrm>
            <a:off x="5017985" y="2160487"/>
            <a:ext cx="320400" cy="0"/>
          </a:xfrm>
          <a:prstGeom prst="straightConnector1">
            <a:avLst/>
          </a:prstGeom>
          <a:noFill/>
          <a:ln cap="flat" cmpd="sng" w="9525">
            <a:solidFill>
              <a:srgbClr val="150221"/>
            </a:solidFill>
            <a:prstDash val="solid"/>
            <a:round/>
            <a:headEnd len="med" w="med" type="none"/>
            <a:tailEnd len="med" w="med" type="triangle"/>
          </a:ln>
        </p:spPr>
      </p:cxnSp>
    </p:spTree>
  </p:cSld>
  <p:clrMapOvr>
    <a:masterClrMapping/>
  </p:clrMapOvr>
  <mc:AlternateContent>
    <mc:Choice Requires="p14">
      <p:transition p14:dur="100">
        <p:fade thruBlk="1"/>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6"/>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What BEAT1 Changes?</a:t>
            </a:r>
            <a:endParaRPr/>
          </a:p>
        </p:txBody>
      </p:sp>
      <p:sp>
        <p:nvSpPr>
          <p:cNvPr id="334" name="Google Shape;334;p46"/>
          <p:cNvSpPr txBox="1"/>
          <p:nvPr>
            <p:ph idx="1" type="body"/>
          </p:nvPr>
        </p:nvSpPr>
        <p:spPr>
          <a:xfrm>
            <a:off x="1047175" y="1011050"/>
            <a:ext cx="3592500" cy="1304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In Beat 0</a:t>
            </a:r>
            <a:endParaRPr/>
          </a:p>
          <a:p>
            <a:pPr indent="-311150" lvl="0" marL="457200" rtl="0" algn="l">
              <a:spcBef>
                <a:spcPts val="800"/>
              </a:spcBef>
              <a:spcAft>
                <a:spcPts val="0"/>
              </a:spcAft>
              <a:buSzPts val="1300"/>
              <a:buChar char="▪"/>
            </a:pPr>
            <a:r>
              <a:rPr lang="en"/>
              <a:t>Reliable broadcast uses erasure-coded broadcast (AVID)</a:t>
            </a:r>
            <a:endParaRPr/>
          </a:p>
          <a:p>
            <a:pPr indent="-311150" lvl="0" marL="457200" rtl="0" algn="l">
              <a:spcBef>
                <a:spcPts val="0"/>
              </a:spcBef>
              <a:spcAft>
                <a:spcPts val="0"/>
              </a:spcAft>
              <a:buSzPts val="1300"/>
              <a:buChar char="▪"/>
            </a:pPr>
            <a:r>
              <a:rPr lang="en"/>
              <a:t>Complexity: O(n)</a:t>
            </a:r>
            <a:endParaRPr/>
          </a:p>
        </p:txBody>
      </p:sp>
      <p:sp>
        <p:nvSpPr>
          <p:cNvPr id="335" name="Google Shape;335;p46"/>
          <p:cNvSpPr txBox="1"/>
          <p:nvPr>
            <p:ph idx="1" type="body"/>
          </p:nvPr>
        </p:nvSpPr>
        <p:spPr>
          <a:xfrm>
            <a:off x="4933975" y="1011050"/>
            <a:ext cx="3592500" cy="1304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In Beat 1</a:t>
            </a:r>
            <a:endParaRPr/>
          </a:p>
          <a:p>
            <a:pPr indent="-311150" lvl="0" marL="457200" rtl="0" algn="l">
              <a:spcBef>
                <a:spcPts val="800"/>
              </a:spcBef>
              <a:spcAft>
                <a:spcPts val="0"/>
              </a:spcAft>
              <a:buSzPts val="1300"/>
              <a:buChar char="▪"/>
            </a:pPr>
            <a:r>
              <a:rPr lang="en"/>
              <a:t>Reliable broadcast uses Bracha’s Broadcast</a:t>
            </a:r>
            <a:endParaRPr/>
          </a:p>
          <a:p>
            <a:pPr indent="-311150" lvl="0" marL="457200" rtl="0" algn="l">
              <a:spcBef>
                <a:spcPts val="0"/>
              </a:spcBef>
              <a:spcAft>
                <a:spcPts val="0"/>
              </a:spcAft>
              <a:buSzPts val="1300"/>
              <a:buChar char="▪"/>
            </a:pPr>
            <a:r>
              <a:rPr lang="en"/>
              <a:t>Complexity: O(n²)</a:t>
            </a:r>
            <a:endParaRPr/>
          </a:p>
        </p:txBody>
      </p:sp>
      <p:sp>
        <p:nvSpPr>
          <p:cNvPr id="336" name="Google Shape;336;p46"/>
          <p:cNvSpPr txBox="1"/>
          <p:nvPr/>
        </p:nvSpPr>
        <p:spPr>
          <a:xfrm>
            <a:off x="1047175" y="2559918"/>
            <a:ext cx="7479300" cy="1257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lang="en" sz="1500">
                <a:solidFill>
                  <a:srgbClr val="333333"/>
                </a:solidFill>
                <a:latin typeface="Proxima Nova"/>
                <a:ea typeface="Proxima Nova"/>
                <a:cs typeface="Proxima Nova"/>
                <a:sym typeface="Proxima Nova"/>
              </a:rPr>
              <a:t>Even though O(n²) sounds worse, in practice for small batch size:</a:t>
            </a:r>
            <a:endParaRPr sz="1500">
              <a:solidFill>
                <a:srgbClr val="333333"/>
              </a:solidFill>
              <a:latin typeface="Proxima Nova"/>
              <a:ea typeface="Proxima Nova"/>
              <a:cs typeface="Proxima Nova"/>
              <a:sym typeface="Proxima Nova"/>
            </a:endParaRPr>
          </a:p>
          <a:p>
            <a:pPr indent="-323850" lvl="0" marL="457200" rtl="0" algn="l">
              <a:lnSpc>
                <a:spcPct val="115000"/>
              </a:lnSpc>
              <a:spcBef>
                <a:spcPts val="800"/>
              </a:spcBef>
              <a:spcAft>
                <a:spcPts val="0"/>
              </a:spcAft>
              <a:buClr>
                <a:srgbClr val="333333"/>
              </a:buClr>
              <a:buSzPts val="1500"/>
              <a:buFont typeface="Proxima Nova"/>
              <a:buChar char="●"/>
            </a:pPr>
            <a:r>
              <a:rPr lang="en" sz="1500">
                <a:solidFill>
                  <a:srgbClr val="333333"/>
                </a:solidFill>
                <a:latin typeface="Proxima Nova"/>
                <a:ea typeface="Proxima Nova"/>
                <a:cs typeface="Proxima Nova"/>
                <a:sym typeface="Proxima Nova"/>
              </a:rPr>
              <a:t>Bracha’s Broadcast is CPU-cheap</a:t>
            </a:r>
            <a:endParaRPr sz="1500">
              <a:solidFill>
                <a:srgbClr val="333333"/>
              </a:solidFill>
              <a:latin typeface="Proxima Nova"/>
              <a:ea typeface="Proxima Nova"/>
              <a:cs typeface="Proxima Nova"/>
              <a:sym typeface="Proxima Nova"/>
            </a:endParaRPr>
          </a:p>
          <a:p>
            <a:pPr indent="-323850" lvl="0" marL="457200" rtl="0" algn="l">
              <a:lnSpc>
                <a:spcPct val="115000"/>
              </a:lnSpc>
              <a:spcBef>
                <a:spcPts val="0"/>
              </a:spcBef>
              <a:spcAft>
                <a:spcPts val="0"/>
              </a:spcAft>
              <a:buClr>
                <a:srgbClr val="333333"/>
              </a:buClr>
              <a:buSzPts val="1500"/>
              <a:buFont typeface="Proxima Nova"/>
              <a:buChar char="●"/>
            </a:pPr>
            <a:r>
              <a:rPr lang="en" sz="1500">
                <a:solidFill>
                  <a:srgbClr val="333333"/>
                </a:solidFill>
                <a:latin typeface="Proxima Nova"/>
                <a:ea typeface="Proxima Nova"/>
                <a:cs typeface="Proxima Nova"/>
                <a:sym typeface="Proxima Nova"/>
              </a:rPr>
              <a:t>Far fewer cryptographic operations</a:t>
            </a:r>
            <a:endParaRPr sz="1500">
              <a:solidFill>
                <a:srgbClr val="333333"/>
              </a:solidFill>
              <a:latin typeface="Proxima Nova"/>
              <a:ea typeface="Proxima Nova"/>
              <a:cs typeface="Proxima Nova"/>
              <a:sym typeface="Proxima Nova"/>
            </a:endParaRPr>
          </a:p>
          <a:p>
            <a:pPr indent="-323850" lvl="0" marL="457200" rtl="0" algn="l">
              <a:lnSpc>
                <a:spcPct val="115000"/>
              </a:lnSpc>
              <a:spcBef>
                <a:spcPts val="0"/>
              </a:spcBef>
              <a:spcAft>
                <a:spcPts val="0"/>
              </a:spcAft>
              <a:buClr>
                <a:srgbClr val="333333"/>
              </a:buClr>
              <a:buSzPts val="1500"/>
              <a:buFont typeface="Proxima Nova"/>
              <a:buChar char="●"/>
            </a:pPr>
            <a:r>
              <a:rPr lang="en" sz="1500">
                <a:solidFill>
                  <a:srgbClr val="333333"/>
                </a:solidFill>
                <a:latin typeface="Proxima Nova"/>
                <a:ea typeface="Proxima Nova"/>
                <a:cs typeface="Proxima Nova"/>
                <a:sym typeface="Proxima Nova"/>
              </a:rPr>
              <a:t>Removes erasure coding overhead</a:t>
            </a:r>
            <a:endParaRPr sz="1500">
              <a:solidFill>
                <a:srgbClr val="333333"/>
              </a:solidFill>
              <a:latin typeface="Proxima Nova"/>
              <a:ea typeface="Proxima Nova"/>
              <a:cs typeface="Proxima Nova"/>
              <a:sym typeface="Proxima Nova"/>
            </a:endParaRPr>
          </a:p>
        </p:txBody>
      </p:sp>
      <p:sp>
        <p:nvSpPr>
          <p:cNvPr id="337" name="Google Shape;337;p46"/>
          <p:cNvSpPr/>
          <p:nvPr/>
        </p:nvSpPr>
        <p:spPr>
          <a:xfrm>
            <a:off x="4755090" y="1011050"/>
            <a:ext cx="2100" cy="1191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p14:dur="100">
        <p:fade thruBlk="1"/>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7"/>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BEAT2: Overview</a:t>
            </a:r>
            <a:endParaRPr/>
          </a:p>
        </p:txBody>
      </p:sp>
      <p:sp>
        <p:nvSpPr>
          <p:cNvPr id="343" name="Google Shape;343;p47"/>
          <p:cNvSpPr txBox="1"/>
          <p:nvPr>
            <p:ph idx="1" type="body"/>
          </p:nvPr>
        </p:nvSpPr>
        <p:spPr>
          <a:xfrm>
            <a:off x="1047172" y="1071611"/>
            <a:ext cx="7479300" cy="3344700"/>
          </a:xfrm>
          <a:prstGeom prst="rect">
            <a:avLst/>
          </a:prstGeom>
        </p:spPr>
        <p:txBody>
          <a:bodyPr anchorCtr="0" anchor="t" bIns="34275" lIns="68575" spcFirstLastPara="1" rIns="68575" wrap="square" tIns="34275">
            <a:normAutofit/>
          </a:bodyPr>
          <a:lstStyle/>
          <a:p>
            <a:pPr indent="-311150" lvl="0" marL="457200" rtl="0" algn="l">
              <a:lnSpc>
                <a:spcPct val="115000"/>
              </a:lnSpc>
              <a:spcBef>
                <a:spcPts val="800"/>
              </a:spcBef>
              <a:spcAft>
                <a:spcPts val="0"/>
              </a:spcAft>
              <a:buSzPts val="1300"/>
              <a:buChar char="●"/>
            </a:pPr>
            <a:r>
              <a:rPr lang="en"/>
              <a:t>Moves threshold encryption from replicas         clients</a:t>
            </a:r>
            <a:endParaRPr/>
          </a:p>
          <a:p>
            <a:pPr indent="-311150" lvl="0" marL="457200" rtl="0" algn="l">
              <a:lnSpc>
                <a:spcPct val="115000"/>
              </a:lnSpc>
              <a:spcBef>
                <a:spcPts val="0"/>
              </a:spcBef>
              <a:spcAft>
                <a:spcPts val="0"/>
              </a:spcAft>
              <a:buSzPts val="1300"/>
              <a:buChar char="●"/>
            </a:pPr>
            <a:r>
              <a:rPr lang="en"/>
              <a:t>Introduces causal ordering of transactions </a:t>
            </a:r>
            <a:endParaRPr/>
          </a:p>
          <a:p>
            <a:pPr indent="-311150" lvl="0" marL="457200" rtl="0" algn="l">
              <a:lnSpc>
                <a:spcPct val="115000"/>
              </a:lnSpc>
              <a:spcBef>
                <a:spcPts val="0"/>
              </a:spcBef>
              <a:spcAft>
                <a:spcPts val="0"/>
              </a:spcAft>
              <a:buSzPts val="1300"/>
              <a:buChar char="●"/>
            </a:pPr>
            <a:r>
              <a:rPr b="1" lang="en"/>
              <a:t>Goal:</a:t>
            </a:r>
            <a:r>
              <a:rPr lang="en"/>
              <a:t> Achieve the lowest latency in the BEAT family </a:t>
            </a:r>
            <a:endParaRPr/>
          </a:p>
          <a:p>
            <a:pPr indent="-311150" lvl="0" marL="457200" rtl="0" algn="l">
              <a:lnSpc>
                <a:spcPct val="115000"/>
              </a:lnSpc>
              <a:spcBef>
                <a:spcPts val="0"/>
              </a:spcBef>
              <a:spcAft>
                <a:spcPts val="0"/>
              </a:spcAft>
              <a:buSzPts val="1300"/>
              <a:buChar char="●"/>
            </a:pPr>
            <a:r>
              <a:rPr lang="en"/>
              <a:t>Still fully asynchronous and BFT</a:t>
            </a:r>
            <a:endParaRPr/>
          </a:p>
        </p:txBody>
      </p:sp>
      <p:cxnSp>
        <p:nvCxnSpPr>
          <p:cNvPr id="344" name="Google Shape;344;p47"/>
          <p:cNvCxnSpPr/>
          <p:nvPr/>
        </p:nvCxnSpPr>
        <p:spPr>
          <a:xfrm>
            <a:off x="5091077" y="1239478"/>
            <a:ext cx="320400" cy="0"/>
          </a:xfrm>
          <a:prstGeom prst="straightConnector1">
            <a:avLst/>
          </a:prstGeom>
          <a:noFill/>
          <a:ln cap="flat" cmpd="sng" w="9525">
            <a:solidFill>
              <a:srgbClr val="150221"/>
            </a:solidFill>
            <a:prstDash val="solid"/>
            <a:round/>
            <a:headEnd len="med" w="med" type="none"/>
            <a:tailEnd len="med" w="med" type="triangle"/>
          </a:ln>
        </p:spPr>
      </p:cxnSp>
      <p:sp>
        <p:nvSpPr>
          <p:cNvPr id="345" name="Google Shape;345;p47"/>
          <p:cNvSpPr txBox="1"/>
          <p:nvPr/>
        </p:nvSpPr>
        <p:spPr>
          <a:xfrm>
            <a:off x="1047175" y="2349025"/>
            <a:ext cx="5754600" cy="1877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800"/>
              </a:spcBef>
              <a:spcAft>
                <a:spcPts val="0"/>
              </a:spcAft>
              <a:buNone/>
            </a:pPr>
            <a:r>
              <a:rPr b="1" lang="en" sz="1500">
                <a:solidFill>
                  <a:srgbClr val="333333"/>
                </a:solidFill>
                <a:latin typeface="Proxima Nova"/>
                <a:ea typeface="Proxima Nova"/>
                <a:cs typeface="Proxima Nova"/>
                <a:sym typeface="Proxima Nova"/>
              </a:rPr>
              <a:t>Why Client-Side Encryption?</a:t>
            </a:r>
            <a:endParaRPr b="1" sz="1500">
              <a:solidFill>
                <a:srgbClr val="333333"/>
              </a:solidFill>
              <a:latin typeface="Proxima Nova"/>
              <a:ea typeface="Proxima Nova"/>
              <a:cs typeface="Proxima Nova"/>
              <a:sym typeface="Proxima Nova"/>
            </a:endParaRPr>
          </a:p>
          <a:p>
            <a:pPr indent="0" lvl="0" marL="0" rtl="0" algn="l">
              <a:lnSpc>
                <a:spcPct val="100000"/>
              </a:lnSpc>
              <a:spcBef>
                <a:spcPts val="800"/>
              </a:spcBef>
              <a:spcAft>
                <a:spcPts val="0"/>
              </a:spcAft>
              <a:buNone/>
            </a:pPr>
            <a:r>
              <a:rPr lang="en" sz="1500">
                <a:solidFill>
                  <a:srgbClr val="333333"/>
                </a:solidFill>
                <a:latin typeface="Proxima Nova"/>
                <a:ea typeface="Proxima Nova"/>
                <a:cs typeface="Proxima Nova"/>
                <a:sym typeface="Proxima Nova"/>
              </a:rPr>
              <a:t>Problem in BEAT1 / BEAT0:</a:t>
            </a:r>
            <a:endParaRPr sz="1500">
              <a:solidFill>
                <a:srgbClr val="333333"/>
              </a:solidFill>
              <a:latin typeface="Proxima Nova"/>
              <a:ea typeface="Proxima Nova"/>
              <a:cs typeface="Proxima Nova"/>
              <a:sym typeface="Proxima Nova"/>
            </a:endParaRPr>
          </a:p>
          <a:p>
            <a:pPr indent="-323850" lvl="0" marL="457200" rtl="0" algn="l">
              <a:lnSpc>
                <a:spcPct val="100000"/>
              </a:lnSpc>
              <a:spcBef>
                <a:spcPts val="800"/>
              </a:spcBef>
              <a:spcAft>
                <a:spcPts val="0"/>
              </a:spcAft>
              <a:buClr>
                <a:srgbClr val="333333"/>
              </a:buClr>
              <a:buSzPts val="1500"/>
              <a:buFont typeface="Proxima Nova"/>
              <a:buChar char="●"/>
            </a:pPr>
            <a:r>
              <a:rPr lang="en" sz="1500">
                <a:solidFill>
                  <a:srgbClr val="333333"/>
                </a:solidFill>
                <a:latin typeface="Proxima Nova"/>
                <a:ea typeface="Proxima Nova"/>
                <a:cs typeface="Proxima Nova"/>
                <a:sym typeface="Proxima Nova"/>
              </a:rPr>
              <a:t>Replicas perform threshold encryption every epoch</a:t>
            </a:r>
            <a:endParaRPr sz="1500">
              <a:solidFill>
                <a:srgbClr val="333333"/>
              </a:solidFill>
              <a:latin typeface="Proxima Nova"/>
              <a:ea typeface="Proxima Nova"/>
              <a:cs typeface="Proxima Nova"/>
              <a:sym typeface="Proxima Nova"/>
            </a:endParaRPr>
          </a:p>
          <a:p>
            <a:pPr indent="-323850" lvl="0" marL="457200" rtl="0" algn="l">
              <a:lnSpc>
                <a:spcPct val="100000"/>
              </a:lnSpc>
              <a:spcBef>
                <a:spcPts val="0"/>
              </a:spcBef>
              <a:spcAft>
                <a:spcPts val="0"/>
              </a:spcAft>
              <a:buClr>
                <a:srgbClr val="333333"/>
              </a:buClr>
              <a:buSzPts val="1500"/>
              <a:buFont typeface="Proxima Nova"/>
              <a:buChar char="●"/>
            </a:pPr>
            <a:r>
              <a:rPr lang="en" sz="1500">
                <a:solidFill>
                  <a:srgbClr val="333333"/>
                </a:solidFill>
                <a:latin typeface="Proxima Nova"/>
                <a:ea typeface="Proxima Nova"/>
                <a:cs typeface="Proxima Nova"/>
                <a:sym typeface="Proxima Nova"/>
              </a:rPr>
              <a:t>Expensive cryptographic operations</a:t>
            </a:r>
            <a:endParaRPr sz="1500">
              <a:solidFill>
                <a:srgbClr val="333333"/>
              </a:solidFill>
              <a:latin typeface="Proxima Nova"/>
              <a:ea typeface="Proxima Nova"/>
              <a:cs typeface="Proxima Nova"/>
              <a:sym typeface="Proxima Nova"/>
            </a:endParaRPr>
          </a:p>
          <a:p>
            <a:pPr indent="-323850" lvl="0" marL="457200" rtl="0" algn="l">
              <a:lnSpc>
                <a:spcPct val="100000"/>
              </a:lnSpc>
              <a:spcBef>
                <a:spcPts val="0"/>
              </a:spcBef>
              <a:spcAft>
                <a:spcPts val="0"/>
              </a:spcAft>
              <a:buClr>
                <a:srgbClr val="333333"/>
              </a:buClr>
              <a:buSzPts val="1500"/>
              <a:buFont typeface="Proxima Nova"/>
              <a:buChar char="●"/>
            </a:pPr>
            <a:r>
              <a:rPr lang="en" sz="1500">
                <a:solidFill>
                  <a:srgbClr val="333333"/>
                </a:solidFill>
                <a:latin typeface="Proxima Nova"/>
                <a:ea typeface="Proxima Nova"/>
                <a:cs typeface="Proxima Nova"/>
                <a:sym typeface="Proxima Nova"/>
              </a:rPr>
              <a:t>Increases latency</a:t>
            </a:r>
            <a:endParaRPr sz="1500">
              <a:solidFill>
                <a:srgbClr val="333333"/>
              </a:solidFill>
              <a:latin typeface="Proxima Nova"/>
              <a:ea typeface="Proxima Nova"/>
              <a:cs typeface="Proxima Nova"/>
              <a:sym typeface="Proxima Nova"/>
            </a:endParaRPr>
          </a:p>
          <a:p>
            <a:pPr indent="0" lvl="0" marL="0" rtl="0" algn="l">
              <a:lnSpc>
                <a:spcPct val="115000"/>
              </a:lnSpc>
              <a:spcBef>
                <a:spcPts val="800"/>
              </a:spcBef>
              <a:spcAft>
                <a:spcPts val="0"/>
              </a:spcAft>
              <a:buNone/>
            </a:pPr>
            <a:r>
              <a:t/>
            </a:r>
            <a:endParaRPr sz="1500">
              <a:solidFill>
                <a:srgbClr val="333333"/>
              </a:solidFill>
              <a:latin typeface="Proxima Nova"/>
              <a:ea typeface="Proxima Nova"/>
              <a:cs typeface="Proxima Nova"/>
              <a:sym typeface="Proxima Nova"/>
            </a:endParaRPr>
          </a:p>
        </p:txBody>
      </p:sp>
      <p:sp>
        <p:nvSpPr>
          <p:cNvPr id="346" name="Google Shape;346;p47"/>
          <p:cNvSpPr txBox="1"/>
          <p:nvPr/>
        </p:nvSpPr>
        <p:spPr>
          <a:xfrm>
            <a:off x="1047175" y="4087400"/>
            <a:ext cx="7833000" cy="4155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0"/>
              </a:spcAft>
              <a:buNone/>
            </a:pPr>
            <a:r>
              <a:rPr b="1" lang="en" sz="1500">
                <a:solidFill>
                  <a:srgbClr val="333333"/>
                </a:solidFill>
                <a:latin typeface="Proxima Nova"/>
                <a:ea typeface="Proxima Nova"/>
                <a:cs typeface="Proxima Nova"/>
                <a:sym typeface="Proxima Nova"/>
              </a:rPr>
              <a:t>BEAT2 Solution: </a:t>
            </a:r>
            <a:r>
              <a:rPr lang="en" sz="1500">
                <a:solidFill>
                  <a:srgbClr val="333333"/>
                </a:solidFill>
                <a:latin typeface="Proxima Nova"/>
                <a:ea typeface="Proxima Nova"/>
                <a:cs typeface="Proxima Nova"/>
                <a:sym typeface="Proxima Nova"/>
              </a:rPr>
              <a:t>Client encrypts their own transactions and replicas do much less work</a:t>
            </a:r>
            <a:endParaRPr sz="1500">
              <a:solidFill>
                <a:srgbClr val="333333"/>
              </a:solidFill>
              <a:latin typeface="Proxima Nova"/>
              <a:ea typeface="Proxima Nova"/>
              <a:cs typeface="Proxima Nova"/>
              <a:sym typeface="Proxima Nova"/>
            </a:endParaRPr>
          </a:p>
        </p:txBody>
      </p:sp>
    </p:spTree>
  </p:cSld>
  <p:clrMapOvr>
    <a:masterClrMapping/>
  </p:clrMapOvr>
  <mc:AlternateContent>
    <mc:Choice Requires="p14">
      <p:transition p14:dur="100">
        <p:fade thruBlk="1"/>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8"/>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BEAT2: Casual Ordering + Tradeoffs</a:t>
            </a:r>
            <a:endParaRPr/>
          </a:p>
        </p:txBody>
      </p:sp>
      <p:sp>
        <p:nvSpPr>
          <p:cNvPr id="352" name="Google Shape;352;p48"/>
          <p:cNvSpPr txBox="1"/>
          <p:nvPr>
            <p:ph idx="1" type="body"/>
          </p:nvPr>
        </p:nvSpPr>
        <p:spPr>
          <a:xfrm>
            <a:off x="1047172" y="1071611"/>
            <a:ext cx="7479300" cy="3344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
              <a:t>Causal Ordering:</a:t>
            </a:r>
            <a:endParaRPr b="1"/>
          </a:p>
          <a:p>
            <a:pPr indent="-311150" lvl="0" marL="457200" rtl="0" algn="l">
              <a:lnSpc>
                <a:spcPct val="115000"/>
              </a:lnSpc>
              <a:spcBef>
                <a:spcPts val="800"/>
              </a:spcBef>
              <a:spcAft>
                <a:spcPts val="0"/>
              </a:spcAft>
              <a:buSzPts val="1300"/>
              <a:buChar char="▪"/>
            </a:pPr>
            <a:r>
              <a:rPr lang="en"/>
              <a:t>If T2 depends on T1         T1 is delivered first</a:t>
            </a:r>
            <a:endParaRPr/>
          </a:p>
          <a:p>
            <a:pPr indent="-311150" lvl="0" marL="457200" rtl="0" algn="l">
              <a:lnSpc>
                <a:spcPct val="115000"/>
              </a:lnSpc>
              <a:spcBef>
                <a:spcPts val="0"/>
              </a:spcBef>
              <a:spcAft>
                <a:spcPts val="0"/>
              </a:spcAft>
              <a:buSzPts val="1300"/>
              <a:buChar char="▪"/>
            </a:pPr>
            <a:r>
              <a:rPr lang="en"/>
              <a:t>Prevents adversarial reordering</a:t>
            </a:r>
            <a:endParaRPr/>
          </a:p>
          <a:p>
            <a:pPr indent="-311150" lvl="0" marL="457200" rtl="0" algn="l">
              <a:lnSpc>
                <a:spcPct val="115000"/>
              </a:lnSpc>
              <a:spcBef>
                <a:spcPts val="0"/>
              </a:spcBef>
              <a:spcAft>
                <a:spcPts val="0"/>
              </a:spcAft>
              <a:buSzPts val="1300"/>
              <a:buChar char="▪"/>
            </a:pPr>
            <a:r>
              <a:rPr lang="en"/>
              <a:t>Important for payments, trading, dependent operations</a:t>
            </a:r>
            <a:endParaRPr/>
          </a:p>
          <a:p>
            <a:pPr indent="0" lvl="0" marL="0" rtl="0" algn="l">
              <a:lnSpc>
                <a:spcPct val="100000"/>
              </a:lnSpc>
              <a:spcBef>
                <a:spcPts val="0"/>
              </a:spcBef>
              <a:spcAft>
                <a:spcPts val="0"/>
              </a:spcAft>
              <a:buNone/>
            </a:pPr>
            <a:r>
              <a:t/>
            </a:r>
            <a:endParaRPr sz="1200"/>
          </a:p>
          <a:p>
            <a:pPr indent="0" lvl="0" marL="0" rtl="0" algn="l">
              <a:spcBef>
                <a:spcPts val="800"/>
              </a:spcBef>
              <a:spcAft>
                <a:spcPts val="0"/>
              </a:spcAft>
              <a:buNone/>
            </a:pPr>
            <a:r>
              <a:rPr b="1" lang="en"/>
              <a:t>Tradeoffs:</a:t>
            </a:r>
            <a:endParaRPr b="1"/>
          </a:p>
          <a:p>
            <a:pPr indent="-311150" lvl="0" marL="457200" rtl="0" algn="l">
              <a:lnSpc>
                <a:spcPct val="115000"/>
              </a:lnSpc>
              <a:spcBef>
                <a:spcPts val="800"/>
              </a:spcBef>
              <a:spcAft>
                <a:spcPts val="0"/>
              </a:spcAft>
              <a:buSzPts val="1300"/>
              <a:buChar char="▪"/>
            </a:pPr>
            <a:r>
              <a:rPr lang="en"/>
              <a:t>Slightly weaker censorship resistance</a:t>
            </a:r>
            <a:endParaRPr/>
          </a:p>
          <a:p>
            <a:pPr indent="-311150" lvl="0" marL="457200" rtl="0" algn="l">
              <a:lnSpc>
                <a:spcPct val="115000"/>
              </a:lnSpc>
              <a:spcBef>
                <a:spcPts val="0"/>
              </a:spcBef>
              <a:spcAft>
                <a:spcPts val="0"/>
              </a:spcAft>
              <a:buSzPts val="1300"/>
              <a:buChar char="▪"/>
            </a:pPr>
            <a:r>
              <a:rPr lang="en"/>
              <a:t>May require anonymity (e.g., Tor)</a:t>
            </a:r>
            <a:endParaRPr/>
          </a:p>
          <a:p>
            <a:pPr indent="-311150" lvl="0" marL="457200" rtl="0" algn="l">
              <a:lnSpc>
                <a:spcPct val="115000"/>
              </a:lnSpc>
              <a:spcBef>
                <a:spcPts val="0"/>
              </a:spcBef>
              <a:spcAft>
                <a:spcPts val="0"/>
              </a:spcAft>
              <a:buSzPts val="1300"/>
              <a:buChar char="▪"/>
            </a:pPr>
            <a:r>
              <a:rPr lang="en"/>
              <a:t>Clients must handle encryption</a:t>
            </a:r>
            <a:endParaRPr/>
          </a:p>
          <a:p>
            <a:pPr indent="0" lvl="0" marL="0" rtl="0" algn="l">
              <a:spcBef>
                <a:spcPts val="800"/>
              </a:spcBef>
              <a:spcAft>
                <a:spcPts val="0"/>
              </a:spcAft>
              <a:buNone/>
            </a:pPr>
            <a:r>
              <a:t/>
            </a:r>
            <a:endParaRPr b="1"/>
          </a:p>
        </p:txBody>
      </p:sp>
      <p:cxnSp>
        <p:nvCxnSpPr>
          <p:cNvPr id="353" name="Google Shape;353;p48"/>
          <p:cNvCxnSpPr/>
          <p:nvPr/>
        </p:nvCxnSpPr>
        <p:spPr>
          <a:xfrm>
            <a:off x="3288402" y="1538628"/>
            <a:ext cx="320400" cy="0"/>
          </a:xfrm>
          <a:prstGeom prst="straightConnector1">
            <a:avLst/>
          </a:prstGeom>
          <a:noFill/>
          <a:ln cap="flat" cmpd="sng" w="9525">
            <a:solidFill>
              <a:srgbClr val="150221"/>
            </a:solidFill>
            <a:prstDash val="solid"/>
            <a:round/>
            <a:headEnd len="med" w="med" type="none"/>
            <a:tailEnd len="med" w="med" type="triangle"/>
          </a:ln>
        </p:spPr>
      </p:cxnSp>
    </p:spTree>
  </p:cSld>
  <p:clrMapOvr>
    <a:masterClrMapping/>
  </p:clrMapOvr>
  <mc:AlternateContent>
    <mc:Choice Requires="p14">
      <p:transition p14:dur="100">
        <p:fade thruBlk="1"/>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9"/>
          <p:cNvSpPr txBox="1"/>
          <p:nvPr>
            <p:ph idx="1" type="body"/>
          </p:nvPr>
        </p:nvSpPr>
        <p:spPr>
          <a:xfrm>
            <a:off x="832347" y="1126611"/>
            <a:ext cx="7479300" cy="3344700"/>
          </a:xfrm>
          <a:prstGeom prst="rect">
            <a:avLst/>
          </a:prstGeom>
        </p:spPr>
        <p:txBody>
          <a:bodyPr anchorCtr="0" anchor="t" bIns="34275" lIns="68575" spcFirstLastPara="1" rIns="68575" wrap="square" tIns="34275">
            <a:normAutofit/>
          </a:bodyPr>
          <a:lstStyle/>
          <a:p>
            <a:pPr indent="-311150" lvl="0" marL="457200" rtl="0" algn="l">
              <a:spcBef>
                <a:spcPts val="800"/>
              </a:spcBef>
              <a:spcAft>
                <a:spcPts val="0"/>
              </a:spcAft>
              <a:buClr>
                <a:srgbClr val="000000"/>
              </a:buClr>
              <a:buSzPts val="1300"/>
              <a:buChar char="●"/>
            </a:pPr>
            <a:r>
              <a:rPr lang="en">
                <a:solidFill>
                  <a:srgbClr val="000000"/>
                </a:solidFill>
              </a:rPr>
              <a:t>There is no costly echo phase of sending the fragment to every replica, a replica only echoes it’s fingerprint along with it’s cross-checksum</a:t>
            </a:r>
            <a:endParaRPr>
              <a:solidFill>
                <a:srgbClr val="000000"/>
              </a:solidFill>
            </a:endParaRPr>
          </a:p>
          <a:p>
            <a:pPr indent="-311150" lvl="0" marL="457200" rtl="0" algn="l">
              <a:spcBef>
                <a:spcPts val="0"/>
              </a:spcBef>
              <a:spcAft>
                <a:spcPts val="0"/>
              </a:spcAft>
              <a:buClr>
                <a:srgbClr val="000000"/>
              </a:buClr>
              <a:buSzPts val="1300"/>
              <a:buChar char="●"/>
            </a:pPr>
            <a:r>
              <a:rPr lang="en">
                <a:solidFill>
                  <a:srgbClr val="000000"/>
                </a:solidFill>
              </a:rPr>
              <a:t>By using homomorphic fingerprints a specific replica can verify that the fragment belongs to the original block without needing to see or download the rest of the data.</a:t>
            </a:r>
            <a:endParaRPr>
              <a:solidFill>
                <a:srgbClr val="000000"/>
              </a:solidFill>
            </a:endParaRPr>
          </a:p>
        </p:txBody>
      </p:sp>
      <p:sp>
        <p:nvSpPr>
          <p:cNvPr id="359" name="Google Shape;359;p49"/>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AVID-FP</a:t>
            </a:r>
            <a:r>
              <a:rPr lang="en"/>
              <a:t> (</a:t>
            </a:r>
            <a:r>
              <a:rPr lang="en"/>
              <a:t>Asynchronous Verifiable Information Dispersal with Fingerprinted Cross-Checksum</a:t>
            </a:r>
            <a:r>
              <a:rPr lang="en"/>
              <a:t>) protocol</a:t>
            </a:r>
            <a:endParaRPr/>
          </a:p>
        </p:txBody>
      </p:sp>
      <p:pic>
        <p:nvPicPr>
          <p:cNvPr id="360" name="Google Shape;360;p49"/>
          <p:cNvPicPr preferRelativeResize="0"/>
          <p:nvPr/>
        </p:nvPicPr>
        <p:blipFill>
          <a:blip r:embed="rId3">
            <a:alphaModFix/>
          </a:blip>
          <a:stretch>
            <a:fillRect/>
          </a:stretch>
        </p:blipFill>
        <p:spPr>
          <a:xfrm>
            <a:off x="441145" y="2232400"/>
            <a:ext cx="3874676" cy="2298250"/>
          </a:xfrm>
          <a:prstGeom prst="rect">
            <a:avLst/>
          </a:prstGeom>
          <a:noFill/>
          <a:ln>
            <a:noFill/>
          </a:ln>
        </p:spPr>
      </p:pic>
      <p:pic>
        <p:nvPicPr>
          <p:cNvPr id="361" name="Google Shape;361;p49"/>
          <p:cNvPicPr preferRelativeResize="0"/>
          <p:nvPr/>
        </p:nvPicPr>
        <p:blipFill>
          <a:blip r:embed="rId4">
            <a:alphaModFix/>
          </a:blip>
          <a:stretch>
            <a:fillRect/>
          </a:stretch>
        </p:blipFill>
        <p:spPr>
          <a:xfrm>
            <a:off x="4446575" y="2571750"/>
            <a:ext cx="4325499" cy="1465200"/>
          </a:xfrm>
          <a:prstGeom prst="rect">
            <a:avLst/>
          </a:prstGeom>
          <a:noFill/>
          <a:ln>
            <a:noFill/>
          </a:ln>
        </p:spPr>
      </p:pic>
    </p:spTree>
  </p:cSld>
  <p:clrMapOvr>
    <a:masterClrMapping/>
  </p:clrMapOvr>
  <mc:AlternateContent>
    <mc:Choice Requires="p14">
      <p:transition p14:dur="100">
        <p:fade thruBlk="1"/>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0"/>
          <p:cNvSpPr txBox="1"/>
          <p:nvPr>
            <p:ph idx="1" type="body"/>
          </p:nvPr>
        </p:nvSpPr>
        <p:spPr>
          <a:xfrm>
            <a:off x="832347" y="1126611"/>
            <a:ext cx="7479300" cy="3344700"/>
          </a:xfrm>
          <a:prstGeom prst="rect">
            <a:avLst/>
          </a:prstGeom>
        </p:spPr>
        <p:txBody>
          <a:bodyPr anchorCtr="0" anchor="t" bIns="34275" lIns="68575" spcFirstLastPara="1" rIns="68575" wrap="square" tIns="34275">
            <a:normAutofit/>
          </a:bodyPr>
          <a:lstStyle/>
          <a:p>
            <a:pPr indent="-311150" lvl="0" marL="457200" rtl="0" algn="l">
              <a:spcBef>
                <a:spcPts val="800"/>
              </a:spcBef>
              <a:spcAft>
                <a:spcPts val="0"/>
              </a:spcAft>
              <a:buClr>
                <a:srgbClr val="000000"/>
              </a:buClr>
              <a:buSzPts val="1300"/>
              <a:buChar char="●"/>
            </a:pPr>
            <a:r>
              <a:rPr lang="en">
                <a:solidFill>
                  <a:srgbClr val="000000"/>
                </a:solidFill>
              </a:rPr>
              <a:t>The (n, m) AVID-FP is defined by the constraints: n = m + 2f and m ≥ f + 1, where total number of replicas is n, the reconstruction threshold is m and f is the number of Byzantine Faults</a:t>
            </a:r>
            <a:endParaRPr>
              <a:solidFill>
                <a:srgbClr val="000000"/>
              </a:solidFill>
            </a:endParaRPr>
          </a:p>
          <a:p>
            <a:pPr indent="-311150" lvl="0" marL="457200" rtl="0" algn="l">
              <a:spcBef>
                <a:spcPts val="0"/>
              </a:spcBef>
              <a:spcAft>
                <a:spcPts val="0"/>
              </a:spcAft>
              <a:buClr>
                <a:srgbClr val="000000"/>
              </a:buClr>
              <a:buSzPts val="1300"/>
              <a:buChar char="●"/>
            </a:pPr>
            <a:r>
              <a:rPr lang="en">
                <a:solidFill>
                  <a:srgbClr val="000000"/>
                </a:solidFill>
              </a:rPr>
              <a:t>Communication complexity is O(B) where B is the broadcast message size</a:t>
            </a:r>
            <a:endParaRPr>
              <a:solidFill>
                <a:srgbClr val="000000"/>
              </a:solidFill>
            </a:endParaRPr>
          </a:p>
        </p:txBody>
      </p:sp>
      <p:sp>
        <p:nvSpPr>
          <p:cNvPr id="367" name="Google Shape;367;p50"/>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AVID-FP (</a:t>
            </a:r>
            <a:r>
              <a:rPr lang="en"/>
              <a:t>Asynchronous Verifiable Information Dispersal with Fingerprinted Cross-Checksum</a:t>
            </a:r>
            <a:r>
              <a:rPr lang="en"/>
              <a:t>) protocol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1"/>
          <p:cNvSpPr txBox="1"/>
          <p:nvPr>
            <p:ph idx="1" type="body"/>
          </p:nvPr>
        </p:nvSpPr>
        <p:spPr>
          <a:xfrm>
            <a:off x="832347" y="1126611"/>
            <a:ext cx="7479300" cy="3344700"/>
          </a:xfrm>
          <a:prstGeom prst="rect">
            <a:avLst/>
          </a:prstGeom>
        </p:spPr>
        <p:txBody>
          <a:bodyPr anchorCtr="0" anchor="t" bIns="34275" lIns="68575" spcFirstLastPara="1" rIns="68575" wrap="square" tIns="34275">
            <a:normAutofit/>
          </a:bodyPr>
          <a:lstStyle/>
          <a:p>
            <a:pPr indent="-311150" lvl="0" marL="457200" rtl="0" algn="l">
              <a:lnSpc>
                <a:spcPct val="115000"/>
              </a:lnSpc>
              <a:spcBef>
                <a:spcPts val="800"/>
              </a:spcBef>
              <a:spcAft>
                <a:spcPts val="0"/>
              </a:spcAft>
              <a:buClr>
                <a:srgbClr val="000000"/>
              </a:buClr>
              <a:buSzPts val="1300"/>
              <a:buChar char="●"/>
            </a:pPr>
            <a:r>
              <a:rPr lang="en">
                <a:solidFill>
                  <a:srgbClr val="000000"/>
                </a:solidFill>
              </a:rPr>
              <a:t>Asynchronous BFT storage system</a:t>
            </a:r>
            <a:endParaRPr>
              <a:solidFill>
                <a:srgbClr val="000000"/>
              </a:solidFill>
            </a:endParaRPr>
          </a:p>
          <a:p>
            <a:pPr indent="-311150" lvl="0" marL="457200" rtl="0" algn="l">
              <a:lnSpc>
                <a:spcPct val="115000"/>
              </a:lnSpc>
              <a:spcBef>
                <a:spcPts val="0"/>
              </a:spcBef>
              <a:spcAft>
                <a:spcPts val="0"/>
              </a:spcAft>
              <a:buClr>
                <a:srgbClr val="000000"/>
              </a:buClr>
              <a:buSzPts val="1300"/>
              <a:buChar char="●"/>
            </a:pPr>
            <a:r>
              <a:rPr lang="en">
                <a:solidFill>
                  <a:srgbClr val="000000"/>
                </a:solidFill>
              </a:rPr>
              <a:t>Bandwidth, throughput, and scalability optimized.</a:t>
            </a:r>
            <a:endParaRPr>
              <a:solidFill>
                <a:srgbClr val="000000"/>
              </a:solidFill>
            </a:endParaRPr>
          </a:p>
          <a:p>
            <a:pPr indent="-311150" lvl="0" marL="457200" rtl="0" algn="l">
              <a:lnSpc>
                <a:spcPct val="115000"/>
              </a:lnSpc>
              <a:spcBef>
                <a:spcPts val="0"/>
              </a:spcBef>
              <a:spcAft>
                <a:spcPts val="0"/>
              </a:spcAft>
              <a:buClr>
                <a:srgbClr val="000000"/>
              </a:buClr>
              <a:buSzPts val="1300"/>
              <a:buChar char="●"/>
            </a:pPr>
            <a:r>
              <a:rPr lang="en">
                <a:solidFill>
                  <a:srgbClr val="000000"/>
                </a:solidFill>
              </a:rPr>
              <a:t>BEAT 3 uses bandwidth-efficient AVID-FP</a:t>
            </a:r>
            <a:endParaRPr>
              <a:solidFill>
                <a:srgbClr val="000000"/>
              </a:solidFill>
            </a:endParaRPr>
          </a:p>
          <a:p>
            <a:pPr indent="-311150" lvl="0" marL="457200" rtl="0" algn="l">
              <a:lnSpc>
                <a:spcPct val="115000"/>
              </a:lnSpc>
              <a:spcBef>
                <a:spcPts val="0"/>
              </a:spcBef>
              <a:spcAft>
                <a:spcPts val="0"/>
              </a:spcAft>
              <a:buClr>
                <a:srgbClr val="000000"/>
              </a:buClr>
              <a:buSzPts val="1300"/>
              <a:buChar char="●"/>
            </a:pPr>
            <a:r>
              <a:rPr lang="en">
                <a:solidFill>
                  <a:srgbClr val="000000"/>
                </a:solidFill>
              </a:rPr>
              <a:t>AVID-FP sends the broadcast message only once.</a:t>
            </a:r>
            <a:endParaRPr>
              <a:solidFill>
                <a:srgbClr val="000000"/>
              </a:solidFill>
            </a:endParaRPr>
          </a:p>
          <a:p>
            <a:pPr indent="-311150" lvl="0" marL="457200" rtl="0" algn="l">
              <a:lnSpc>
                <a:spcPct val="115000"/>
              </a:lnSpc>
              <a:spcBef>
                <a:spcPts val="0"/>
              </a:spcBef>
              <a:spcAft>
                <a:spcPts val="0"/>
              </a:spcAft>
              <a:buClr>
                <a:srgbClr val="000000"/>
              </a:buClr>
              <a:buSzPts val="1300"/>
              <a:buChar char="●"/>
            </a:pPr>
            <a:r>
              <a:rPr lang="en">
                <a:solidFill>
                  <a:srgbClr val="000000"/>
                </a:solidFill>
              </a:rPr>
              <a:t>Bandwidth</a:t>
            </a:r>
            <a:r>
              <a:rPr lang="en">
                <a:solidFill>
                  <a:srgbClr val="000000"/>
                </a:solidFill>
              </a:rPr>
              <a:t> required</a:t>
            </a:r>
            <a:r>
              <a:rPr lang="en">
                <a:solidFill>
                  <a:srgbClr val="000000"/>
                </a:solidFill>
              </a:rPr>
              <a:t> is O(B) compared to HoneyBadgerBFT’s implementation which has bandwidth of O(n.B), where n is the number of replicas and B is the broadcast message size</a:t>
            </a:r>
            <a:endParaRPr>
              <a:solidFill>
                <a:srgbClr val="000000"/>
              </a:solidFill>
            </a:endParaRPr>
          </a:p>
          <a:p>
            <a:pPr indent="0" lvl="0" marL="0" rtl="0" algn="l">
              <a:lnSpc>
                <a:spcPct val="115000"/>
              </a:lnSpc>
              <a:spcBef>
                <a:spcPts val="800"/>
              </a:spcBef>
              <a:spcAft>
                <a:spcPts val="0"/>
              </a:spcAft>
              <a:buNone/>
            </a:pPr>
            <a:r>
              <a:t/>
            </a:r>
            <a:endParaRPr>
              <a:solidFill>
                <a:srgbClr val="000000"/>
              </a:solidFill>
            </a:endParaRPr>
          </a:p>
        </p:txBody>
      </p:sp>
      <p:sp>
        <p:nvSpPr>
          <p:cNvPr id="373" name="Google Shape;373;p51"/>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BEAT 3</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2"/>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t>Steps involved in BEAT 3 are:</a:t>
            </a:r>
            <a:endParaRPr/>
          </a:p>
        </p:txBody>
      </p:sp>
      <p:pic>
        <p:nvPicPr>
          <p:cNvPr id="379" name="Google Shape;379;p52"/>
          <p:cNvPicPr preferRelativeResize="0"/>
          <p:nvPr/>
        </p:nvPicPr>
        <p:blipFill>
          <a:blip r:embed="rId3">
            <a:alphaModFix/>
          </a:blip>
          <a:stretch>
            <a:fillRect/>
          </a:stretch>
        </p:blipFill>
        <p:spPr>
          <a:xfrm>
            <a:off x="1005100" y="820850"/>
            <a:ext cx="7655849" cy="37511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3"/>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solidFill>
                  <a:srgbClr val="FFFFFF"/>
                </a:solidFill>
              </a:rPr>
              <a:t>BEAT4: Flexible Read Capability</a:t>
            </a:r>
            <a:endParaRPr/>
          </a:p>
        </p:txBody>
      </p:sp>
      <p:sp>
        <p:nvSpPr>
          <p:cNvPr id="385" name="Google Shape;385;p53"/>
          <p:cNvSpPr txBox="1"/>
          <p:nvPr>
            <p:ph idx="1" type="body"/>
          </p:nvPr>
        </p:nvSpPr>
        <p:spPr>
          <a:xfrm>
            <a:off x="1047172" y="1071611"/>
            <a:ext cx="7479300" cy="3344700"/>
          </a:xfrm>
          <a:prstGeom prst="rect">
            <a:avLst/>
          </a:prstGeom>
        </p:spPr>
        <p:txBody>
          <a:bodyPr anchorCtr="0" anchor="t" bIns="34275" lIns="68575" spcFirstLastPara="1" rIns="68575" wrap="square" tIns="34275">
            <a:normAutofit/>
          </a:bodyPr>
          <a:lstStyle/>
          <a:p>
            <a:pPr indent="0" lvl="0" marL="152400" rtl="0" algn="just">
              <a:lnSpc>
                <a:spcPct val="100000"/>
              </a:lnSpc>
              <a:spcBef>
                <a:spcPts val="0"/>
              </a:spcBef>
              <a:spcAft>
                <a:spcPts val="0"/>
              </a:spcAft>
              <a:buNone/>
            </a:pPr>
            <a:r>
              <a:rPr b="1" lang="en"/>
              <a:t>The Library Analogy: </a:t>
            </a:r>
            <a:endParaRPr/>
          </a:p>
          <a:p>
            <a:pPr indent="0" lvl="0" marL="152400" rtl="0" algn="just">
              <a:lnSpc>
                <a:spcPct val="100000"/>
              </a:lnSpc>
              <a:spcBef>
                <a:spcPts val="0"/>
              </a:spcBef>
              <a:spcAft>
                <a:spcPts val="0"/>
              </a:spcAft>
              <a:buNone/>
            </a:pPr>
            <a:r>
              <a:rPr lang="en"/>
              <a:t>Imagine needing a single chapter from a book.</a:t>
            </a:r>
            <a:endParaRPr/>
          </a:p>
          <a:p>
            <a:pPr indent="0" lvl="0" marL="152400" rtl="0" algn="just">
              <a:lnSpc>
                <a:spcPct val="50000"/>
              </a:lnSpc>
              <a:spcBef>
                <a:spcPts val="0"/>
              </a:spcBef>
              <a:spcAft>
                <a:spcPts val="0"/>
              </a:spcAft>
              <a:buNone/>
            </a:pPr>
            <a:r>
              <a:t/>
            </a:r>
            <a:endParaRPr/>
          </a:p>
          <a:p>
            <a:pPr indent="0" lvl="0" marL="152400" rtl="0" algn="just">
              <a:lnSpc>
                <a:spcPct val="115000"/>
              </a:lnSpc>
              <a:spcBef>
                <a:spcPts val="0"/>
              </a:spcBef>
              <a:spcAft>
                <a:spcPts val="0"/>
              </a:spcAft>
              <a:buNone/>
            </a:pPr>
            <a:r>
              <a:rPr b="1" lang="en"/>
              <a:t>Traditional BFT:</a:t>
            </a:r>
            <a:endParaRPr b="1"/>
          </a:p>
          <a:p>
            <a:pPr indent="0" lvl="0" marL="152400" rtl="0" algn="just">
              <a:lnSpc>
                <a:spcPct val="115000"/>
              </a:lnSpc>
              <a:spcBef>
                <a:spcPts val="0"/>
              </a:spcBef>
              <a:spcAft>
                <a:spcPts val="0"/>
              </a:spcAft>
              <a:buNone/>
            </a:pPr>
            <a:r>
              <a:rPr lang="en"/>
              <a:t>You must checkout the entire library shelf (download the full block) to verify the one chapter.</a:t>
            </a:r>
            <a:endParaRPr/>
          </a:p>
          <a:p>
            <a:pPr indent="0" lvl="0" marL="0" rtl="0" algn="just">
              <a:lnSpc>
                <a:spcPct val="50000"/>
              </a:lnSpc>
              <a:spcBef>
                <a:spcPts val="0"/>
              </a:spcBef>
              <a:spcAft>
                <a:spcPts val="0"/>
              </a:spcAft>
              <a:buNone/>
            </a:pPr>
            <a:r>
              <a:t/>
            </a:r>
            <a:endParaRPr/>
          </a:p>
          <a:p>
            <a:pPr indent="0" lvl="0" marL="152400" rtl="0" algn="just">
              <a:lnSpc>
                <a:spcPct val="115000"/>
              </a:lnSpc>
              <a:spcBef>
                <a:spcPts val="0"/>
              </a:spcBef>
              <a:spcAft>
                <a:spcPts val="0"/>
              </a:spcAft>
              <a:buNone/>
            </a:pPr>
            <a:r>
              <a:rPr b="1" lang="en"/>
              <a:t>BEAT-4 (Pyramid Codes):</a:t>
            </a:r>
            <a:endParaRPr b="1"/>
          </a:p>
          <a:p>
            <a:pPr indent="-323850" lvl="0" marL="457200" rtl="0" algn="just">
              <a:lnSpc>
                <a:spcPct val="115000"/>
              </a:lnSpc>
              <a:spcBef>
                <a:spcPts val="0"/>
              </a:spcBef>
              <a:spcAft>
                <a:spcPts val="0"/>
              </a:spcAft>
              <a:buSzPts val="1500"/>
              <a:buChar char="▪"/>
            </a:pPr>
            <a:r>
              <a:rPr lang="en"/>
              <a:t>You can check out just the specific chapter you need. It reduces access overhead by 50% with only ~10% additional storage overhead.</a:t>
            </a:r>
            <a:endParaRPr/>
          </a:p>
          <a:p>
            <a:pPr indent="-323850" lvl="0" marL="457200" rtl="0" algn="just">
              <a:lnSpc>
                <a:spcPct val="100000"/>
              </a:lnSpc>
              <a:spcBef>
                <a:spcPts val="0"/>
              </a:spcBef>
              <a:spcAft>
                <a:spcPts val="0"/>
              </a:spcAft>
              <a:buSzPts val="1500"/>
              <a:buChar char="▪"/>
            </a:pPr>
            <a:r>
              <a:rPr lang="en"/>
              <a:t>BEAT4 solves this by making partial reads much more bandwidth-efficient.</a:t>
            </a:r>
            <a:endParaRPr/>
          </a:p>
          <a:p>
            <a:pPr indent="0" lvl="0" marL="0" rtl="0" algn="l">
              <a:spcBef>
                <a:spcPts val="80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4"/>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solidFill>
                  <a:srgbClr val="FFFFFF"/>
                </a:solidFill>
              </a:rPr>
              <a:t>How Does BEAT4 Work?</a:t>
            </a:r>
            <a:endParaRPr/>
          </a:p>
        </p:txBody>
      </p:sp>
      <p:sp>
        <p:nvSpPr>
          <p:cNvPr id="391" name="Google Shape;391;p54"/>
          <p:cNvSpPr txBox="1"/>
          <p:nvPr>
            <p:ph idx="1" type="body"/>
          </p:nvPr>
        </p:nvSpPr>
        <p:spPr>
          <a:xfrm>
            <a:off x="861275" y="1081925"/>
            <a:ext cx="8175900" cy="3344700"/>
          </a:xfrm>
          <a:prstGeom prst="rect">
            <a:avLst/>
          </a:prstGeom>
        </p:spPr>
        <p:txBody>
          <a:bodyPr anchorCtr="0" anchor="t" bIns="34275" lIns="68575" spcFirstLastPara="1" rIns="68575" wrap="square" tIns="34275">
            <a:normAutofit lnSpcReduction="10000"/>
          </a:bodyPr>
          <a:lstStyle/>
          <a:p>
            <a:pPr indent="-311150" lvl="0" marL="457200" rtl="0" algn="l">
              <a:lnSpc>
                <a:spcPct val="115000"/>
              </a:lnSpc>
              <a:spcBef>
                <a:spcPts val="0"/>
              </a:spcBef>
              <a:spcAft>
                <a:spcPts val="0"/>
              </a:spcAft>
              <a:buClr>
                <a:srgbClr val="000000"/>
              </a:buClr>
              <a:buSzPts val="1300"/>
              <a:buAutoNum type="arabicPeriod"/>
            </a:pPr>
            <a:r>
              <a:rPr b="1" lang="en">
                <a:solidFill>
                  <a:srgbClr val="000000"/>
                </a:solidFill>
              </a:rPr>
              <a:t>Pyramid Codes:</a:t>
            </a:r>
            <a:br>
              <a:rPr b="1" lang="en">
                <a:solidFill>
                  <a:srgbClr val="000000"/>
                </a:solidFill>
              </a:rPr>
            </a:br>
            <a:r>
              <a:rPr lang="en">
                <a:solidFill>
                  <a:srgbClr val="000000"/>
                </a:solidFill>
              </a:rPr>
              <a:t>Like classic erasure coding, but arranged so fragments are grouped and each group gets its own local redundancy. This means small parts can be reconstructed using only group members, not the whole set.</a:t>
            </a:r>
            <a:endParaRPr>
              <a:solidFill>
                <a:srgbClr val="000000"/>
              </a:solidFill>
            </a:endParaRPr>
          </a:p>
          <a:p>
            <a:pPr indent="0" lvl="0" marL="457200" rtl="0" algn="l">
              <a:lnSpc>
                <a:spcPct val="100000"/>
              </a:lnSpc>
              <a:spcBef>
                <a:spcPts val="0"/>
              </a:spcBef>
              <a:spcAft>
                <a:spcPts val="0"/>
              </a:spcAft>
              <a:buNone/>
            </a:pPr>
            <a:r>
              <a:t/>
            </a:r>
            <a:endParaRPr>
              <a:solidFill>
                <a:srgbClr val="000000"/>
              </a:solidFill>
            </a:endParaRPr>
          </a:p>
          <a:p>
            <a:pPr indent="-311150" lvl="0" marL="457200" rtl="0" algn="l">
              <a:lnSpc>
                <a:spcPct val="115000"/>
              </a:lnSpc>
              <a:spcBef>
                <a:spcPts val="0"/>
              </a:spcBef>
              <a:spcAft>
                <a:spcPts val="0"/>
              </a:spcAft>
              <a:buClr>
                <a:srgbClr val="000000"/>
              </a:buClr>
              <a:buSzPts val="1300"/>
              <a:buAutoNum type="arabicPeriod"/>
            </a:pPr>
            <a:r>
              <a:rPr b="1" lang="en">
                <a:solidFill>
                  <a:srgbClr val="000000"/>
                </a:solidFill>
              </a:rPr>
              <a:t>Fingerprinted Cross-Checksums:</a:t>
            </a:r>
            <a:br>
              <a:rPr b="1" lang="en">
                <a:solidFill>
                  <a:srgbClr val="000000"/>
                </a:solidFill>
              </a:rPr>
            </a:br>
            <a:r>
              <a:rPr lang="en">
                <a:solidFill>
                  <a:srgbClr val="000000"/>
                </a:solidFill>
              </a:rPr>
              <a:t>Every fragment comes with cryptographic proofs ensuring the client knows its fragment is authentic and fits the original block, even if some servers are malicious.</a:t>
            </a:r>
            <a:endParaRPr>
              <a:solidFill>
                <a:srgbClr val="000000"/>
              </a:solidFill>
            </a:endParaRPr>
          </a:p>
          <a:p>
            <a:pPr indent="0" lvl="0" marL="457200" rtl="0" algn="l">
              <a:lnSpc>
                <a:spcPct val="100000"/>
              </a:lnSpc>
              <a:spcBef>
                <a:spcPts val="0"/>
              </a:spcBef>
              <a:spcAft>
                <a:spcPts val="0"/>
              </a:spcAft>
              <a:buNone/>
            </a:pPr>
            <a:r>
              <a:t/>
            </a:r>
            <a:endParaRPr>
              <a:solidFill>
                <a:srgbClr val="000000"/>
              </a:solidFill>
            </a:endParaRPr>
          </a:p>
          <a:p>
            <a:pPr indent="-311150" lvl="0" marL="457200" rtl="0" algn="l">
              <a:lnSpc>
                <a:spcPct val="115000"/>
              </a:lnSpc>
              <a:spcBef>
                <a:spcPts val="0"/>
              </a:spcBef>
              <a:spcAft>
                <a:spcPts val="0"/>
              </a:spcAft>
              <a:buClr>
                <a:srgbClr val="000000"/>
              </a:buClr>
              <a:buSzPts val="1300"/>
              <a:buAutoNum type="arabicPeriod"/>
            </a:pPr>
            <a:r>
              <a:rPr b="1" lang="en">
                <a:solidFill>
                  <a:srgbClr val="000000"/>
                </a:solidFill>
              </a:rPr>
              <a:t>AVID-FP-Pyramid Protocol:</a:t>
            </a:r>
            <a:br>
              <a:rPr b="1" lang="en">
                <a:solidFill>
                  <a:srgbClr val="000000"/>
                </a:solidFill>
              </a:rPr>
            </a:br>
            <a:r>
              <a:rPr lang="en">
                <a:solidFill>
                  <a:srgbClr val="000000"/>
                </a:solidFill>
              </a:rPr>
              <a:t>A process for distributing, validating, and retrieving fragments, specifically built to work with pyramid codes and reduce read bandwidth for partial access.</a:t>
            </a:r>
            <a:endParaRPr>
              <a:solidFill>
                <a:srgbClr val="000000"/>
              </a:solidFill>
            </a:endParaRPr>
          </a:p>
          <a:p>
            <a:pPr indent="0" lvl="0" marL="0" rtl="0" algn="l">
              <a:spcBef>
                <a:spcPts val="80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5"/>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sz="2000">
                <a:solidFill>
                  <a:srgbClr val="FFFFFF"/>
                </a:solidFill>
              </a:rPr>
              <a:t>Pyramid Codes - steps</a:t>
            </a:r>
            <a:endParaRPr sz="2000"/>
          </a:p>
        </p:txBody>
      </p:sp>
      <p:sp>
        <p:nvSpPr>
          <p:cNvPr id="397" name="Google Shape;397;p55"/>
          <p:cNvSpPr txBox="1"/>
          <p:nvPr>
            <p:ph idx="1" type="body"/>
          </p:nvPr>
        </p:nvSpPr>
        <p:spPr>
          <a:xfrm>
            <a:off x="1047172" y="1071611"/>
            <a:ext cx="7479300" cy="3344700"/>
          </a:xfrm>
          <a:prstGeom prst="rect">
            <a:avLst/>
          </a:prstGeom>
        </p:spPr>
        <p:txBody>
          <a:bodyPr anchorCtr="0" anchor="t" bIns="34275" lIns="68575" spcFirstLastPara="1" rIns="68575" wrap="square" tIns="34275">
            <a:normAutofit lnSpcReduction="10000"/>
          </a:bodyPr>
          <a:lstStyle/>
          <a:p>
            <a:pPr indent="0" lvl="0" marL="152400" rtl="0" algn="l">
              <a:spcBef>
                <a:spcPts val="800"/>
              </a:spcBef>
              <a:spcAft>
                <a:spcPts val="0"/>
              </a:spcAft>
              <a:buNone/>
            </a:pPr>
            <a:r>
              <a:rPr b="1" lang="en" sz="1400"/>
              <a:t>1. Start with an (n, m) systematic MDS code</a:t>
            </a:r>
            <a:endParaRPr b="1" sz="1400"/>
          </a:p>
          <a:p>
            <a:pPr indent="0" lvl="0" marL="609600" rtl="0" algn="l">
              <a:spcBef>
                <a:spcPts val="0"/>
              </a:spcBef>
              <a:spcAft>
                <a:spcPts val="0"/>
              </a:spcAft>
              <a:buNone/>
            </a:pPr>
            <a:r>
              <a:rPr lang="en" sz="1400"/>
              <a:t>m = 6 data fragments {</a:t>
            </a:r>
            <a:r>
              <a:rPr lang="en" sz="1400"/>
              <a:t>d1, d2, d3, d4, d5, d6}</a:t>
            </a:r>
            <a:endParaRPr sz="1400"/>
          </a:p>
          <a:p>
            <a:pPr indent="0" lvl="0" marL="609600" rtl="0" algn="l">
              <a:spcBef>
                <a:spcPts val="0"/>
              </a:spcBef>
              <a:spcAft>
                <a:spcPts val="0"/>
              </a:spcAft>
              <a:buNone/>
            </a:pPr>
            <a:r>
              <a:rPr lang="en" sz="1400"/>
              <a:t>n = 9 coded fragments {</a:t>
            </a:r>
            <a:r>
              <a:rPr lang="en" sz="1400"/>
              <a:t>d1, d2, d3, d4, d5, d6, d7, d8, d9}</a:t>
            </a:r>
            <a:endParaRPr sz="1400"/>
          </a:p>
          <a:p>
            <a:pPr indent="0" lvl="0" marL="609600" rtl="0" algn="l">
              <a:spcBef>
                <a:spcPts val="0"/>
              </a:spcBef>
              <a:spcAft>
                <a:spcPts val="0"/>
              </a:spcAft>
              <a:buNone/>
            </a:pPr>
            <a:r>
              <a:rPr lang="en" sz="1400"/>
              <a:t>So, there are </a:t>
            </a:r>
            <a:r>
              <a:rPr lang="en"/>
              <a:t>Δ</a:t>
            </a:r>
            <a:r>
              <a:rPr lang="en" sz="1400"/>
              <a:t> = n − m = 3 redundant fragments → d7, d8, d9</a:t>
            </a:r>
            <a:endParaRPr sz="1400"/>
          </a:p>
          <a:p>
            <a:pPr indent="0" lvl="0" marL="609600" rtl="0" algn="l">
              <a:spcBef>
                <a:spcPts val="0"/>
              </a:spcBef>
              <a:spcAft>
                <a:spcPts val="0"/>
              </a:spcAft>
              <a:buNone/>
            </a:pPr>
            <a:r>
              <a:rPr b="1" lang="en" sz="1400"/>
              <a:t>MDS property: </a:t>
            </a:r>
            <a:r>
              <a:rPr lang="en" sz="1400"/>
              <a:t>any 6 of these 9 fragments can recover the original data.</a:t>
            </a:r>
            <a:endParaRPr sz="1400"/>
          </a:p>
          <a:p>
            <a:pPr indent="0" lvl="0" marL="609600" rtl="0" algn="l">
              <a:spcBef>
                <a:spcPts val="0"/>
              </a:spcBef>
              <a:spcAft>
                <a:spcPts val="0"/>
              </a:spcAft>
              <a:buNone/>
            </a:pPr>
            <a:r>
              <a:t/>
            </a:r>
            <a:endParaRPr sz="1400"/>
          </a:p>
          <a:p>
            <a:pPr indent="0" lvl="0" marL="152400" rtl="0" algn="l">
              <a:spcBef>
                <a:spcPts val="800"/>
              </a:spcBef>
              <a:spcAft>
                <a:spcPts val="0"/>
              </a:spcAft>
              <a:buNone/>
            </a:pPr>
            <a:r>
              <a:rPr b="1" lang="en" sz="1400"/>
              <a:t>2. Divide the m data fragments into L groups</a:t>
            </a:r>
            <a:endParaRPr b="1" sz="1400"/>
          </a:p>
          <a:p>
            <a:pPr indent="0" lvl="0" marL="457200" rtl="0" algn="l">
              <a:spcBef>
                <a:spcPts val="0"/>
              </a:spcBef>
              <a:spcAft>
                <a:spcPts val="0"/>
              </a:spcAft>
              <a:buNone/>
            </a:pPr>
            <a:r>
              <a:rPr b="1" lang="en" sz="1400"/>
              <a:t>  </a:t>
            </a:r>
            <a:r>
              <a:rPr lang="en" sz="1400"/>
              <a:t>L = 2</a:t>
            </a:r>
            <a:endParaRPr sz="1400"/>
          </a:p>
          <a:p>
            <a:pPr indent="0" lvl="0" marL="457200" rtl="0" algn="l">
              <a:spcBef>
                <a:spcPts val="0"/>
              </a:spcBef>
              <a:spcAft>
                <a:spcPts val="0"/>
              </a:spcAft>
              <a:buNone/>
            </a:pPr>
            <a:r>
              <a:rPr lang="en" sz="1400"/>
              <a:t>  So each group has m/L = 3 data fragments:</a:t>
            </a:r>
            <a:endParaRPr sz="1400"/>
          </a:p>
          <a:p>
            <a:pPr indent="0" lvl="0" marL="457200" rtl="0" algn="l">
              <a:spcBef>
                <a:spcPts val="0"/>
              </a:spcBef>
              <a:spcAft>
                <a:spcPts val="0"/>
              </a:spcAft>
              <a:buNone/>
            </a:pPr>
            <a:r>
              <a:rPr lang="en" sz="1400"/>
              <a:t>  Group S₁ → d1, d2, d3</a:t>
            </a:r>
            <a:endParaRPr sz="1400"/>
          </a:p>
          <a:p>
            <a:pPr indent="0" lvl="0" marL="457200" rtl="0" algn="l">
              <a:spcBef>
                <a:spcPts val="0"/>
              </a:spcBef>
              <a:spcAft>
                <a:spcPts val="0"/>
              </a:spcAft>
              <a:buNone/>
            </a:pPr>
            <a:r>
              <a:rPr lang="en" sz="1400"/>
              <a:t>  Group S₂ → d4, d5, d6</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   </a:t>
            </a:r>
            <a:r>
              <a:rPr b="1" lang="en" sz="1400"/>
              <a:t>3. Keep some redundant fragments as GLOBAL</a:t>
            </a:r>
            <a:endParaRPr b="1" sz="1400"/>
          </a:p>
          <a:p>
            <a:pPr indent="0" lvl="0" marL="0" rtl="0" algn="l">
              <a:spcBef>
                <a:spcPts val="0"/>
              </a:spcBef>
              <a:spcAft>
                <a:spcPts val="0"/>
              </a:spcAft>
              <a:buNone/>
            </a:pPr>
            <a:r>
              <a:rPr lang="en" sz="1400"/>
              <a:t>  	Let’s take d8 and d9 as global redundant fragments.</a:t>
            </a:r>
            <a:endParaRPr sz="1400"/>
          </a:p>
          <a:p>
            <a:pPr indent="0" lvl="0" marL="0" rtl="0" algn="l">
              <a:spcBef>
                <a:spcPts val="800"/>
              </a:spcBef>
              <a:spcAft>
                <a:spcPts val="0"/>
              </a:spcAft>
              <a:buNone/>
            </a:pPr>
            <a:r>
              <a:t/>
            </a:r>
            <a:endParaRPr/>
          </a:p>
        </p:txBody>
      </p:sp>
      <p:sp>
        <p:nvSpPr>
          <p:cNvPr id="398" name="Google Shape;398;p55"/>
          <p:cNvSpPr txBox="1"/>
          <p:nvPr/>
        </p:nvSpPr>
        <p:spPr>
          <a:xfrm>
            <a:off x="1572000" y="472800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6"/>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sz="2000">
                <a:solidFill>
                  <a:srgbClr val="FFFFFF"/>
                </a:solidFill>
              </a:rPr>
              <a:t>Pyramid Codes - steps</a:t>
            </a:r>
            <a:endParaRPr/>
          </a:p>
        </p:txBody>
      </p:sp>
      <p:sp>
        <p:nvSpPr>
          <p:cNvPr id="404" name="Google Shape;404;p56"/>
          <p:cNvSpPr txBox="1"/>
          <p:nvPr>
            <p:ph idx="1" type="body"/>
          </p:nvPr>
        </p:nvSpPr>
        <p:spPr>
          <a:xfrm>
            <a:off x="1047172" y="958011"/>
            <a:ext cx="7479300" cy="3344700"/>
          </a:xfrm>
          <a:prstGeom prst="rect">
            <a:avLst/>
          </a:prstGeom>
        </p:spPr>
        <p:txBody>
          <a:bodyPr anchorCtr="0" anchor="t" bIns="34275" lIns="68575" spcFirstLastPara="1" rIns="68575" wrap="square" tIns="34275">
            <a:noAutofit/>
          </a:bodyPr>
          <a:lstStyle/>
          <a:p>
            <a:pPr indent="0" lvl="0" marL="152400" rtl="0" algn="l">
              <a:spcBef>
                <a:spcPts val="800"/>
              </a:spcBef>
              <a:spcAft>
                <a:spcPts val="0"/>
              </a:spcAft>
              <a:buNone/>
            </a:pPr>
            <a:r>
              <a:rPr b="1" lang="en"/>
              <a:t>4. Create LOCAL redundant fragments for each group</a:t>
            </a:r>
            <a:endParaRPr b="1"/>
          </a:p>
          <a:p>
            <a:pPr indent="0" lvl="0" marL="914400" rtl="0" algn="l">
              <a:spcBef>
                <a:spcPts val="800"/>
              </a:spcBef>
              <a:spcAft>
                <a:spcPts val="0"/>
              </a:spcAft>
              <a:buNone/>
            </a:pPr>
            <a:r>
              <a:rPr lang="en" sz="1300"/>
              <a:t>Remaining redundant budget:</a:t>
            </a:r>
            <a:br>
              <a:rPr lang="en" sz="1300"/>
            </a:br>
            <a:r>
              <a:rPr lang="en"/>
              <a:t>Δ</a:t>
            </a:r>
            <a:r>
              <a:rPr baseline="-25000" lang="en"/>
              <a:t>0</a:t>
            </a:r>
            <a:r>
              <a:rPr lang="en" sz="1300"/>
              <a:t> = </a:t>
            </a:r>
            <a:r>
              <a:rPr lang="en"/>
              <a:t>Δ</a:t>
            </a:r>
            <a:r>
              <a:rPr lang="en" sz="1300"/>
              <a:t> − </a:t>
            </a:r>
            <a:r>
              <a:rPr lang="en"/>
              <a:t>Δ</a:t>
            </a:r>
            <a:r>
              <a:rPr baseline="-25000" lang="en"/>
              <a:t>1 </a:t>
            </a:r>
            <a:endParaRPr sz="1300"/>
          </a:p>
          <a:p>
            <a:pPr indent="0" lvl="0" marL="914400" rtl="0" algn="l">
              <a:spcBef>
                <a:spcPts val="0"/>
              </a:spcBef>
              <a:spcAft>
                <a:spcPts val="0"/>
              </a:spcAft>
              <a:buNone/>
            </a:pPr>
            <a:r>
              <a:rPr lang="en"/>
              <a:t>Δ</a:t>
            </a:r>
            <a:r>
              <a:rPr lang="en" sz="1300">
                <a:solidFill>
                  <a:srgbClr val="150221"/>
                </a:solidFill>
              </a:rPr>
              <a:t> = 3, </a:t>
            </a:r>
            <a:r>
              <a:rPr lang="en"/>
              <a:t>Δ</a:t>
            </a:r>
            <a:r>
              <a:rPr baseline="-25000" lang="en"/>
              <a:t>1</a:t>
            </a:r>
            <a:r>
              <a:rPr lang="en" sz="1300">
                <a:solidFill>
                  <a:srgbClr val="150221"/>
                </a:solidFill>
              </a:rPr>
              <a:t> = 2 → </a:t>
            </a:r>
            <a:r>
              <a:rPr lang="en"/>
              <a:t>Δ</a:t>
            </a:r>
            <a:r>
              <a:rPr baseline="-25000" lang="en"/>
              <a:t>0</a:t>
            </a:r>
            <a:r>
              <a:rPr lang="en" sz="1300">
                <a:solidFill>
                  <a:srgbClr val="150221"/>
                </a:solidFill>
              </a:rPr>
              <a:t> = 1 local redundant fragment per group.</a:t>
            </a:r>
            <a:endParaRPr sz="1300">
              <a:solidFill>
                <a:srgbClr val="150221"/>
              </a:solidFill>
            </a:endParaRPr>
          </a:p>
          <a:p>
            <a:pPr indent="0" lvl="0" marL="914400" rtl="0" algn="l">
              <a:spcBef>
                <a:spcPts val="0"/>
              </a:spcBef>
              <a:spcAft>
                <a:spcPts val="0"/>
              </a:spcAft>
              <a:buNone/>
            </a:pPr>
            <a:r>
              <a:t/>
            </a:r>
            <a:endParaRPr sz="1300">
              <a:solidFill>
                <a:srgbClr val="150221"/>
              </a:solidFill>
            </a:endParaRPr>
          </a:p>
          <a:p>
            <a:pPr indent="0" lvl="0" marL="914400" rtl="0" algn="l">
              <a:spcBef>
                <a:spcPts val="0"/>
              </a:spcBef>
              <a:spcAft>
                <a:spcPts val="0"/>
              </a:spcAft>
              <a:buNone/>
            </a:pPr>
            <a:r>
              <a:rPr b="1" lang="en" sz="1300">
                <a:solidFill>
                  <a:srgbClr val="150221"/>
                </a:solidFill>
              </a:rPr>
              <a:t>Build a local redundant fragment:</a:t>
            </a:r>
            <a:endParaRPr b="1" sz="1300">
              <a:solidFill>
                <a:srgbClr val="150221"/>
              </a:solidFill>
            </a:endParaRPr>
          </a:p>
          <a:p>
            <a:pPr indent="0" lvl="0" marL="914400" rtl="0" algn="l">
              <a:spcBef>
                <a:spcPts val="0"/>
              </a:spcBef>
              <a:spcAft>
                <a:spcPts val="0"/>
              </a:spcAft>
              <a:buNone/>
            </a:pPr>
            <a:r>
              <a:rPr lang="en" sz="1300">
                <a:solidFill>
                  <a:srgbClr val="150221"/>
                </a:solidFill>
              </a:rPr>
              <a:t>Take the original MDS redundant fragment (say d7) and zero out coding coefficients not in the group.</a:t>
            </a:r>
            <a:endParaRPr sz="1300">
              <a:solidFill>
                <a:srgbClr val="150221"/>
              </a:solidFill>
            </a:endParaRPr>
          </a:p>
          <a:p>
            <a:pPr indent="0" lvl="0" marL="914400" rtl="0" algn="l">
              <a:spcBef>
                <a:spcPts val="0"/>
              </a:spcBef>
              <a:spcAft>
                <a:spcPts val="0"/>
              </a:spcAft>
              <a:buNone/>
            </a:pPr>
            <a:r>
              <a:t/>
            </a:r>
            <a:endParaRPr sz="1300">
              <a:solidFill>
                <a:srgbClr val="150221"/>
              </a:solidFill>
            </a:endParaRPr>
          </a:p>
          <a:p>
            <a:pPr indent="0" lvl="0" marL="914400" rtl="0" algn="l">
              <a:spcBef>
                <a:spcPts val="0"/>
              </a:spcBef>
              <a:spcAft>
                <a:spcPts val="0"/>
              </a:spcAft>
              <a:buNone/>
            </a:pPr>
            <a:r>
              <a:rPr lang="en" sz="1300">
                <a:solidFill>
                  <a:srgbClr val="150221"/>
                </a:solidFill>
              </a:rPr>
              <a:t>For group S₁ (d1, d2, d3):</a:t>
            </a:r>
            <a:endParaRPr sz="1300">
              <a:solidFill>
                <a:srgbClr val="150221"/>
              </a:solidFill>
            </a:endParaRPr>
          </a:p>
          <a:p>
            <a:pPr indent="0" lvl="0" marL="914400" rtl="0" algn="l">
              <a:spcBef>
                <a:spcPts val="0"/>
              </a:spcBef>
              <a:spcAft>
                <a:spcPts val="0"/>
              </a:spcAft>
              <a:buNone/>
            </a:pPr>
            <a:r>
              <a:rPr lang="en" sz="1300">
                <a:solidFill>
                  <a:srgbClr val="150221"/>
                </a:solidFill>
              </a:rPr>
              <a:t>d7–1 = b71·d1 + b72·d2 + b73·d3</a:t>
            </a:r>
            <a:endParaRPr sz="1300">
              <a:solidFill>
                <a:srgbClr val="150221"/>
              </a:solidFill>
            </a:endParaRPr>
          </a:p>
          <a:p>
            <a:pPr indent="0" lvl="0" marL="914400" rtl="0" algn="l">
              <a:spcBef>
                <a:spcPts val="400"/>
              </a:spcBef>
              <a:spcAft>
                <a:spcPts val="0"/>
              </a:spcAft>
              <a:buNone/>
            </a:pPr>
            <a:r>
              <a:t/>
            </a:r>
            <a:endParaRPr sz="1300">
              <a:solidFill>
                <a:srgbClr val="150221"/>
              </a:solidFill>
            </a:endParaRPr>
          </a:p>
          <a:p>
            <a:pPr indent="0" lvl="0" marL="914400" rtl="0" algn="l">
              <a:spcBef>
                <a:spcPts val="400"/>
              </a:spcBef>
              <a:spcAft>
                <a:spcPts val="0"/>
              </a:spcAft>
              <a:buNone/>
            </a:pPr>
            <a:r>
              <a:rPr lang="en" sz="1300">
                <a:solidFill>
                  <a:srgbClr val="150221"/>
                </a:solidFill>
              </a:rPr>
              <a:t>For group S₂ (d4, d5, d6):</a:t>
            </a:r>
            <a:endParaRPr sz="1300">
              <a:solidFill>
                <a:srgbClr val="150221"/>
              </a:solidFill>
            </a:endParaRPr>
          </a:p>
          <a:p>
            <a:pPr indent="0" lvl="0" marL="914400" rtl="0" algn="l">
              <a:spcBef>
                <a:spcPts val="400"/>
              </a:spcBef>
              <a:spcAft>
                <a:spcPts val="0"/>
              </a:spcAft>
              <a:buNone/>
            </a:pPr>
            <a:r>
              <a:rPr lang="en" sz="1300">
                <a:solidFill>
                  <a:srgbClr val="150221"/>
                </a:solidFill>
              </a:rPr>
              <a:t>d7–2 = b74·d4 + b75·d5 + b76·d6</a:t>
            </a:r>
            <a:endParaRPr sz="1300">
              <a:solidFill>
                <a:srgbClr val="150221"/>
              </a:solidFill>
            </a:endParaRPr>
          </a:p>
          <a:p>
            <a:pPr indent="0" lvl="0" marL="0" rtl="0" algn="l">
              <a:spcBef>
                <a:spcPts val="400"/>
              </a:spcBef>
              <a:spcAft>
                <a:spcPts val="0"/>
              </a:spcAft>
              <a:buNone/>
            </a:pPr>
            <a:r>
              <a:t/>
            </a:r>
            <a:endParaRPr sz="1300">
              <a:solidFill>
                <a:srgbClr val="150221"/>
              </a:solidFill>
            </a:endParaRPr>
          </a:p>
          <a:p>
            <a:pPr indent="0" lvl="0" marL="914400" rtl="0" algn="l">
              <a:spcBef>
                <a:spcPts val="400"/>
              </a:spcBef>
              <a:spcAft>
                <a:spcPts val="0"/>
              </a:spcAft>
              <a:buNone/>
            </a:pPr>
            <a:r>
              <a:rPr lang="en" sz="1300">
                <a:solidFill>
                  <a:srgbClr val="150221"/>
                </a:solidFill>
              </a:rPr>
              <a:t>d7–1 + d7–2 = original fragment d7</a:t>
            </a:r>
            <a:endParaRPr sz="1300">
              <a:solidFill>
                <a:srgbClr val="150221"/>
              </a:solidFill>
            </a:endParaRPr>
          </a:p>
          <a:p>
            <a:pPr indent="0" lvl="0" marL="0" rtl="0" algn="l">
              <a:spcBef>
                <a:spcPts val="800"/>
              </a:spcBef>
              <a:spcAft>
                <a:spcPts val="0"/>
              </a:spcAft>
              <a:buNone/>
            </a:pPr>
            <a:r>
              <a:t/>
            </a:r>
            <a:endParaRPr sz="17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7"/>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sz="2000">
                <a:solidFill>
                  <a:srgbClr val="FFFFFF"/>
                </a:solidFill>
              </a:rPr>
              <a:t>Pyramid Codes - steps</a:t>
            </a:r>
            <a:endParaRPr/>
          </a:p>
        </p:txBody>
      </p:sp>
      <p:sp>
        <p:nvSpPr>
          <p:cNvPr id="410" name="Google Shape;410;p57"/>
          <p:cNvSpPr txBox="1"/>
          <p:nvPr>
            <p:ph idx="1" type="body"/>
          </p:nvPr>
        </p:nvSpPr>
        <p:spPr>
          <a:xfrm>
            <a:off x="819950" y="895999"/>
            <a:ext cx="7649400" cy="3545100"/>
          </a:xfrm>
          <a:prstGeom prst="rect">
            <a:avLst/>
          </a:prstGeom>
        </p:spPr>
        <p:txBody>
          <a:bodyPr anchorCtr="0" anchor="t" bIns="34275" lIns="68575" spcFirstLastPara="1" rIns="68575" wrap="square" tIns="34275">
            <a:noAutofit/>
          </a:bodyPr>
          <a:lstStyle/>
          <a:p>
            <a:pPr indent="0" lvl="0" marL="152400" rtl="0" algn="l">
              <a:lnSpc>
                <a:spcPct val="70000"/>
              </a:lnSpc>
              <a:spcBef>
                <a:spcPts val="800"/>
              </a:spcBef>
              <a:spcAft>
                <a:spcPts val="0"/>
              </a:spcAft>
              <a:buSzPts val="523"/>
              <a:buNone/>
            </a:pPr>
            <a:r>
              <a:rPr b="1" lang="en" sz="1546"/>
              <a:t>5. Now your pyramid code looks like this</a:t>
            </a:r>
            <a:endParaRPr b="1" sz="1546"/>
          </a:p>
          <a:p>
            <a:pPr indent="0" lvl="0" marL="457200" rtl="0" algn="l">
              <a:lnSpc>
                <a:spcPct val="70000"/>
              </a:lnSpc>
              <a:spcBef>
                <a:spcPts val="0"/>
              </a:spcBef>
              <a:spcAft>
                <a:spcPts val="0"/>
              </a:spcAft>
              <a:buSzPts val="523"/>
              <a:buNone/>
            </a:pPr>
            <a:r>
              <a:rPr b="1" lang="en" sz="1546"/>
              <a:t>Data fragments (m):</a:t>
            </a:r>
            <a:endParaRPr b="1" sz="1546"/>
          </a:p>
          <a:p>
            <a:pPr indent="0" lvl="0" marL="457200" rtl="0" algn="l">
              <a:lnSpc>
                <a:spcPct val="70000"/>
              </a:lnSpc>
              <a:spcBef>
                <a:spcPts val="0"/>
              </a:spcBef>
              <a:spcAft>
                <a:spcPts val="0"/>
              </a:spcAft>
              <a:buSzPts val="523"/>
              <a:buNone/>
            </a:pPr>
            <a:r>
              <a:rPr lang="en" sz="1546"/>
              <a:t>d1, d2, d3, d4, d5, d6</a:t>
            </a:r>
            <a:endParaRPr sz="1546"/>
          </a:p>
          <a:p>
            <a:pPr indent="0" lvl="0" marL="457200" rtl="0" algn="l">
              <a:lnSpc>
                <a:spcPct val="70000"/>
              </a:lnSpc>
              <a:spcBef>
                <a:spcPts val="0"/>
              </a:spcBef>
              <a:spcAft>
                <a:spcPts val="0"/>
              </a:spcAft>
              <a:buSzPts val="523"/>
              <a:buNone/>
            </a:pPr>
            <a:r>
              <a:t/>
            </a:r>
            <a:endParaRPr sz="1546"/>
          </a:p>
          <a:p>
            <a:pPr indent="0" lvl="0" marL="457200" rtl="0" algn="l">
              <a:lnSpc>
                <a:spcPct val="70000"/>
              </a:lnSpc>
              <a:spcBef>
                <a:spcPts val="0"/>
              </a:spcBef>
              <a:spcAft>
                <a:spcPts val="0"/>
              </a:spcAft>
              <a:buSzPts val="523"/>
              <a:buNone/>
            </a:pPr>
            <a:r>
              <a:rPr b="1" lang="en" sz="1546"/>
              <a:t>Local redundant fragments (</a:t>
            </a:r>
            <a:r>
              <a:rPr lang="en"/>
              <a:t>Δ</a:t>
            </a:r>
            <a:r>
              <a:rPr baseline="-25000" lang="en"/>
              <a:t>0</a:t>
            </a:r>
            <a:r>
              <a:rPr b="1" lang="en" sz="1546"/>
              <a:t> per group):</a:t>
            </a:r>
            <a:endParaRPr b="1" sz="1546"/>
          </a:p>
          <a:p>
            <a:pPr indent="-326785" lvl="0" marL="914400" rtl="0" algn="l">
              <a:lnSpc>
                <a:spcPct val="70000"/>
              </a:lnSpc>
              <a:spcBef>
                <a:spcPts val="0"/>
              </a:spcBef>
              <a:spcAft>
                <a:spcPts val="0"/>
              </a:spcAft>
              <a:buSzPts val="1546"/>
              <a:buChar char="▪"/>
            </a:pPr>
            <a:r>
              <a:rPr lang="en" sz="1546"/>
              <a:t>Group 1: d7–1</a:t>
            </a:r>
            <a:endParaRPr sz="1546"/>
          </a:p>
          <a:p>
            <a:pPr indent="-326785" lvl="0" marL="914400" rtl="0" algn="l">
              <a:lnSpc>
                <a:spcPct val="70000"/>
              </a:lnSpc>
              <a:spcBef>
                <a:spcPts val="0"/>
              </a:spcBef>
              <a:spcAft>
                <a:spcPts val="0"/>
              </a:spcAft>
              <a:buSzPts val="1546"/>
              <a:buChar char="▪"/>
            </a:pPr>
            <a:r>
              <a:rPr lang="en" sz="1546"/>
              <a:t>Group 2: d7–2</a:t>
            </a:r>
            <a:endParaRPr sz="1546"/>
          </a:p>
          <a:p>
            <a:pPr indent="0" lvl="0" marL="927100" rtl="0" algn="l">
              <a:lnSpc>
                <a:spcPct val="70000"/>
              </a:lnSpc>
              <a:spcBef>
                <a:spcPts val="0"/>
              </a:spcBef>
              <a:spcAft>
                <a:spcPts val="0"/>
              </a:spcAft>
              <a:buSzPts val="523"/>
              <a:buNone/>
            </a:pPr>
            <a:r>
              <a:t/>
            </a:r>
            <a:endParaRPr sz="1546"/>
          </a:p>
          <a:p>
            <a:pPr indent="0" lvl="0" marL="457200" rtl="0" algn="l">
              <a:lnSpc>
                <a:spcPct val="70000"/>
              </a:lnSpc>
              <a:spcBef>
                <a:spcPts val="0"/>
              </a:spcBef>
              <a:spcAft>
                <a:spcPts val="0"/>
              </a:spcAft>
              <a:buSzPts val="523"/>
              <a:buNone/>
            </a:pPr>
            <a:r>
              <a:rPr b="1" lang="en" sz="1546"/>
              <a:t>Global redundant fragments (</a:t>
            </a:r>
            <a:r>
              <a:rPr lang="en"/>
              <a:t>Δ</a:t>
            </a:r>
            <a:r>
              <a:rPr baseline="-25000" lang="en"/>
              <a:t>1</a:t>
            </a:r>
            <a:r>
              <a:rPr b="1" lang="en" sz="1546"/>
              <a:t>):</a:t>
            </a:r>
            <a:endParaRPr b="1" sz="1546"/>
          </a:p>
          <a:p>
            <a:pPr indent="-326785" lvl="0" marL="914400" rtl="0" algn="l">
              <a:lnSpc>
                <a:spcPct val="70000"/>
              </a:lnSpc>
              <a:spcBef>
                <a:spcPts val="0"/>
              </a:spcBef>
              <a:spcAft>
                <a:spcPts val="0"/>
              </a:spcAft>
              <a:buSzPts val="1546"/>
              <a:buChar char="▪"/>
            </a:pPr>
            <a:r>
              <a:rPr lang="en" sz="1546"/>
              <a:t>d8</a:t>
            </a:r>
            <a:endParaRPr sz="1546"/>
          </a:p>
          <a:p>
            <a:pPr indent="-326785" lvl="0" marL="914400" rtl="0" algn="l">
              <a:lnSpc>
                <a:spcPct val="70000"/>
              </a:lnSpc>
              <a:spcBef>
                <a:spcPts val="0"/>
              </a:spcBef>
              <a:spcAft>
                <a:spcPts val="0"/>
              </a:spcAft>
              <a:buSzPts val="1546"/>
              <a:buChar char="▪"/>
            </a:pPr>
            <a:r>
              <a:rPr lang="en" sz="1546"/>
              <a:t>d9</a:t>
            </a:r>
            <a:endParaRPr sz="1546"/>
          </a:p>
          <a:p>
            <a:pPr indent="0" lvl="0" marL="1371600" rtl="0" algn="l">
              <a:lnSpc>
                <a:spcPct val="70000"/>
              </a:lnSpc>
              <a:spcBef>
                <a:spcPts val="0"/>
              </a:spcBef>
              <a:spcAft>
                <a:spcPts val="0"/>
              </a:spcAft>
              <a:buNone/>
            </a:pPr>
            <a:r>
              <a:t/>
            </a:r>
            <a:endParaRPr sz="1546"/>
          </a:p>
          <a:p>
            <a:pPr indent="0" lvl="0" marL="457200" rtl="0" algn="l">
              <a:lnSpc>
                <a:spcPct val="70000"/>
              </a:lnSpc>
              <a:spcBef>
                <a:spcPts val="0"/>
              </a:spcBef>
              <a:spcAft>
                <a:spcPts val="0"/>
              </a:spcAft>
              <a:buSzPts val="523"/>
              <a:buNone/>
            </a:pPr>
            <a:r>
              <a:rPr lang="en" sz="1546"/>
              <a:t>Total fragments:</a:t>
            </a:r>
            <a:endParaRPr sz="1546"/>
          </a:p>
          <a:p>
            <a:pPr indent="0" lvl="0" marL="914400" rtl="0" algn="l">
              <a:lnSpc>
                <a:spcPct val="70000"/>
              </a:lnSpc>
              <a:spcBef>
                <a:spcPts val="0"/>
              </a:spcBef>
              <a:spcAft>
                <a:spcPts val="0"/>
              </a:spcAft>
              <a:buSzPts val="523"/>
              <a:buNone/>
            </a:pPr>
            <a:r>
              <a:rPr lang="en" sz="1546"/>
              <a:t>n' = m + </a:t>
            </a:r>
            <a:r>
              <a:rPr lang="en"/>
              <a:t>Δ</a:t>
            </a:r>
            <a:r>
              <a:rPr baseline="-25000" lang="en"/>
              <a:t>0 </a:t>
            </a:r>
            <a:r>
              <a:rPr lang="en" sz="1546"/>
              <a:t>L + </a:t>
            </a:r>
            <a:r>
              <a:rPr lang="en"/>
              <a:t>Δ</a:t>
            </a:r>
            <a:r>
              <a:rPr baseline="-25000" lang="en"/>
              <a:t>1 </a:t>
            </a:r>
            <a:endParaRPr sz="1546"/>
          </a:p>
          <a:p>
            <a:pPr indent="0" lvl="0" marL="914400" rtl="0" algn="l">
              <a:lnSpc>
                <a:spcPct val="70000"/>
              </a:lnSpc>
              <a:spcBef>
                <a:spcPts val="0"/>
              </a:spcBef>
              <a:spcAft>
                <a:spcPts val="0"/>
              </a:spcAft>
              <a:buSzPts val="523"/>
              <a:buNone/>
            </a:pPr>
            <a:r>
              <a:rPr lang="en" sz="1546"/>
              <a:t>n' = 6 + (1×2) + 2 = 10</a:t>
            </a:r>
            <a:endParaRPr sz="1546"/>
          </a:p>
          <a:p>
            <a:pPr indent="0" lvl="0" marL="0" rtl="0" algn="l">
              <a:lnSpc>
                <a:spcPct val="70000"/>
              </a:lnSpc>
              <a:spcBef>
                <a:spcPts val="800"/>
              </a:spcBef>
              <a:spcAft>
                <a:spcPts val="0"/>
              </a:spcAft>
              <a:buSzPts val="523"/>
              <a:buNone/>
            </a:pPr>
            <a:r>
              <a:t/>
            </a:r>
            <a:endParaRPr sz="912"/>
          </a:p>
        </p:txBody>
      </p:sp>
      <p:sp>
        <p:nvSpPr>
          <p:cNvPr id="411" name="Google Shape;411;p57"/>
          <p:cNvSpPr txBox="1"/>
          <p:nvPr/>
        </p:nvSpPr>
        <p:spPr>
          <a:xfrm>
            <a:off x="5550000" y="896000"/>
            <a:ext cx="3198000" cy="213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latin typeface="Proxima Nova"/>
                <a:ea typeface="Proxima Nova"/>
                <a:cs typeface="Proxima Nova"/>
                <a:sym typeface="Proxima Nova"/>
              </a:rPr>
              <a:t>Recovery:</a:t>
            </a:r>
            <a:endParaRPr b="1">
              <a:latin typeface="Proxima Nova"/>
              <a:ea typeface="Proxima Nova"/>
              <a:cs typeface="Proxima Nova"/>
              <a:sym typeface="Proxima Nova"/>
            </a:endParaRPr>
          </a:p>
          <a:p>
            <a:pPr indent="0" lvl="0" marL="0" rtl="0" algn="l">
              <a:lnSpc>
                <a:spcPct val="115000"/>
              </a:lnSpc>
              <a:spcBef>
                <a:spcPts val="0"/>
              </a:spcBef>
              <a:spcAft>
                <a:spcPts val="0"/>
              </a:spcAft>
              <a:buNone/>
            </a:pPr>
            <a:r>
              <a:rPr lang="en">
                <a:latin typeface="Proxima Nova"/>
                <a:ea typeface="Proxima Nova"/>
                <a:cs typeface="Proxima Nova"/>
                <a:sym typeface="Proxima Nova"/>
              </a:rPr>
              <a:t>To recover </a:t>
            </a:r>
            <a:r>
              <a:rPr b="1" lang="en">
                <a:latin typeface="Proxima Nova"/>
                <a:ea typeface="Proxima Nova"/>
                <a:cs typeface="Proxima Nova"/>
                <a:sym typeface="Proxima Nova"/>
              </a:rPr>
              <a:t>d1</a:t>
            </a:r>
            <a:r>
              <a:rPr lang="en">
                <a:latin typeface="Proxima Nova"/>
                <a:ea typeface="Proxima Nova"/>
                <a:cs typeface="Proxima Nova"/>
                <a:sym typeface="Proxima Nova"/>
              </a:rPr>
              <a:t> (lost):</a:t>
            </a:r>
            <a:endParaRPr>
              <a:latin typeface="Proxima Nova"/>
              <a:ea typeface="Proxima Nova"/>
              <a:cs typeface="Proxima Nova"/>
              <a:sym typeface="Proxima Nova"/>
            </a:endParaRPr>
          </a:p>
          <a:p>
            <a:pPr indent="-317500" lvl="0" marL="457200" rtl="0" algn="l">
              <a:lnSpc>
                <a:spcPct val="115000"/>
              </a:lnSpc>
              <a:spcBef>
                <a:spcPts val="0"/>
              </a:spcBef>
              <a:spcAft>
                <a:spcPts val="0"/>
              </a:spcAft>
              <a:buSzPts val="1400"/>
              <a:buFont typeface="Proxima Nova"/>
              <a:buChar char="➢"/>
            </a:pPr>
            <a:r>
              <a:rPr lang="en">
                <a:latin typeface="Proxima Nova"/>
                <a:ea typeface="Proxima Nova"/>
                <a:cs typeface="Proxima Nova"/>
                <a:sym typeface="Proxima Nova"/>
              </a:rPr>
              <a:t>Check group S₁</a:t>
            </a:r>
            <a:endParaRPr>
              <a:latin typeface="Proxima Nova"/>
              <a:ea typeface="Proxima Nova"/>
              <a:cs typeface="Proxima Nova"/>
              <a:sym typeface="Proxima Nova"/>
            </a:endParaRPr>
          </a:p>
          <a:p>
            <a:pPr indent="-317500" lvl="0" marL="457200" rtl="0" algn="l">
              <a:lnSpc>
                <a:spcPct val="115000"/>
              </a:lnSpc>
              <a:spcBef>
                <a:spcPts val="0"/>
              </a:spcBef>
              <a:spcAft>
                <a:spcPts val="0"/>
              </a:spcAft>
              <a:buSzPts val="1400"/>
              <a:buFont typeface="Proxima Nova"/>
              <a:buChar char="➢"/>
            </a:pPr>
            <a:r>
              <a:rPr lang="en">
                <a:latin typeface="Proxima Nova"/>
                <a:ea typeface="Proxima Nova"/>
                <a:cs typeface="Proxima Nova"/>
                <a:sym typeface="Proxima Nova"/>
              </a:rPr>
              <a:t>Need only: d2 + d3 + d7–1</a:t>
            </a:r>
            <a:endParaRPr>
              <a:latin typeface="Proxima Nova"/>
              <a:ea typeface="Proxima Nova"/>
              <a:cs typeface="Proxima Nova"/>
              <a:sym typeface="Proxima Nova"/>
            </a:endParaRPr>
          </a:p>
          <a:p>
            <a:pPr indent="0" lvl="0" marL="0" rtl="0" algn="l">
              <a:lnSpc>
                <a:spcPct val="115000"/>
              </a:lnSpc>
              <a:spcBef>
                <a:spcPts val="0"/>
              </a:spcBef>
              <a:spcAft>
                <a:spcPts val="0"/>
              </a:spcAft>
              <a:buNone/>
            </a:pPr>
            <a:br>
              <a:rPr lang="en">
                <a:latin typeface="Proxima Nova"/>
                <a:ea typeface="Proxima Nova"/>
                <a:cs typeface="Proxima Nova"/>
                <a:sym typeface="Proxima Nova"/>
              </a:rPr>
            </a:br>
            <a:r>
              <a:rPr lang="en">
                <a:latin typeface="Proxima Nova"/>
                <a:ea typeface="Proxima Nova"/>
                <a:cs typeface="Proxima Nova"/>
                <a:sym typeface="Proxima Nova"/>
              </a:rPr>
              <a:t> If multiple fragments in S₁ are lost:</a:t>
            </a:r>
            <a:endParaRPr>
              <a:latin typeface="Proxima Nova"/>
              <a:ea typeface="Proxima Nova"/>
              <a:cs typeface="Proxima Nova"/>
              <a:sym typeface="Proxima Nova"/>
            </a:endParaRPr>
          </a:p>
          <a:p>
            <a:pPr indent="-317500" lvl="0" marL="457200" rtl="0" algn="l">
              <a:lnSpc>
                <a:spcPct val="115000"/>
              </a:lnSpc>
              <a:spcBef>
                <a:spcPts val="0"/>
              </a:spcBef>
              <a:spcAft>
                <a:spcPts val="0"/>
              </a:spcAft>
              <a:buSzPts val="1400"/>
              <a:buFont typeface="Proxima Nova"/>
              <a:buChar char="➢"/>
            </a:pPr>
            <a:r>
              <a:rPr lang="en">
                <a:latin typeface="Proxima Nova"/>
                <a:ea typeface="Proxima Nova"/>
                <a:cs typeface="Proxima Nova"/>
                <a:sym typeface="Proxima Nova"/>
              </a:rPr>
              <a:t>Compute d7 using d7–1 + d7–2</a:t>
            </a:r>
            <a:endParaRPr>
              <a:latin typeface="Proxima Nova"/>
              <a:ea typeface="Proxima Nova"/>
              <a:cs typeface="Proxima Nova"/>
              <a:sym typeface="Proxima Nova"/>
            </a:endParaRPr>
          </a:p>
          <a:p>
            <a:pPr indent="-317500" lvl="0" marL="457200" rtl="0" algn="l">
              <a:lnSpc>
                <a:spcPct val="115000"/>
              </a:lnSpc>
              <a:spcBef>
                <a:spcPts val="0"/>
              </a:spcBef>
              <a:spcAft>
                <a:spcPts val="0"/>
              </a:spcAft>
              <a:buSzPts val="1400"/>
              <a:buFont typeface="Proxima Nova"/>
              <a:buChar char="➢"/>
            </a:pPr>
            <a:r>
              <a:rPr lang="en">
                <a:latin typeface="Proxima Nova"/>
                <a:ea typeface="Proxima Nova"/>
                <a:cs typeface="Proxima Nova"/>
                <a:sym typeface="Proxima Nova"/>
              </a:rPr>
              <a:t>Use global MDS decoding</a:t>
            </a:r>
            <a:endParaRPr>
              <a:latin typeface="Proxima Nova"/>
              <a:ea typeface="Proxima Nova"/>
              <a:cs typeface="Proxima Nova"/>
              <a:sym typeface="Proxima Nova"/>
            </a:endParaRPr>
          </a:p>
        </p:txBody>
      </p:sp>
      <p:pic>
        <p:nvPicPr>
          <p:cNvPr id="412" name="Google Shape;412;p57" title="Screenshot 2025-11-24 at 12.32.59 AM.png"/>
          <p:cNvPicPr preferRelativeResize="0"/>
          <p:nvPr/>
        </p:nvPicPr>
        <p:blipFill>
          <a:blip r:embed="rId3">
            <a:alphaModFix/>
          </a:blip>
          <a:stretch>
            <a:fillRect/>
          </a:stretch>
        </p:blipFill>
        <p:spPr>
          <a:xfrm>
            <a:off x="4998550" y="2948174"/>
            <a:ext cx="4069649" cy="1691601"/>
          </a:xfrm>
          <a:prstGeom prst="rect">
            <a:avLst/>
          </a:prstGeom>
          <a:noFill/>
          <a:ln>
            <a:noFill/>
          </a:ln>
        </p:spPr>
      </p:pic>
      <p:sp>
        <p:nvSpPr>
          <p:cNvPr id="413" name="Google Shape;413;p57"/>
          <p:cNvSpPr txBox="1"/>
          <p:nvPr/>
        </p:nvSpPr>
        <p:spPr>
          <a:xfrm>
            <a:off x="5469350" y="444110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Fig: </a:t>
            </a:r>
            <a:r>
              <a:rPr lang="en" sz="800"/>
              <a:t> A basic (10,6) pyramid code from a (9,6) MDS code</a:t>
            </a:r>
            <a:endParaRPr sz="800"/>
          </a:p>
        </p:txBody>
      </p:sp>
      <p:sp>
        <p:nvSpPr>
          <p:cNvPr id="414" name="Google Shape;414;p57"/>
          <p:cNvSpPr txBox="1"/>
          <p:nvPr/>
        </p:nvSpPr>
        <p:spPr>
          <a:xfrm>
            <a:off x="1572000" y="474890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8"/>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t/>
            </a:r>
            <a:endParaRPr/>
          </a:p>
        </p:txBody>
      </p:sp>
      <p:sp>
        <p:nvSpPr>
          <p:cNvPr id="420" name="Google Shape;420;p58"/>
          <p:cNvSpPr txBox="1"/>
          <p:nvPr>
            <p:ph idx="1" type="body"/>
          </p:nvPr>
        </p:nvSpPr>
        <p:spPr>
          <a:xfrm>
            <a:off x="1047172" y="1071611"/>
            <a:ext cx="7479300" cy="3344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421" name="Google Shape;421;p5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9"/>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solidFill>
                  <a:srgbClr val="FFFFFF"/>
                </a:solidFill>
              </a:rPr>
              <a:t>AVID-FP-Pyramid Complete Workflow</a:t>
            </a:r>
            <a:endParaRPr/>
          </a:p>
        </p:txBody>
      </p:sp>
      <p:sp>
        <p:nvSpPr>
          <p:cNvPr id="427" name="Google Shape;427;p59"/>
          <p:cNvSpPr txBox="1"/>
          <p:nvPr>
            <p:ph idx="1" type="body"/>
          </p:nvPr>
        </p:nvSpPr>
        <p:spPr>
          <a:xfrm>
            <a:off x="1047172" y="1071611"/>
            <a:ext cx="7479300" cy="3344700"/>
          </a:xfrm>
          <a:prstGeom prst="rect">
            <a:avLst/>
          </a:prstGeom>
        </p:spPr>
        <p:txBody>
          <a:bodyPr anchorCtr="0" anchor="t" bIns="34275" lIns="68575" spcFirstLastPara="1" rIns="68575" wrap="square" tIns="34275">
            <a:normAutofit lnSpcReduction="10000"/>
          </a:bodyPr>
          <a:lstStyle/>
          <a:p>
            <a:pPr indent="0" lvl="0" marL="0" rtl="0" algn="l">
              <a:lnSpc>
                <a:spcPct val="115000"/>
              </a:lnSpc>
              <a:spcBef>
                <a:spcPts val="0"/>
              </a:spcBef>
              <a:spcAft>
                <a:spcPts val="0"/>
              </a:spcAft>
              <a:buNone/>
            </a:pPr>
            <a:r>
              <a:rPr b="1" lang="en">
                <a:solidFill>
                  <a:srgbClr val="000000"/>
                </a:solidFill>
              </a:rPr>
              <a:t>Phase 1: Disperse (Encode &amp; Build)</a:t>
            </a:r>
            <a:endParaRPr b="1">
              <a:solidFill>
                <a:srgbClr val="000000"/>
              </a:solidFill>
            </a:endParaRPr>
          </a:p>
          <a:p>
            <a:pPr indent="0" lvl="0" marL="0" rtl="0" algn="l">
              <a:lnSpc>
                <a:spcPct val="115000"/>
              </a:lnSpc>
              <a:spcBef>
                <a:spcPts val="0"/>
              </a:spcBef>
              <a:spcAft>
                <a:spcPts val="0"/>
              </a:spcAft>
              <a:buNone/>
            </a:pPr>
            <a:r>
              <a:rPr b="1" lang="en">
                <a:solidFill>
                  <a:srgbClr val="000000"/>
                </a:solidFill>
              </a:rPr>
              <a:t>Step 1- Encode</a:t>
            </a:r>
            <a:endParaRPr b="1">
              <a:solidFill>
                <a:srgbClr val="000000"/>
              </a:solidFill>
            </a:endParaRPr>
          </a:p>
          <a:p>
            <a:pPr indent="0" lvl="0" marL="0" rtl="0" algn="l">
              <a:lnSpc>
                <a:spcPct val="115000"/>
              </a:lnSpc>
              <a:spcBef>
                <a:spcPts val="0"/>
              </a:spcBef>
              <a:spcAft>
                <a:spcPts val="0"/>
              </a:spcAft>
              <a:buNone/>
            </a:pPr>
            <a:r>
              <a:rPr lang="en">
                <a:solidFill>
                  <a:srgbClr val="000000"/>
                </a:solidFill>
              </a:rPr>
              <a:t>The client applies an (n, m) pyramid erasure code to the block.</a:t>
            </a:r>
            <a:endParaRPr>
              <a:solidFill>
                <a:srgbClr val="000000"/>
              </a:solidFill>
            </a:endParaRPr>
          </a:p>
          <a:p>
            <a:pPr indent="-311150" lvl="0" marL="914400" rtl="0" algn="l">
              <a:lnSpc>
                <a:spcPct val="115000"/>
              </a:lnSpc>
              <a:spcBef>
                <a:spcPts val="0"/>
              </a:spcBef>
              <a:spcAft>
                <a:spcPts val="0"/>
              </a:spcAft>
              <a:buClr>
                <a:srgbClr val="000000"/>
              </a:buClr>
              <a:buSzPts val="1300"/>
              <a:buChar char="●"/>
            </a:pPr>
            <a:r>
              <a:rPr lang="en">
                <a:solidFill>
                  <a:srgbClr val="000000"/>
                </a:solidFill>
              </a:rPr>
              <a:t>Produces </a:t>
            </a:r>
            <a:r>
              <a:rPr b="1" lang="en">
                <a:solidFill>
                  <a:srgbClr val="000000"/>
                </a:solidFill>
              </a:rPr>
              <a:t>n</a:t>
            </a:r>
            <a:r>
              <a:rPr lang="en">
                <a:solidFill>
                  <a:srgbClr val="000000"/>
                </a:solidFill>
              </a:rPr>
              <a:t> total fragments.</a:t>
            </a:r>
            <a:endParaRPr>
              <a:solidFill>
                <a:srgbClr val="000000"/>
              </a:solidFill>
            </a:endParaRPr>
          </a:p>
          <a:p>
            <a:pPr indent="-311150" lvl="0" marL="914400" rtl="0" algn="l">
              <a:lnSpc>
                <a:spcPct val="115000"/>
              </a:lnSpc>
              <a:spcBef>
                <a:spcPts val="0"/>
              </a:spcBef>
              <a:spcAft>
                <a:spcPts val="0"/>
              </a:spcAft>
              <a:buClr>
                <a:srgbClr val="000000"/>
              </a:buClr>
              <a:buSzPts val="1300"/>
              <a:buChar char="●"/>
            </a:pPr>
            <a:r>
              <a:rPr b="1" lang="en">
                <a:solidFill>
                  <a:srgbClr val="000000"/>
                </a:solidFill>
              </a:rPr>
              <a:t>m</a:t>
            </a:r>
            <a:r>
              <a:rPr lang="en">
                <a:solidFill>
                  <a:srgbClr val="000000"/>
                </a:solidFill>
              </a:rPr>
              <a:t> data fragments.</a:t>
            </a:r>
            <a:endParaRPr>
              <a:solidFill>
                <a:srgbClr val="000000"/>
              </a:solidFill>
            </a:endParaRPr>
          </a:p>
          <a:p>
            <a:pPr indent="-311150" lvl="0" marL="914400" rtl="0" algn="l">
              <a:lnSpc>
                <a:spcPct val="115000"/>
              </a:lnSpc>
              <a:spcBef>
                <a:spcPts val="0"/>
              </a:spcBef>
              <a:spcAft>
                <a:spcPts val="0"/>
              </a:spcAft>
              <a:buClr>
                <a:srgbClr val="000000"/>
              </a:buClr>
              <a:buSzPts val="1300"/>
              <a:buChar char="●"/>
            </a:pPr>
            <a:r>
              <a:rPr b="1" lang="en"/>
              <a:t>Δ</a:t>
            </a:r>
            <a:r>
              <a:rPr b="1" baseline="-25000" lang="en"/>
              <a:t>0 </a:t>
            </a:r>
            <a:r>
              <a:rPr b="1" lang="en">
                <a:solidFill>
                  <a:srgbClr val="000000"/>
                </a:solidFill>
              </a:rPr>
              <a:t>L</a:t>
            </a:r>
            <a:r>
              <a:rPr b="1" lang="en">
                <a:solidFill>
                  <a:srgbClr val="000000"/>
                </a:solidFill>
              </a:rPr>
              <a:t> </a:t>
            </a:r>
            <a:r>
              <a:rPr lang="en">
                <a:solidFill>
                  <a:srgbClr val="000000"/>
                </a:solidFill>
              </a:rPr>
              <a:t>local redundant fragments.</a:t>
            </a:r>
            <a:endParaRPr>
              <a:solidFill>
                <a:srgbClr val="000000"/>
              </a:solidFill>
            </a:endParaRPr>
          </a:p>
          <a:p>
            <a:pPr indent="-311150" lvl="0" marL="914400" rtl="0" algn="l">
              <a:lnSpc>
                <a:spcPct val="115000"/>
              </a:lnSpc>
              <a:spcBef>
                <a:spcPts val="0"/>
              </a:spcBef>
              <a:spcAft>
                <a:spcPts val="0"/>
              </a:spcAft>
              <a:buClr>
                <a:srgbClr val="000000"/>
              </a:buClr>
              <a:buSzPts val="1300"/>
              <a:buChar char="●"/>
            </a:pPr>
            <a:r>
              <a:rPr b="1" lang="en"/>
              <a:t>Δ</a:t>
            </a:r>
            <a:r>
              <a:rPr b="1" baseline="-25000" lang="en"/>
              <a:t>1 </a:t>
            </a:r>
            <a:r>
              <a:rPr b="1" lang="en">
                <a:solidFill>
                  <a:srgbClr val="000000"/>
                </a:solidFill>
              </a:rPr>
              <a:t> </a:t>
            </a:r>
            <a:r>
              <a:rPr lang="en">
                <a:solidFill>
                  <a:srgbClr val="000000"/>
                </a:solidFill>
              </a:rPr>
              <a:t>global redundant fragments.</a:t>
            </a:r>
            <a:endParaRPr>
              <a:solidFill>
                <a:srgbClr val="000000"/>
              </a:solidFill>
            </a:endParaRPr>
          </a:p>
          <a:p>
            <a:pPr indent="0" lvl="0" marL="457200" rtl="0" algn="l">
              <a:lnSpc>
                <a:spcPct val="115000"/>
              </a:lnSpc>
              <a:spcBef>
                <a:spcPts val="0"/>
              </a:spcBef>
              <a:spcAft>
                <a:spcPts val="0"/>
              </a:spcAft>
              <a:buNone/>
            </a:pPr>
            <a:r>
              <a:t/>
            </a:r>
            <a:endParaRPr>
              <a:solidFill>
                <a:srgbClr val="000000"/>
              </a:solidFill>
            </a:endParaRPr>
          </a:p>
          <a:p>
            <a:pPr indent="0" lvl="0" marL="0" rtl="0" algn="l">
              <a:lnSpc>
                <a:spcPct val="115000"/>
              </a:lnSpc>
              <a:spcBef>
                <a:spcPts val="0"/>
              </a:spcBef>
              <a:spcAft>
                <a:spcPts val="0"/>
              </a:spcAft>
              <a:buNone/>
            </a:pPr>
            <a:r>
              <a:rPr b="1" lang="en">
                <a:solidFill>
                  <a:srgbClr val="000000"/>
                </a:solidFill>
              </a:rPr>
              <a:t>Step 2 - Build FPCC</a:t>
            </a:r>
            <a:endParaRPr b="1">
              <a:solidFill>
                <a:srgbClr val="000000"/>
              </a:solidFill>
            </a:endParaRPr>
          </a:p>
          <a:p>
            <a:pPr indent="0" lvl="0" marL="0" rtl="0" algn="l">
              <a:lnSpc>
                <a:spcPct val="115000"/>
              </a:lnSpc>
              <a:spcBef>
                <a:spcPts val="0"/>
              </a:spcBef>
              <a:spcAft>
                <a:spcPts val="0"/>
              </a:spcAft>
              <a:buNone/>
            </a:pPr>
            <a:r>
              <a:rPr lang="en">
                <a:solidFill>
                  <a:srgbClr val="000000"/>
                </a:solidFill>
              </a:rPr>
              <a:t>Fingerprinted Cross-Checksum consists of 2 arrays:</a:t>
            </a:r>
            <a:endParaRPr>
              <a:solidFill>
                <a:srgbClr val="000000"/>
              </a:solidFill>
            </a:endParaRPr>
          </a:p>
          <a:p>
            <a:pPr indent="-311150" lvl="0" marL="914400" rtl="0" algn="l">
              <a:lnSpc>
                <a:spcPct val="115000"/>
              </a:lnSpc>
              <a:spcBef>
                <a:spcPts val="0"/>
              </a:spcBef>
              <a:spcAft>
                <a:spcPts val="0"/>
              </a:spcAft>
              <a:buClr>
                <a:srgbClr val="000000"/>
              </a:buClr>
              <a:buSzPts val="1300"/>
              <a:buChar char="●"/>
            </a:pPr>
            <a:r>
              <a:rPr b="1" lang="en">
                <a:solidFill>
                  <a:srgbClr val="000000"/>
                </a:solidFill>
              </a:rPr>
              <a:t>fpcc. cc [] </a:t>
            </a:r>
            <a:r>
              <a:rPr lang="en">
                <a:solidFill>
                  <a:srgbClr val="000000"/>
                </a:solidFill>
              </a:rPr>
              <a:t>: Hash of every fragment.</a:t>
            </a:r>
            <a:endParaRPr>
              <a:solidFill>
                <a:srgbClr val="000000"/>
              </a:solidFill>
            </a:endParaRPr>
          </a:p>
          <a:p>
            <a:pPr indent="-311150" lvl="0" marL="914400" rtl="0" algn="l">
              <a:lnSpc>
                <a:spcPct val="115000"/>
              </a:lnSpc>
              <a:spcBef>
                <a:spcPts val="0"/>
              </a:spcBef>
              <a:spcAft>
                <a:spcPts val="0"/>
              </a:spcAft>
              <a:buClr>
                <a:srgbClr val="000000"/>
              </a:buClr>
              <a:buSzPts val="1300"/>
              <a:buChar char="●"/>
            </a:pPr>
            <a:r>
              <a:rPr b="1" lang="en">
                <a:solidFill>
                  <a:srgbClr val="000000"/>
                </a:solidFill>
              </a:rPr>
              <a:t>fpcc. fp[] </a:t>
            </a:r>
            <a:r>
              <a:rPr lang="en">
                <a:solidFill>
                  <a:srgbClr val="000000"/>
                </a:solidFill>
              </a:rPr>
              <a:t>: Fingerprints of original </a:t>
            </a:r>
            <a:r>
              <a:rPr b="1" lang="en">
                <a:solidFill>
                  <a:srgbClr val="000000"/>
                </a:solidFill>
              </a:rPr>
              <a:t>m</a:t>
            </a:r>
            <a:r>
              <a:rPr lang="en">
                <a:solidFill>
                  <a:srgbClr val="000000"/>
                </a:solidFill>
              </a:rPr>
              <a:t> fragments.</a:t>
            </a:r>
            <a:endParaRPr>
              <a:solidFill>
                <a:srgbClr val="000000"/>
              </a:solidFill>
            </a:endParaRPr>
          </a:p>
          <a:p>
            <a:pPr indent="0" lvl="0" marL="0" rtl="0" algn="l">
              <a:spcBef>
                <a:spcPts val="800"/>
              </a:spcBef>
              <a:spcAft>
                <a:spcPts val="0"/>
              </a:spcAft>
              <a:buNone/>
            </a:pPr>
            <a:r>
              <a:t/>
            </a:r>
            <a:endParaRPr/>
          </a:p>
        </p:txBody>
      </p:sp>
      <p:sp>
        <p:nvSpPr>
          <p:cNvPr id="428" name="Google Shape;428;p59"/>
          <p:cNvSpPr txBox="1"/>
          <p:nvPr/>
        </p:nvSpPr>
        <p:spPr>
          <a:xfrm>
            <a:off x="1415000" y="463742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0"/>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solidFill>
                  <a:srgbClr val="FFFFFF"/>
                </a:solidFill>
              </a:rPr>
              <a:t>AVID-FP-Pyramid Complete Workflow</a:t>
            </a:r>
            <a:endParaRPr/>
          </a:p>
        </p:txBody>
      </p:sp>
      <p:sp>
        <p:nvSpPr>
          <p:cNvPr id="434" name="Google Shape;434;p60"/>
          <p:cNvSpPr txBox="1"/>
          <p:nvPr>
            <p:ph idx="1" type="body"/>
          </p:nvPr>
        </p:nvSpPr>
        <p:spPr>
          <a:xfrm>
            <a:off x="1047172" y="1071611"/>
            <a:ext cx="7479300" cy="33447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b="1" lang="en">
                <a:solidFill>
                  <a:srgbClr val="000000"/>
                </a:solidFill>
              </a:rPr>
              <a:t>Step 3 - Send Fragments</a:t>
            </a:r>
            <a:endParaRPr b="1">
              <a:solidFill>
                <a:srgbClr val="000000"/>
              </a:solidFill>
            </a:endParaRPr>
          </a:p>
          <a:p>
            <a:pPr indent="0" lvl="0" marL="0" rtl="0" algn="l">
              <a:lnSpc>
                <a:spcPct val="115000"/>
              </a:lnSpc>
              <a:spcBef>
                <a:spcPts val="0"/>
              </a:spcBef>
              <a:spcAft>
                <a:spcPts val="0"/>
              </a:spcAft>
              <a:buNone/>
            </a:pPr>
            <a:r>
              <a:rPr lang="en">
                <a:solidFill>
                  <a:srgbClr val="000000"/>
                </a:solidFill>
              </a:rPr>
              <a:t>Client sends fragment </a:t>
            </a:r>
            <a:r>
              <a:rPr b="1" lang="en">
                <a:solidFill>
                  <a:srgbClr val="000000"/>
                </a:solidFill>
              </a:rPr>
              <a:t>dᵢ</a:t>
            </a:r>
            <a:r>
              <a:rPr lang="en">
                <a:solidFill>
                  <a:srgbClr val="000000"/>
                </a:solidFill>
              </a:rPr>
              <a:t> and the same FPCC to each server</a:t>
            </a:r>
            <a:r>
              <a:rPr b="1" lang="en">
                <a:solidFill>
                  <a:srgbClr val="000000"/>
                </a:solidFill>
              </a:rPr>
              <a:t> i</a:t>
            </a: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t/>
            </a:r>
            <a:endParaRPr>
              <a:solidFill>
                <a:srgbClr val="000000"/>
              </a:solidFill>
            </a:endParaRPr>
          </a:p>
          <a:p>
            <a:pPr indent="0" lvl="0" marL="0" rtl="0" algn="l">
              <a:lnSpc>
                <a:spcPct val="115000"/>
              </a:lnSpc>
              <a:spcBef>
                <a:spcPts val="0"/>
              </a:spcBef>
              <a:spcAft>
                <a:spcPts val="0"/>
              </a:spcAft>
              <a:buNone/>
            </a:pPr>
            <a:r>
              <a:rPr b="1" lang="en">
                <a:solidFill>
                  <a:srgbClr val="000000"/>
                </a:solidFill>
              </a:rPr>
              <a:t>Step 4 - Server Verification</a:t>
            </a:r>
            <a:endParaRPr b="1">
              <a:solidFill>
                <a:srgbClr val="000000"/>
              </a:solidFill>
            </a:endParaRPr>
          </a:p>
          <a:p>
            <a:pPr indent="0" lvl="0" marL="0" rtl="0" algn="l">
              <a:lnSpc>
                <a:spcPct val="115000"/>
              </a:lnSpc>
              <a:spcBef>
                <a:spcPts val="0"/>
              </a:spcBef>
              <a:spcAft>
                <a:spcPts val="0"/>
              </a:spcAft>
              <a:buNone/>
            </a:pPr>
            <a:r>
              <a:rPr lang="en">
                <a:solidFill>
                  <a:srgbClr val="000000"/>
                </a:solidFill>
              </a:rPr>
              <a:t>Server checks Hash Match: </a:t>
            </a:r>
            <a:r>
              <a:rPr b="1" lang="en">
                <a:solidFill>
                  <a:srgbClr val="000000"/>
                </a:solidFill>
              </a:rPr>
              <a:t>fpcc.cc[i] = h(dᵢ)</a:t>
            </a:r>
            <a:endParaRPr b="1">
              <a:solidFill>
                <a:srgbClr val="000000"/>
              </a:solidFill>
            </a:endParaRPr>
          </a:p>
          <a:p>
            <a:pPr indent="0" lvl="0" marL="0" rtl="0" algn="l">
              <a:lnSpc>
                <a:spcPct val="115000"/>
              </a:lnSpc>
              <a:spcBef>
                <a:spcPts val="0"/>
              </a:spcBef>
              <a:spcAft>
                <a:spcPts val="0"/>
              </a:spcAft>
              <a:buNone/>
            </a:pPr>
            <a:r>
              <a:rPr lang="en">
                <a:solidFill>
                  <a:srgbClr val="000000"/>
                </a:solidFill>
              </a:rPr>
              <a:t>Server checks Fingerprint Match: </a:t>
            </a:r>
            <a:r>
              <a:rPr b="1" lang="en">
                <a:solidFill>
                  <a:srgbClr val="000000"/>
                </a:solidFill>
              </a:rPr>
              <a:t>fingerprint(r, dᵢ) == encode(</a:t>
            </a:r>
            <a:r>
              <a:rPr b="1" lang="en">
                <a:solidFill>
                  <a:schemeClr val="hlink"/>
                </a:solidFill>
                <a:uFill>
                  <a:noFill/>
                </a:uFill>
                <a:hlinkClick r:id="rId3"/>
              </a:rPr>
              <a:t>fpcc.fp</a:t>
            </a:r>
            <a:r>
              <a:rPr b="1" lang="en">
                <a:solidFill>
                  <a:srgbClr val="000000"/>
                </a:solidFill>
              </a:rPr>
              <a:t>)</a:t>
            </a:r>
            <a:endParaRPr b="1">
              <a:solidFill>
                <a:srgbClr val="000000"/>
              </a:solidFill>
            </a:endParaRPr>
          </a:p>
          <a:p>
            <a:pPr indent="0" lvl="0" marL="0" rtl="0" algn="l">
              <a:lnSpc>
                <a:spcPct val="115000"/>
              </a:lnSpc>
              <a:spcBef>
                <a:spcPts val="0"/>
              </a:spcBef>
              <a:spcAft>
                <a:spcPts val="0"/>
              </a:spcAft>
              <a:buNone/>
            </a:pPr>
            <a:r>
              <a:rPr lang="en" sz="1400">
                <a:solidFill>
                  <a:srgbClr val="000000"/>
                </a:solidFill>
                <a:latin typeface="Arial"/>
                <a:ea typeface="Arial"/>
                <a:cs typeface="Arial"/>
                <a:sym typeface="Arial"/>
              </a:rPr>
              <a:t>where r = H(fpcc.cc[1], …, fpcc.cc[n]) is a random key</a:t>
            </a:r>
            <a:endParaRPr b="1">
              <a:solidFill>
                <a:srgbClr val="000000"/>
              </a:solidFill>
            </a:endParaRPr>
          </a:p>
          <a:p>
            <a:pPr indent="0" lvl="0" marL="0" rtl="0" algn="l">
              <a:lnSpc>
                <a:spcPct val="115000"/>
              </a:lnSpc>
              <a:spcBef>
                <a:spcPts val="0"/>
              </a:spcBef>
              <a:spcAft>
                <a:spcPts val="0"/>
              </a:spcAft>
              <a:buNone/>
            </a:pPr>
            <a:r>
              <a:t/>
            </a:r>
            <a:endParaRPr b="1">
              <a:solidFill>
                <a:srgbClr val="000000"/>
              </a:solidFill>
            </a:endParaRPr>
          </a:p>
          <a:p>
            <a:pPr indent="0" lvl="0" marL="0" rtl="0" algn="l">
              <a:lnSpc>
                <a:spcPct val="115000"/>
              </a:lnSpc>
              <a:spcBef>
                <a:spcPts val="0"/>
              </a:spcBef>
              <a:spcAft>
                <a:spcPts val="0"/>
              </a:spcAft>
              <a:buNone/>
            </a:pPr>
            <a:r>
              <a:rPr b="1" lang="en">
                <a:solidFill>
                  <a:srgbClr val="000000"/>
                </a:solidFill>
              </a:rPr>
              <a:t>Step 5 - Echo &amp; Ready</a:t>
            </a:r>
            <a:endParaRPr b="1">
              <a:solidFill>
                <a:srgbClr val="000000"/>
              </a:solidFill>
            </a:endParaRPr>
          </a:p>
          <a:p>
            <a:pPr indent="0" lvl="0" marL="0" rtl="0" algn="l">
              <a:lnSpc>
                <a:spcPct val="115000"/>
              </a:lnSpc>
              <a:spcBef>
                <a:spcPts val="0"/>
              </a:spcBef>
              <a:spcAft>
                <a:spcPts val="0"/>
              </a:spcAft>
              <a:buNone/>
            </a:pPr>
            <a:r>
              <a:rPr lang="en">
                <a:solidFill>
                  <a:srgbClr val="000000"/>
                </a:solidFill>
              </a:rPr>
              <a:t>Servers exchange echoes. After </a:t>
            </a:r>
            <a:r>
              <a:rPr b="1" lang="en">
                <a:solidFill>
                  <a:srgbClr val="000000"/>
                </a:solidFill>
              </a:rPr>
              <a:t>2f + 1 </a:t>
            </a:r>
            <a:r>
              <a:rPr lang="en">
                <a:solidFill>
                  <a:srgbClr val="000000"/>
                </a:solidFill>
              </a:rPr>
              <a:t>readies, the fragment is dispersed. FPCC ensures no Byzantine server can cheat.</a:t>
            </a:r>
            <a:endParaRPr>
              <a:solidFill>
                <a:srgbClr val="000000"/>
              </a:solidFill>
            </a:endParaRPr>
          </a:p>
          <a:p>
            <a:pPr indent="0" lvl="0" marL="0" rtl="0" algn="l">
              <a:spcBef>
                <a:spcPts val="80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1"/>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solidFill>
                  <a:srgbClr val="FFFFFF"/>
                </a:solidFill>
              </a:rPr>
              <a:t>AVID-FP-Pyramid Complete Workflow</a:t>
            </a:r>
            <a:endParaRPr/>
          </a:p>
        </p:txBody>
      </p:sp>
      <p:sp>
        <p:nvSpPr>
          <p:cNvPr id="440" name="Google Shape;440;p61"/>
          <p:cNvSpPr txBox="1"/>
          <p:nvPr>
            <p:ph idx="1" type="body"/>
          </p:nvPr>
        </p:nvSpPr>
        <p:spPr>
          <a:xfrm>
            <a:off x="1047175" y="1071600"/>
            <a:ext cx="7886700" cy="3344700"/>
          </a:xfrm>
          <a:prstGeom prst="rect">
            <a:avLst/>
          </a:prstGeom>
        </p:spPr>
        <p:txBody>
          <a:bodyPr anchorCtr="0" anchor="t" bIns="34275" lIns="68575" spcFirstLastPara="1" rIns="68575" wrap="square" tIns="34275">
            <a:normAutofit lnSpcReduction="10000"/>
          </a:bodyPr>
          <a:lstStyle/>
          <a:p>
            <a:pPr indent="0" lvl="0" marL="0" rtl="0" algn="l">
              <a:lnSpc>
                <a:spcPct val="115000"/>
              </a:lnSpc>
              <a:spcBef>
                <a:spcPts val="0"/>
              </a:spcBef>
              <a:spcAft>
                <a:spcPts val="0"/>
              </a:spcAft>
              <a:buNone/>
            </a:pPr>
            <a:r>
              <a:rPr b="1" lang="en">
                <a:solidFill>
                  <a:srgbClr val="000000"/>
                </a:solidFill>
              </a:rPr>
              <a:t>Phase 2: Retrieve</a:t>
            </a:r>
            <a:endParaRPr b="1">
              <a:solidFill>
                <a:srgbClr val="000000"/>
              </a:solidFill>
            </a:endParaRPr>
          </a:p>
          <a:p>
            <a:pPr indent="0" lvl="0" marL="0" rtl="0" algn="just">
              <a:lnSpc>
                <a:spcPct val="115000"/>
              </a:lnSpc>
              <a:spcBef>
                <a:spcPts val="0"/>
              </a:spcBef>
              <a:spcAft>
                <a:spcPts val="0"/>
              </a:spcAft>
              <a:buNone/>
            </a:pPr>
            <a:r>
              <a:rPr b="1" lang="en">
                <a:solidFill>
                  <a:srgbClr val="00B050"/>
                </a:solidFill>
              </a:rPr>
              <a:t>Client wants the entire data block </a:t>
            </a:r>
            <a:r>
              <a:rPr b="1" lang="en">
                <a:solidFill>
                  <a:srgbClr val="000000"/>
                </a:solidFill>
              </a:rPr>
              <a:t>B</a:t>
            </a:r>
            <a:endParaRPr b="1">
              <a:solidFill>
                <a:srgbClr val="000000"/>
              </a:solidFill>
            </a:endParaRPr>
          </a:p>
          <a:p>
            <a:pPr indent="0" lvl="0" marL="0" rtl="0" algn="just">
              <a:lnSpc>
                <a:spcPct val="115000"/>
              </a:lnSpc>
              <a:spcBef>
                <a:spcPts val="0"/>
              </a:spcBef>
              <a:spcAft>
                <a:spcPts val="0"/>
              </a:spcAft>
              <a:buNone/>
            </a:pPr>
            <a:r>
              <a:t/>
            </a:r>
            <a:endParaRPr b="1">
              <a:solidFill>
                <a:srgbClr val="000000"/>
              </a:solidFill>
            </a:endParaRPr>
          </a:p>
          <a:p>
            <a:pPr indent="0" lvl="0" marL="0" rtl="0" algn="just">
              <a:lnSpc>
                <a:spcPct val="115000"/>
              </a:lnSpc>
              <a:spcBef>
                <a:spcPts val="0"/>
              </a:spcBef>
              <a:spcAft>
                <a:spcPts val="0"/>
              </a:spcAft>
              <a:buNone/>
            </a:pPr>
            <a:r>
              <a:rPr b="1" lang="en">
                <a:solidFill>
                  <a:srgbClr val="000000"/>
                </a:solidFill>
              </a:rPr>
              <a:t>Step 1- Collect FPCC</a:t>
            </a:r>
            <a:endParaRPr b="1">
              <a:solidFill>
                <a:srgbClr val="000000"/>
              </a:solidFill>
            </a:endParaRPr>
          </a:p>
          <a:p>
            <a:pPr indent="0" lvl="0" marL="0" rtl="0" algn="just">
              <a:lnSpc>
                <a:spcPct val="115000"/>
              </a:lnSpc>
              <a:spcBef>
                <a:spcPts val="0"/>
              </a:spcBef>
              <a:spcAft>
                <a:spcPts val="0"/>
              </a:spcAft>
              <a:buNone/>
            </a:pPr>
            <a:r>
              <a:rPr lang="en">
                <a:solidFill>
                  <a:srgbClr val="000000"/>
                </a:solidFill>
              </a:rPr>
              <a:t>Wait for </a:t>
            </a:r>
            <a:r>
              <a:rPr b="1" lang="en">
                <a:solidFill>
                  <a:srgbClr val="000000"/>
                </a:solidFill>
              </a:rPr>
              <a:t>f+1 </a:t>
            </a:r>
            <a:r>
              <a:rPr lang="en">
                <a:solidFill>
                  <a:srgbClr val="000000"/>
                </a:solidFill>
              </a:rPr>
              <a:t>matching FPCCs to ensure you are reconstructing the correct block.</a:t>
            </a:r>
            <a:endParaRPr>
              <a:solidFill>
                <a:srgbClr val="000000"/>
              </a:solidFill>
            </a:endParaRPr>
          </a:p>
          <a:p>
            <a:pPr indent="0" lvl="0" marL="0" rtl="0" algn="just">
              <a:lnSpc>
                <a:spcPct val="115000"/>
              </a:lnSpc>
              <a:spcBef>
                <a:spcPts val="0"/>
              </a:spcBef>
              <a:spcAft>
                <a:spcPts val="0"/>
              </a:spcAft>
              <a:buNone/>
            </a:pPr>
            <a:r>
              <a:t/>
            </a:r>
            <a:endParaRPr>
              <a:solidFill>
                <a:srgbClr val="000000"/>
              </a:solidFill>
            </a:endParaRPr>
          </a:p>
          <a:p>
            <a:pPr indent="0" lvl="0" marL="0" rtl="0" algn="just">
              <a:lnSpc>
                <a:spcPct val="115000"/>
              </a:lnSpc>
              <a:spcBef>
                <a:spcPts val="0"/>
              </a:spcBef>
              <a:spcAft>
                <a:spcPts val="0"/>
              </a:spcAft>
              <a:buNone/>
            </a:pPr>
            <a:r>
              <a:rPr b="1" lang="en">
                <a:solidFill>
                  <a:srgbClr val="000000"/>
                </a:solidFill>
              </a:rPr>
              <a:t>Step 2- Collect Fragments</a:t>
            </a:r>
            <a:endParaRPr b="1">
              <a:solidFill>
                <a:srgbClr val="000000"/>
              </a:solidFill>
            </a:endParaRPr>
          </a:p>
          <a:p>
            <a:pPr indent="0" lvl="0" marL="0" rtl="0" algn="just">
              <a:lnSpc>
                <a:spcPct val="115000"/>
              </a:lnSpc>
              <a:spcBef>
                <a:spcPts val="0"/>
              </a:spcBef>
              <a:spcAft>
                <a:spcPts val="0"/>
              </a:spcAft>
              <a:buNone/>
            </a:pPr>
            <a:r>
              <a:rPr lang="en">
                <a:solidFill>
                  <a:srgbClr val="000000"/>
                </a:solidFill>
              </a:rPr>
              <a:t>Gather </a:t>
            </a:r>
            <a:r>
              <a:rPr b="1" lang="en">
                <a:solidFill>
                  <a:srgbClr val="000000"/>
                </a:solidFill>
              </a:rPr>
              <a:t>m + </a:t>
            </a:r>
            <a:r>
              <a:rPr b="1" lang="en"/>
              <a:t>Δ</a:t>
            </a:r>
            <a:r>
              <a:rPr b="1" baseline="-25000" lang="en"/>
              <a:t>0</a:t>
            </a:r>
            <a:r>
              <a:rPr b="1" lang="en">
                <a:solidFill>
                  <a:srgbClr val="000000"/>
                </a:solidFill>
              </a:rPr>
              <a:t>(L-1) </a:t>
            </a:r>
            <a:r>
              <a:rPr lang="en">
                <a:solidFill>
                  <a:srgbClr val="000000"/>
                </a:solidFill>
              </a:rPr>
              <a:t>consistent fragments. This is the threshold for full pyramid-code reconstruction.</a:t>
            </a:r>
            <a:endParaRPr>
              <a:solidFill>
                <a:srgbClr val="000000"/>
              </a:solidFill>
            </a:endParaRPr>
          </a:p>
          <a:p>
            <a:pPr indent="0" lvl="0" marL="0" rtl="0" algn="just">
              <a:lnSpc>
                <a:spcPct val="115000"/>
              </a:lnSpc>
              <a:spcBef>
                <a:spcPts val="0"/>
              </a:spcBef>
              <a:spcAft>
                <a:spcPts val="0"/>
              </a:spcAft>
              <a:buNone/>
            </a:pPr>
            <a:r>
              <a:t/>
            </a:r>
            <a:endParaRPr>
              <a:solidFill>
                <a:srgbClr val="000000"/>
              </a:solidFill>
            </a:endParaRPr>
          </a:p>
          <a:p>
            <a:pPr indent="0" lvl="0" marL="0" rtl="0" algn="l">
              <a:lnSpc>
                <a:spcPct val="115000"/>
              </a:lnSpc>
              <a:spcBef>
                <a:spcPts val="0"/>
              </a:spcBef>
              <a:spcAft>
                <a:spcPts val="0"/>
              </a:spcAft>
              <a:buNone/>
            </a:pPr>
            <a:r>
              <a:rPr b="1" lang="en">
                <a:solidFill>
                  <a:srgbClr val="000000"/>
                </a:solidFill>
              </a:rPr>
              <a:t>Step 3 - Decode</a:t>
            </a:r>
            <a:endParaRPr b="1">
              <a:solidFill>
                <a:srgbClr val="000000"/>
              </a:solidFill>
            </a:endParaRPr>
          </a:p>
          <a:p>
            <a:pPr indent="0" lvl="0" marL="0" rtl="0" algn="l">
              <a:lnSpc>
                <a:spcPct val="115000"/>
              </a:lnSpc>
              <a:spcBef>
                <a:spcPts val="0"/>
              </a:spcBef>
              <a:spcAft>
                <a:spcPts val="0"/>
              </a:spcAft>
              <a:buNone/>
            </a:pPr>
            <a:r>
              <a:rPr lang="en">
                <a:solidFill>
                  <a:srgbClr val="000000"/>
                </a:solidFill>
              </a:rPr>
              <a:t>Use pyramid decoding to return complete block </a:t>
            </a:r>
            <a:r>
              <a:rPr b="1" lang="en">
                <a:solidFill>
                  <a:srgbClr val="000000"/>
                </a:solidFill>
              </a:rPr>
              <a:t>B</a:t>
            </a:r>
            <a:r>
              <a:rPr lang="en">
                <a:solidFill>
                  <a:srgbClr val="000000"/>
                </a:solidFill>
              </a:rPr>
              <a:t>. This works even if </a:t>
            </a:r>
            <a:r>
              <a:rPr b="1" lang="en">
                <a:solidFill>
                  <a:srgbClr val="000000"/>
                </a:solidFill>
              </a:rPr>
              <a:t>f</a:t>
            </a:r>
            <a:r>
              <a:rPr lang="en">
                <a:solidFill>
                  <a:srgbClr val="000000"/>
                </a:solidFill>
              </a:rPr>
              <a:t> servers are byzantine.</a:t>
            </a:r>
            <a:endParaRPr>
              <a:solidFill>
                <a:srgbClr val="000000"/>
              </a:solidFill>
            </a:endParaRPr>
          </a:p>
          <a:p>
            <a:pPr indent="0" lvl="0" marL="0" rtl="0" algn="l">
              <a:spcBef>
                <a:spcPts val="800"/>
              </a:spcBef>
              <a:spcAft>
                <a:spcPts val="0"/>
              </a:spcAft>
              <a:buNone/>
            </a:pPr>
            <a:r>
              <a:t/>
            </a:r>
            <a:endParaRPr/>
          </a:p>
        </p:txBody>
      </p:sp>
      <p:sp>
        <p:nvSpPr>
          <p:cNvPr id="441" name="Google Shape;441;p61"/>
          <p:cNvSpPr txBox="1"/>
          <p:nvPr/>
        </p:nvSpPr>
        <p:spPr>
          <a:xfrm>
            <a:off x="1572000" y="457542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2"/>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t/>
            </a:r>
            <a:endParaRPr/>
          </a:p>
        </p:txBody>
      </p:sp>
      <p:sp>
        <p:nvSpPr>
          <p:cNvPr id="447" name="Google Shape;447;p62"/>
          <p:cNvSpPr txBox="1"/>
          <p:nvPr>
            <p:ph idx="1" type="body"/>
          </p:nvPr>
        </p:nvSpPr>
        <p:spPr>
          <a:xfrm>
            <a:off x="1047172" y="1071611"/>
            <a:ext cx="7479300" cy="3344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448" name="Google Shape;448;p62"/>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3"/>
          <p:cNvSpPr txBox="1"/>
          <p:nvPr>
            <p:ph type="ctrTitle"/>
          </p:nvPr>
        </p:nvSpPr>
        <p:spPr>
          <a:xfrm>
            <a:off x="1047172" y="320987"/>
            <a:ext cx="7479300" cy="33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a:solidFill>
                  <a:srgbClr val="FFFFFF"/>
                </a:solidFill>
              </a:rPr>
              <a:t>AVID-FP-Pyramid Complete Workflow</a:t>
            </a:r>
            <a:endParaRPr/>
          </a:p>
        </p:txBody>
      </p:sp>
      <p:sp>
        <p:nvSpPr>
          <p:cNvPr id="454" name="Google Shape;454;p63"/>
          <p:cNvSpPr txBox="1"/>
          <p:nvPr>
            <p:ph idx="1" type="body"/>
          </p:nvPr>
        </p:nvSpPr>
        <p:spPr>
          <a:xfrm>
            <a:off x="1047172" y="1071611"/>
            <a:ext cx="7479300" cy="3344700"/>
          </a:xfrm>
          <a:prstGeom prst="rect">
            <a:avLst/>
          </a:prstGeom>
        </p:spPr>
        <p:txBody>
          <a:bodyPr anchorCtr="0" anchor="t" bIns="34275" lIns="68575" spcFirstLastPara="1" rIns="68575" wrap="square" tIns="34275">
            <a:normAutofit lnSpcReduction="10000"/>
          </a:bodyPr>
          <a:lstStyle/>
          <a:p>
            <a:pPr indent="0" lvl="0" marL="0" rtl="0" algn="l">
              <a:lnSpc>
                <a:spcPct val="115000"/>
              </a:lnSpc>
              <a:spcBef>
                <a:spcPts val="0"/>
              </a:spcBef>
              <a:spcAft>
                <a:spcPts val="0"/>
              </a:spcAft>
              <a:buNone/>
            </a:pPr>
            <a:r>
              <a:rPr b="1" lang="en" sz="1900">
                <a:solidFill>
                  <a:srgbClr val="000000"/>
                </a:solidFill>
              </a:rPr>
              <a:t>Phase 3: Read</a:t>
            </a:r>
            <a:endParaRPr b="1" sz="1900">
              <a:solidFill>
                <a:srgbClr val="000000"/>
              </a:solidFill>
            </a:endParaRPr>
          </a:p>
          <a:p>
            <a:pPr indent="0" lvl="0" marL="0" rtl="0" algn="l">
              <a:lnSpc>
                <a:spcPct val="115000"/>
              </a:lnSpc>
              <a:spcBef>
                <a:spcPts val="0"/>
              </a:spcBef>
              <a:spcAft>
                <a:spcPts val="0"/>
              </a:spcAft>
              <a:buNone/>
            </a:pPr>
            <a:r>
              <a:t/>
            </a:r>
            <a:endParaRPr b="1">
              <a:solidFill>
                <a:srgbClr val="000000"/>
              </a:solidFill>
            </a:endParaRPr>
          </a:p>
          <a:p>
            <a:pPr indent="0" lvl="0" marL="0" rtl="0" algn="l">
              <a:lnSpc>
                <a:spcPct val="115000"/>
              </a:lnSpc>
              <a:spcBef>
                <a:spcPts val="0"/>
              </a:spcBef>
              <a:spcAft>
                <a:spcPts val="0"/>
              </a:spcAft>
              <a:buNone/>
            </a:pPr>
            <a:r>
              <a:t/>
            </a:r>
            <a:endParaRPr b="1">
              <a:solidFill>
                <a:srgbClr val="000000"/>
              </a:solidFill>
            </a:endParaRPr>
          </a:p>
          <a:p>
            <a:pPr indent="0" lvl="0" marL="0" rtl="0" algn="l">
              <a:lnSpc>
                <a:spcPct val="115000"/>
              </a:lnSpc>
              <a:spcBef>
                <a:spcPts val="0"/>
              </a:spcBef>
              <a:spcAft>
                <a:spcPts val="0"/>
              </a:spcAft>
              <a:buNone/>
            </a:pPr>
            <a:r>
              <a:rPr b="1" lang="en">
                <a:solidFill>
                  <a:srgbClr val="000000"/>
                </a:solidFill>
              </a:rPr>
              <a:t>Predictable Performance</a:t>
            </a:r>
            <a:endParaRPr b="1">
              <a:solidFill>
                <a:srgbClr val="000000"/>
              </a:solidFill>
            </a:endParaRPr>
          </a:p>
          <a:p>
            <a:pPr indent="0" lvl="0" marL="0" rtl="0" algn="l">
              <a:lnSpc>
                <a:spcPct val="115000"/>
              </a:lnSpc>
              <a:spcBef>
                <a:spcPts val="0"/>
              </a:spcBef>
              <a:spcAft>
                <a:spcPts val="0"/>
              </a:spcAft>
              <a:buNone/>
            </a:pPr>
            <a:r>
              <a:rPr lang="en">
                <a:solidFill>
                  <a:srgbClr val="000000"/>
                </a:solidFill>
              </a:rPr>
              <a:t>In this mode, the client skips trying server </a:t>
            </a:r>
            <a:r>
              <a:rPr b="1" lang="en">
                <a:solidFill>
                  <a:srgbClr val="000000"/>
                </a:solidFill>
              </a:rPr>
              <a:t>i</a:t>
            </a:r>
            <a:r>
              <a:rPr lang="en">
                <a:solidFill>
                  <a:srgbClr val="000000"/>
                </a:solidFill>
              </a:rPr>
              <a:t> individually.</a:t>
            </a:r>
            <a:endParaRPr>
              <a:solidFill>
                <a:srgbClr val="000000"/>
              </a:solidFill>
            </a:endParaRPr>
          </a:p>
          <a:p>
            <a:pPr indent="0" lvl="0" marL="0" rtl="0" algn="l">
              <a:lnSpc>
                <a:spcPct val="115000"/>
              </a:lnSpc>
              <a:spcBef>
                <a:spcPts val="0"/>
              </a:spcBef>
              <a:spcAft>
                <a:spcPts val="0"/>
              </a:spcAft>
              <a:buNone/>
            </a:pPr>
            <a:r>
              <a:t/>
            </a:r>
            <a:endParaRPr>
              <a:solidFill>
                <a:srgbClr val="000000"/>
              </a:solidFill>
            </a:endParaRPr>
          </a:p>
          <a:p>
            <a:pPr indent="0" lvl="0" marL="0" rtl="0" algn="l">
              <a:lnSpc>
                <a:spcPct val="115000"/>
              </a:lnSpc>
              <a:spcBef>
                <a:spcPts val="0"/>
              </a:spcBef>
              <a:spcAft>
                <a:spcPts val="0"/>
              </a:spcAft>
              <a:buNone/>
            </a:pPr>
            <a:r>
              <a:rPr b="1" lang="en">
                <a:solidFill>
                  <a:srgbClr val="000000"/>
                </a:solidFill>
              </a:rPr>
              <a:t>Strategy:</a:t>
            </a:r>
            <a:endParaRPr b="1">
              <a:solidFill>
                <a:srgbClr val="000000"/>
              </a:solidFill>
            </a:endParaRPr>
          </a:p>
          <a:p>
            <a:pPr indent="0" lvl="0" marL="0" rtl="0" algn="l">
              <a:lnSpc>
                <a:spcPct val="115000"/>
              </a:lnSpc>
              <a:spcBef>
                <a:spcPts val="0"/>
              </a:spcBef>
              <a:spcAft>
                <a:spcPts val="0"/>
              </a:spcAft>
              <a:buNone/>
            </a:pPr>
            <a:r>
              <a:rPr lang="en">
                <a:solidFill>
                  <a:srgbClr val="000000"/>
                </a:solidFill>
              </a:rPr>
              <a:t>Ask the entire local group directly.</a:t>
            </a:r>
            <a:endParaRPr>
              <a:solidFill>
                <a:srgbClr val="000000"/>
              </a:solidFill>
            </a:endParaRPr>
          </a:p>
          <a:p>
            <a:pPr indent="0" lvl="0" marL="0" rtl="0" algn="l">
              <a:lnSpc>
                <a:spcPct val="115000"/>
              </a:lnSpc>
              <a:spcBef>
                <a:spcPts val="0"/>
              </a:spcBef>
              <a:spcAft>
                <a:spcPts val="0"/>
              </a:spcAft>
              <a:buNone/>
            </a:pPr>
            <a:r>
              <a:t/>
            </a:r>
            <a:endParaRPr>
              <a:solidFill>
                <a:srgbClr val="000000"/>
              </a:solidFill>
            </a:endParaRPr>
          </a:p>
          <a:p>
            <a:pPr indent="0" lvl="0" marL="0" rtl="0" algn="l">
              <a:lnSpc>
                <a:spcPct val="115000"/>
              </a:lnSpc>
              <a:spcBef>
                <a:spcPts val="0"/>
              </a:spcBef>
              <a:spcAft>
                <a:spcPts val="0"/>
              </a:spcAft>
              <a:buNone/>
            </a:pPr>
            <a:r>
              <a:rPr b="1" lang="en">
                <a:solidFill>
                  <a:srgbClr val="000000"/>
                </a:solidFill>
              </a:rPr>
              <a:t>Benefits:</a:t>
            </a:r>
            <a:endParaRPr b="1">
              <a:solidFill>
                <a:srgbClr val="000000"/>
              </a:solidFill>
            </a:endParaRPr>
          </a:p>
          <a:p>
            <a:pPr indent="-311150" lvl="0" marL="457200" rtl="0" algn="l">
              <a:lnSpc>
                <a:spcPct val="115000"/>
              </a:lnSpc>
              <a:spcBef>
                <a:spcPts val="0"/>
              </a:spcBef>
              <a:spcAft>
                <a:spcPts val="0"/>
              </a:spcAft>
              <a:buClr>
                <a:srgbClr val="000000"/>
              </a:buClr>
              <a:buSzPts val="1300"/>
              <a:buChar char="▪"/>
            </a:pPr>
            <a:r>
              <a:rPr lang="en">
                <a:solidFill>
                  <a:srgbClr val="000000"/>
                </a:solidFill>
              </a:rPr>
              <a:t>Predictable bandwidth usage.</a:t>
            </a:r>
            <a:endParaRPr>
              <a:solidFill>
                <a:srgbClr val="000000"/>
              </a:solidFill>
            </a:endParaRPr>
          </a:p>
          <a:p>
            <a:pPr indent="-311150" lvl="0" marL="457200" rtl="0" algn="l">
              <a:lnSpc>
                <a:spcPct val="115000"/>
              </a:lnSpc>
              <a:spcBef>
                <a:spcPts val="0"/>
              </a:spcBef>
              <a:spcAft>
                <a:spcPts val="0"/>
              </a:spcAft>
              <a:buClr>
                <a:srgbClr val="000000"/>
              </a:buClr>
              <a:buSzPts val="1300"/>
              <a:buChar char="▪"/>
            </a:pPr>
            <a:r>
              <a:rPr lang="en">
                <a:solidFill>
                  <a:srgbClr val="000000"/>
                </a:solidFill>
              </a:rPr>
              <a:t>Stil 50% cheaper than full MDS decoding.</a:t>
            </a:r>
            <a:endParaRPr>
              <a:solidFill>
                <a:srgbClr val="000000"/>
              </a:solidFill>
            </a:endParaRPr>
          </a:p>
          <a:p>
            <a:pPr indent="0" lvl="0" marL="0" rtl="0" algn="l">
              <a:spcBef>
                <a:spcPts val="800"/>
              </a:spcBef>
              <a:spcAft>
                <a:spcPts val="0"/>
              </a:spcAft>
              <a:buNone/>
            </a:pPr>
            <a:r>
              <a:t/>
            </a:r>
            <a:endParaRPr/>
          </a:p>
        </p:txBody>
      </p:sp>
      <p:pic>
        <p:nvPicPr>
          <p:cNvPr id="455" name="Google Shape;455;p63"/>
          <p:cNvPicPr preferRelativeResize="0"/>
          <p:nvPr/>
        </p:nvPicPr>
        <p:blipFill>
          <a:blip r:embed="rId3">
            <a:alphaModFix/>
          </a:blip>
          <a:stretch>
            <a:fillRect/>
          </a:stretch>
        </p:blipFill>
        <p:spPr>
          <a:xfrm>
            <a:off x="1047175" y="1363350"/>
            <a:ext cx="5067399" cy="5267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4"/>
          <p:cNvSpPr txBox="1"/>
          <p:nvPr>
            <p:ph type="ctrTitle"/>
          </p:nvPr>
        </p:nvSpPr>
        <p:spPr>
          <a:xfrm>
            <a:off x="1047175" y="174437"/>
            <a:ext cx="6858000" cy="5709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rgbClr val="333333"/>
              </a:buClr>
              <a:buSzPts val="2100"/>
              <a:buFont typeface="Proxima Nova"/>
              <a:buNone/>
            </a:pPr>
            <a:r>
              <a:rPr b="1" lang="en" sz="3000"/>
              <a:t>Evaluation</a:t>
            </a:r>
            <a:endParaRPr b="1" sz="3000"/>
          </a:p>
        </p:txBody>
      </p:sp>
      <p:sp>
        <p:nvSpPr>
          <p:cNvPr id="461" name="Google Shape;461;p64"/>
          <p:cNvSpPr txBox="1"/>
          <p:nvPr>
            <p:ph idx="1" type="body"/>
          </p:nvPr>
        </p:nvSpPr>
        <p:spPr>
          <a:xfrm>
            <a:off x="1064575" y="1022755"/>
            <a:ext cx="7479300" cy="349500"/>
          </a:xfrm>
          <a:prstGeom prst="rect">
            <a:avLst/>
          </a:prstGeom>
          <a:noFill/>
          <a:ln>
            <a:noFill/>
          </a:ln>
        </p:spPr>
        <p:txBody>
          <a:bodyPr anchorCtr="0" anchor="t" bIns="34275" lIns="68575" spcFirstLastPara="1" rIns="68575" wrap="square" tIns="34275">
            <a:noAutofit/>
          </a:bodyPr>
          <a:lstStyle/>
          <a:p>
            <a:pPr indent="-349250" lvl="0" marL="457200" rtl="0" algn="l">
              <a:lnSpc>
                <a:spcPct val="80000"/>
              </a:lnSpc>
              <a:spcBef>
                <a:spcPts val="0"/>
              </a:spcBef>
              <a:spcAft>
                <a:spcPts val="0"/>
              </a:spcAft>
              <a:buSzPts val="1900"/>
              <a:buChar char="●"/>
            </a:pPr>
            <a:r>
              <a:rPr lang="en" sz="1900"/>
              <a:t>Amazon EC2</a:t>
            </a:r>
            <a:endParaRPr sz="1900"/>
          </a:p>
          <a:p>
            <a:pPr indent="0" lvl="0" marL="457200" rtl="0" algn="l">
              <a:lnSpc>
                <a:spcPct val="80000"/>
              </a:lnSpc>
              <a:spcBef>
                <a:spcPts val="0"/>
              </a:spcBef>
              <a:spcAft>
                <a:spcPts val="0"/>
              </a:spcAft>
              <a:buSzPts val="358"/>
              <a:buNone/>
            </a:pPr>
            <a:r>
              <a:t/>
            </a:r>
            <a:endParaRPr sz="1900"/>
          </a:p>
        </p:txBody>
      </p:sp>
      <p:sp>
        <p:nvSpPr>
          <p:cNvPr id="462" name="Google Shape;462;p64"/>
          <p:cNvSpPr txBox="1"/>
          <p:nvPr/>
        </p:nvSpPr>
        <p:spPr>
          <a:xfrm>
            <a:off x="1491372" y="1315264"/>
            <a:ext cx="7206300" cy="621900"/>
          </a:xfrm>
          <a:prstGeom prst="rect">
            <a:avLst/>
          </a:prstGeom>
          <a:noFill/>
          <a:ln>
            <a:noFill/>
          </a:ln>
        </p:spPr>
        <p:txBody>
          <a:bodyPr anchorCtr="0" anchor="t" bIns="91425" lIns="91425" spcFirstLastPara="1" rIns="91425" wrap="square" tIns="91425">
            <a:spAutoFit/>
          </a:bodyPr>
          <a:lstStyle/>
          <a:p>
            <a:pPr indent="-330200" lvl="0" marL="457200" rtl="0" algn="l">
              <a:lnSpc>
                <a:spcPct val="90000"/>
              </a:lnSpc>
              <a:spcBef>
                <a:spcPts val="0"/>
              </a:spcBef>
              <a:spcAft>
                <a:spcPts val="0"/>
              </a:spcAft>
              <a:buClr>
                <a:srgbClr val="333333"/>
              </a:buClr>
              <a:buSzPts val="1600"/>
              <a:buFont typeface="Noto Sans Symbols"/>
              <a:buChar char="●"/>
            </a:pPr>
            <a:r>
              <a:rPr lang="en" sz="1600">
                <a:solidFill>
                  <a:srgbClr val="333333"/>
                </a:solidFill>
                <a:latin typeface="Proxima Nova"/>
                <a:ea typeface="Proxima Nova"/>
                <a:cs typeface="Proxima Nova"/>
                <a:sym typeface="Proxima Nova"/>
              </a:rPr>
              <a:t>Up to 92 nodes from ten different regions in different continents</a:t>
            </a:r>
            <a:endParaRPr sz="1600">
              <a:solidFill>
                <a:srgbClr val="333333"/>
              </a:solidFill>
              <a:latin typeface="Proxima Nova"/>
              <a:ea typeface="Proxima Nova"/>
              <a:cs typeface="Proxima Nova"/>
              <a:sym typeface="Proxima Nova"/>
            </a:endParaRPr>
          </a:p>
          <a:p>
            <a:pPr indent="0" lvl="0" marL="0" rtl="0" algn="l">
              <a:spcBef>
                <a:spcPts val="0"/>
              </a:spcBef>
              <a:spcAft>
                <a:spcPts val="0"/>
              </a:spcAft>
              <a:buNone/>
            </a:pPr>
            <a:r>
              <a:t/>
            </a:r>
            <a:endParaRPr/>
          </a:p>
        </p:txBody>
      </p:sp>
      <p:sp>
        <p:nvSpPr>
          <p:cNvPr id="463" name="Google Shape;463;p64"/>
          <p:cNvSpPr txBox="1"/>
          <p:nvPr/>
        </p:nvSpPr>
        <p:spPr>
          <a:xfrm>
            <a:off x="1491372" y="1571089"/>
            <a:ext cx="7206300" cy="11544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rgbClr val="333333"/>
              </a:buClr>
              <a:buSzPts val="1600"/>
              <a:buFont typeface="Proxima Nova"/>
              <a:buChar char="●"/>
            </a:pPr>
            <a:r>
              <a:rPr lang="en" sz="1600">
                <a:solidFill>
                  <a:srgbClr val="333333"/>
                </a:solidFill>
                <a:latin typeface="Proxima Nova"/>
                <a:ea typeface="Proxima Nova"/>
                <a:cs typeface="Proxima Nova"/>
                <a:sym typeface="Proxima Nova"/>
              </a:rPr>
              <a:t>Evaluate</a:t>
            </a:r>
            <a:r>
              <a:rPr lang="en" sz="1600">
                <a:solidFill>
                  <a:srgbClr val="333333"/>
                </a:solidFill>
                <a:latin typeface="Proxima Nova"/>
                <a:ea typeface="Proxima Nova"/>
                <a:cs typeface="Proxima Nova"/>
                <a:sym typeface="Proxima Nova"/>
              </a:rPr>
              <a:t> the protocols under different network sizes (number of replicas) and contention levels (batch sizes)</a:t>
            </a:r>
            <a:endParaRPr sz="1600">
              <a:solidFill>
                <a:srgbClr val="333333"/>
              </a:solidFill>
              <a:latin typeface="Proxima Nova"/>
              <a:ea typeface="Proxima Nova"/>
              <a:cs typeface="Proxima Nova"/>
              <a:sym typeface="Proxima Nova"/>
            </a:endParaRPr>
          </a:p>
          <a:p>
            <a:pPr indent="0" lvl="0" marL="0" rtl="0" algn="l">
              <a:lnSpc>
                <a:spcPct val="90000"/>
              </a:lnSpc>
              <a:spcBef>
                <a:spcPts val="1200"/>
              </a:spcBef>
              <a:spcAft>
                <a:spcPts val="0"/>
              </a:spcAft>
              <a:buNone/>
            </a:pPr>
            <a:r>
              <a:t/>
            </a:r>
            <a:endParaRPr sz="1800">
              <a:solidFill>
                <a:srgbClr val="333333"/>
              </a:solidFill>
              <a:latin typeface="Proxima Nova"/>
              <a:ea typeface="Proxima Nova"/>
              <a:cs typeface="Proxima Nova"/>
              <a:sym typeface="Proxima Nova"/>
            </a:endParaRPr>
          </a:p>
        </p:txBody>
      </p:sp>
      <p:sp>
        <p:nvSpPr>
          <p:cNvPr id="464" name="Google Shape;464;p64"/>
          <p:cNvSpPr txBox="1"/>
          <p:nvPr/>
        </p:nvSpPr>
        <p:spPr>
          <a:xfrm>
            <a:off x="1491372" y="2165539"/>
            <a:ext cx="7446300" cy="406200"/>
          </a:xfrm>
          <a:prstGeom prst="rect">
            <a:avLst/>
          </a:prstGeom>
          <a:noFill/>
          <a:ln>
            <a:noFill/>
          </a:ln>
        </p:spPr>
        <p:txBody>
          <a:bodyPr anchorCtr="0" anchor="t" bIns="91425" lIns="91425" spcFirstLastPara="1" rIns="91425" wrap="square" tIns="91425">
            <a:spAutoFit/>
          </a:bodyPr>
          <a:lstStyle/>
          <a:p>
            <a:pPr indent="-330200" lvl="0" marL="457200" rtl="0" algn="just">
              <a:lnSpc>
                <a:spcPct val="90000"/>
              </a:lnSpc>
              <a:spcBef>
                <a:spcPts val="0"/>
              </a:spcBef>
              <a:spcAft>
                <a:spcPts val="0"/>
              </a:spcAft>
              <a:buClr>
                <a:srgbClr val="333333"/>
              </a:buClr>
              <a:buSzPts val="1600"/>
              <a:buFont typeface="Noto Sans Symbols"/>
              <a:buChar char="●"/>
            </a:pPr>
            <a:r>
              <a:rPr lang="en" sz="1600">
                <a:solidFill>
                  <a:srgbClr val="333333"/>
                </a:solidFill>
                <a:latin typeface="Proxima Nova"/>
                <a:ea typeface="Proxima Nova"/>
                <a:cs typeface="Proxima Nova"/>
                <a:sym typeface="Proxima Nova"/>
              </a:rPr>
              <a:t>Vary the batch size where nodes propose 1 to 20,000 transactions at a time</a:t>
            </a:r>
            <a:endParaRPr sz="1600">
              <a:solidFill>
                <a:srgbClr val="333333"/>
              </a:solidFill>
              <a:latin typeface="Proxima Nova"/>
              <a:ea typeface="Proxima Nova"/>
              <a:cs typeface="Proxima Nova"/>
              <a:sym typeface="Proxima Nova"/>
            </a:endParaRPr>
          </a:p>
        </p:txBody>
      </p:sp>
      <p:sp>
        <p:nvSpPr>
          <p:cNvPr id="465" name="Google Shape;465;p64"/>
          <p:cNvSpPr txBox="1"/>
          <p:nvPr/>
        </p:nvSpPr>
        <p:spPr>
          <a:xfrm>
            <a:off x="1047175" y="2893807"/>
            <a:ext cx="7714800" cy="406200"/>
          </a:xfrm>
          <a:prstGeom prst="rect">
            <a:avLst/>
          </a:prstGeom>
          <a:noFill/>
          <a:ln>
            <a:noFill/>
          </a:ln>
        </p:spPr>
        <p:txBody>
          <a:bodyPr anchorCtr="0" anchor="t" bIns="91425" lIns="91425" spcFirstLastPara="1" rIns="91425" wrap="square" tIns="91425">
            <a:spAutoFit/>
          </a:bodyPr>
          <a:lstStyle/>
          <a:p>
            <a:pPr indent="-330200" lvl="0" marL="457200" rtl="0" algn="l">
              <a:lnSpc>
                <a:spcPct val="90000"/>
              </a:lnSpc>
              <a:spcBef>
                <a:spcPts val="0"/>
              </a:spcBef>
              <a:spcAft>
                <a:spcPts val="0"/>
              </a:spcAft>
              <a:buClr>
                <a:srgbClr val="333333"/>
              </a:buClr>
              <a:buSzPts val="1600"/>
              <a:buFont typeface="Noto Sans Symbols"/>
              <a:buChar char="●"/>
            </a:pPr>
            <a:r>
              <a:rPr lang="en" sz="1600">
                <a:solidFill>
                  <a:srgbClr val="333333"/>
                </a:solidFill>
                <a:latin typeface="Proxima Nova"/>
                <a:ea typeface="Proxima Nova"/>
                <a:cs typeface="Proxima Nova"/>
                <a:sym typeface="Proxima Nova"/>
              </a:rPr>
              <a:t>“LAN tests”: nodes are selected from the same Amazon EC2 region</a:t>
            </a:r>
            <a:endParaRPr sz="1600">
              <a:solidFill>
                <a:srgbClr val="333333"/>
              </a:solidFill>
              <a:latin typeface="Proxima Nova"/>
              <a:ea typeface="Proxima Nova"/>
              <a:cs typeface="Proxima Nova"/>
              <a:sym typeface="Proxima Nova"/>
            </a:endParaRPr>
          </a:p>
        </p:txBody>
      </p:sp>
      <p:sp>
        <p:nvSpPr>
          <p:cNvPr id="466" name="Google Shape;466;p64"/>
          <p:cNvSpPr txBox="1"/>
          <p:nvPr/>
        </p:nvSpPr>
        <p:spPr>
          <a:xfrm>
            <a:off x="1047175" y="3176788"/>
            <a:ext cx="7514100" cy="406200"/>
          </a:xfrm>
          <a:prstGeom prst="rect">
            <a:avLst/>
          </a:prstGeom>
          <a:noFill/>
          <a:ln>
            <a:noFill/>
          </a:ln>
        </p:spPr>
        <p:txBody>
          <a:bodyPr anchorCtr="0" anchor="t" bIns="91425" lIns="91425" spcFirstLastPara="1" rIns="91425" wrap="square" tIns="91425">
            <a:spAutoFit/>
          </a:bodyPr>
          <a:lstStyle/>
          <a:p>
            <a:pPr indent="-330200" lvl="0" marL="457200" rtl="0" algn="l">
              <a:lnSpc>
                <a:spcPct val="90000"/>
              </a:lnSpc>
              <a:spcBef>
                <a:spcPts val="0"/>
              </a:spcBef>
              <a:spcAft>
                <a:spcPts val="0"/>
              </a:spcAft>
              <a:buClr>
                <a:srgbClr val="333333"/>
              </a:buClr>
              <a:buSzPts val="1600"/>
              <a:buFont typeface="Noto Sans Symbols"/>
              <a:buChar char="●"/>
            </a:pPr>
            <a:r>
              <a:rPr lang="en" sz="1600">
                <a:solidFill>
                  <a:srgbClr val="333333"/>
                </a:solidFill>
                <a:latin typeface="Proxima Nova"/>
                <a:ea typeface="Proxima Nova"/>
                <a:cs typeface="Proxima Nova"/>
                <a:sym typeface="Proxima Nova"/>
              </a:rPr>
              <a:t>“WAN tests”: nodes are uniformly selected from different regions</a:t>
            </a:r>
            <a:endParaRPr sz="1600">
              <a:solidFill>
                <a:srgbClr val="333333"/>
              </a:solidFill>
              <a:latin typeface="Proxima Nova"/>
              <a:ea typeface="Proxima Nova"/>
              <a:cs typeface="Proxima Nova"/>
              <a:sym typeface="Proxima Nov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5"/>
          <p:cNvSpPr txBox="1"/>
          <p:nvPr>
            <p:ph type="ctrTitle"/>
          </p:nvPr>
        </p:nvSpPr>
        <p:spPr>
          <a:xfrm>
            <a:off x="1039047" y="459362"/>
            <a:ext cx="7641900" cy="338400"/>
          </a:xfrm>
          <a:prstGeom prst="rect">
            <a:avLst/>
          </a:prstGeom>
          <a:noFill/>
          <a:ln>
            <a:noFill/>
          </a:ln>
        </p:spPr>
        <p:txBody>
          <a:bodyPr anchorCtr="0" anchor="b" bIns="34275" lIns="68575" spcFirstLastPara="1" rIns="68575" wrap="square" tIns="34275">
            <a:noAutofit/>
          </a:bodyPr>
          <a:lstStyle/>
          <a:p>
            <a:pPr indent="0" lvl="0" marL="0" rtl="0" algn="l">
              <a:spcBef>
                <a:spcPts val="0"/>
              </a:spcBef>
              <a:spcAft>
                <a:spcPts val="0"/>
              </a:spcAft>
              <a:buClr>
                <a:srgbClr val="333333"/>
              </a:buClr>
              <a:buSzPts val="2100"/>
              <a:buFont typeface="Proxima Nova"/>
              <a:buNone/>
            </a:pPr>
            <a:r>
              <a:rPr lang="en" sz="2400"/>
              <a:t>Latency in LAN Settings</a:t>
            </a:r>
            <a:endParaRPr sz="2400"/>
          </a:p>
        </p:txBody>
      </p:sp>
      <p:pic>
        <p:nvPicPr>
          <p:cNvPr id="472" name="Google Shape;472;p65" title="1.png"/>
          <p:cNvPicPr preferRelativeResize="0"/>
          <p:nvPr/>
        </p:nvPicPr>
        <p:blipFill>
          <a:blip r:embed="rId3">
            <a:alphaModFix/>
          </a:blip>
          <a:stretch>
            <a:fillRect/>
          </a:stretch>
        </p:blipFill>
        <p:spPr>
          <a:xfrm>
            <a:off x="2153163" y="1059418"/>
            <a:ext cx="4837675" cy="3106075"/>
          </a:xfrm>
          <a:prstGeom prst="rect">
            <a:avLst/>
          </a:prstGeom>
          <a:noFill/>
          <a:ln>
            <a:noFill/>
          </a:ln>
        </p:spPr>
      </p:pic>
    </p:spTree>
  </p:cSld>
  <p:clrMapOvr>
    <a:masterClrMapping/>
  </p:clrMapOvr>
  <mc:AlternateContent>
    <mc:Choice Requires="p14">
      <p:transition p14:dur="100">
        <p:fade thruBlk="1"/>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6"/>
          <p:cNvSpPr txBox="1"/>
          <p:nvPr>
            <p:ph type="ctrTitle"/>
          </p:nvPr>
        </p:nvSpPr>
        <p:spPr>
          <a:xfrm>
            <a:off x="1039047" y="459362"/>
            <a:ext cx="7641900" cy="338400"/>
          </a:xfrm>
          <a:prstGeom prst="rect">
            <a:avLst/>
          </a:prstGeom>
          <a:noFill/>
          <a:ln>
            <a:noFill/>
          </a:ln>
        </p:spPr>
        <p:txBody>
          <a:bodyPr anchorCtr="0" anchor="b" bIns="34275" lIns="68575" spcFirstLastPara="1" rIns="68575" wrap="square" tIns="34275">
            <a:noAutofit/>
          </a:bodyPr>
          <a:lstStyle/>
          <a:p>
            <a:pPr indent="0" lvl="0" marL="0" rtl="0" algn="l">
              <a:spcBef>
                <a:spcPts val="0"/>
              </a:spcBef>
              <a:spcAft>
                <a:spcPts val="0"/>
              </a:spcAft>
              <a:buClr>
                <a:srgbClr val="333333"/>
              </a:buClr>
              <a:buSzPts val="2100"/>
              <a:buFont typeface="Proxima Nova"/>
              <a:buNone/>
            </a:pPr>
            <a:r>
              <a:rPr lang="en" sz="2400"/>
              <a:t>Throughput in LAN Setting ( </a:t>
            </a:r>
            <a:r>
              <a:rPr i="1" lang="en" sz="2400"/>
              <a:t>f </a:t>
            </a:r>
            <a:r>
              <a:rPr lang="en" sz="2400"/>
              <a:t>= 1 )</a:t>
            </a:r>
            <a:endParaRPr sz="2400"/>
          </a:p>
        </p:txBody>
      </p:sp>
      <p:pic>
        <p:nvPicPr>
          <p:cNvPr id="478" name="Google Shape;478;p66" title="2.png"/>
          <p:cNvPicPr preferRelativeResize="0"/>
          <p:nvPr/>
        </p:nvPicPr>
        <p:blipFill>
          <a:blip r:embed="rId3">
            <a:alphaModFix/>
          </a:blip>
          <a:stretch>
            <a:fillRect/>
          </a:stretch>
        </p:blipFill>
        <p:spPr>
          <a:xfrm>
            <a:off x="2264450" y="944075"/>
            <a:ext cx="5191101" cy="32553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7"/>
          <p:cNvSpPr txBox="1"/>
          <p:nvPr>
            <p:ph type="ctrTitle"/>
          </p:nvPr>
        </p:nvSpPr>
        <p:spPr>
          <a:xfrm>
            <a:off x="1039047" y="459362"/>
            <a:ext cx="7641900" cy="338400"/>
          </a:xfrm>
          <a:prstGeom prst="rect">
            <a:avLst/>
          </a:prstGeom>
          <a:noFill/>
          <a:ln>
            <a:noFill/>
          </a:ln>
        </p:spPr>
        <p:txBody>
          <a:bodyPr anchorCtr="0" anchor="b" bIns="34275" lIns="68575" spcFirstLastPara="1" rIns="68575" wrap="square" tIns="34275">
            <a:noAutofit/>
          </a:bodyPr>
          <a:lstStyle/>
          <a:p>
            <a:pPr indent="0" lvl="0" marL="0" rtl="0" algn="l">
              <a:spcBef>
                <a:spcPts val="0"/>
              </a:spcBef>
              <a:spcAft>
                <a:spcPts val="0"/>
              </a:spcAft>
              <a:buClr>
                <a:srgbClr val="333333"/>
              </a:buClr>
              <a:buSzPts val="2100"/>
              <a:buFont typeface="Proxima Nova"/>
              <a:buNone/>
            </a:pPr>
            <a:r>
              <a:rPr lang="en" sz="2400"/>
              <a:t>Throughput in WAN Setting ( </a:t>
            </a:r>
            <a:r>
              <a:rPr i="1" lang="en" sz="2400"/>
              <a:t>f </a:t>
            </a:r>
            <a:r>
              <a:rPr lang="en" sz="2400"/>
              <a:t>= 1 )</a:t>
            </a:r>
            <a:endParaRPr sz="2400"/>
          </a:p>
        </p:txBody>
      </p:sp>
      <p:pic>
        <p:nvPicPr>
          <p:cNvPr id="484" name="Google Shape;484;p67" title="3.png"/>
          <p:cNvPicPr preferRelativeResize="0"/>
          <p:nvPr/>
        </p:nvPicPr>
        <p:blipFill>
          <a:blip r:embed="rId3">
            <a:alphaModFix/>
          </a:blip>
          <a:stretch>
            <a:fillRect/>
          </a:stretch>
        </p:blipFill>
        <p:spPr>
          <a:xfrm>
            <a:off x="2465875" y="960502"/>
            <a:ext cx="4212250" cy="3222500"/>
          </a:xfrm>
          <a:prstGeom prst="rect">
            <a:avLst/>
          </a:prstGeom>
          <a:noFill/>
          <a:ln>
            <a:noFill/>
          </a:ln>
        </p:spPr>
      </p:pic>
      <p:pic>
        <p:nvPicPr>
          <p:cNvPr id="485" name="Google Shape;485;p67"/>
          <p:cNvPicPr preferRelativeResize="0"/>
          <p:nvPr/>
        </p:nvPicPr>
        <p:blipFill>
          <a:blip r:embed="rId3">
            <a:alphaModFix/>
          </a:blip>
          <a:stretch>
            <a:fillRect/>
          </a:stretch>
        </p:blipFill>
        <p:spPr>
          <a:xfrm>
            <a:off x="2402844" y="984923"/>
            <a:ext cx="4255224" cy="32553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8"/>
          <p:cNvSpPr txBox="1"/>
          <p:nvPr>
            <p:ph type="ctrTitle"/>
          </p:nvPr>
        </p:nvSpPr>
        <p:spPr>
          <a:xfrm>
            <a:off x="1039047" y="459362"/>
            <a:ext cx="7641900" cy="338400"/>
          </a:xfrm>
          <a:prstGeom prst="rect">
            <a:avLst/>
          </a:prstGeom>
          <a:noFill/>
          <a:ln>
            <a:noFill/>
          </a:ln>
        </p:spPr>
        <p:txBody>
          <a:bodyPr anchorCtr="0" anchor="b" bIns="34275" lIns="68575" spcFirstLastPara="1" rIns="68575" wrap="square" tIns="34275">
            <a:noAutofit/>
          </a:bodyPr>
          <a:lstStyle/>
          <a:p>
            <a:pPr indent="0" lvl="0" marL="0" rtl="0" algn="l">
              <a:spcBef>
                <a:spcPts val="0"/>
              </a:spcBef>
              <a:spcAft>
                <a:spcPts val="0"/>
              </a:spcAft>
              <a:buClr>
                <a:srgbClr val="333333"/>
              </a:buClr>
              <a:buSzPts val="2100"/>
              <a:buFont typeface="Proxima Nova"/>
              <a:buNone/>
            </a:pPr>
            <a:r>
              <a:rPr lang="en" sz="2400"/>
              <a:t>Scalability: BEAT3 vs. HoneyBadgerBFT</a:t>
            </a:r>
            <a:endParaRPr sz="2400"/>
          </a:p>
        </p:txBody>
      </p:sp>
      <p:pic>
        <p:nvPicPr>
          <p:cNvPr id="491" name="Google Shape;491;p68" title="4.png"/>
          <p:cNvPicPr preferRelativeResize="0"/>
          <p:nvPr/>
        </p:nvPicPr>
        <p:blipFill>
          <a:blip r:embed="rId3">
            <a:alphaModFix/>
          </a:blip>
          <a:stretch>
            <a:fillRect/>
          </a:stretch>
        </p:blipFill>
        <p:spPr>
          <a:xfrm>
            <a:off x="4292550" y="1034988"/>
            <a:ext cx="3841899" cy="3073525"/>
          </a:xfrm>
          <a:prstGeom prst="rect">
            <a:avLst/>
          </a:prstGeom>
          <a:noFill/>
          <a:ln>
            <a:noFill/>
          </a:ln>
        </p:spPr>
      </p:pic>
      <p:sp>
        <p:nvSpPr>
          <p:cNvPr id="492" name="Google Shape;492;p68"/>
          <p:cNvSpPr txBox="1"/>
          <p:nvPr/>
        </p:nvSpPr>
        <p:spPr>
          <a:xfrm>
            <a:off x="929650" y="956975"/>
            <a:ext cx="7474200" cy="1225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200"/>
              </a:spcBef>
              <a:spcAft>
                <a:spcPts val="0"/>
              </a:spcAft>
              <a:buClr>
                <a:srgbClr val="333333"/>
              </a:buClr>
              <a:buSzPts val="1800"/>
              <a:buFont typeface="Proxima Nova"/>
              <a:buChar char="●"/>
            </a:pPr>
            <a:r>
              <a:rPr lang="en" sz="1800">
                <a:solidFill>
                  <a:srgbClr val="333333"/>
                </a:solidFill>
                <a:latin typeface="Proxima Nova"/>
                <a:ea typeface="Proxima Nova"/>
                <a:cs typeface="Proxima Nova"/>
                <a:sym typeface="Proxima Nova"/>
              </a:rPr>
              <a:t>Solid lines: BEAT3</a:t>
            </a:r>
            <a:endParaRPr sz="1800">
              <a:solidFill>
                <a:srgbClr val="333333"/>
              </a:solidFill>
              <a:latin typeface="Proxima Nova"/>
              <a:ea typeface="Proxima Nova"/>
              <a:cs typeface="Proxima Nova"/>
              <a:sym typeface="Proxima Nova"/>
            </a:endParaRPr>
          </a:p>
          <a:p>
            <a:pPr indent="-342900" lvl="0" marL="457200" rtl="0" algn="l">
              <a:lnSpc>
                <a:spcPct val="115000"/>
              </a:lnSpc>
              <a:spcBef>
                <a:spcPts val="0"/>
              </a:spcBef>
              <a:spcAft>
                <a:spcPts val="0"/>
              </a:spcAft>
              <a:buClr>
                <a:srgbClr val="333333"/>
              </a:buClr>
              <a:buSzPts val="1800"/>
              <a:buFont typeface="Proxima Nova"/>
              <a:buChar char="●"/>
            </a:pPr>
            <a:r>
              <a:rPr lang="en" sz="1800">
                <a:solidFill>
                  <a:srgbClr val="333333"/>
                </a:solidFill>
                <a:latin typeface="Proxima Nova"/>
                <a:ea typeface="Proxima Nova"/>
                <a:cs typeface="Proxima Nova"/>
                <a:sym typeface="Proxima Nova"/>
              </a:rPr>
              <a:t>Dashed lines: HB</a:t>
            </a:r>
            <a:endParaRPr sz="1800">
              <a:solidFill>
                <a:srgbClr val="333333"/>
              </a:solidFill>
              <a:latin typeface="Proxima Nova"/>
              <a:ea typeface="Proxima Nova"/>
              <a:cs typeface="Proxima Nova"/>
              <a:sym typeface="Proxima Nova"/>
            </a:endParaRPr>
          </a:p>
          <a:p>
            <a:pPr indent="0" lvl="0" marL="0" rtl="0" algn="l">
              <a:lnSpc>
                <a:spcPct val="90000"/>
              </a:lnSpc>
              <a:spcBef>
                <a:spcPts val="1200"/>
              </a:spcBef>
              <a:spcAft>
                <a:spcPts val="0"/>
              </a:spcAft>
              <a:buNone/>
            </a:pPr>
            <a:r>
              <a:t/>
            </a:r>
            <a:endParaRPr sz="1800">
              <a:solidFill>
                <a:srgbClr val="333333"/>
              </a:solidFill>
              <a:latin typeface="Proxima Nova"/>
              <a:ea typeface="Proxima Nova"/>
              <a:cs typeface="Proxima Nova"/>
              <a:sym typeface="Proxima Nov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9"/>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What and why does the client encrypt in BEAT 2?</a:t>
            </a:r>
            <a:endParaRPr/>
          </a:p>
        </p:txBody>
      </p:sp>
      <p:sp>
        <p:nvSpPr>
          <p:cNvPr id="498" name="Google Shape;498;p69"/>
          <p:cNvSpPr txBox="1"/>
          <p:nvPr>
            <p:ph idx="1" type="body"/>
          </p:nvPr>
        </p:nvSpPr>
        <p:spPr>
          <a:xfrm>
            <a:off x="1047175" y="1571750"/>
            <a:ext cx="7737600" cy="2365800"/>
          </a:xfrm>
          <a:prstGeom prst="rect">
            <a:avLst/>
          </a:prstGeom>
          <a:noFill/>
          <a:ln>
            <a:noFill/>
          </a:ln>
        </p:spPr>
        <p:txBody>
          <a:bodyPr anchorCtr="0" anchor="t" bIns="34275" lIns="68575" spcFirstLastPara="1" rIns="68575" wrap="square" tIns="34275">
            <a:noAutofit/>
          </a:bodyPr>
          <a:lstStyle/>
          <a:p>
            <a:pPr indent="-311150" lvl="0" marL="457200" rtl="0" algn="l">
              <a:lnSpc>
                <a:spcPct val="150000"/>
              </a:lnSpc>
              <a:spcBef>
                <a:spcPts val="0"/>
              </a:spcBef>
              <a:spcAft>
                <a:spcPts val="0"/>
              </a:spcAft>
              <a:buSzPts val="1300"/>
              <a:buChar char="●"/>
            </a:pPr>
            <a:r>
              <a:rPr lang="en"/>
              <a:t>BEAT2 is the privacy-preserving, censorship-resistant variant of BEAT.</a:t>
            </a:r>
            <a:endParaRPr/>
          </a:p>
          <a:p>
            <a:pPr indent="-311150" lvl="0" marL="457200" rtl="0" algn="l">
              <a:lnSpc>
                <a:spcPct val="150000"/>
              </a:lnSpc>
              <a:spcBef>
                <a:spcPts val="0"/>
              </a:spcBef>
              <a:spcAft>
                <a:spcPts val="0"/>
              </a:spcAft>
              <a:buSzPts val="1300"/>
              <a:buChar char="●"/>
            </a:pPr>
            <a:r>
              <a:rPr lang="en"/>
              <a:t>The replicas should not see the </a:t>
            </a:r>
            <a:r>
              <a:rPr b="1" lang="en"/>
              <a:t>contents of the client’s request</a:t>
            </a:r>
            <a:r>
              <a:rPr lang="en"/>
              <a:t> until it is safely </a:t>
            </a:r>
            <a:r>
              <a:rPr b="1" lang="en"/>
              <a:t>committed</a:t>
            </a:r>
            <a:r>
              <a:rPr lang="en"/>
              <a:t>.</a:t>
            </a:r>
            <a:endParaRPr/>
          </a:p>
          <a:p>
            <a:pPr indent="-311150" lvl="0" marL="457200" rtl="0" algn="l">
              <a:lnSpc>
                <a:spcPct val="150000"/>
              </a:lnSpc>
              <a:spcBef>
                <a:spcPts val="0"/>
              </a:spcBef>
              <a:spcAft>
                <a:spcPts val="0"/>
              </a:spcAft>
              <a:buSzPts val="1300"/>
              <a:buChar char="●"/>
            </a:pPr>
            <a:r>
              <a:rPr lang="en"/>
              <a:t>The client encrypts the whole request with a symmetric key K, and then encrypts K using threshold public key encryption.</a:t>
            </a:r>
            <a:endParaRPr/>
          </a:p>
          <a:p>
            <a:pPr indent="-311150" lvl="1" marL="914400" rtl="0" algn="l">
              <a:lnSpc>
                <a:spcPct val="150000"/>
              </a:lnSpc>
              <a:spcBef>
                <a:spcPts val="0"/>
              </a:spcBef>
              <a:spcAft>
                <a:spcPts val="0"/>
              </a:spcAft>
              <a:buSzPts val="1300"/>
              <a:buChar char="○"/>
            </a:pPr>
            <a:r>
              <a:rPr lang="en"/>
              <a:t>This results in an </a:t>
            </a:r>
            <a:r>
              <a:rPr b="1" lang="en"/>
              <a:t>opaque blob</a:t>
            </a:r>
            <a:r>
              <a:rPr lang="en"/>
              <a:t> that replicas cannot read until commitment.</a:t>
            </a:r>
            <a:endParaRPr/>
          </a:p>
          <a:p>
            <a:pPr indent="0" lvl="0" marL="0" rtl="0" algn="l">
              <a:lnSpc>
                <a:spcPct val="150000"/>
              </a:lnSpc>
              <a:spcBef>
                <a:spcPts val="0"/>
              </a:spcBef>
              <a:spcAft>
                <a:spcPts val="0"/>
              </a:spcAft>
              <a:buNone/>
            </a:pPr>
            <a:r>
              <a:t/>
            </a:r>
            <a:endParaRPr/>
          </a:p>
        </p:txBody>
      </p:sp>
    </p:spTree>
  </p:cSld>
  <p:clrMapOvr>
    <a:masterClrMapping/>
  </p:clrMapOvr>
  <mc:AlternateContent>
    <mc:Choice Requires="p14">
      <p:transition p14:dur="100">
        <p:fade thruBlk="1"/>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0"/>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How does the client encrypt it?</a:t>
            </a:r>
            <a:endParaRPr/>
          </a:p>
        </p:txBody>
      </p:sp>
      <p:sp>
        <p:nvSpPr>
          <p:cNvPr id="504" name="Google Shape;504;p70"/>
          <p:cNvSpPr txBox="1"/>
          <p:nvPr>
            <p:ph idx="1" type="body"/>
          </p:nvPr>
        </p:nvSpPr>
        <p:spPr>
          <a:xfrm>
            <a:off x="1047175" y="1433225"/>
            <a:ext cx="7737600" cy="25689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None/>
            </a:pPr>
            <a:r>
              <a:rPr b="1" lang="en"/>
              <a:t>Layer 1 (Symmetric encryption): </a:t>
            </a:r>
            <a:endParaRPr b="1"/>
          </a:p>
          <a:p>
            <a:pPr indent="-311150" lvl="0" marL="457200" rtl="0" algn="l">
              <a:lnSpc>
                <a:spcPct val="150000"/>
              </a:lnSpc>
              <a:spcBef>
                <a:spcPts val="0"/>
              </a:spcBef>
              <a:spcAft>
                <a:spcPts val="0"/>
              </a:spcAft>
              <a:buSzPts val="1300"/>
              <a:buChar char="●"/>
            </a:pPr>
            <a:r>
              <a:rPr lang="en"/>
              <a:t>Generates a random symmetric key </a:t>
            </a:r>
            <a:r>
              <a:rPr b="1" lang="en"/>
              <a:t>K</a:t>
            </a:r>
            <a:endParaRPr b="1"/>
          </a:p>
          <a:p>
            <a:pPr indent="-311150" lvl="0" marL="457200" rtl="0" algn="l">
              <a:lnSpc>
                <a:spcPct val="150000"/>
              </a:lnSpc>
              <a:spcBef>
                <a:spcPts val="0"/>
              </a:spcBef>
              <a:spcAft>
                <a:spcPts val="0"/>
              </a:spcAft>
              <a:buSzPts val="1300"/>
              <a:buChar char="●"/>
            </a:pPr>
            <a:r>
              <a:rPr lang="en"/>
              <a:t>Encrypts the request payload</a:t>
            </a:r>
            <a:endParaRPr/>
          </a:p>
          <a:p>
            <a:pPr indent="0" lvl="0" marL="45720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b="1" lang="en"/>
              <a:t>Layer 2 — Threshold Encryption (Client + Replicas)</a:t>
            </a:r>
            <a:endParaRPr b="1"/>
          </a:p>
          <a:p>
            <a:pPr indent="-311150" lvl="0" marL="457200" rtl="0" algn="l">
              <a:lnSpc>
                <a:spcPct val="150000"/>
              </a:lnSpc>
              <a:spcBef>
                <a:spcPts val="0"/>
              </a:spcBef>
              <a:spcAft>
                <a:spcPts val="0"/>
              </a:spcAft>
              <a:buSzPts val="1300"/>
              <a:buChar char="●"/>
            </a:pPr>
            <a:r>
              <a:rPr lang="en"/>
              <a:t>Gets the threshold public key pk_T (system-wide)</a:t>
            </a:r>
            <a:endParaRPr/>
          </a:p>
          <a:p>
            <a:pPr indent="-311150" lvl="0" marL="457200" rtl="0" algn="l">
              <a:lnSpc>
                <a:spcPct val="150000"/>
              </a:lnSpc>
              <a:spcBef>
                <a:spcPts val="0"/>
              </a:spcBef>
              <a:spcAft>
                <a:spcPts val="0"/>
              </a:spcAft>
              <a:buSzPts val="1300"/>
              <a:buChar char="●"/>
            </a:pPr>
            <a:r>
              <a:rPr lang="en"/>
              <a:t>Encrypts the symmetric key:</a:t>
            </a:r>
            <a:endParaRPr/>
          </a:p>
        </p:txBody>
      </p:sp>
    </p:spTree>
  </p:cSld>
  <p:clrMapOvr>
    <a:masterClrMapping/>
  </p:clrMapOvr>
  <mc:AlternateContent>
    <mc:Choice Requires="p14">
      <p:transition p14:dur="100">
        <p:fade thruBlk="1"/>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1"/>
          <p:cNvSpPr txBox="1"/>
          <p:nvPr>
            <p:ph type="ctrTitle"/>
          </p:nvPr>
        </p:nvSpPr>
        <p:spPr>
          <a:xfrm>
            <a:off x="1047172" y="320987"/>
            <a:ext cx="7479300" cy="3384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2100"/>
              <a:buFont typeface="Proxima Nova"/>
              <a:buNone/>
            </a:pPr>
            <a:r>
              <a:rPr lang="en"/>
              <a:t>How does the Decryption happen?</a:t>
            </a:r>
            <a:endParaRPr/>
          </a:p>
        </p:txBody>
      </p:sp>
      <p:sp>
        <p:nvSpPr>
          <p:cNvPr id="510" name="Google Shape;510;p71"/>
          <p:cNvSpPr txBox="1"/>
          <p:nvPr>
            <p:ph idx="1" type="body"/>
          </p:nvPr>
        </p:nvSpPr>
        <p:spPr>
          <a:xfrm>
            <a:off x="1047175" y="1433225"/>
            <a:ext cx="6822300" cy="25689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None/>
            </a:pPr>
            <a:r>
              <a:rPr b="1" lang="en"/>
              <a:t>BEAT2 uses threshold decryption (t+1-of-n):</a:t>
            </a:r>
            <a:endParaRPr b="1"/>
          </a:p>
          <a:p>
            <a:pPr indent="-311150" lvl="0" marL="457200" rtl="0" algn="l">
              <a:lnSpc>
                <a:spcPct val="150000"/>
              </a:lnSpc>
              <a:spcBef>
                <a:spcPts val="0"/>
              </a:spcBef>
              <a:spcAft>
                <a:spcPts val="0"/>
              </a:spcAft>
              <a:buSzPts val="1300"/>
              <a:buChar char="●"/>
            </a:pPr>
            <a:r>
              <a:rPr lang="en"/>
              <a:t>Each replica holds one share of the private key</a:t>
            </a:r>
            <a:endParaRPr/>
          </a:p>
          <a:p>
            <a:pPr indent="-311150" lvl="0" marL="457200" rtl="0" algn="l">
              <a:lnSpc>
                <a:spcPct val="150000"/>
              </a:lnSpc>
              <a:spcBef>
                <a:spcPts val="0"/>
              </a:spcBef>
              <a:spcAft>
                <a:spcPts val="0"/>
              </a:spcAft>
              <a:buSzPts val="1300"/>
              <a:buChar char="●"/>
            </a:pPr>
            <a:r>
              <a:rPr lang="en"/>
              <a:t>No single replica can decrypt the request alone</a:t>
            </a:r>
            <a:endParaRPr/>
          </a:p>
          <a:p>
            <a:pPr indent="-311150" lvl="0" marL="457200" rtl="0" algn="l">
              <a:lnSpc>
                <a:spcPct val="150000"/>
              </a:lnSpc>
              <a:spcBef>
                <a:spcPts val="0"/>
              </a:spcBef>
              <a:spcAft>
                <a:spcPts val="0"/>
              </a:spcAft>
              <a:buSzPts val="1300"/>
              <a:buChar char="●"/>
            </a:pPr>
            <a:r>
              <a:rPr lang="en"/>
              <a:t>After consensus commits the request, replicas produce partial decryptions</a:t>
            </a:r>
            <a:endParaRPr/>
          </a:p>
          <a:p>
            <a:pPr indent="-311150" lvl="0" marL="457200" rtl="0" algn="l">
              <a:lnSpc>
                <a:spcPct val="150000"/>
              </a:lnSpc>
              <a:spcBef>
                <a:spcPts val="0"/>
              </a:spcBef>
              <a:spcAft>
                <a:spcPts val="0"/>
              </a:spcAft>
              <a:buSzPts val="1300"/>
              <a:buChar char="●"/>
            </a:pPr>
            <a:r>
              <a:rPr lang="en"/>
              <a:t>These partial decryptions are combined to recover the symmetric key K</a:t>
            </a:r>
            <a:endParaRPr/>
          </a:p>
          <a:p>
            <a:pPr indent="-311150" lvl="0" marL="457200" rtl="0" algn="l">
              <a:lnSpc>
                <a:spcPct val="150000"/>
              </a:lnSpc>
              <a:spcBef>
                <a:spcPts val="0"/>
              </a:spcBef>
              <a:spcAft>
                <a:spcPts val="0"/>
              </a:spcAft>
              <a:buSzPts val="1300"/>
              <a:buChar char="●"/>
            </a:pPr>
            <a:r>
              <a:rPr lang="en"/>
              <a:t>Then replicas can decrypt the actual payload</a:t>
            </a:r>
            <a:endParaRPr/>
          </a:p>
        </p:txBody>
      </p:sp>
    </p:spTree>
  </p:cSld>
  <p:clrMapOvr>
    <a:masterClrMapping/>
  </p:clrMapOvr>
  <mc:AlternateContent>
    <mc:Choice Requires="p14">
      <p:transition p14:dur="100">
        <p:fade thruBlk="1"/>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UC Davis Health">
      <a:dk1>
        <a:srgbClr val="1A3F68"/>
      </a:dk1>
      <a:lt1>
        <a:srgbClr val="FFFFFF"/>
      </a:lt1>
      <a:dk2>
        <a:srgbClr val="4C6988"/>
      </a:dk2>
      <a:lt2>
        <a:srgbClr val="F4E4B4"/>
      </a:lt2>
      <a:accent1>
        <a:srgbClr val="DEAA00"/>
      </a:accent1>
      <a:accent2>
        <a:srgbClr val="008FA8"/>
      </a:accent2>
      <a:accent3>
        <a:srgbClr val="682665"/>
      </a:accent3>
      <a:accent4>
        <a:srgbClr val="AB1D2C"/>
      </a:accent4>
      <a:accent5>
        <a:srgbClr val="F18A20"/>
      </a:accent5>
      <a:accent6>
        <a:srgbClr val="565659"/>
      </a:accent6>
      <a:hlink>
        <a:srgbClr val="221F21"/>
      </a:hlink>
      <a:folHlink>
        <a:srgbClr val="80828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