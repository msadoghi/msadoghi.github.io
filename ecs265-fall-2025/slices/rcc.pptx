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5143500" cx="9144000"/>
  <p:notesSz cx="6858000" cy="9144000"/>
  <p:embeddedFontLst>
    <p:embeddedFont>
      <p:font typeface="Roboto Slab"/>
      <p:regular r:id="rId57"/>
      <p:bold r:id="rId58"/>
    </p:embeddedFont>
    <p:embeddedFont>
      <p:font typeface="Roboto"/>
      <p:regular r:id="rId59"/>
      <p:bold r:id="rId60"/>
      <p:italic r:id="rId61"/>
      <p:boldItalic r:id="rId62"/>
    </p:embeddedFont>
    <p:embeddedFont>
      <p:font typeface="Average"/>
      <p:regular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50B8033-110F-470B-9C70-293B9FA0C6B0}">
  <a:tblStyle styleId="{E50B8033-110F-470B-9C70-293B9FA0C6B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boldItalic.fntdata"/><Relationship Id="rId61" Type="http://schemas.openxmlformats.org/officeDocument/2006/relationships/font" Target="fonts/Roboto-italic.fntdata"/><Relationship Id="rId20" Type="http://schemas.openxmlformats.org/officeDocument/2006/relationships/slide" Target="slides/slide14.xml"/><Relationship Id="rId63" Type="http://schemas.openxmlformats.org/officeDocument/2006/relationships/font" Target="fonts/Average-regular.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oboto-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RobotoSlab-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Roboto-regular.fntdata"/><Relationship Id="rId14" Type="http://schemas.openxmlformats.org/officeDocument/2006/relationships/slide" Target="slides/slide8.xml"/><Relationship Id="rId58" Type="http://schemas.openxmlformats.org/officeDocument/2006/relationships/font" Target="fonts/RobotoSlab-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949d50884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949d50884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blockchain technology becoming more popular, there was a surge in consensus-based systems due to the benefits they provide. </a:t>
            </a:r>
            <a:endParaRPr/>
          </a:p>
          <a:p>
            <a:pPr indent="0" lvl="0" marL="0" rtl="0" algn="l">
              <a:lnSpc>
                <a:spcPct val="115000"/>
              </a:lnSpc>
              <a:spcBef>
                <a:spcPts val="1200"/>
              </a:spcBef>
              <a:spcAft>
                <a:spcPts val="0"/>
              </a:spcAft>
              <a:buNone/>
            </a:pPr>
            <a:r>
              <a:rPr lang="en">
                <a:solidFill>
                  <a:schemeClr val="dk1"/>
                </a:solidFill>
              </a:rPr>
              <a:t>First, these systems offer </a:t>
            </a:r>
            <a:r>
              <a:rPr b="1" lang="en">
                <a:solidFill>
                  <a:schemeClr val="dk1"/>
                </a:solidFill>
              </a:rPr>
              <a:t>stronger resilience during failures</a:t>
            </a:r>
            <a:r>
              <a:rPr lang="en">
                <a:solidFill>
                  <a:schemeClr val="dk1"/>
                </a:solidFill>
              </a:rPr>
              <a:t>. Unlike traditional databases that may crash or become inconsistent when a node fails, consensus protocols ensure that the system continues to operate correctly — even if some participants are offline, misbehaving, or compromised.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Second, they provide </a:t>
            </a:r>
            <a:r>
              <a:rPr b="1" lang="en">
                <a:solidFill>
                  <a:schemeClr val="dk1"/>
                </a:solidFill>
              </a:rPr>
              <a:t>data provenance</a:t>
            </a:r>
            <a:r>
              <a:rPr lang="en">
                <a:solidFill>
                  <a:schemeClr val="dk1"/>
                </a:solidFill>
              </a:rPr>
              <a:t> — meaning we can track exactly who submitted, modified, or approved each piece of data.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Third, consensus enables </a:t>
            </a:r>
            <a:r>
              <a:rPr b="1" lang="en">
                <a:solidFill>
                  <a:schemeClr val="dk1"/>
                </a:solidFill>
              </a:rPr>
              <a:t>federated data processing</a:t>
            </a:r>
            <a:r>
              <a:rPr lang="en">
                <a:solidFill>
                  <a:schemeClr val="dk1"/>
                </a:solidFill>
              </a:rPr>
              <a:t>. That means independent organizations or nodes can collaborate on a shared dataset without giving up control. Each participant retains autonomy, but the system ensures consistent agreement across the board.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Together, these properties help prevent some major issues: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Software bugs</a:t>
            </a:r>
            <a:r>
              <a:rPr lang="en">
                <a:solidFill>
                  <a:schemeClr val="dk1"/>
                </a:solidFill>
              </a:rPr>
              <a:t> that might corrupt data or cause inconsistencies.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Cyberattacks</a:t>
            </a:r>
            <a:r>
              <a:rPr lang="en">
                <a:solidFill>
                  <a:schemeClr val="dk1"/>
                </a:solidFill>
              </a:rPr>
              <a:t>, where malicious actors try to manipulate or disrupt the system.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And </a:t>
            </a:r>
            <a:r>
              <a:rPr b="1" lang="en">
                <a:solidFill>
                  <a:schemeClr val="dk1"/>
                </a:solidFill>
              </a:rPr>
              <a:t>bad or erroneous data</a:t>
            </a:r>
            <a:r>
              <a:rPr lang="en">
                <a:solidFill>
                  <a:schemeClr val="dk1"/>
                </a:solidFill>
              </a:rPr>
              <a:t> being processed unchecked — which can have serious downstream consequences.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8bb39ba31f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8bb39ba31f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At a high level, </a:t>
            </a:r>
            <a:r>
              <a:rPr b="1" lang="en">
                <a:solidFill>
                  <a:schemeClr val="dk1"/>
                </a:solidFill>
              </a:rPr>
              <a:t>consensus protocols</a:t>
            </a:r>
            <a:r>
              <a:rPr lang="en">
                <a:solidFill>
                  <a:schemeClr val="dk1"/>
                </a:solidFill>
              </a:rPr>
              <a:t> allow a group of independent participants — often across different organizations or systems — to maintain a </a:t>
            </a:r>
            <a:r>
              <a:rPr b="1" lang="en">
                <a:solidFill>
                  <a:schemeClr val="dk1"/>
                </a:solidFill>
              </a:rPr>
              <a:t>shared, consistent transaction log</a:t>
            </a:r>
            <a:r>
              <a:rPr lang="en">
                <a:solidFill>
                  <a:schemeClr val="dk1"/>
                </a:solidFill>
              </a:rPr>
              <a:t>. This means every node agrees on the same sequence of transactions, even in the presence of failures or malicious behavior.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Now, many practical consensus protocols follow the </a:t>
            </a:r>
            <a:r>
              <a:rPr b="1" lang="en">
                <a:solidFill>
                  <a:schemeClr val="dk1"/>
                </a:solidFill>
              </a:rPr>
              <a:t>primary-backup design</a:t>
            </a:r>
            <a:r>
              <a:rPr lang="en">
                <a:solidFill>
                  <a:schemeClr val="dk1"/>
                </a:solidFill>
              </a:rPr>
              <a:t>. In this model, one node — called the </a:t>
            </a:r>
            <a:r>
              <a:rPr b="1" lang="en">
                <a:solidFill>
                  <a:schemeClr val="dk1"/>
                </a:solidFill>
              </a:rPr>
              <a:t>primary</a:t>
            </a:r>
            <a:r>
              <a:rPr lang="en">
                <a:solidFill>
                  <a:schemeClr val="dk1"/>
                </a:solidFill>
              </a:rPr>
              <a:t> — is responsible for proposing transactions. It broadcasts these proposals to all other replicas, who then validate and agree on them.</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Some well-known protocols in this category include: PBFT, ZYZZYVA, Hotstuff. </a:t>
            </a:r>
            <a:br>
              <a:rPr lang="en">
                <a:solidFill>
                  <a:schemeClr val="dk1"/>
                </a:solidFill>
              </a:rPr>
            </a:br>
            <a:r>
              <a:rPr lang="en">
                <a:solidFill>
                  <a:schemeClr val="dk1"/>
                </a:solidFill>
              </a:rPr>
              <a:t>Also there is </a:t>
            </a:r>
            <a:r>
              <a:rPr b="1" lang="en">
                <a:solidFill>
                  <a:schemeClr val="dk1"/>
                </a:solidFill>
              </a:rPr>
              <a:t>PoE</a:t>
            </a:r>
            <a:r>
              <a:rPr lang="en">
                <a:solidFill>
                  <a:schemeClr val="dk1"/>
                </a:solidFill>
              </a:rPr>
              <a:t> and </a:t>
            </a:r>
            <a:r>
              <a:rPr b="1" lang="en">
                <a:solidFill>
                  <a:schemeClr val="dk1"/>
                </a:solidFill>
              </a:rPr>
              <a:t>RBFT</a:t>
            </a:r>
            <a:r>
              <a:rPr lang="en">
                <a:solidFill>
                  <a:schemeClr val="dk1"/>
                </a:solidFill>
              </a:rPr>
              <a:t> — which introduce more dynamic or randomized mechanisms for switching primaries.</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8bff524de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8bff524de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400">
                <a:solidFill>
                  <a:schemeClr val="dk1"/>
                </a:solidFill>
                <a:latin typeface="Average"/>
                <a:ea typeface="Average"/>
                <a:cs typeface="Average"/>
                <a:sym typeface="Average"/>
              </a:rPr>
              <a:t>PBFT Recap:</a:t>
            </a:r>
            <a:endParaRPr sz="1400">
              <a:solidFill>
                <a:schemeClr val="dk1"/>
              </a:solidFill>
              <a:latin typeface="Average"/>
              <a:ea typeface="Average"/>
              <a:cs typeface="Average"/>
              <a:sym typeface="Average"/>
            </a:endParaRPr>
          </a:p>
          <a:p>
            <a:pPr indent="-317500" lvl="0" marL="457200" rtl="0" algn="l">
              <a:lnSpc>
                <a:spcPct val="100000"/>
              </a:lnSpc>
              <a:spcBef>
                <a:spcPts val="1200"/>
              </a:spcBef>
              <a:spcAft>
                <a:spcPts val="0"/>
              </a:spcAft>
              <a:buClr>
                <a:schemeClr val="dk1"/>
              </a:buClr>
              <a:buSzPts val="1400"/>
              <a:buFont typeface="Average"/>
              <a:buChar char="-"/>
            </a:pPr>
            <a:r>
              <a:rPr lang="en" sz="1400">
                <a:solidFill>
                  <a:schemeClr val="dk1"/>
                </a:solidFill>
                <a:latin typeface="Average"/>
                <a:ea typeface="Average"/>
                <a:cs typeface="Average"/>
                <a:sym typeface="Average"/>
              </a:rPr>
              <a:t>Single primary makes </a:t>
            </a:r>
            <a:r>
              <a:rPr b="1" lang="en" sz="1400">
                <a:solidFill>
                  <a:schemeClr val="dk1"/>
                </a:solidFill>
                <a:latin typeface="Average"/>
                <a:ea typeface="Average"/>
                <a:cs typeface="Average"/>
                <a:sym typeface="Average"/>
              </a:rPr>
              <a:t>proposals</a:t>
            </a:r>
            <a:endParaRPr b="1" sz="1400">
              <a:solidFill>
                <a:schemeClr val="dk1"/>
              </a:solidFill>
              <a:latin typeface="Average"/>
              <a:ea typeface="Average"/>
              <a:cs typeface="Average"/>
              <a:sym typeface="Average"/>
            </a:endParaRPr>
          </a:p>
          <a:p>
            <a:pPr indent="-317500" lvl="0" marL="457200" rtl="0" algn="l">
              <a:lnSpc>
                <a:spcPct val="100000"/>
              </a:lnSpc>
              <a:spcBef>
                <a:spcPts val="0"/>
              </a:spcBef>
              <a:spcAft>
                <a:spcPts val="0"/>
              </a:spcAft>
              <a:buClr>
                <a:schemeClr val="dk1"/>
              </a:buClr>
              <a:buSzPts val="1400"/>
              <a:buFont typeface="Average"/>
              <a:buChar char="●"/>
            </a:pPr>
            <a:r>
              <a:rPr b="1" lang="en" sz="1400">
                <a:solidFill>
                  <a:schemeClr val="dk1"/>
                </a:solidFill>
                <a:latin typeface="Average"/>
                <a:ea typeface="Average"/>
                <a:cs typeface="Average"/>
                <a:sym typeface="Average"/>
              </a:rPr>
              <a:t>Prepare phase</a:t>
            </a:r>
            <a:r>
              <a:rPr lang="en" sz="1400">
                <a:solidFill>
                  <a:schemeClr val="dk1"/>
                </a:solidFill>
                <a:latin typeface="Average"/>
                <a:ea typeface="Average"/>
                <a:cs typeface="Average"/>
                <a:sym typeface="Average"/>
              </a:rPr>
              <a:t> quadratic communication</a:t>
            </a:r>
            <a:endParaRPr sz="1400">
              <a:solidFill>
                <a:schemeClr val="dk1"/>
              </a:solidFill>
              <a:latin typeface="Average"/>
              <a:ea typeface="Average"/>
              <a:cs typeface="Average"/>
              <a:sym typeface="Average"/>
            </a:endParaRPr>
          </a:p>
          <a:p>
            <a:pPr indent="-317500" lvl="1" marL="914400" rtl="0" algn="l">
              <a:lnSpc>
                <a:spcPct val="100000"/>
              </a:lnSpc>
              <a:spcBef>
                <a:spcPts val="0"/>
              </a:spcBef>
              <a:spcAft>
                <a:spcPts val="0"/>
              </a:spcAft>
              <a:buClr>
                <a:schemeClr val="dk1"/>
              </a:buClr>
              <a:buSzPts val="1400"/>
              <a:buFont typeface="Average"/>
              <a:buChar char="○"/>
            </a:pPr>
            <a:r>
              <a:rPr lang="en" sz="1400">
                <a:solidFill>
                  <a:schemeClr val="dk1"/>
                </a:solidFill>
                <a:latin typeface="Average"/>
                <a:ea typeface="Average"/>
                <a:cs typeface="Average"/>
                <a:sym typeface="Average"/>
              </a:rPr>
              <a:t>Replicas determines whether primary is good</a:t>
            </a:r>
            <a:endParaRPr sz="1400">
              <a:solidFill>
                <a:schemeClr val="dk1"/>
              </a:solidFill>
              <a:latin typeface="Average"/>
              <a:ea typeface="Average"/>
              <a:cs typeface="Average"/>
              <a:sym typeface="Average"/>
            </a:endParaRPr>
          </a:p>
          <a:p>
            <a:pPr indent="-317500" lvl="1" marL="914400" rtl="0" algn="l">
              <a:lnSpc>
                <a:spcPct val="100000"/>
              </a:lnSpc>
              <a:spcBef>
                <a:spcPts val="0"/>
              </a:spcBef>
              <a:spcAft>
                <a:spcPts val="0"/>
              </a:spcAft>
              <a:buClr>
                <a:schemeClr val="dk1"/>
              </a:buClr>
              <a:buSzPts val="1400"/>
              <a:buFont typeface="Average"/>
              <a:buChar char="○"/>
            </a:pPr>
            <a:r>
              <a:rPr lang="en" sz="1400">
                <a:solidFill>
                  <a:schemeClr val="dk1"/>
                </a:solidFill>
                <a:latin typeface="Average"/>
                <a:ea typeface="Average"/>
                <a:cs typeface="Average"/>
                <a:sym typeface="Average"/>
              </a:rPr>
              <a:t>Backups are predetermined</a:t>
            </a:r>
            <a:endParaRPr sz="1400">
              <a:solidFill>
                <a:schemeClr val="dk1"/>
              </a:solidFill>
              <a:latin typeface="Average"/>
              <a:ea typeface="Average"/>
              <a:cs typeface="Average"/>
              <a:sym typeface="Average"/>
            </a:endParaRPr>
          </a:p>
          <a:p>
            <a:pPr indent="-317500" lvl="0" marL="457200" rtl="0" algn="l">
              <a:lnSpc>
                <a:spcPct val="100000"/>
              </a:lnSpc>
              <a:spcBef>
                <a:spcPts val="0"/>
              </a:spcBef>
              <a:spcAft>
                <a:spcPts val="0"/>
              </a:spcAft>
              <a:buClr>
                <a:schemeClr val="dk1"/>
              </a:buClr>
              <a:buSzPts val="1400"/>
              <a:buFont typeface="Average"/>
              <a:buChar char="●"/>
            </a:pPr>
            <a:r>
              <a:rPr b="1" lang="en" sz="1400">
                <a:solidFill>
                  <a:schemeClr val="dk1"/>
                </a:solidFill>
                <a:latin typeface="Average"/>
                <a:ea typeface="Average"/>
                <a:cs typeface="Average"/>
                <a:sym typeface="Average"/>
              </a:rPr>
              <a:t>Commit phase</a:t>
            </a:r>
            <a:r>
              <a:rPr lang="en" sz="1400">
                <a:solidFill>
                  <a:schemeClr val="dk1"/>
                </a:solidFill>
                <a:latin typeface="Average"/>
                <a:ea typeface="Average"/>
                <a:cs typeface="Average"/>
                <a:sym typeface="Average"/>
              </a:rPr>
              <a:t> quadratic communication</a:t>
            </a:r>
            <a:endParaRPr sz="1400">
              <a:solidFill>
                <a:schemeClr val="dk1"/>
              </a:solidFill>
              <a:latin typeface="Average"/>
              <a:ea typeface="Average"/>
              <a:cs typeface="Average"/>
              <a:sym typeface="Average"/>
            </a:endParaRPr>
          </a:p>
          <a:p>
            <a:pPr indent="-317500" lvl="1" marL="914400" rtl="0" algn="l">
              <a:lnSpc>
                <a:spcPct val="100000"/>
              </a:lnSpc>
              <a:spcBef>
                <a:spcPts val="0"/>
              </a:spcBef>
              <a:spcAft>
                <a:spcPts val="0"/>
              </a:spcAft>
              <a:buClr>
                <a:schemeClr val="dk1"/>
              </a:buClr>
              <a:buSzPts val="1400"/>
              <a:buFont typeface="Average"/>
              <a:buChar char="○"/>
            </a:pPr>
            <a:r>
              <a:rPr lang="en" sz="1400">
                <a:solidFill>
                  <a:schemeClr val="dk1"/>
                </a:solidFill>
                <a:latin typeface="Average"/>
                <a:ea typeface="Average"/>
                <a:cs typeface="Average"/>
                <a:sym typeface="Average"/>
              </a:rPr>
              <a:t>Reach consensus on what to commit</a:t>
            </a:r>
            <a:endParaRPr sz="1400">
              <a:solidFill>
                <a:schemeClr val="dk1"/>
              </a:solidFill>
              <a:latin typeface="Average"/>
              <a:ea typeface="Average"/>
              <a:cs typeface="Average"/>
              <a:sym typeface="Average"/>
            </a:endParaRPr>
          </a:p>
          <a:p>
            <a:pPr indent="-317500" lvl="0" marL="457200" rtl="0" algn="l">
              <a:lnSpc>
                <a:spcPct val="100000"/>
              </a:lnSpc>
              <a:spcBef>
                <a:spcPts val="0"/>
              </a:spcBef>
              <a:spcAft>
                <a:spcPts val="0"/>
              </a:spcAft>
              <a:buClr>
                <a:schemeClr val="dk1"/>
              </a:buClr>
              <a:buSzPts val="1400"/>
              <a:buFont typeface="Average"/>
              <a:buChar char="●"/>
            </a:pPr>
            <a:r>
              <a:rPr b="1" lang="en" sz="1400">
                <a:solidFill>
                  <a:schemeClr val="dk1"/>
                </a:solidFill>
                <a:latin typeface="Average"/>
                <a:ea typeface="Average"/>
                <a:cs typeface="Average"/>
                <a:sym typeface="Average"/>
              </a:rPr>
              <a:t>Inform phase - </a:t>
            </a:r>
            <a:r>
              <a:rPr lang="en" sz="1400">
                <a:solidFill>
                  <a:schemeClr val="dk1"/>
                </a:solidFill>
                <a:latin typeface="Average"/>
                <a:ea typeface="Average"/>
                <a:cs typeface="Average"/>
                <a:sym typeface="Average"/>
              </a:rPr>
              <a:t>All nodes inform the client</a:t>
            </a:r>
            <a:endParaRPr sz="1400">
              <a:solidFill>
                <a:schemeClr val="dk1"/>
              </a:solidFill>
              <a:latin typeface="Average"/>
              <a:ea typeface="Average"/>
              <a:cs typeface="Average"/>
              <a:sym typeface="Average"/>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8bff524d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8bff524d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PBFT relies on a single primary to propose all transactions. This creates a hard throughput ceiling as the system’s performance is bounded by the primary’s outgoing bandwidth and CPU (This is because the primary must propose/broadcast every transaction to all other n-1 replicas, and the other replicas can’t help the primary send it any faster.). As the number of replicas or client requests grows, the bottleneck worsens.</a:t>
            </a:r>
            <a:endParaRPr/>
          </a:p>
          <a:p>
            <a:pPr indent="-298450" lvl="0" marL="457200" rtl="0" algn="l">
              <a:spcBef>
                <a:spcPts val="0"/>
              </a:spcBef>
              <a:spcAft>
                <a:spcPts val="0"/>
              </a:spcAft>
              <a:buSzPts val="1100"/>
              <a:buAutoNum type="arabicPeriod"/>
            </a:pPr>
            <a:r>
              <a:rPr lang="en"/>
              <a:t>Progress depends on the primary behaving correctly and promptly. If the primary is slow or faulty, the system halts until a view change occurs. This means PBFT lacks wait-free behavior and one bad actor can stall everyone.</a:t>
            </a:r>
            <a:endParaRPr/>
          </a:p>
          <a:p>
            <a:pPr indent="-298450" lvl="0" marL="457200" rtl="0" algn="l">
              <a:spcBef>
                <a:spcPts val="0"/>
              </a:spcBef>
              <a:spcAft>
                <a:spcPts val="0"/>
              </a:spcAft>
              <a:buSzPts val="1100"/>
              <a:buAutoNum type="arabicPeriod"/>
            </a:pPr>
            <a:r>
              <a:rPr lang="en"/>
              <a:t>Each consensus round requires O(n^2) message exchanges because of the PREPARE, and COMMIT being exchanged. This quadratic cost limits scalability </a:t>
            </a:r>
            <a:r>
              <a:rPr lang="en"/>
              <a:t>beyond</a:t>
            </a:r>
            <a:r>
              <a:rPr lang="en"/>
              <a:t> a few dozen replicas. NOTE: PREPREPARE is </a:t>
            </a:r>
            <a:r>
              <a:rPr i="1" lang="en"/>
              <a:t>linear</a:t>
            </a:r>
            <a:r>
              <a:rPr lang="en"/>
              <a:t> proposal phase, not quadratic. </a:t>
            </a:r>
            <a:endParaRPr/>
          </a:p>
          <a:p>
            <a:pPr indent="-298450" lvl="0" marL="457200" rtl="0" algn="l">
              <a:spcBef>
                <a:spcPts val="0"/>
              </a:spcBef>
              <a:spcAft>
                <a:spcPts val="0"/>
              </a:spcAft>
              <a:buSzPts val="1100"/>
              <a:buAutoNum type="arabicPeriod"/>
            </a:pPr>
            <a:r>
              <a:rPr lang="en"/>
              <a:t>When a primary fails, all replicas must synchronize to elect a new one and recover state. This global coordination is sensitive to network partitions and could end up causing long stalls.</a:t>
            </a:r>
            <a:endParaRPr/>
          </a:p>
          <a:p>
            <a:pPr indent="-298450" lvl="0" marL="457200" rtl="0" algn="l">
              <a:spcBef>
                <a:spcPts val="0"/>
              </a:spcBef>
              <a:spcAft>
                <a:spcPts val="0"/>
              </a:spcAft>
              <a:buSzPts val="1100"/>
              <a:buAutoNum type="arabicPeriod"/>
            </a:pPr>
            <a:r>
              <a:rPr lang="en"/>
              <a:t>PBFT processes one ordered sequence of transactions at a time. There’s no native support for concurrent proposals or parallelism.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8bff524de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8bff524de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deal with the underutilization of resources and the low throughput of primary-backup consensus, the authors proposed concurrent consensus. Specifically, a design for a system that is optimized for high-throughput scenarios in which a plentitude of transactions are available, and every replica is a concurrent primary that is responsible for proposing and replicating some of these transactions.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949d50884a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949d50884a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Let me illustrate the difference between PBFT and RCC using something we might be more familiar with: TSA airport security.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PBFT is like having a single TSA officer</a:t>
            </a:r>
            <a:r>
              <a:rPr lang="en">
                <a:solidFill>
                  <a:schemeClr val="dk1"/>
                </a:solidFill>
              </a:rPr>
              <a:t> who checks everyone’s ticket and ID before they’re allowed to proceed to screening. No matter how many passengers are waiting, they all have to go through one officer. If that officer slows down, gets distracted, or goes on break, then the line can stall.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imagine </a:t>
            </a:r>
            <a:r>
              <a:rPr b="1" lang="en">
                <a:solidFill>
                  <a:schemeClr val="dk1"/>
                </a:solidFill>
              </a:rPr>
              <a:t>RCC as a TSA setup</a:t>
            </a:r>
            <a:r>
              <a:rPr lang="en">
                <a:solidFill>
                  <a:schemeClr val="dk1"/>
                </a:solidFill>
              </a:rPr>
              <a:t>: multiple officers working in parallel, each checking tickets and IDs independently. Each officer directs passengers to their own screening lane. If one officer or lane slows down, the others keep moving.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49d50884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49d50884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fundamental problem in PBFT is </a:t>
            </a:r>
            <a:r>
              <a:rPr i="1" lang="en">
                <a:solidFill>
                  <a:schemeClr val="dk1"/>
                </a:solidFill>
              </a:rPr>
              <a:t>serial leadership</a:t>
            </a:r>
            <a:r>
              <a:rPr lang="en">
                <a:solidFill>
                  <a:schemeClr val="dk1"/>
                </a:solidFill>
              </a:rPr>
              <a:t>. Only one primary drives consensus, leaving the others mostly passive.</a:t>
            </a:r>
            <a:br>
              <a:rPr lang="en">
                <a:solidFill>
                  <a:schemeClr val="dk1"/>
                </a:solidFill>
              </a:rPr>
            </a:br>
            <a:r>
              <a:rPr lang="en">
                <a:solidFill>
                  <a:schemeClr val="dk1"/>
                </a:solidFill>
              </a:rPr>
              <a:t> By contrast, RCC turns every replica into a potential leader of its own consensus instance. This design makes better use of system resources — instead of one primary pushing large batches, multiple primaries each push smaller ones in parallel.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has three practical effects: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Reduced latency:</a:t>
            </a:r>
            <a:r>
              <a:rPr lang="en">
                <a:solidFill>
                  <a:schemeClr val="dk1"/>
                </a:solidFill>
              </a:rPr>
              <a:t> smaller batches commit faster.</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Higher throughput:</a:t>
            </a:r>
            <a:r>
              <a:rPr lang="en">
                <a:solidFill>
                  <a:schemeClr val="dk1"/>
                </a:solidFill>
              </a:rPr>
              <a:t> multiple lanes of consensus run at once.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Scalability:</a:t>
            </a:r>
            <a:r>
              <a:rPr lang="en">
                <a:solidFill>
                  <a:schemeClr val="dk1"/>
                </a:solidFill>
              </a:rPr>
              <a:t> as you add replicas, you add bandwidth and CPU capacity for new concurrent instances.</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You can also note that this model improves resilience: if one primary fails or slows down, others continue proposing without waiting for a global view change — sustaining wait-free progress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949d50884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949d50884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None/>
            </a:pPr>
            <a:r>
              <a:rPr lang="en" sz="1400">
                <a:solidFill>
                  <a:schemeClr val="dk1"/>
                </a:solidFill>
                <a:latin typeface="Times New Roman"/>
                <a:ea typeface="Times New Roman"/>
                <a:cs typeface="Times New Roman"/>
                <a:sym typeface="Times New Roman"/>
              </a:rPr>
              <a:t>W</a:t>
            </a:r>
            <a:r>
              <a:rPr lang="en" sz="1400">
                <a:solidFill>
                  <a:schemeClr val="dk1"/>
                </a:solidFill>
                <a:latin typeface="Times New Roman"/>
                <a:ea typeface="Times New Roman"/>
                <a:cs typeface="Times New Roman"/>
                <a:sym typeface="Times New Roman"/>
              </a:rPr>
              <a:t>e make every replica a concurrent primary that is responsible for proposing and replicating some of these transactions. As we have nf non-faulty replicas, we can expect to always concurrently propose at least nf transactions if sufficient transactions are available.</a:t>
            </a:r>
            <a:endParaRPr sz="14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949d50884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949d50884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concurrent processing can theoretically improve throughput.</a:t>
            </a:r>
            <a:endParaRPr/>
          </a:p>
          <a:p>
            <a:pPr indent="0" lvl="0" marL="0" rtl="0" algn="l">
              <a:spcBef>
                <a:spcPts val="0"/>
              </a:spcBef>
              <a:spcAft>
                <a:spcPts val="0"/>
              </a:spcAft>
              <a:buNone/>
            </a:pPr>
            <a:r>
              <a:rPr lang="en"/>
              <a:t>Unfortunately, other primary backup consensus protocols underutilize available network resources, preventing maximum txn throughput, i.e., throughput is determined by outgoing bandwidth of primary.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maximum throughput T</a:t>
            </a:r>
            <a:r>
              <a:rPr baseline="-25000" lang="en"/>
              <a:t>max</a:t>
            </a:r>
            <a:r>
              <a:rPr lang="en"/>
              <a:t> of any such protocol is determined by the outgoing bandwidth B of the primary, the number of replicas n, and the size of transactions. </a:t>
            </a: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It’s a theoretical ceiling, not achievable in practice because it needs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Substantial state exchange</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T</a:t>
            </a:r>
            <a:r>
              <a:rPr baseline="-25000" lang="en"/>
              <a:t>PBFT</a:t>
            </a:r>
            <a:r>
              <a:rPr lang="en"/>
              <a:t>: Minimum amt state exchange (two rounds, prepare, commit). Quadratic messages. To minimize overhead, typical implementations of PBFT group hundreds of transactions together, assuring that st &gt;&gt; sm. And so T</a:t>
            </a:r>
            <a:r>
              <a:rPr baseline="-25000" lang="en"/>
              <a:t>max</a:t>
            </a:r>
            <a:r>
              <a:rPr lang="en"/>
              <a:t> ~=~ T</a:t>
            </a:r>
            <a:r>
              <a:rPr baseline="-25000" lang="en"/>
              <a:t>PBFT</a:t>
            </a:r>
            <a:endParaRPr baseline="-25000"/>
          </a:p>
          <a:p>
            <a:pPr indent="0" lvl="0" marL="0" rtl="0" algn="l">
              <a:spcBef>
                <a:spcPts val="0"/>
              </a:spcBef>
              <a:spcAft>
                <a:spcPts val="0"/>
              </a:spcAft>
              <a:buNone/>
            </a:pPr>
            <a:r>
              <a:t/>
            </a:r>
            <a:endParaRPr baseline="-25000"/>
          </a:p>
          <a:p>
            <a:pPr indent="0" lvl="0" marL="0" rtl="0" algn="l">
              <a:spcBef>
                <a:spcPts val="0"/>
              </a:spcBef>
              <a:spcAft>
                <a:spcPts val="0"/>
              </a:spcAft>
              <a:buNone/>
            </a:pPr>
            <a:r>
              <a:rPr lang="en"/>
              <a:t>Tcmax: The idea of concurrent proposals introduces a protocol where all replicas propose transactions, but without state exchange. However this is unrealistic.</a:t>
            </a:r>
            <a:endParaRPr/>
          </a:p>
          <a:p>
            <a:pPr indent="0" lvl="0" marL="0" rtl="0" algn="l">
              <a:spcBef>
                <a:spcPts val="0"/>
              </a:spcBef>
              <a:spcAft>
                <a:spcPts val="0"/>
              </a:spcAft>
              <a:buNone/>
            </a:pPr>
            <a:r>
              <a:t/>
            </a:r>
            <a:endParaRPr/>
          </a:p>
          <a:p>
            <a:pPr indent="0" lvl="0" marL="0" rtl="0" algn="l">
              <a:spcBef>
                <a:spcPts val="0"/>
              </a:spcBef>
              <a:spcAft>
                <a:spcPts val="0"/>
              </a:spcAft>
              <a:buClr>
                <a:srgbClr val="000000"/>
              </a:buClr>
              <a:buSzPts val="1100"/>
              <a:buFont typeface="Arial"/>
              <a:buNone/>
            </a:pPr>
            <a:r>
              <a:rPr lang="en"/>
              <a:t>TcPBFT: combines the idea of concurrency with the PBFT protocol to ensure state exchange and security/resiliency.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graphs are best-case upper bounds focused on bandwidth usage (realistically they are limited by memory buffer and computational power).</a:t>
            </a:r>
            <a:endParaRPr/>
          </a:p>
          <a:p>
            <a:pPr indent="0" lvl="0" marL="0" rtl="0" algn="l">
              <a:spcBef>
                <a:spcPts val="0"/>
              </a:spcBef>
              <a:spcAft>
                <a:spcPts val="0"/>
              </a:spcAft>
              <a:buNone/>
            </a:pPr>
            <a:br>
              <a:rPr lang="en"/>
            </a:br>
            <a:r>
              <a:rPr b="1" lang="en">
                <a:solidFill>
                  <a:schemeClr val="dk1"/>
                </a:solidFill>
              </a:rPr>
              <a:t>Black Line — </a:t>
            </a:r>
            <a:r>
              <a:rPr lang="en">
                <a:solidFill>
                  <a:schemeClr val="dk1"/>
                </a:solidFill>
              </a:rPr>
              <a:t>Tmax This is the </a:t>
            </a:r>
            <a:r>
              <a:rPr b="1" lang="en">
                <a:solidFill>
                  <a:schemeClr val="dk1"/>
                </a:solidFill>
              </a:rPr>
              <a:t>ideal throughput</a:t>
            </a:r>
            <a:r>
              <a:rPr lang="en">
                <a:solidFill>
                  <a:schemeClr val="dk1"/>
                </a:solidFill>
              </a:rPr>
              <a:t> of a single primary if it only had to broadcast transactions — no consensus, no state exchange.</a:t>
            </a:r>
            <a:endParaRPr>
              <a:solidFill>
                <a:schemeClr val="dk1"/>
              </a:solidFill>
            </a:endParaRPr>
          </a:p>
          <a:p>
            <a:pPr indent="0" lvl="0" marL="0" rtl="0" algn="l">
              <a:spcBef>
                <a:spcPts val="0"/>
              </a:spcBef>
              <a:spcAft>
                <a:spcPts val="0"/>
              </a:spcAft>
              <a:buNone/>
            </a:pPr>
            <a:r>
              <a:rPr b="1" lang="en">
                <a:solidFill>
                  <a:schemeClr val="dk1"/>
                </a:solidFill>
              </a:rPr>
              <a:t>Red Line — </a:t>
            </a:r>
            <a:r>
              <a:rPr lang="en">
                <a:solidFill>
                  <a:schemeClr val="dk1"/>
                </a:solidFill>
              </a:rPr>
              <a:t>TPBFT. This is the throughput of </a:t>
            </a:r>
            <a:r>
              <a:rPr b="1" lang="en">
                <a:solidFill>
                  <a:schemeClr val="dk1"/>
                </a:solidFill>
              </a:rPr>
              <a:t>PBFT</a:t>
            </a:r>
            <a:r>
              <a:rPr lang="en">
                <a:solidFill>
                  <a:schemeClr val="dk1"/>
                </a:solidFill>
              </a:rPr>
              <a:t>, which includes quadratic messaging overhead: PREPARE and COMMIT messages. Throughput drops sharply as n increases.</a:t>
            </a:r>
            <a:br>
              <a:rPr lang="en">
                <a:solidFill>
                  <a:schemeClr val="dk1"/>
                </a:solidFill>
              </a:rPr>
            </a:br>
            <a:r>
              <a:rPr b="1" lang="en">
                <a:solidFill>
                  <a:schemeClr val="dk1"/>
                </a:solidFill>
              </a:rPr>
              <a:t>Blue Line — </a:t>
            </a:r>
            <a:r>
              <a:rPr lang="en">
                <a:solidFill>
                  <a:schemeClr val="dk1"/>
                </a:solidFill>
              </a:rPr>
              <a:t>Tcmax. This is the </a:t>
            </a:r>
            <a:r>
              <a:rPr b="1" lang="en">
                <a:solidFill>
                  <a:schemeClr val="dk1"/>
                </a:solidFill>
              </a:rPr>
              <a:t>ideal concurrent throughput</a:t>
            </a:r>
            <a:r>
              <a:rPr lang="en">
                <a:solidFill>
                  <a:schemeClr val="dk1"/>
                </a:solidFill>
              </a:rPr>
              <a:t> with nf=2f+1nf = 2f + 1 primaries, each proposing in parallel, but </a:t>
            </a:r>
            <a:r>
              <a:rPr b="1" lang="en">
                <a:solidFill>
                  <a:schemeClr val="dk1"/>
                </a:solidFill>
              </a:rPr>
              <a:t>without state exchange </a:t>
            </a:r>
            <a:r>
              <a:rPr lang="en">
                <a:solidFill>
                  <a:schemeClr val="dk1"/>
                </a:solidFill>
              </a:rPr>
              <a:t>. It shows how concurrency can break the single-primary bottleneck.</a:t>
            </a:r>
            <a:br>
              <a:rPr lang="en">
                <a:solidFill>
                  <a:schemeClr val="dk1"/>
                </a:solidFill>
              </a:rPr>
            </a:br>
            <a:r>
              <a:rPr b="1" lang="en">
                <a:solidFill>
                  <a:schemeClr val="dk1"/>
                </a:solidFill>
              </a:rPr>
              <a:t>Green Line — </a:t>
            </a:r>
            <a:r>
              <a:rPr lang="en">
                <a:solidFill>
                  <a:schemeClr val="dk1"/>
                </a:solidFill>
              </a:rPr>
              <a:t>TcPBFT. This is RCC’s </a:t>
            </a:r>
            <a:r>
              <a:rPr b="1" lang="en">
                <a:solidFill>
                  <a:schemeClr val="dk1"/>
                </a:solidFill>
              </a:rPr>
              <a:t>realistic throughput</a:t>
            </a:r>
            <a:r>
              <a:rPr lang="en">
                <a:solidFill>
                  <a:schemeClr val="dk1"/>
                </a:solidFill>
              </a:rPr>
              <a:t>, using PBFT-style state exchange in each instance. It’s lower than the blue line, but still far above PBFT.</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8bff524de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8bff524de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Let’s now look at the design principles behind RCC.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D1: RCC ensures that all replicas agree not just on </a:t>
            </a:r>
            <a:r>
              <a:rPr i="1" lang="en">
                <a:solidFill>
                  <a:schemeClr val="dk1"/>
                </a:solidFill>
              </a:rPr>
              <a:t>which</a:t>
            </a:r>
            <a:r>
              <a:rPr lang="en">
                <a:solidFill>
                  <a:schemeClr val="dk1"/>
                </a:solidFill>
              </a:rPr>
              <a:t> transactions to execute, but also on </a:t>
            </a:r>
            <a:r>
              <a:rPr i="1" lang="en">
                <a:solidFill>
                  <a:schemeClr val="dk1"/>
                </a:solidFill>
              </a:rPr>
              <a:t>the order</a:t>
            </a:r>
            <a:r>
              <a:rPr lang="en">
                <a:solidFill>
                  <a:schemeClr val="dk1"/>
                </a:solidFill>
              </a:rPr>
              <a:t> in which they’re executed. This is critical for consistency as even though proposals happen concurrently, the final execution order is </a:t>
            </a:r>
            <a:r>
              <a:rPr b="1" lang="en">
                <a:solidFill>
                  <a:schemeClr val="dk1"/>
                </a:solidFill>
              </a:rPr>
              <a:t>deterministically computed</a:t>
            </a:r>
            <a:r>
              <a:rPr lang="en">
                <a:solidFill>
                  <a:schemeClr val="dk1"/>
                </a:solidFill>
              </a:rPr>
              <a:t>, so all replicas reach the same state. Without deterministic ordering, concurrency would lead to divergent states and RCC avoids that entirely.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D2: Clients aren’t passive. RCC lets them </a:t>
            </a:r>
            <a:r>
              <a:rPr b="1" lang="en">
                <a:solidFill>
                  <a:schemeClr val="dk1"/>
                </a:solidFill>
              </a:rPr>
              <a:t>force execution</a:t>
            </a:r>
            <a:r>
              <a:rPr lang="en">
                <a:solidFill>
                  <a:schemeClr val="dk1"/>
                </a:solidFill>
              </a:rPr>
              <a:t> and learn the outcome of their transactions. Even if their assigned primary fails, they can broadcast their request and trigger recovery. This keeps the system live and responsive as no client gets stuck waiting.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D3: RCC isn’t a single protocol, it’s a </a:t>
            </a:r>
            <a:r>
              <a:rPr b="1" lang="en">
                <a:solidFill>
                  <a:schemeClr val="dk1"/>
                </a:solidFill>
              </a:rPr>
              <a:t>design paradigm</a:t>
            </a:r>
            <a:r>
              <a:rPr lang="en">
                <a:solidFill>
                  <a:schemeClr val="dk1"/>
                </a:solidFill>
              </a:rPr>
              <a:t>. You can apply it to PBFT, ZYZZYVA, HOTSTUFF, or any primary-backup protocol without starting from scratch.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D4: Non-faulty replicas propose transactions independently, at maximum throughput, using their available resources. This ensures that good replicas stay active  even if others are slow or malicious.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D5: If a replica crashes or misbehaves, only its consensus instance is affected. The rest of the system continues operating normally. This prevents cascading failures and keeps the system robust under attack.</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949d50884a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949d50884a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At the heart of PBFT is a three-phase protocol: one primary proposes, and the replicas go through Prepare, Commit, and then Execute. This ensures Byzantine agreement, but it’s inherently sequential — only one proposal per round.</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RCC preserves this structure, but </a:t>
            </a:r>
            <a:r>
              <a:rPr b="1" lang="en">
                <a:solidFill>
                  <a:schemeClr val="dk1"/>
                </a:solidFill>
              </a:rPr>
              <a:t>runs many PBFT instances in parallel</a:t>
            </a:r>
            <a:r>
              <a:rPr lang="en">
                <a:solidFill>
                  <a:schemeClr val="dk1"/>
                </a:solidFill>
              </a:rPr>
              <a:t>. Each replica becomes the primary of its own instance, meaning multiple proposals can be in flight at once. To maintain consistency, RCC introduces a </a:t>
            </a:r>
            <a:r>
              <a:rPr b="1" lang="en">
                <a:solidFill>
                  <a:schemeClr val="dk1"/>
                </a:solidFill>
              </a:rPr>
              <a:t>deterministic ordering phase</a:t>
            </a:r>
            <a:r>
              <a:rPr lang="en">
                <a:solidFill>
                  <a:schemeClr val="dk1"/>
                </a:solidFill>
              </a:rPr>
              <a:t>. After all proposals are replicated, replicas apply a shared function to merge them into a single global sequence. This ensures that all replicas execute the same transactions in the same order — even though they were proposed concurrently.</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949d50884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949d50884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A1 — Meaningful Progress</a:t>
            </a:r>
            <a:br>
              <a:rPr b="1" lang="en">
                <a:solidFill>
                  <a:schemeClr val="dk1"/>
                </a:solidFill>
              </a:rPr>
            </a:br>
            <a:r>
              <a:rPr lang="en">
                <a:solidFill>
                  <a:schemeClr val="dk1"/>
                </a:solidFill>
              </a:rPr>
              <a:t> If a consensus instance finishes successfully, it must have been accepted by a large enough group of correct replicas, typically at least n-f. That ensures the decision isn’t “fragile” or lost if a few replicas crash.</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RCC runs many consensus instances in parallel. For progress to count, each instance’s result must be </a:t>
            </a:r>
            <a:r>
              <a:rPr i="1" lang="en">
                <a:solidFill>
                  <a:schemeClr val="dk1"/>
                </a:solidFill>
              </a:rPr>
              <a:t>recoverable and durable</a:t>
            </a:r>
            <a:r>
              <a:rPr lang="en">
                <a:solidFill>
                  <a:schemeClr val="dk1"/>
                </a:solidFill>
              </a:rPr>
              <a:t> — not something that could vanish with one or two node failures.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A1 guarantees that every successful instance has enough honest participants that its decision can later be reconstructed or validated by others. }</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A2 — Consistency and Safety</a:t>
            </a:r>
            <a:br>
              <a:rPr b="1" lang="en">
                <a:solidFill>
                  <a:schemeClr val="dk1"/>
                </a:solidFill>
              </a:rPr>
            </a:br>
            <a:r>
              <a:rPr lang="en">
                <a:solidFill>
                  <a:schemeClr val="dk1"/>
                </a:solidFill>
              </a:rPr>
              <a:t> All correct replicas that accepted in the same round agreed on the </a:t>
            </a:r>
            <a:r>
              <a:rPr i="1" lang="en">
                <a:solidFill>
                  <a:schemeClr val="dk1"/>
                </a:solidFill>
              </a:rPr>
              <a:t>same</a:t>
            </a:r>
            <a:r>
              <a:rPr lang="en">
                <a:solidFill>
                  <a:schemeClr val="dk1"/>
                </a:solidFill>
              </a:rPr>
              <a:t> value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This is the </a:t>
            </a:r>
            <a:r>
              <a:rPr b="1" lang="en">
                <a:solidFill>
                  <a:schemeClr val="dk1"/>
                </a:solidFill>
              </a:rPr>
              <a:t>safety guarantee</a:t>
            </a:r>
            <a:r>
              <a:rPr lang="en">
                <a:solidFill>
                  <a:schemeClr val="dk1"/>
                </a:solidFill>
              </a:rPr>
              <a:t> — the foundation of Byzantine consensus. Without A2, two replicas could commit different transactions for the same instance, breaking consistency across the system. A2 ensures that no two correct replicas ever diverge once an instance reaches the “prepared” or “committed” state.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A3 — Recoverability</a:t>
            </a:r>
            <a:br>
              <a:rPr b="1" lang="en">
                <a:solidFill>
                  <a:schemeClr val="dk1"/>
                </a:solidFill>
              </a:rPr>
            </a:br>
            <a:r>
              <a:rPr lang="en">
                <a:solidFill>
                  <a:schemeClr val="dk1"/>
                </a:solidFill>
              </a:rPr>
              <a:t> Lagging replicas can recover any accepted transaction from other correct replicas → avoids blocking due to crashes or message delays.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once a transaction is accepted by correct replicas, its data (and proof of acceptance) is </a:t>
            </a:r>
            <a:r>
              <a:rPr b="1" lang="en">
                <a:solidFill>
                  <a:schemeClr val="dk1"/>
                </a:solidFill>
              </a:rPr>
              <a:t>safely distributed</a:t>
            </a:r>
            <a:r>
              <a:rPr lang="en">
                <a:solidFill>
                  <a:schemeClr val="dk1"/>
                </a:solidFill>
              </a:rPr>
              <a:t> among enough other replicas that any lagging or “in-the-dark” replica can later reconstruct it.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In PBFT, if one node lags or misses a commit message, a view change might be required to resynchronize, and this pauses the entire system. In RCC, A3 ensures recovery is </a:t>
            </a:r>
            <a:r>
              <a:rPr b="1" lang="en">
                <a:solidFill>
                  <a:schemeClr val="dk1"/>
                </a:solidFill>
              </a:rPr>
              <a:t>local and asynchronous</a:t>
            </a:r>
            <a:r>
              <a:rPr lang="en">
                <a:solidFill>
                  <a:schemeClr val="dk1"/>
                </a:solidFill>
              </a:rPr>
              <a:t>: a replica can just query its peers, reconstruct the missing transaction, and continue. }</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A4 — Liveness Under Good Conditions</a:t>
            </a:r>
            <a:br>
              <a:rPr b="1" lang="en">
                <a:solidFill>
                  <a:schemeClr val="dk1"/>
                </a:solidFill>
              </a:rPr>
            </a:br>
            <a:r>
              <a:rPr lang="en">
                <a:solidFill>
                  <a:schemeClr val="dk1"/>
                </a:solidFill>
              </a:rPr>
              <a:t> If the primary is honest and the network is stable, all correct replicas accept quickly → drives high throughput and responsiveness.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949d50884a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949d50884a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a:t>
            </a:r>
            <a:r>
              <a:rPr b="1" lang="en">
                <a:solidFill>
                  <a:schemeClr val="dk1"/>
                </a:solidFill>
              </a:rPr>
              <a:t>Step 1</a:t>
            </a:r>
            <a:r>
              <a:rPr lang="en">
                <a:solidFill>
                  <a:schemeClr val="dk1"/>
                </a:solidFill>
              </a:rPr>
              <a:t>, the system runs multiple PBFT-style consensus instances in parallel—one per primary—so all replicas actively propose transactions. This concurrency removes PBFT’s single-leader throughput limit.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a:t>
            </a:r>
            <a:r>
              <a:rPr b="1" lang="en">
                <a:solidFill>
                  <a:schemeClr val="dk1"/>
                </a:solidFill>
              </a:rPr>
              <a:t>Step 2</a:t>
            </a:r>
            <a:r>
              <a:rPr lang="en">
                <a:solidFill>
                  <a:schemeClr val="dk1"/>
                </a:solidFill>
              </a:rPr>
              <a:t>, replicas independently apply the same deterministic ordering rule to the set of accepted transactions. No extra consensus phase is required; each replica computes the same global order locally, ensuring consistency.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in </a:t>
            </a:r>
            <a:r>
              <a:rPr b="1" lang="en">
                <a:solidFill>
                  <a:schemeClr val="dk1"/>
                </a:solidFill>
              </a:rPr>
              <a:t>Step 3</a:t>
            </a:r>
            <a:r>
              <a:rPr lang="en">
                <a:solidFill>
                  <a:schemeClr val="dk1"/>
                </a:solidFill>
              </a:rPr>
              <a:t>, all replicas execute the transactions in that agreed order and notify clients. Execution overlaps with new consensus rounds, creating a fully pipelined system.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Together, these stages allow RCC to maintain </a:t>
            </a:r>
            <a:r>
              <a:rPr b="1" lang="en">
                <a:solidFill>
                  <a:schemeClr val="dk1"/>
                </a:solidFill>
              </a:rPr>
              <a:t>PBFT-level safety</a:t>
            </a:r>
            <a:r>
              <a:rPr lang="en">
                <a:solidFill>
                  <a:schemeClr val="dk1"/>
                </a:solidFill>
              </a:rPr>
              <a:t> while achieving </a:t>
            </a:r>
            <a:r>
              <a:rPr b="1" lang="en">
                <a:solidFill>
                  <a:schemeClr val="dk1"/>
                </a:solidFill>
              </a:rPr>
              <a:t>high throughput, low latency, and wait-free progress</a:t>
            </a:r>
            <a:r>
              <a:rPr lang="en">
                <a:solidFill>
                  <a:schemeClr val="dk1"/>
                </a:solidFill>
              </a:rPr>
              <a:t> across failures.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(going through the graph explain that these states are happening concurrently)</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59e782f37fcc10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59e782f37fcc10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Each replica leads its </a:t>
            </a:r>
            <a:r>
              <a:rPr b="1" lang="en">
                <a:solidFill>
                  <a:schemeClr val="dk1"/>
                </a:solidFill>
              </a:rPr>
              <a:t>own consensus instance</a:t>
            </a:r>
            <a:r>
              <a:rPr lang="en">
                <a:solidFill>
                  <a:schemeClr val="dk1"/>
                </a:solidFill>
              </a:rPr>
              <a:t>, proposing the transaction of one client.</a:t>
            </a:r>
            <a:endParaRPr/>
          </a:p>
          <a:p>
            <a:pPr indent="0" lvl="0" marL="0" rtl="0" algn="l">
              <a:spcBef>
                <a:spcPts val="0"/>
              </a:spcBef>
              <a:spcAft>
                <a:spcPts val="0"/>
              </a:spcAft>
              <a:buNone/>
            </a:pPr>
            <a:r>
              <a:rPr lang="en"/>
              <a:t>Every replica participates in all four instances. Here, R1 is the primary for instance 1, R2 for instance 2, and so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this example, R1 is participating in the consensus protocol for itself and R2 and R3 and R4. They could be in different stages at any time.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Each instance progresses through its own PREPREPARE, PREPARE, COMMIT phases, possibly at different stages at the same time.</a:t>
            </a:r>
            <a:endParaRPr/>
          </a:p>
          <a:p>
            <a:pPr indent="0" lvl="0" marL="0" rtl="0" algn="l">
              <a:spcBef>
                <a:spcPts val="0"/>
              </a:spcBef>
              <a:spcAft>
                <a:spcPts val="0"/>
              </a:spcAft>
              <a:buClr>
                <a:schemeClr val="dk1"/>
              </a:buClr>
              <a:buSzPts val="1100"/>
              <a:buFont typeface="Arial"/>
              <a:buNone/>
            </a:pPr>
            <a:r>
              <a:rPr lang="en"/>
              <a:t>Replicas keep separate message logs per instance—no shared state or ordering yet.</a:t>
            </a:r>
            <a:endParaRPr/>
          </a:p>
          <a:p>
            <a:pPr indent="0" lvl="0" marL="0" rtl="0" algn="l">
              <a:spcBef>
                <a:spcPts val="0"/>
              </a:spcBef>
              <a:spcAft>
                <a:spcPts val="0"/>
              </a:spcAft>
              <a:buClr>
                <a:schemeClr val="dk1"/>
              </a:buClr>
              <a:buSzPts val="1100"/>
              <a:buFont typeface="Arial"/>
              <a:buNone/>
            </a:pPr>
            <a:br>
              <a:rPr lang="en"/>
            </a:br>
            <a:r>
              <a:rPr lang="en"/>
              <a:t>After the BCA finishes, the second step of RCC begins: do deterministic ordering, and while that happens, the BCA instance can take another request.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PBFT’s single pipeline becomes m parallel pipelines, using the same logic but distributed leadership.</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59e782f37fcc10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59e782f37fcc10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So after the concurrent BCA phase, every correct(NF) replica now has the </a:t>
            </a:r>
            <a:r>
              <a:rPr i="1" lang="en">
                <a:solidFill>
                  <a:schemeClr val="dk1"/>
                </a:solidFill>
              </a:rPr>
              <a:t>same set</a:t>
            </a:r>
            <a:r>
              <a:rPr lang="en">
                <a:solidFill>
                  <a:schemeClr val="dk1"/>
                </a:solidFill>
              </a:rPr>
              <a:t> of accepted transactions for that round.</a:t>
            </a:r>
            <a:endParaRPr>
              <a:solidFill>
                <a:schemeClr val="dk1"/>
              </a:solidFill>
            </a:endParaRPr>
          </a:p>
          <a:p>
            <a:pPr indent="0" lvl="0" marL="0" rtl="0" algn="l">
              <a:spcBef>
                <a:spcPts val="0"/>
              </a:spcBef>
              <a:spcAft>
                <a:spcPts val="0"/>
              </a:spcAft>
              <a:buNone/>
            </a:pPr>
            <a:r>
              <a:rPr lang="en">
                <a:solidFill>
                  <a:schemeClr val="dk1"/>
                </a:solidFill>
              </a:rPr>
              <a:t>Because even though each replica ran its own consensus instance, all of them ended up agreeing on which transactions were accepted.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If every replica has the same </a:t>
            </a:r>
            <a:r>
              <a:rPr i="1" lang="en">
                <a:solidFill>
                  <a:schemeClr val="dk1"/>
                </a:solidFill>
              </a:rPr>
              <a:t>set</a:t>
            </a:r>
            <a:r>
              <a:rPr lang="en">
                <a:solidFill>
                  <a:schemeClr val="dk1"/>
                </a:solidFill>
              </a:rPr>
              <a:t> of transactions, how do we make sure they all execute them in the </a:t>
            </a:r>
            <a:r>
              <a:rPr i="1" lang="en">
                <a:solidFill>
                  <a:schemeClr val="dk1"/>
                </a:solidFill>
              </a:rPr>
              <a:t>same order</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rPr lang="en"/>
              <a:t>RCC achieves this deterministically. The ordering function is consistent across replicas, so they don’t need additional consensus rounds for ordering.</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97eabfe96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97eabfe96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Because of </a:t>
            </a:r>
            <a:r>
              <a:rPr b="1" lang="en">
                <a:solidFill>
                  <a:schemeClr val="dk1"/>
                </a:solidFill>
              </a:rPr>
              <a:t>Assumption A2</a:t>
            </a:r>
            <a:r>
              <a:rPr lang="en">
                <a:solidFill>
                  <a:schemeClr val="dk1"/>
                </a:solidFill>
              </a:rPr>
              <a:t>, all non-faulty replicas accept the </a:t>
            </a:r>
            <a:r>
              <a:rPr i="1" lang="en">
                <a:solidFill>
                  <a:schemeClr val="dk1"/>
                </a:solidFill>
              </a:rPr>
              <a:t>same</a:t>
            </a:r>
            <a:r>
              <a:rPr lang="en">
                <a:solidFill>
                  <a:schemeClr val="dk1"/>
                </a:solidFill>
              </a:rPr>
              <a:t> set </a:t>
            </a:r>
            <a:r>
              <a:rPr i="1" lang="en">
                <a:solidFill>
                  <a:schemeClr val="dk1"/>
                </a:solidFill>
              </a:rPr>
              <a:t>S</a:t>
            </a:r>
            <a:r>
              <a:rPr lang="en">
                <a:solidFill>
                  <a:schemeClr val="dk1"/>
                </a:solidFill>
              </a:rPr>
              <a:t> of transactions for a given round.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at this point, every correct replica has exactly the same input.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Now, RCC needs to turn that shared set </a:t>
            </a:r>
            <a:r>
              <a:rPr i="1" lang="en">
                <a:solidFill>
                  <a:schemeClr val="dk1"/>
                </a:solidFill>
              </a:rPr>
              <a:t>S</a:t>
            </a:r>
            <a:r>
              <a:rPr lang="en">
                <a:solidFill>
                  <a:schemeClr val="dk1"/>
                </a:solidFill>
              </a:rPr>
              <a:t> into a </a:t>
            </a:r>
            <a:r>
              <a:rPr b="1" lang="en">
                <a:solidFill>
                  <a:schemeClr val="dk1"/>
                </a:solidFill>
              </a:rPr>
              <a:t>single, total order</a:t>
            </a:r>
            <a:r>
              <a:rPr lang="en">
                <a:solidFill>
                  <a:schemeClr val="dk1"/>
                </a:solidFill>
              </a:rPr>
              <a:t> that everyone can follow — without adding another consensus step.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do that, RCC defines a </a:t>
            </a:r>
            <a:r>
              <a:rPr b="1" lang="en">
                <a:solidFill>
                  <a:schemeClr val="dk1"/>
                </a:solidFill>
              </a:rPr>
              <a:t>deterministic ordering function</a:t>
            </a:r>
            <a:r>
              <a:rPr lang="en">
                <a:solidFill>
                  <a:schemeClr val="dk1"/>
                </a:solidFill>
              </a:rPr>
              <a:t> with two components: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
                <a:solidFill>
                  <a:schemeClr val="dk1"/>
                </a:solidFill>
              </a:rPr>
              <a:t>It fixes a </a:t>
            </a:r>
            <a:r>
              <a:rPr b="1" lang="en">
                <a:solidFill>
                  <a:schemeClr val="dk1"/>
                </a:solidFill>
              </a:rPr>
              <a:t>bijection</a:t>
            </a:r>
            <a:r>
              <a:rPr lang="en">
                <a:solidFill>
                  <a:schemeClr val="dk1"/>
                </a:solidFill>
              </a:rPr>
              <a:t> between the integers 0 … (k! − 1) and the k! possible </a:t>
            </a:r>
            <a:r>
              <a:rPr b="1" lang="en">
                <a:solidFill>
                  <a:schemeClr val="dk1"/>
                </a:solidFill>
              </a:rPr>
              <a:t>permutations</a:t>
            </a:r>
            <a:r>
              <a:rPr lang="en">
                <a:solidFill>
                  <a:schemeClr val="dk1"/>
                </a:solidFill>
              </a:rPr>
              <a:t> of </a:t>
            </a:r>
            <a:r>
              <a:rPr i="1" lang="en">
                <a:solidFill>
                  <a:schemeClr val="dk1"/>
                </a:solidFill>
              </a:rPr>
              <a:t>S</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en">
                <a:solidFill>
                  <a:schemeClr val="dk1"/>
                </a:solidFill>
              </a:rPr>
              <a:t>Where k =size of set, there are k! Distinct permutations. To select one, the authors made a function to map an integer h to a permutation using the digest function (strong cryptographic hash func).</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It makes all replicas compute the </a:t>
            </a:r>
            <a:r>
              <a:rPr b="1" lang="en">
                <a:solidFill>
                  <a:schemeClr val="dk1"/>
                </a:solidFill>
              </a:rPr>
              <a:t>same integer h</a:t>
            </a:r>
            <a:r>
              <a:rPr lang="en">
                <a:solidFill>
                  <a:schemeClr val="dk1"/>
                </a:solidFill>
              </a:rPr>
              <a:t>, deterministically, in a way that looks uniform and is practically impossible for faulty replicas to influence.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lang="en">
                <a:solidFill>
                  <a:schemeClr val="dk1"/>
                </a:solidFill>
              </a:rPr>
              <a:t>Then each replica computes </a:t>
            </a:r>
            <a:r>
              <a:rPr b="1" lang="en">
                <a:solidFill>
                  <a:schemeClr val="dk1"/>
                </a:solidFill>
              </a:rPr>
              <a:t>Order = fₛ(h)</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 selecting h, all replicas execute the transactions in S in the order given by fS (h)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Because fₛ and h are computed identically at every correct replica, the resulting order is </a:t>
            </a:r>
            <a:r>
              <a:rPr b="1" lang="en">
                <a:solidFill>
                  <a:schemeClr val="dk1"/>
                </a:solidFill>
              </a:rPr>
              <a:t>identical everywhere</a:t>
            </a:r>
            <a:r>
              <a:rPr lang="en">
                <a:solidFill>
                  <a:schemeClr val="dk1"/>
                </a:solidFill>
              </a:rPr>
              <a:t> (which preserves safety) yet </a:t>
            </a:r>
            <a:r>
              <a:rPr b="1" lang="en">
                <a:solidFill>
                  <a:schemeClr val="dk1"/>
                </a:solidFill>
              </a:rPr>
              <a:t>unpredictable in advance</a:t>
            </a:r>
            <a:r>
              <a:rPr lang="en">
                <a:solidFill>
                  <a:schemeClr val="dk1"/>
                </a:solidFill>
              </a:rPr>
              <a:t> (which prevents bias).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If asked how fₛ works</a:t>
            </a:r>
            <a:endParaRPr b="1" sz="1300">
              <a:solidFill>
                <a:schemeClr val="dk1"/>
              </a:solidFill>
            </a:endParaRPr>
          </a:p>
          <a:p>
            <a:pPr indent="0" lvl="0" marL="0" rtl="0" algn="l">
              <a:lnSpc>
                <a:spcPct val="115000"/>
              </a:lnSpc>
              <a:spcBef>
                <a:spcPts val="1200"/>
              </a:spcBef>
              <a:spcAft>
                <a:spcPts val="0"/>
              </a:spcAft>
              <a:buNone/>
            </a:pPr>
            <a:r>
              <a:rPr lang="en">
                <a:solidFill>
                  <a:schemeClr val="dk1"/>
                </a:solidFill>
              </a:rPr>
              <a:t>The function fₛ maps integers to permutations using the </a:t>
            </a:r>
            <a:r>
              <a:rPr b="1" lang="en">
                <a:solidFill>
                  <a:schemeClr val="dk1"/>
                </a:solidFill>
              </a:rPr>
              <a:t>factorial number system</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It’s a one-to-one mapping between an index 0 … (k! − 1) and each possible permutation of </a:t>
            </a:r>
            <a:r>
              <a:rPr i="1" lang="en">
                <a:solidFill>
                  <a:schemeClr val="dk1"/>
                </a:solidFill>
              </a:rPr>
              <a:t>S</a:t>
            </a:r>
            <a:r>
              <a:rPr lang="en">
                <a:solidFill>
                  <a:schemeClr val="dk1"/>
                </a:solidFill>
              </a:rPr>
              <a:t>.</a:t>
            </a:r>
            <a:br>
              <a:rPr lang="en">
                <a:solidFill>
                  <a:schemeClr val="dk1"/>
                </a:solidFill>
              </a:rPr>
            </a:br>
            <a:r>
              <a:rPr lang="en">
                <a:solidFill>
                  <a:schemeClr val="dk1"/>
                </a:solidFill>
              </a:rPr>
              <a:t>Every replica applies that same mapping to the same h, guaranteeing a consistent, deterministic permutation.</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59e782f37fcc10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59e782f37fcc10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At this stage, consensus and ordering are complete — now replicas simply apply transactions in the same global order.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Because that order was deterministically chosen, every correct replica transitions to the same system state, preserving safety and consistency.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After execution, replicas send the results back to clients, completing the round.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Meanwhile, new BCA instances may already be running for the next set of transactions — so RCC achieves pipelined operation, with consensus, ordering, and execution overlapping in time.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stage closes the loop: replicas act independently in earlier phases but converge perfectly during execution, ensuring both consistency and liveness.</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949d50884a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949d50884a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These are the ones that the system can clearly </a:t>
            </a:r>
            <a:r>
              <a:rPr i="1" lang="en">
                <a:solidFill>
                  <a:schemeClr val="dk1"/>
                </a:solidFill>
              </a:rPr>
              <a:t>see</a:t>
            </a:r>
            <a:r>
              <a:rPr lang="en">
                <a:solidFill>
                  <a:schemeClr val="dk1"/>
                </a:solidFill>
              </a:rPr>
              <a:t> — meaning at least </a:t>
            </a:r>
            <a:r>
              <a:rPr b="1" lang="en">
                <a:solidFill>
                  <a:schemeClr val="dk1"/>
                </a:solidFill>
              </a:rPr>
              <a:t>f + 1 different replicas</a:t>
            </a:r>
            <a:r>
              <a:rPr lang="en">
                <a:solidFill>
                  <a:schemeClr val="dk1"/>
                </a:solidFill>
              </a:rPr>
              <a:t> have observed something wrong with a primary.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
                <a:solidFill>
                  <a:schemeClr val="dk1"/>
                </a:solidFill>
              </a:rPr>
              <a:t>In traditional PBFT, when this happens, the whole system does a </a:t>
            </a:r>
            <a:r>
              <a:rPr b="1" lang="en">
                <a:solidFill>
                  <a:schemeClr val="dk1"/>
                </a:solidFill>
              </a:rPr>
              <a:t>view change</a:t>
            </a:r>
            <a:r>
              <a:rPr lang="en">
                <a:solidFill>
                  <a:schemeClr val="dk1"/>
                </a:solidFill>
              </a:rPr>
              <a:t>, which pauses everything to elect a new primary. But in </a:t>
            </a:r>
            <a:r>
              <a:rPr b="1" lang="en">
                <a:solidFill>
                  <a:schemeClr val="dk1"/>
                </a:solidFill>
              </a:rPr>
              <a:t>RCC</a:t>
            </a:r>
            <a:r>
              <a:rPr lang="en">
                <a:solidFill>
                  <a:schemeClr val="dk1"/>
                </a:solidFill>
              </a:rPr>
              <a:t>, it’s handled much more efficiently — instead of stopping the entire system, </a:t>
            </a:r>
            <a:r>
              <a:rPr b="1" lang="en">
                <a:solidFill>
                  <a:schemeClr val="dk1"/>
                </a:solidFill>
              </a:rPr>
              <a:t>only the faulty instance</a:t>
            </a:r>
            <a:r>
              <a:rPr lang="en">
                <a:solidFill>
                  <a:schemeClr val="dk1"/>
                </a:solidFill>
              </a:rPr>
              <a:t> is paused and recovered. All the other instances keep running normally, so overall throughput and progress are not affected.</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b="1" lang="en">
                <a:solidFill>
                  <a:schemeClr val="dk1"/>
                </a:solidFill>
              </a:rPr>
              <a:t>1. “What exactly makes a failure detectable?”</a:t>
            </a:r>
            <a:endParaRPr b="1">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
                <a:solidFill>
                  <a:schemeClr val="dk1"/>
                </a:solidFill>
              </a:rPr>
              <a:t>A failure is detectable when at least f + 1 distinct replicas notice the same problem — for example, missing proposals, inconsistent messages, or delays beyond timeout.</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
                <a:solidFill>
                  <a:schemeClr val="dk1"/>
                </a:solidFill>
              </a:rPr>
              <a:t>That threshold ensures that at least one honest replica definitely observed the fault.</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b="1" lang="en">
                <a:solidFill>
                  <a:schemeClr val="dk1"/>
                </a:solidFill>
              </a:rPr>
              <a:t>2. “Why does PBFT need a view change here?”</a:t>
            </a:r>
            <a:endParaRPr b="1">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
                <a:solidFill>
                  <a:schemeClr val="dk1"/>
                </a:solidFill>
              </a:rPr>
              <a:t>In PBFT, the primary coordinates all progress.</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
                <a:solidFill>
                  <a:schemeClr val="dk1"/>
                </a:solidFill>
              </a:rPr>
              <a:t>So if it fails or misbehaves, the entire protocol must pause and replace it through a view change.</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
                <a:solidFill>
                  <a:schemeClr val="dk1"/>
                </a:solidFill>
              </a:rPr>
              <a:t>That global pause is what RCC eliminates.</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b="1" lang="en">
                <a:solidFill>
                  <a:schemeClr val="dk1"/>
                </a:solidFill>
              </a:rPr>
              <a:t>3. “How is RCC’s approach different from PBFT in practice?”</a:t>
            </a:r>
            <a:endParaRPr b="1">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
                <a:solidFill>
                  <a:schemeClr val="dk1"/>
                </a:solidFill>
              </a:rPr>
              <a:t>The key difference here is RCC doesn’t stop the whole system.</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
                <a:solidFill>
                  <a:schemeClr val="dk1"/>
                </a:solidFill>
              </a:rPr>
              <a:t>It isolates the failed instance only and recovers it locally using a lightweight recovery protocol.</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
                <a:solidFill>
                  <a:schemeClr val="dk1"/>
                </a:solidFill>
              </a:rPr>
              <a:t>The rest of the instances keep processing transactions, maintaining throughput.</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b="1" lang="en">
                <a:solidFill>
                  <a:schemeClr val="dk1"/>
                </a:solidFill>
              </a:rPr>
              <a:t>4. “Doesn’t having multiple primaries make detection harder</a:t>
            </a:r>
            <a:r>
              <a:rPr b="1" lang="en">
                <a:solidFill>
                  <a:schemeClr val="dk1"/>
                </a:solidFill>
              </a:rPr>
              <a:t>?</a:t>
            </a:r>
            <a:r>
              <a:rPr b="1" lang="en">
                <a:solidFill>
                  <a:schemeClr val="dk1"/>
                </a:solidFill>
              </a:rPr>
              <a:t>”</a:t>
            </a:r>
            <a:endParaRPr b="1">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
                <a:solidFill>
                  <a:schemeClr val="dk1"/>
                </a:solidFill>
              </a:rPr>
              <a:t>Detection happens per-instance — each replica tracks its assigned primary separately.</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
                <a:solidFill>
                  <a:schemeClr val="dk1"/>
                </a:solidFill>
              </a:rPr>
              <a:t>So even with many primaries, detection logic is independent and remains simple.</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b="1" lang="en">
                <a:solidFill>
                  <a:schemeClr val="dk1"/>
                </a:solidFill>
              </a:rPr>
              <a:t>5. “What if the failure was just a network delay, not an actual crash?”</a:t>
            </a:r>
            <a:endParaRPr b="1">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
                <a:solidFill>
                  <a:schemeClr val="dk1"/>
                </a:solidFill>
              </a:rPr>
              <a:t>RCC’s recovery handles both — actual crashes and temporary communication issues.</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
                <a:solidFill>
                  <a:schemeClr val="dk1"/>
                </a:solidFill>
              </a:rPr>
              <a:t>If the network stabilizes, the failed instance simply resumes from its agreed state, so there’s no inconsistency or data loss.</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b="1" lang="en">
                <a:solidFill>
                  <a:schemeClr val="dk1"/>
                </a:solidFill>
              </a:rPr>
              <a:t>6. “Why do we need at least f + 1 replicas to suspect failure?”</a:t>
            </a:r>
            <a:endParaRPr b="1">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
                <a:solidFill>
                  <a:schemeClr val="dk1"/>
                </a:solidFill>
              </a:rPr>
              <a:t>Because with fewer than f + 1, it could be that all those replicas are faulty themselves.</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
                <a:solidFill>
                  <a:schemeClr val="dk1"/>
                </a:solidFill>
              </a:rPr>
              <a:t>At f + 1, we’re guaranteed that at least one honest node actually saw a real problem.</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98ddfb70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98ddfb70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Now let’s look at how RCC actually handles a detectable failure.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RCC’s recovery algorithm runs in </a:t>
            </a:r>
            <a:r>
              <a:rPr b="1" lang="en">
                <a:solidFill>
                  <a:schemeClr val="dk1"/>
                </a:solidFill>
              </a:rPr>
              <a:t>three simple steps</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First, it </a:t>
            </a:r>
            <a:r>
              <a:rPr b="1" lang="en">
                <a:solidFill>
                  <a:schemeClr val="dk1"/>
                </a:solidFill>
              </a:rPr>
              <a:t>detects</a:t>
            </a:r>
            <a:r>
              <a:rPr lang="en">
                <a:solidFill>
                  <a:schemeClr val="dk1"/>
                </a:solidFill>
              </a:rPr>
              <a:t> the failure — replicas realize that a primary has stopped proposing or is acting abnormally.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Second, all replicas </a:t>
            </a:r>
            <a:r>
              <a:rPr b="1" lang="en">
                <a:solidFill>
                  <a:schemeClr val="dk1"/>
                </a:solidFill>
              </a:rPr>
              <a:t>agree</a:t>
            </a:r>
            <a:r>
              <a:rPr lang="en">
                <a:solidFill>
                  <a:schemeClr val="dk1"/>
                </a:solidFill>
              </a:rPr>
              <a:t> on the exact state of that instance, right up to the point where it failed.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And third, they decide </a:t>
            </a:r>
            <a:r>
              <a:rPr b="1" lang="en">
                <a:solidFill>
                  <a:schemeClr val="dk1"/>
                </a:solidFill>
              </a:rPr>
              <a:t>when that instance can safely start again</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So instead of a heavy, system-wide view change like in PBFT, RCC just runs this short recovery routine </a:t>
            </a:r>
            <a:r>
              <a:rPr b="1" lang="en">
                <a:solidFill>
                  <a:schemeClr val="dk1"/>
                </a:solidFill>
              </a:rPr>
              <a:t>locally for that one instance</a:t>
            </a:r>
            <a:r>
              <a:rPr lang="en">
                <a:solidFill>
                  <a:schemeClr val="dk1"/>
                </a:solidFill>
              </a:rPr>
              <a:t>, while the others keep operating normally.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9f6af09528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9f6af09528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So now, let’s look at what happens inside the </a:t>
            </a:r>
            <a:r>
              <a:rPr b="1" lang="en">
                <a:solidFill>
                  <a:schemeClr val="dk1"/>
                </a:solidFill>
              </a:rPr>
              <a:t>Recovery Request Role</a:t>
            </a:r>
            <a:r>
              <a:rPr lang="en">
                <a:solidFill>
                  <a:schemeClr val="dk1"/>
                </a:solidFill>
              </a:rPr>
              <a:t>, which is handled by each replica.</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When a replica notices that its primary </a:t>
            </a:r>
            <a:r>
              <a:rPr b="1" lang="en">
                <a:solidFill>
                  <a:schemeClr val="dk1"/>
                </a:solidFill>
              </a:rPr>
              <a:t>Pi isn’t sending proposals for too long</a:t>
            </a:r>
            <a:r>
              <a:rPr lang="en">
                <a:solidFill>
                  <a:schemeClr val="dk1"/>
                </a:solidFill>
              </a:rPr>
              <a:t>, it assumes something is wrong and </a:t>
            </a:r>
            <a:r>
              <a:rPr b="1" lang="en">
                <a:solidFill>
                  <a:schemeClr val="dk1"/>
                </a:solidFill>
              </a:rPr>
              <a:t>halts that instance locally</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Then it </a:t>
            </a:r>
            <a:r>
              <a:rPr b="1" lang="en">
                <a:solidFill>
                  <a:schemeClr val="dk1"/>
                </a:solidFill>
              </a:rPr>
              <a:t>broadcasts a FAILURE message</a:t>
            </a:r>
            <a:r>
              <a:rPr lang="en">
                <a:solidFill>
                  <a:schemeClr val="dk1"/>
                </a:solidFill>
              </a:rPr>
              <a:t>, which includes the instance number, the round, and its current state snapshot.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If only a few replicas send these messages, it’s just a local suspicion.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But once </a:t>
            </a:r>
            <a:r>
              <a:rPr b="1" lang="en">
                <a:solidFill>
                  <a:schemeClr val="dk1"/>
                </a:solidFill>
              </a:rPr>
              <a:t>f + 1 replicas</a:t>
            </a:r>
            <a:r>
              <a:rPr lang="en">
                <a:solidFill>
                  <a:schemeClr val="dk1"/>
                </a:solidFill>
              </a:rPr>
              <a:t> report the same failure, we know at least one honest node observed it.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And when </a:t>
            </a:r>
            <a:r>
              <a:rPr b="1" lang="en">
                <a:solidFill>
                  <a:schemeClr val="dk1"/>
                </a:solidFill>
              </a:rPr>
              <a:t>2f + 1 replicas</a:t>
            </a:r>
            <a:r>
              <a:rPr lang="en">
                <a:solidFill>
                  <a:schemeClr val="dk1"/>
                </a:solidFill>
              </a:rPr>
              <a:t> send their reports, the system treats it as a </a:t>
            </a:r>
            <a:r>
              <a:rPr b="1" lang="en">
                <a:solidFill>
                  <a:schemeClr val="dk1"/>
                </a:solidFill>
              </a:rPr>
              <a:t>confirmed failure</a:t>
            </a:r>
            <a:r>
              <a:rPr lang="en">
                <a:solidFill>
                  <a:schemeClr val="dk1"/>
                </a:solidFill>
              </a:rPr>
              <a:t>, and the leader can now begin coordinated recovery.</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9f6af09528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9f6af09528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Onto the second role now</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Now, once enough replicas have reported the failure, the </a:t>
            </a:r>
            <a:r>
              <a:rPr b="1" lang="en">
                <a:solidFill>
                  <a:schemeClr val="dk1"/>
                </a:solidFill>
              </a:rPr>
              <a:t>Recovery Leader Li</a:t>
            </a:r>
            <a:r>
              <a:rPr lang="en">
                <a:solidFill>
                  <a:schemeClr val="dk1"/>
                </a:solidFill>
              </a:rPr>
              <a:t> takes over.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Li collects at least </a:t>
            </a:r>
            <a:r>
              <a:rPr b="1" lang="en">
                <a:solidFill>
                  <a:schemeClr val="dk1"/>
                </a:solidFill>
              </a:rPr>
              <a:t>2f + 1 valid FAILURE messages</a:t>
            </a:r>
            <a:r>
              <a:rPr lang="en">
                <a:solidFill>
                  <a:schemeClr val="dk1"/>
                </a:solidFill>
              </a:rPr>
              <a:t> from different replicas — this set is called </a:t>
            </a:r>
            <a:r>
              <a:rPr b="1" lang="en">
                <a:solidFill>
                  <a:schemeClr val="dk1"/>
                </a:solidFill>
              </a:rPr>
              <a:t>E</a:t>
            </a:r>
            <a:r>
              <a:rPr lang="en">
                <a:solidFill>
                  <a:schemeClr val="dk1"/>
                </a:solidFill>
              </a:rPr>
              <a:t>, which acts as proof of the failure.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Using that evidence, Li runs a </a:t>
            </a:r>
            <a:r>
              <a:rPr b="1" lang="en">
                <a:solidFill>
                  <a:schemeClr val="dk1"/>
                </a:solidFill>
              </a:rPr>
              <a:t>small PBFT-style consensus round</a:t>
            </a:r>
            <a:r>
              <a:rPr lang="en">
                <a:solidFill>
                  <a:schemeClr val="dk1"/>
                </a:solidFill>
              </a:rPr>
              <a:t> and proposes a special command called </a:t>
            </a:r>
            <a:r>
              <a:rPr b="1" lang="en">
                <a:solidFill>
                  <a:schemeClr val="dk1"/>
                </a:solidFill>
              </a:rPr>
              <a:t>stop (i; E)</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This command simply means: </a:t>
            </a:r>
            <a:r>
              <a:rPr i="1" lang="en">
                <a:solidFill>
                  <a:schemeClr val="dk1"/>
                </a:solidFill>
              </a:rPr>
              <a:t>“Let’s stop instance i right here, and agree on its exact state before the failure.”</a:t>
            </a:r>
            <a:endParaRPr i="1">
              <a:solidFill>
                <a:schemeClr val="dk1"/>
              </a:solidFill>
            </a:endParaRPr>
          </a:p>
          <a:p>
            <a:pPr indent="0" lvl="0" marL="0" rtl="0" algn="l">
              <a:spcBef>
                <a:spcPts val="0"/>
              </a:spcBef>
              <a:spcAft>
                <a:spcPts val="0"/>
              </a:spcAft>
              <a:buClr>
                <a:schemeClr val="dk1"/>
              </a:buClr>
              <a:buSzPts val="1100"/>
              <a:buFont typeface="Arial"/>
              <a:buNone/>
            </a:pPr>
            <a:r>
              <a:t/>
            </a:r>
            <a:endParaRPr i="1">
              <a:solidFill>
                <a:schemeClr val="dk1"/>
              </a:solidFill>
            </a:endParaRPr>
          </a:p>
          <a:p>
            <a:pPr indent="0" lvl="0" marL="0" rtl="0" algn="l">
              <a:spcBef>
                <a:spcPts val="0"/>
              </a:spcBef>
              <a:spcAft>
                <a:spcPts val="0"/>
              </a:spcAft>
              <a:buNone/>
            </a:pPr>
            <a:r>
              <a:rPr lang="en">
                <a:solidFill>
                  <a:schemeClr val="dk1"/>
                </a:solidFill>
              </a:rPr>
              <a:t>Once this proposal is accepted, every replica knows precisely where that instance left off, so they all share the same consistent checkpoint before recovery begins.</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98ddfb706b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98ddfb706b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Onto the second role now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Now, once enough replicas have reported the failure, the </a:t>
            </a:r>
            <a:r>
              <a:rPr b="1" lang="en">
                <a:solidFill>
                  <a:schemeClr val="dk1"/>
                </a:solidFill>
              </a:rPr>
              <a:t>Recovery Leader Li</a:t>
            </a:r>
            <a:r>
              <a:rPr lang="en">
                <a:solidFill>
                  <a:schemeClr val="dk1"/>
                </a:solidFill>
              </a:rPr>
              <a:t> takes over.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Li collects at least </a:t>
            </a:r>
            <a:r>
              <a:rPr b="1" lang="en">
                <a:solidFill>
                  <a:schemeClr val="dk1"/>
                </a:solidFill>
              </a:rPr>
              <a:t>2f + 1 valid FAILURE messages</a:t>
            </a:r>
            <a:r>
              <a:rPr lang="en">
                <a:solidFill>
                  <a:schemeClr val="dk1"/>
                </a:solidFill>
              </a:rPr>
              <a:t> from different replicas — this set is called </a:t>
            </a:r>
            <a:r>
              <a:rPr b="1" lang="en">
                <a:solidFill>
                  <a:schemeClr val="dk1"/>
                </a:solidFill>
              </a:rPr>
              <a:t>E</a:t>
            </a:r>
            <a:r>
              <a:rPr lang="en">
                <a:solidFill>
                  <a:schemeClr val="dk1"/>
                </a:solidFill>
              </a:rPr>
              <a:t>, which acts as proof of the failure.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Using that evidence, Li runs a </a:t>
            </a:r>
            <a:r>
              <a:rPr b="1" lang="en">
                <a:solidFill>
                  <a:schemeClr val="dk1"/>
                </a:solidFill>
              </a:rPr>
              <a:t>small PBFT-style consensus round</a:t>
            </a:r>
            <a:r>
              <a:rPr lang="en">
                <a:solidFill>
                  <a:schemeClr val="dk1"/>
                </a:solidFill>
              </a:rPr>
              <a:t> and proposes a special command called </a:t>
            </a:r>
            <a:r>
              <a:rPr b="1" lang="en">
                <a:solidFill>
                  <a:schemeClr val="dk1"/>
                </a:solidFill>
              </a:rPr>
              <a:t>stop (i; E)</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command simply means: </a:t>
            </a:r>
            <a:r>
              <a:rPr i="1" lang="en">
                <a:solidFill>
                  <a:schemeClr val="dk1"/>
                </a:solidFill>
              </a:rPr>
              <a:t>“Let’s stop instance i right here, and agree on its exact state before the failure.”</a:t>
            </a:r>
            <a:endParaRPr i="1">
              <a:solidFill>
                <a:schemeClr val="dk1"/>
              </a:solidFill>
            </a:endParaRPr>
          </a:p>
          <a:p>
            <a:pPr indent="0" lvl="0" marL="0" rtl="0" algn="l">
              <a:spcBef>
                <a:spcPts val="0"/>
              </a:spcBef>
              <a:spcAft>
                <a:spcPts val="0"/>
              </a:spcAft>
              <a:buClr>
                <a:schemeClr val="dk1"/>
              </a:buClr>
              <a:buSzPts val="1100"/>
              <a:buFont typeface="Arial"/>
              <a:buNone/>
            </a:pPr>
            <a:r>
              <a:t/>
            </a:r>
            <a:endParaRPr i="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Once this proposal is accepted, every replica knows precisely where that instance left off, so they all share the same consistent checkpoint before recovery begins.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9f6af09528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9f6af09528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After the leader proposes the stop operation and consensus is reached, we move to the </a:t>
            </a:r>
            <a:r>
              <a:rPr b="1" lang="en">
                <a:solidFill>
                  <a:schemeClr val="dk1"/>
                </a:solidFill>
              </a:rPr>
              <a:t>State Recovery Role</a:t>
            </a:r>
            <a:r>
              <a:rPr lang="en">
                <a:solidFill>
                  <a:schemeClr val="dk1"/>
                </a:solidFill>
              </a:rPr>
              <a:t>, which is handled again by all replicas.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Each replica now </a:t>
            </a:r>
            <a:r>
              <a:rPr b="1" lang="en">
                <a:solidFill>
                  <a:schemeClr val="dk1"/>
                </a:solidFill>
              </a:rPr>
              <a:t>accepts the stop(i; E)</a:t>
            </a:r>
            <a:r>
              <a:rPr lang="en">
                <a:solidFill>
                  <a:schemeClr val="dk1"/>
                </a:solidFill>
              </a:rPr>
              <a:t> proposal from the leader and uses the evidence E to </a:t>
            </a:r>
            <a:r>
              <a:rPr b="1" lang="en">
                <a:solidFill>
                  <a:schemeClr val="dk1"/>
                </a:solidFill>
              </a:rPr>
              <a:t>reconstruct the exact state</a:t>
            </a:r>
            <a:r>
              <a:rPr lang="en">
                <a:solidFill>
                  <a:schemeClr val="dk1"/>
                </a:solidFill>
              </a:rPr>
              <a:t> of that failed instance.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Then, every replica determines the </a:t>
            </a:r>
            <a:r>
              <a:rPr b="1" lang="en">
                <a:solidFill>
                  <a:schemeClr val="dk1"/>
                </a:solidFill>
              </a:rPr>
              <a:t>last round number ρ</a:t>
            </a:r>
            <a:r>
              <a:rPr lang="en">
                <a:solidFill>
                  <a:schemeClr val="dk1"/>
                </a:solidFill>
              </a:rPr>
              <a:t> where that instance had successfully accepted a proposal.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To make sure we don’t overlap or restart too early, replicas set the </a:t>
            </a:r>
            <a:r>
              <a:rPr b="1" lang="en">
                <a:solidFill>
                  <a:schemeClr val="dk1"/>
                </a:solidFill>
              </a:rPr>
              <a:t>next valid round</a:t>
            </a:r>
            <a:r>
              <a:rPr lang="en">
                <a:solidFill>
                  <a:schemeClr val="dk1"/>
                </a:solidFill>
              </a:rPr>
              <a:t> to </a:t>
            </a:r>
            <a:r>
              <a:rPr b="1" lang="en">
                <a:solidFill>
                  <a:schemeClr val="dk1"/>
                </a:solidFill>
              </a:rPr>
              <a:t>ρ + 2f</a:t>
            </a:r>
            <a:r>
              <a:rPr lang="en">
                <a:solidFill>
                  <a:schemeClr val="dk1"/>
                </a:solidFill>
              </a:rPr>
              <a:t>, giving a safety buffer before continuing.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So now, all replicas have an identical view of the recovered state, and that instance Ii can safely resume while all other instances keep running.</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949d50884a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949d50884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Here’s the key intuition behind why RCC’s recovery is called </a:t>
            </a:r>
            <a:r>
              <a:rPr b="1" lang="en">
                <a:solidFill>
                  <a:schemeClr val="dk1"/>
                </a:solidFill>
              </a:rPr>
              <a:t>wait-free</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In </a:t>
            </a:r>
            <a:r>
              <a:rPr b="1" lang="en">
                <a:solidFill>
                  <a:schemeClr val="dk1"/>
                </a:solidFill>
              </a:rPr>
              <a:t>PBFT</a:t>
            </a:r>
            <a:r>
              <a:rPr lang="en">
                <a:solidFill>
                  <a:schemeClr val="dk1"/>
                </a:solidFill>
              </a:rPr>
              <a:t>, when the primary fails, the entire protocol stops — all replicas have to wait for a </a:t>
            </a:r>
            <a:r>
              <a:rPr b="1" lang="en">
                <a:solidFill>
                  <a:schemeClr val="dk1"/>
                </a:solidFill>
              </a:rPr>
              <a:t>view change</a:t>
            </a:r>
            <a:r>
              <a:rPr lang="en">
                <a:solidFill>
                  <a:schemeClr val="dk1"/>
                </a:solidFill>
              </a:rPr>
              <a:t> before anything can continue.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But in </a:t>
            </a:r>
            <a:r>
              <a:rPr b="1" lang="en">
                <a:solidFill>
                  <a:schemeClr val="dk1"/>
                </a:solidFill>
              </a:rPr>
              <a:t>RCC</a:t>
            </a:r>
            <a:r>
              <a:rPr lang="en">
                <a:solidFill>
                  <a:schemeClr val="dk1"/>
                </a:solidFill>
              </a:rPr>
              <a:t>, only the instance with the faulty primary is paused.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Every other instance continues proposing and committing transactions at full speed.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So recovery happens </a:t>
            </a:r>
            <a:r>
              <a:rPr b="1" lang="en">
                <a:solidFill>
                  <a:schemeClr val="dk1"/>
                </a:solidFill>
              </a:rPr>
              <a:t>locally and independently</a:t>
            </a:r>
            <a:r>
              <a:rPr lang="en">
                <a:solidFill>
                  <a:schemeClr val="dk1"/>
                </a:solidFill>
              </a:rPr>
              <a:t>, without blocking the rest of the system.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This design keeps the overall system live and ensures </a:t>
            </a:r>
            <a:r>
              <a:rPr b="1" lang="en">
                <a:solidFill>
                  <a:schemeClr val="dk1"/>
                </a:solidFill>
              </a:rPr>
              <a:t>high throughput even during failures</a:t>
            </a:r>
            <a:r>
              <a:rPr lang="en">
                <a:solidFill>
                  <a:schemeClr val="dk1"/>
                </a:solidFill>
              </a:rPr>
              <a:t>.</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a33b5040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a33b5040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9970b6309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9970b6309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Here’s the key intuition behind why RCC’s recovery is called </a:t>
            </a:r>
            <a:r>
              <a:rPr b="1" lang="en">
                <a:solidFill>
                  <a:schemeClr val="dk1"/>
                </a:solidFill>
              </a:rPr>
              <a:t>wait-free</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In </a:t>
            </a:r>
            <a:r>
              <a:rPr b="1" lang="en">
                <a:solidFill>
                  <a:schemeClr val="dk1"/>
                </a:solidFill>
              </a:rPr>
              <a:t>PBFT</a:t>
            </a:r>
            <a:r>
              <a:rPr lang="en">
                <a:solidFill>
                  <a:schemeClr val="dk1"/>
                </a:solidFill>
              </a:rPr>
              <a:t>, when the primary fails, the entire protocol stops — all replicas have to wait for a </a:t>
            </a:r>
            <a:r>
              <a:rPr b="1" lang="en">
                <a:solidFill>
                  <a:schemeClr val="dk1"/>
                </a:solidFill>
              </a:rPr>
              <a:t>view change</a:t>
            </a:r>
            <a:r>
              <a:rPr lang="en">
                <a:solidFill>
                  <a:schemeClr val="dk1"/>
                </a:solidFill>
              </a:rPr>
              <a:t> before anything can continue.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But in </a:t>
            </a:r>
            <a:r>
              <a:rPr b="1" lang="en">
                <a:solidFill>
                  <a:schemeClr val="dk1"/>
                </a:solidFill>
              </a:rPr>
              <a:t>RCC</a:t>
            </a:r>
            <a:r>
              <a:rPr lang="en">
                <a:solidFill>
                  <a:schemeClr val="dk1"/>
                </a:solidFill>
              </a:rPr>
              <a:t>, only the instance with the faulty primary is paused.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Every other instance continues proposing and committing transactions at full speed.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So recovery happens </a:t>
            </a:r>
            <a:r>
              <a:rPr b="1" lang="en">
                <a:solidFill>
                  <a:schemeClr val="dk1"/>
                </a:solidFill>
              </a:rPr>
              <a:t>locally and independently</a:t>
            </a:r>
            <a:r>
              <a:rPr lang="en">
                <a:solidFill>
                  <a:schemeClr val="dk1"/>
                </a:solidFill>
              </a:rPr>
              <a:t>, without blocking the rest of the system.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This design keeps the overall system live and ensures </a:t>
            </a:r>
            <a:r>
              <a:rPr b="1" lang="en">
                <a:solidFill>
                  <a:schemeClr val="dk1"/>
                </a:solidFill>
              </a:rPr>
              <a:t>high throughput even during failures</a:t>
            </a:r>
            <a:r>
              <a:rPr lang="en">
                <a:solidFill>
                  <a:schemeClr val="dk1"/>
                </a:solidFill>
              </a:rPr>
              <a:t>.</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a28f64f8c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a28f64f8c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Here’s the key intuition behind why RCC’s recovery is called </a:t>
            </a:r>
            <a:r>
              <a:rPr b="1" lang="en">
                <a:solidFill>
                  <a:schemeClr val="dk1"/>
                </a:solidFill>
              </a:rPr>
              <a:t>wait-free</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In </a:t>
            </a:r>
            <a:r>
              <a:rPr b="1" lang="en">
                <a:solidFill>
                  <a:schemeClr val="dk1"/>
                </a:solidFill>
              </a:rPr>
              <a:t>PBFT</a:t>
            </a:r>
            <a:r>
              <a:rPr lang="en">
                <a:solidFill>
                  <a:schemeClr val="dk1"/>
                </a:solidFill>
              </a:rPr>
              <a:t>, when the primary fails, the entire protocol stops — all replicas have to wait for a </a:t>
            </a:r>
            <a:r>
              <a:rPr b="1" lang="en">
                <a:solidFill>
                  <a:schemeClr val="dk1"/>
                </a:solidFill>
              </a:rPr>
              <a:t>view change</a:t>
            </a:r>
            <a:r>
              <a:rPr lang="en">
                <a:solidFill>
                  <a:schemeClr val="dk1"/>
                </a:solidFill>
              </a:rPr>
              <a:t> before anything can continue.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But in </a:t>
            </a:r>
            <a:r>
              <a:rPr b="1" lang="en">
                <a:solidFill>
                  <a:schemeClr val="dk1"/>
                </a:solidFill>
              </a:rPr>
              <a:t>RCC</a:t>
            </a:r>
            <a:r>
              <a:rPr lang="en">
                <a:solidFill>
                  <a:schemeClr val="dk1"/>
                </a:solidFill>
              </a:rPr>
              <a:t>, only the instance with the faulty primary is paused.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Every other instance continues proposing and committing transactions at full speed.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So recovery happens </a:t>
            </a:r>
            <a:r>
              <a:rPr b="1" lang="en">
                <a:solidFill>
                  <a:schemeClr val="dk1"/>
                </a:solidFill>
              </a:rPr>
              <a:t>locally and independently</a:t>
            </a:r>
            <a:r>
              <a:rPr lang="en">
                <a:solidFill>
                  <a:schemeClr val="dk1"/>
                </a:solidFill>
              </a:rPr>
              <a:t>, without blocking the rest of the system.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This design keeps the overall system live and ensures </a:t>
            </a:r>
            <a:r>
              <a:rPr b="1" lang="en">
                <a:solidFill>
                  <a:schemeClr val="dk1"/>
                </a:solidFill>
              </a:rPr>
              <a:t>high throughput even during failures</a:t>
            </a:r>
            <a:r>
              <a:rPr lang="en">
                <a:solidFill>
                  <a:schemeClr val="dk1"/>
                </a:solidFill>
              </a:rPr>
              <a:t>.</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a182b9d6a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a182b9d6a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Now let’s talk about </a:t>
            </a:r>
            <a:r>
              <a:rPr b="1" lang="en">
                <a:solidFill>
                  <a:schemeClr val="dk1"/>
                </a:solidFill>
              </a:rPr>
              <a:t>undetectable failures</a:t>
            </a:r>
            <a:r>
              <a:rPr lang="en">
                <a:solidFill>
                  <a:schemeClr val="dk1"/>
                </a:solidFill>
              </a:rPr>
              <a:t>, which are a bit trickier.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These are cases where not enough replicas actually see the failure — meaning </a:t>
            </a:r>
            <a:r>
              <a:rPr b="1" lang="en">
                <a:solidFill>
                  <a:schemeClr val="dk1"/>
                </a:solidFill>
              </a:rPr>
              <a:t>f + 1 honest confirmations are never reached</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So, even though something wrong is happening, the system can’t formally label it as a failure.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This can occur when a malicious primary selectively sends proposals to only a few replicas or delays messages in a way that keeps suspicions below the threshold.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The result is that replicas </a:t>
            </a:r>
            <a:r>
              <a:rPr b="1" lang="en">
                <a:solidFill>
                  <a:schemeClr val="dk1"/>
                </a:solidFill>
              </a:rPr>
              <a:t>can’t make progress</a:t>
            </a:r>
            <a:r>
              <a:rPr lang="en">
                <a:solidFill>
                  <a:schemeClr val="dk1"/>
                </a:solidFill>
              </a:rPr>
              <a:t> and </a:t>
            </a:r>
            <a:r>
              <a:rPr b="1" lang="en">
                <a:solidFill>
                  <a:schemeClr val="dk1"/>
                </a:solidFill>
              </a:rPr>
              <a:t>can’t trigger recovery</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In PBFT, the system could still progress as long as at most f replicas are faulty, but in RCC, this situation is more troublesome because it leaves some replicas “in the dark.”</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a182b9d6a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a182b9d6a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Let’s look at an example to understand how an </a:t>
            </a:r>
            <a:r>
              <a:rPr b="1" lang="en">
                <a:solidFill>
                  <a:schemeClr val="dk1"/>
                </a:solidFill>
              </a:rPr>
              <a:t>undetectable failure</a:t>
            </a:r>
            <a:r>
              <a:rPr lang="en">
                <a:solidFill>
                  <a:schemeClr val="dk1"/>
                </a:solidFill>
              </a:rPr>
              <a:t> can happen in practice — this is known as a </a:t>
            </a:r>
            <a:r>
              <a:rPr b="1" lang="en">
                <a:solidFill>
                  <a:schemeClr val="dk1"/>
                </a:solidFill>
              </a:rPr>
              <a:t>collusion attack</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Suppose our system has </a:t>
            </a:r>
            <a:r>
              <a:rPr b="1" lang="en">
                <a:solidFill>
                  <a:schemeClr val="dk1"/>
                </a:solidFill>
              </a:rPr>
              <a:t>n = 7 replicas</a:t>
            </a:r>
            <a:r>
              <a:rPr lang="en">
                <a:solidFill>
                  <a:schemeClr val="dk1"/>
                </a:solidFill>
              </a:rPr>
              <a:t>, which means </a:t>
            </a:r>
            <a:r>
              <a:rPr b="1" lang="en">
                <a:solidFill>
                  <a:schemeClr val="dk1"/>
                </a:solidFill>
              </a:rPr>
              <a:t>f = 2</a:t>
            </a:r>
            <a:r>
              <a:rPr lang="en">
                <a:solidFill>
                  <a:schemeClr val="dk1"/>
                </a:solidFill>
              </a:rPr>
              <a:t> can be faulty.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Now imagine two malicious primaries, P₁ and P₂.</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P₁ sends its proposal only to one group of honest replicas — say group A₁ — while P₂ sends to another group — A₂ — plus one shared replica B in the middle.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So now, A₁ knows transaction T₁, A₂ knows T₂, and only B has seen both.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No single group has a complete view of all transactions.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This splits the system — each part thinks it’s fine, but no one has enough overlap to reach the 2f + 1 agreement required for progress.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a33b50408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a33b50408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Let’s look at an example to understand how an </a:t>
            </a:r>
            <a:r>
              <a:rPr b="1" lang="en">
                <a:solidFill>
                  <a:schemeClr val="dk1"/>
                </a:solidFill>
              </a:rPr>
              <a:t>undetectable failure</a:t>
            </a:r>
            <a:r>
              <a:rPr lang="en">
                <a:solidFill>
                  <a:schemeClr val="dk1"/>
                </a:solidFill>
              </a:rPr>
              <a:t> can happen in practice — this is known as a </a:t>
            </a:r>
            <a:r>
              <a:rPr b="1" lang="en">
                <a:solidFill>
                  <a:schemeClr val="dk1"/>
                </a:solidFill>
              </a:rPr>
              <a:t>collusion attack</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Suppose our system has </a:t>
            </a:r>
            <a:r>
              <a:rPr b="1" lang="en">
                <a:solidFill>
                  <a:schemeClr val="dk1"/>
                </a:solidFill>
              </a:rPr>
              <a:t>n = 7 replicas</a:t>
            </a:r>
            <a:r>
              <a:rPr lang="en">
                <a:solidFill>
                  <a:schemeClr val="dk1"/>
                </a:solidFill>
              </a:rPr>
              <a:t>, which means </a:t>
            </a:r>
            <a:r>
              <a:rPr b="1" lang="en">
                <a:solidFill>
                  <a:schemeClr val="dk1"/>
                </a:solidFill>
              </a:rPr>
              <a:t>f = 2</a:t>
            </a:r>
            <a:r>
              <a:rPr lang="en">
                <a:solidFill>
                  <a:schemeClr val="dk1"/>
                </a:solidFill>
              </a:rPr>
              <a:t> can be faulty.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Now imagine two malicious primaries, P₁ and P₂.</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P₁ sends its proposal only to one group of honest replicas — say group A₁ — while P₂ sends to another group — A₂ — plus one shared replica B in the middle.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So now, A₁ knows transaction T₁, A₂ knows T₂, and only B has seen both.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No single group has a complete view of all transactions.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This splits the system — each part thinks it’s fine, but no one has enough overlap to reach the 2f + 1 agreement required for progress.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949d50884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949d50884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So finally, how does RCC fix these undetectable failures?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It uses a mechanism called </a:t>
            </a:r>
            <a:r>
              <a:rPr b="1" lang="en">
                <a:solidFill>
                  <a:schemeClr val="dk1"/>
                </a:solidFill>
              </a:rPr>
              <a:t>checkpointing</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Checkpoints are special synchronization points where replicas </a:t>
            </a:r>
            <a:r>
              <a:rPr b="1" lang="en">
                <a:solidFill>
                  <a:schemeClr val="dk1"/>
                </a:solidFill>
              </a:rPr>
              <a:t>share and compare their local states</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If some replicas are missing transactions or are “in the dark,” these checkpoints </a:t>
            </a:r>
            <a:r>
              <a:rPr b="1" lang="en">
                <a:solidFill>
                  <a:schemeClr val="dk1"/>
                </a:solidFill>
              </a:rPr>
              <a:t>fill in the gaps</a:t>
            </a:r>
            <a:r>
              <a:rPr lang="en">
                <a:solidFill>
                  <a:schemeClr val="dk1"/>
                </a:solidFill>
              </a:rPr>
              <a:t> by collecting the correct data from honest nodes.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Once everyone exchanges and updates their state, </a:t>
            </a:r>
            <a:r>
              <a:rPr b="1" lang="en">
                <a:solidFill>
                  <a:schemeClr val="dk1"/>
                </a:solidFill>
              </a:rPr>
              <a:t>all honest replicas become consistent again</a:t>
            </a:r>
            <a:r>
              <a:rPr lang="en">
                <a:solidFill>
                  <a:schemeClr val="dk1"/>
                </a:solidFill>
              </a:rPr>
              <a:t>, and normal progress resumes — without needing any leader change or global pause.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So, checkpointing is what keeps RCC robust even when some failures go unnoticed.</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a33b504081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a33b504081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Let’s look at an example to understand how an </a:t>
            </a:r>
            <a:r>
              <a:rPr b="1" lang="en">
                <a:solidFill>
                  <a:schemeClr val="dk1"/>
                </a:solidFill>
              </a:rPr>
              <a:t>undetectable failure</a:t>
            </a:r>
            <a:r>
              <a:rPr lang="en">
                <a:solidFill>
                  <a:schemeClr val="dk1"/>
                </a:solidFill>
              </a:rPr>
              <a:t> can happen in practice — this is known as a </a:t>
            </a:r>
            <a:r>
              <a:rPr b="1" lang="en">
                <a:solidFill>
                  <a:schemeClr val="dk1"/>
                </a:solidFill>
              </a:rPr>
              <a:t>collusion attack</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Suppose our system has </a:t>
            </a:r>
            <a:r>
              <a:rPr b="1" lang="en">
                <a:solidFill>
                  <a:schemeClr val="dk1"/>
                </a:solidFill>
              </a:rPr>
              <a:t>n = 7 replicas</a:t>
            </a:r>
            <a:r>
              <a:rPr lang="en">
                <a:solidFill>
                  <a:schemeClr val="dk1"/>
                </a:solidFill>
              </a:rPr>
              <a:t>, which means </a:t>
            </a:r>
            <a:r>
              <a:rPr b="1" lang="en">
                <a:solidFill>
                  <a:schemeClr val="dk1"/>
                </a:solidFill>
              </a:rPr>
              <a:t>f = 2</a:t>
            </a:r>
            <a:r>
              <a:rPr lang="en">
                <a:solidFill>
                  <a:schemeClr val="dk1"/>
                </a:solidFill>
              </a:rPr>
              <a:t> can be faulty.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Now imagine two malicious primaries, P₁ and P₂.</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P₁ sends its proposal only to one group of honest replicas — say group A₁ — while P₂ sends to another group — A₂ — plus one shared replica B in the middle.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So now, A₁ knows transaction T₁, A₂ knows T₂, and only B has seen both.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No single group has a complete view of all transactions.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This splits the system — each part thinks it’s fine, but no one has enough overlap to reach the 2f + 1 agreement required for progress.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9970b6309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9970b630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So finally, how does RCC fix these undetectable failures?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It uses a mechanism called </a:t>
            </a:r>
            <a:r>
              <a:rPr b="1" lang="en">
                <a:solidFill>
                  <a:schemeClr val="dk1"/>
                </a:solidFill>
              </a:rPr>
              <a:t>checkpointing</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Checkpoints are special synchronization points where replicas </a:t>
            </a:r>
            <a:r>
              <a:rPr b="1" lang="en">
                <a:solidFill>
                  <a:schemeClr val="dk1"/>
                </a:solidFill>
              </a:rPr>
              <a:t>share and compare their local states</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If some replicas are missing transactions or are “in the dark,” these checkpoints </a:t>
            </a:r>
            <a:r>
              <a:rPr b="1" lang="en">
                <a:solidFill>
                  <a:schemeClr val="dk1"/>
                </a:solidFill>
              </a:rPr>
              <a:t>fill in the gaps</a:t>
            </a:r>
            <a:r>
              <a:rPr lang="en">
                <a:solidFill>
                  <a:schemeClr val="dk1"/>
                </a:solidFill>
              </a:rPr>
              <a:t> by collecting the correct data from honest nodes.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Once everyone exchanges and updates their state, </a:t>
            </a:r>
            <a:r>
              <a:rPr b="1" lang="en">
                <a:solidFill>
                  <a:schemeClr val="dk1"/>
                </a:solidFill>
              </a:rPr>
              <a:t>all honest replicas become consistent again</a:t>
            </a:r>
            <a:r>
              <a:rPr lang="en">
                <a:solidFill>
                  <a:schemeClr val="dk1"/>
                </a:solidFill>
              </a:rPr>
              <a:t>, and normal progress resumes — without needing any leader change or global pause.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So, checkpointing is what keeps RCC robust even when some failures go unnoticed.</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949d50884a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949d50884a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RCC’s client model complements its multi-primary architecture, distributing workload and enabling high concurrency. In order to do this, RCC contains a few key attributes: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Firstly, e</a:t>
            </a:r>
            <a:r>
              <a:rPr lang="en">
                <a:solidFill>
                  <a:schemeClr val="dk1"/>
                </a:solidFill>
              </a:rPr>
              <a:t>very</a:t>
            </a:r>
            <a:r>
              <a:rPr lang="en">
                <a:solidFill>
                  <a:schemeClr val="dk1"/>
                </a:solidFill>
              </a:rPr>
              <a:t> client is assigned a single primary. In the case of many clients, several will be mapped to a single primary, and in the case of less clients than primaries, some primaries will remain idle.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Secondly, only the assigned primary can propose for a given client. This prevents conflicting proposals, and helps to determine where faults </a:t>
            </a:r>
            <a:r>
              <a:rPr lang="en">
                <a:solidFill>
                  <a:schemeClr val="dk1"/>
                </a:solidFill>
              </a:rPr>
              <a:t>occurred</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Lastly, RCC is optimized for a many-clients-per-primary mapping with faulty clients in mind..</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In order for this design to work in all cases, we must </a:t>
            </a:r>
            <a:r>
              <a:rPr lang="en">
                <a:solidFill>
                  <a:schemeClr val="dk1"/>
                </a:solidFill>
              </a:rPr>
              <a:t>handle</a:t>
            </a:r>
            <a:r>
              <a:rPr lang="en">
                <a:solidFill>
                  <a:schemeClr val="dk1"/>
                </a:solidFill>
              </a:rPr>
              <a:t> two key issues: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One is the case of idle </a:t>
            </a:r>
            <a:r>
              <a:rPr lang="en">
                <a:solidFill>
                  <a:schemeClr val="dk1"/>
                </a:solidFill>
              </a:rPr>
              <a:t>primaries</a:t>
            </a:r>
            <a:r>
              <a:rPr lang="en">
                <a:solidFill>
                  <a:schemeClr val="dk1"/>
                </a:solidFill>
              </a:rPr>
              <a:t>, where a primary receives no client requests during a round of proposals.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second is how to deal with faulty primaries.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a1c91ab9c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a1c91ab9c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deal with idle primaries, RCC employs </a:t>
            </a:r>
            <a:r>
              <a:rPr b="1" lang="en">
                <a:solidFill>
                  <a:schemeClr val="dk1"/>
                </a:solidFill>
              </a:rPr>
              <a:t>no-op proposals</a:t>
            </a:r>
            <a:r>
              <a:rPr lang="en">
                <a:solidFill>
                  <a:schemeClr val="dk1"/>
                </a:solidFill>
              </a:rPr>
              <a:t>, keeping each primary concurrent amongst all other primaries.</a:t>
            </a:r>
            <a:endParaRPr>
              <a:solidFill>
                <a:schemeClr val="dk1"/>
              </a:solidFill>
            </a:endParaRPr>
          </a:p>
          <a:p>
            <a:pPr indent="-298450" lvl="0" marL="457200" rtl="0" algn="l">
              <a:spcBef>
                <a:spcPts val="1200"/>
              </a:spcBef>
              <a:spcAft>
                <a:spcPts val="0"/>
              </a:spcAft>
              <a:buSzPts val="1100"/>
              <a:buChar char="-"/>
            </a:pPr>
            <a:r>
              <a:rPr lang="en"/>
              <a:t>No-ops do not affect throughput </a:t>
            </a:r>
            <a:r>
              <a:rPr lang="en"/>
              <a:t>because</a:t>
            </a:r>
            <a:r>
              <a:rPr lang="en"/>
              <a:t> they are both lightweight and only occur when demand for service is low.</a:t>
            </a:r>
            <a:endParaRPr/>
          </a:p>
          <a:p>
            <a:pPr indent="-298450" lvl="0" marL="457200" rtl="0" algn="l">
              <a:spcBef>
                <a:spcPts val="0"/>
              </a:spcBef>
              <a:spcAft>
                <a:spcPts val="0"/>
              </a:spcAft>
              <a:buSzPts val="1100"/>
              <a:buChar char="-"/>
            </a:pPr>
            <a:r>
              <a:rPr lang="en"/>
              <a:t>No-ops are issued only when a primary detects other instances proposing but has no transactions of its own to submit.</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These proposals are necessary because of the checkpoint protocol that requires liveness of all primaries in order to detect failures.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a1c91ab9c4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a1c91ab9c4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deal with faulty clients that refuse to propose client requests, RCC employs a two step approach</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
                <a:solidFill>
                  <a:schemeClr val="dk1"/>
                </a:solidFill>
              </a:rPr>
              <a:t>The first step is for the client to </a:t>
            </a:r>
            <a:r>
              <a:rPr b="1" lang="en">
                <a:solidFill>
                  <a:schemeClr val="dk1"/>
                </a:solidFill>
              </a:rPr>
              <a:t>escalate</a:t>
            </a:r>
            <a:r>
              <a:rPr lang="en">
                <a:solidFill>
                  <a:schemeClr val="dk1"/>
                </a:solidFill>
              </a:rPr>
              <a:t> the request— broadcasting it to all other replicas. </a:t>
            </a:r>
            <a:endParaRPr>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en">
                <a:solidFill>
                  <a:schemeClr val="dk1"/>
                </a:solidFill>
              </a:rPr>
              <a:t>This step is </a:t>
            </a:r>
            <a:r>
              <a:rPr lang="en">
                <a:solidFill>
                  <a:schemeClr val="dk1"/>
                </a:solidFill>
              </a:rPr>
              <a:t>designed</a:t>
            </a:r>
            <a:r>
              <a:rPr lang="en">
                <a:solidFill>
                  <a:schemeClr val="dk1"/>
                </a:solidFill>
              </a:rPr>
              <a:t> to incentivise malicious primaries not to refuse client requests, as doing so would lead to the primary being detected faulty, thus losing its ability to propose altogether. </a:t>
            </a:r>
            <a:endParaRPr>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en">
                <a:solidFill>
                  <a:schemeClr val="dk1"/>
                </a:solidFill>
              </a:rPr>
              <a:t>Because of the safety guarantees from the underlying BCA, even if multiple replicas receive the same request, only the assigned primary can commit it.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The second step involves clients requesting reassignment via broadcasting a SWITCHINSTANCE(c, j) message to all </a:t>
            </a:r>
            <a:r>
              <a:rPr lang="en">
                <a:solidFill>
                  <a:schemeClr val="dk1"/>
                </a:solidFill>
              </a:rPr>
              <a:t>replicas</a:t>
            </a:r>
            <a:r>
              <a:rPr lang="en">
                <a:solidFill>
                  <a:schemeClr val="dk1"/>
                </a:solidFill>
              </a:rPr>
              <a:t>. </a:t>
            </a:r>
            <a:endParaRPr>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en">
                <a:solidFill>
                  <a:schemeClr val="dk1"/>
                </a:solidFill>
              </a:rPr>
              <a:t>This request enters the consensus mechanism as other requests do. If the request is </a:t>
            </a:r>
            <a:r>
              <a:rPr lang="en">
                <a:solidFill>
                  <a:schemeClr val="dk1"/>
                </a:solidFill>
              </a:rPr>
              <a:t>committed</a:t>
            </a:r>
            <a:r>
              <a:rPr lang="en">
                <a:solidFill>
                  <a:schemeClr val="dk1"/>
                </a:solidFill>
              </a:rPr>
              <a:t>, the reassignment takes effect in the next round.</a:t>
            </a:r>
            <a:endParaRPr>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en">
                <a:solidFill>
                  <a:schemeClr val="dk1"/>
                </a:solidFill>
              </a:rPr>
              <a:t>This step insures liveness and resilience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NOTE </a:t>
            </a:r>
            <a:r>
              <a:rPr lang="en">
                <a:solidFill>
                  <a:schemeClr val="dk1"/>
                </a:solidFill>
              </a:rPr>
              <a:t>that malicious clients may attempt to use reassignment to propose transactions in multiple instances simultaneously. RCC prevents this by forcing the reassignment request through consensus in the client’s current instance—pausing all active proposals until it is committed—and by enforcing a round offset before the new primary can accept further requests, ensuring the network synchronizes to the updated mapping before new transactions are processed</a:t>
            </a:r>
            <a:endParaRPr>
              <a:solidFill>
                <a:schemeClr val="dk1"/>
              </a:solidFill>
            </a:endParaRPr>
          </a:p>
          <a:p>
            <a:pPr indent="0" lvl="0" marL="0" rtl="0" algn="l">
              <a:lnSpc>
                <a:spcPct val="115000"/>
              </a:lnSpc>
              <a:spcBef>
                <a:spcPts val="1200"/>
              </a:spcBef>
              <a:spcAft>
                <a:spcPts val="1200"/>
              </a:spcAft>
              <a:buNone/>
            </a:pPr>
            <a:r>
              <a:t/>
            </a:r>
            <a:endParaRPr b="1">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a1c91ab9c4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a1c91ab9c4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latin typeface="Roboto"/>
                <a:ea typeface="Roboto"/>
                <a:cs typeface="Roboto"/>
                <a:sym typeface="Roboto"/>
              </a:rPr>
              <a:t>Mapping</a:t>
            </a:r>
            <a:r>
              <a:rPr lang="en" sz="1200">
                <a:solidFill>
                  <a:schemeClr val="dk1"/>
                </a:solidFill>
                <a:latin typeface="Roboto"/>
                <a:ea typeface="Roboto"/>
                <a:cs typeface="Roboto"/>
                <a:sym typeface="Roboto"/>
              </a:rPr>
              <a:t>: </a:t>
            </a:r>
            <a:r>
              <a:rPr lang="en" sz="1200">
                <a:solidFill>
                  <a:schemeClr val="dk1"/>
                </a:solidFill>
                <a:latin typeface="Roboto"/>
                <a:ea typeface="Roboto"/>
                <a:cs typeface="Roboto"/>
                <a:sym typeface="Roboto"/>
              </a:rPr>
              <a:t>Each client is initially assigned to one primary replica responsible for proposing its transactions in a given round.</a:t>
            </a:r>
            <a:endParaRPr sz="1200">
              <a:solidFill>
                <a:schemeClr val="dk1"/>
              </a:solidFill>
              <a:latin typeface="Roboto"/>
              <a:ea typeface="Roboto"/>
              <a:cs typeface="Roboto"/>
              <a:sym typeface="Roboto"/>
            </a:endParaRPr>
          </a:p>
          <a:p>
            <a:pPr indent="0" lvl="0" marL="0" rtl="0" algn="l">
              <a:lnSpc>
                <a:spcPct val="100000"/>
              </a:lnSpc>
              <a:spcBef>
                <a:spcPts val="1200"/>
              </a:spcBef>
              <a:spcAft>
                <a:spcPts val="0"/>
              </a:spcAft>
              <a:buClr>
                <a:schemeClr val="dk1"/>
              </a:buClr>
              <a:buSzPts val="1100"/>
              <a:buFont typeface="Arial"/>
              <a:buNone/>
            </a:pPr>
            <a:r>
              <a:rPr b="1" lang="en" sz="1200">
                <a:solidFill>
                  <a:schemeClr val="dk1"/>
                </a:solidFill>
                <a:latin typeface="Roboto"/>
                <a:ea typeface="Roboto"/>
                <a:cs typeface="Roboto"/>
                <a:sym typeface="Roboto"/>
              </a:rPr>
              <a:t>Broadcast Requests to network:</a:t>
            </a: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In the event that a primary fails to process a client’s request, the client can broadcast it’s request to the rest of the network</a:t>
            </a:r>
            <a:endParaRPr sz="1200">
              <a:solidFill>
                <a:schemeClr val="dk1"/>
              </a:solidFill>
              <a:latin typeface="Roboto"/>
              <a:ea typeface="Roboto"/>
              <a:cs typeface="Roboto"/>
              <a:sym typeface="Roboto"/>
            </a:endParaRPr>
          </a:p>
          <a:p>
            <a:pPr indent="-304800" lvl="0" marL="457200" rtl="0" algn="l">
              <a:lnSpc>
                <a:spcPct val="100000"/>
              </a:lnSpc>
              <a:spcBef>
                <a:spcPts val="1200"/>
              </a:spcBef>
              <a:spcAft>
                <a:spcPts val="0"/>
              </a:spcAft>
              <a:buClr>
                <a:schemeClr val="dk1"/>
              </a:buClr>
              <a:buSzPts val="1200"/>
              <a:buFont typeface="Roboto"/>
              <a:buChar char="-"/>
            </a:pPr>
            <a:r>
              <a:rPr lang="en" sz="1200">
                <a:solidFill>
                  <a:schemeClr val="dk1"/>
                </a:solidFill>
                <a:latin typeface="Roboto"/>
                <a:ea typeface="Roboto"/>
                <a:cs typeface="Roboto"/>
                <a:sym typeface="Roboto"/>
              </a:rPr>
              <a:t>When the client broadcasts, a timer is initiated.</a:t>
            </a:r>
            <a:endParaRPr sz="1200">
              <a:solidFill>
                <a:schemeClr val="dk1"/>
              </a:solidFill>
              <a:latin typeface="Roboto"/>
              <a:ea typeface="Roboto"/>
              <a:cs typeface="Roboto"/>
              <a:sym typeface="Roboto"/>
            </a:endParaRPr>
          </a:p>
          <a:p>
            <a:pPr indent="-304800" lvl="0" marL="457200" rtl="0" algn="l">
              <a:lnSpc>
                <a:spcPct val="100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Each primary that receives the request will forward it to the assigned primary</a:t>
            </a:r>
            <a:endParaRPr sz="1200">
              <a:solidFill>
                <a:schemeClr val="dk1"/>
              </a:solidFill>
              <a:latin typeface="Roboto"/>
              <a:ea typeface="Roboto"/>
              <a:cs typeface="Roboto"/>
              <a:sym typeface="Roboto"/>
            </a:endParaRPr>
          </a:p>
          <a:p>
            <a:pPr indent="0" lvl="0" marL="0" rtl="0" algn="l">
              <a:lnSpc>
                <a:spcPct val="100000"/>
              </a:lnSpc>
              <a:spcBef>
                <a:spcPts val="1200"/>
              </a:spcBef>
              <a:spcAft>
                <a:spcPts val="0"/>
              </a:spcAft>
              <a:buClr>
                <a:schemeClr val="dk1"/>
              </a:buClr>
              <a:buSzPts val="1100"/>
              <a:buFont typeface="Arial"/>
              <a:buNone/>
            </a:pPr>
            <a:r>
              <a:rPr b="1" lang="en" sz="1200">
                <a:solidFill>
                  <a:schemeClr val="dk1"/>
                </a:solidFill>
                <a:latin typeface="Roboto"/>
                <a:ea typeface="Roboto"/>
                <a:cs typeface="Roboto"/>
                <a:sym typeface="Roboto"/>
              </a:rPr>
              <a:t>Safe Reassignment:</a:t>
            </a: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In the event a client’s assigned primary fails to respond within a timeout, the client broadcasts the SWITCHINSTANCE request to the network.</a:t>
            </a: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 → This avoids waiting indefinitely on a faulty primary and prevents </a:t>
            </a:r>
            <a:r>
              <a:rPr i="1" lang="en" sz="1200">
                <a:solidFill>
                  <a:schemeClr val="dk1"/>
                </a:solidFill>
                <a:latin typeface="Roboto"/>
                <a:ea typeface="Roboto"/>
                <a:cs typeface="Roboto"/>
                <a:sym typeface="Roboto"/>
              </a:rPr>
              <a:t>leader-induced denial-of-service</a:t>
            </a:r>
            <a:r>
              <a:rPr lang="en" sz="1200">
                <a:solidFill>
                  <a:schemeClr val="dk1"/>
                </a:solidFill>
                <a:latin typeface="Roboto"/>
                <a:ea typeface="Roboto"/>
                <a:cs typeface="Roboto"/>
                <a:sym typeface="Roboto"/>
              </a:rPr>
              <a:t>.</a:t>
            </a: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 → Safety is preserved because only one valid instance will reach </a:t>
            </a:r>
            <a:r>
              <a:rPr i="1" lang="en" sz="1200">
                <a:solidFill>
                  <a:schemeClr val="dk1"/>
                </a:solidFill>
                <a:latin typeface="Roboto"/>
                <a:ea typeface="Roboto"/>
                <a:cs typeface="Roboto"/>
                <a:sym typeface="Roboto"/>
              </a:rPr>
              <a:t>prepared</a:t>
            </a:r>
            <a:r>
              <a:rPr lang="en" sz="1200">
                <a:solidFill>
                  <a:schemeClr val="dk1"/>
                </a:solidFill>
                <a:latin typeface="Roboto"/>
                <a:ea typeface="Roboto"/>
                <a:cs typeface="Roboto"/>
                <a:sym typeface="Roboto"/>
              </a:rPr>
              <a:t> state due to BCA’s non-divergence property.</a:t>
            </a:r>
            <a:endParaRPr sz="1200">
              <a:solidFill>
                <a:schemeClr val="dk1"/>
              </a:solidFill>
              <a:latin typeface="Roboto"/>
              <a:ea typeface="Roboto"/>
              <a:cs typeface="Roboto"/>
              <a:sym typeface="Roboto"/>
            </a:endParaRPr>
          </a:p>
          <a:p>
            <a:pPr indent="0" lvl="0" marL="0" rtl="0" algn="l">
              <a:lnSpc>
                <a:spcPct val="100000"/>
              </a:lnSpc>
              <a:spcBef>
                <a:spcPts val="1200"/>
              </a:spcBef>
              <a:spcAft>
                <a:spcPts val="0"/>
              </a:spcAft>
              <a:buClr>
                <a:schemeClr val="dk1"/>
              </a:buClr>
              <a:buSzPts val="1100"/>
              <a:buFont typeface="Arial"/>
              <a:buNone/>
            </a:pPr>
            <a:r>
              <a:rPr b="1" lang="en" sz="1200">
                <a:solidFill>
                  <a:schemeClr val="dk1"/>
                </a:solidFill>
                <a:latin typeface="Roboto"/>
                <a:ea typeface="Roboto"/>
                <a:cs typeface="Roboto"/>
                <a:sym typeface="Roboto"/>
              </a:rPr>
              <a:t>No-Op Submissions:</a:t>
            </a: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Idle primaries continuously propose </a:t>
            </a:r>
            <a:r>
              <a:rPr i="1" lang="en" sz="1200">
                <a:solidFill>
                  <a:schemeClr val="dk1"/>
                </a:solidFill>
                <a:latin typeface="Roboto"/>
                <a:ea typeface="Roboto"/>
                <a:cs typeface="Roboto"/>
                <a:sym typeface="Roboto"/>
              </a:rPr>
              <a:t>no-op</a:t>
            </a:r>
            <a:r>
              <a:rPr lang="en" sz="1200">
                <a:solidFill>
                  <a:schemeClr val="dk1"/>
                </a:solidFill>
                <a:latin typeface="Roboto"/>
                <a:ea typeface="Roboto"/>
                <a:cs typeface="Roboto"/>
                <a:sym typeface="Roboto"/>
              </a:rPr>
              <a:t> transactions when they have no client requests to ensure idle primaries are not found to be lagging. </a:t>
            </a:r>
            <a:endParaRPr sz="1200">
              <a:solidFill>
                <a:schemeClr val="dk1"/>
              </a:solidFill>
              <a:latin typeface="Roboto"/>
              <a:ea typeface="Roboto"/>
              <a:cs typeface="Roboto"/>
              <a:sym typeface="Roboto"/>
            </a:endParaRPr>
          </a:p>
          <a:p>
            <a:pPr indent="0" lvl="0" marL="0" rtl="0" algn="l">
              <a:lnSpc>
                <a:spcPct val="100000"/>
              </a:lnSpc>
              <a:spcBef>
                <a:spcPts val="120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949d50884a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3949d50884a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br>
              <a:rPr lang="en"/>
            </a:br>
            <a:r>
              <a:rPr lang="en"/>
              <a:t>The paper touches on three key attacks: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The first is an </a:t>
            </a:r>
            <a:r>
              <a:rPr b="1" lang="en">
                <a:solidFill>
                  <a:schemeClr val="dk1"/>
                </a:solidFill>
              </a:rPr>
              <a:t>Ordering Attack</a:t>
            </a:r>
            <a:r>
              <a:rPr lang="en">
                <a:solidFill>
                  <a:schemeClr val="dk1"/>
                </a:solidFill>
              </a:rPr>
              <a:t>, where a malicious primary may try to reorder transactions to benefit itself or disrupt fairness.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second is a </a:t>
            </a:r>
            <a:r>
              <a:rPr b="1" lang="en">
                <a:solidFill>
                  <a:schemeClr val="dk1"/>
                </a:solidFill>
              </a:rPr>
              <a:t>Throttling Attack</a:t>
            </a:r>
            <a:r>
              <a:rPr lang="en">
                <a:solidFill>
                  <a:schemeClr val="dk1"/>
                </a:solidFill>
              </a:rPr>
              <a:t>, in which a faulty primary might slow down its instance to block progress.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Finally, a </a:t>
            </a:r>
            <a:r>
              <a:rPr b="1" lang="en">
                <a:solidFill>
                  <a:schemeClr val="dk1"/>
                </a:solidFill>
              </a:rPr>
              <a:t>Targeted Attack,</a:t>
            </a:r>
            <a:r>
              <a:rPr lang="en">
                <a:solidFill>
                  <a:schemeClr val="dk1"/>
                </a:solidFill>
              </a:rPr>
              <a:t> where attackers may try to crash or overload a specific primary to cause disruption.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949d50884a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3949d50884a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RCC’s design mitigates these attacks in the following ways:</a:t>
            </a:r>
            <a:endParaRPr/>
          </a:p>
          <a:p>
            <a:pPr indent="0" lvl="0" marL="0" rtl="0" algn="l">
              <a:spcBef>
                <a:spcPts val="0"/>
              </a:spcBef>
              <a:spcAft>
                <a:spcPts val="0"/>
              </a:spcAft>
              <a:buNone/>
            </a:pPr>
            <a:br>
              <a:rPr lang="en"/>
            </a:br>
            <a:r>
              <a:rPr lang="en"/>
              <a:t>In the case of </a:t>
            </a:r>
            <a:r>
              <a:rPr b="1" lang="en">
                <a:solidFill>
                  <a:schemeClr val="dk1"/>
                </a:solidFill>
              </a:rPr>
              <a:t>Ordering Attacks, </a:t>
            </a:r>
            <a:r>
              <a:rPr lang="en">
                <a:solidFill>
                  <a:schemeClr val="dk1"/>
                </a:solidFill>
              </a:rPr>
              <a:t> RCC counters this by applying a </a:t>
            </a:r>
            <a:r>
              <a:rPr b="1" lang="en">
                <a:solidFill>
                  <a:schemeClr val="dk1"/>
                </a:solidFill>
              </a:rPr>
              <a:t>deterministic hash-based shuffle</a:t>
            </a:r>
            <a:r>
              <a:rPr lang="en">
                <a:solidFill>
                  <a:schemeClr val="dk1"/>
                </a:solidFill>
              </a:rPr>
              <a:t> to the ordering phase that was discussed earlier in the presentation. This ensures that even if proposals arrive in a manipulated order, the final global sequence remains consistent.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In the case of </a:t>
            </a:r>
            <a:r>
              <a:rPr b="1" lang="en">
                <a:solidFill>
                  <a:schemeClr val="dk1"/>
                </a:solidFill>
              </a:rPr>
              <a:t>Throttling Attacks,</a:t>
            </a:r>
            <a:r>
              <a:rPr lang="en">
                <a:solidFill>
                  <a:schemeClr val="dk1"/>
                </a:solidFill>
              </a:rPr>
              <a:t> RCC is designed to be resilient to this by tracking each instances progress. If an instance lags repeatedly, it triggers </a:t>
            </a:r>
            <a:r>
              <a:rPr b="1" lang="en">
                <a:solidFill>
                  <a:schemeClr val="dk1"/>
                </a:solidFill>
              </a:rPr>
              <a:t>independent recovery</a:t>
            </a:r>
            <a:r>
              <a:rPr lang="en">
                <a:solidFill>
                  <a:schemeClr val="dk1"/>
                </a:solidFill>
              </a:rPr>
              <a:t>, allowing other instances to continue unaffected.</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Finally, for</a:t>
            </a:r>
            <a:r>
              <a:rPr b="1" lang="en">
                <a:solidFill>
                  <a:schemeClr val="dk1"/>
                </a:solidFill>
              </a:rPr>
              <a:t> Targeted Attack</a:t>
            </a:r>
            <a:r>
              <a:rPr lang="en">
                <a:solidFill>
                  <a:schemeClr val="dk1"/>
                </a:solidFill>
              </a:rPr>
              <a:t>, RCC’s client–primary mapping spreads load evenly across all instances. This means that even if some lanes are under attack, the rest of the system remains responsive and productive, while still providing fallback mechanisms for client reassignment.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Together, these strategies ensure that RCC maintains throughput and consistency even under active attack.</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949d50884a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949d50884a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a:t>
            </a:r>
            <a:r>
              <a:rPr lang="en"/>
              <a:t> we've covered the theoretical design of RCC, lets see how its performance was evaluated. </a:t>
            </a:r>
            <a:endParaRPr/>
          </a:p>
          <a:p>
            <a:pPr indent="0" lvl="0" marL="0" rtl="0" algn="l">
              <a:spcBef>
                <a:spcPts val="0"/>
              </a:spcBef>
              <a:spcAft>
                <a:spcPts val="0"/>
              </a:spcAft>
              <a:buNone/>
            </a:pPr>
            <a:r>
              <a:t/>
            </a:r>
            <a:endParaRPr i="1"/>
          </a:p>
          <a:p>
            <a:pPr indent="0" lvl="0" marL="0" rtl="0" algn="l">
              <a:spcBef>
                <a:spcPts val="0"/>
              </a:spcBef>
              <a:spcAft>
                <a:spcPts val="0"/>
              </a:spcAft>
              <a:buNone/>
            </a:pPr>
            <a:r>
              <a:rPr i="1" lang="en"/>
              <a:t>(CLICK)</a:t>
            </a:r>
            <a:endParaRPr i="1"/>
          </a:p>
          <a:p>
            <a:pPr indent="0" lvl="0" marL="0" rtl="0" algn="l">
              <a:spcBef>
                <a:spcPts val="0"/>
              </a:spcBef>
              <a:spcAft>
                <a:spcPts val="0"/>
              </a:spcAft>
              <a:buNone/>
            </a:pPr>
            <a:r>
              <a:rPr lang="en"/>
              <a:t>To evaluate the performance, the authors structured it around these five key questions.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i="1" lang="en">
                <a:solidFill>
                  <a:schemeClr val="dk1"/>
                </a:solidFill>
              </a:rPr>
              <a:t>(CLICK)</a:t>
            </a:r>
            <a:endParaRPr/>
          </a:p>
          <a:p>
            <a:pPr indent="0" lvl="0" marL="0" rtl="0" algn="l">
              <a:spcBef>
                <a:spcPts val="0"/>
              </a:spcBef>
              <a:spcAft>
                <a:spcPts val="0"/>
              </a:spcAft>
              <a:buNone/>
            </a:pPr>
            <a:r>
              <a:rPr lang="en"/>
              <a:t>"First and foremost: is it faster? We'll see if RCC </a:t>
            </a:r>
            <a:r>
              <a:rPr lang="en"/>
              <a:t>can actually process more transactions per second than other primary-backup protocols like PBFT"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i="1" lang="en">
                <a:solidFill>
                  <a:schemeClr val="dk1"/>
                </a:solidFill>
              </a:rPr>
              <a:t>(CLICK)</a:t>
            </a:r>
            <a:endParaRPr/>
          </a:p>
          <a:p>
            <a:pPr indent="0" lvl="0" marL="0" rtl="0" algn="l">
              <a:spcBef>
                <a:spcPts val="0"/>
              </a:spcBef>
              <a:spcAft>
                <a:spcPts val="0"/>
              </a:spcAft>
              <a:buNone/>
            </a:pPr>
            <a:r>
              <a:rPr lang="en"/>
              <a:t>"Second: how well does it scale? We'll examine how RCC's performance holds up as the network and replicas grow</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i="1" lang="en">
                <a:solidFill>
                  <a:schemeClr val="dk1"/>
                </a:solidFill>
              </a:rPr>
              <a:t>(CLICK)</a:t>
            </a:r>
            <a:endParaRPr/>
          </a:p>
          <a:p>
            <a:pPr indent="0" lvl="0" marL="0" rtl="0" algn="l">
              <a:spcBef>
                <a:spcPts val="0"/>
              </a:spcBef>
              <a:spcAft>
                <a:spcPts val="0"/>
              </a:spcAft>
              <a:buNone/>
            </a:pPr>
            <a:r>
              <a:rPr lang="en"/>
              <a:t>"Third, we'll investigate load balancing. We’ll see whether RCC’s architecture helps reduce the burden on primaries — specifically, whether it distributes expensive tasks in a way that improves overall performance.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i="1" lang="en">
                <a:solidFill>
                  <a:schemeClr val="dk1"/>
                </a:solidFill>
              </a:rPr>
              <a:t>(CLICK)</a:t>
            </a:r>
            <a:endParaRPr/>
          </a:p>
          <a:p>
            <a:pPr indent="0" lvl="0" marL="0" rtl="0" algn="l">
              <a:spcBef>
                <a:spcPts val="0"/>
              </a:spcBef>
              <a:spcAft>
                <a:spcPts val="0"/>
              </a:spcAft>
              <a:buNone/>
            </a:pPr>
            <a:r>
              <a:rPr lang="en"/>
              <a:t>"Fourth, we’ll see how well RCC handle failures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i="1" lang="en">
                <a:solidFill>
                  <a:schemeClr val="dk1"/>
                </a:solidFill>
              </a:rPr>
              <a:t>(CLICK)</a:t>
            </a:r>
            <a:endParaRPr/>
          </a:p>
          <a:p>
            <a:pPr indent="0" lvl="0" marL="0" rtl="0" algn="l">
              <a:spcBef>
                <a:spcPts val="0"/>
              </a:spcBef>
              <a:spcAft>
                <a:spcPts val="0"/>
              </a:spcAft>
              <a:buNone/>
            </a:pPr>
            <a:r>
              <a:rPr lang="en"/>
              <a:t>"And finally, we’ll look at how transaction batching affects RCC's performance."</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solidFill>
                  <a:srgbClr val="9E9E9E"/>
                </a:solidFill>
              </a:rPr>
              <a:t>Load Balancing: spreading the total workload of the system over many primaries</a:t>
            </a:r>
            <a:endParaRPr>
              <a:solidFill>
                <a:srgbClr val="9E9E9E"/>
              </a:solidFill>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949d50884a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3949d50884a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For the experiments, the </a:t>
            </a:r>
            <a:r>
              <a:rPr lang="en">
                <a:solidFill>
                  <a:schemeClr val="dk1"/>
                </a:solidFill>
              </a:rPr>
              <a:t>system used was RESILIENTDB. An important feature ResilientDB supports is </a:t>
            </a:r>
            <a:r>
              <a:rPr b="1" lang="en">
                <a:solidFill>
                  <a:schemeClr val="dk1"/>
                </a:solidFill>
              </a:rPr>
              <a:t>out-of-order processing, which allows primaries to propose future transactions before current transactions are executed</a:t>
            </a:r>
            <a:r>
              <a:rPr lang="en">
                <a:solidFill>
                  <a:schemeClr val="dk1"/>
                </a:solidFill>
              </a:rPr>
              <a:t>, and this feature is enabled for all protocols that support it. For this experiment the protocols were tested against a workload consisting of 90% of transactions that modify records.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i="1" lang="en">
                <a:solidFill>
                  <a:schemeClr val="dk1"/>
                </a:solidFill>
              </a:rPr>
              <a:t>(CLICK)</a:t>
            </a:r>
            <a:endParaRPr>
              <a:solidFill>
                <a:schemeClr val="dk1"/>
              </a:solidFill>
            </a:endParaRPr>
          </a:p>
          <a:p>
            <a:pPr indent="0" lvl="0" marL="0" rtl="0" algn="l">
              <a:spcBef>
                <a:spcPts val="0"/>
              </a:spcBef>
              <a:spcAft>
                <a:spcPts val="0"/>
              </a:spcAft>
              <a:buNone/>
            </a:pPr>
            <a:r>
              <a:rPr lang="en"/>
              <a:t>To evaluate the performance of RCC, it was compared against some</a:t>
            </a:r>
            <a:r>
              <a:rPr lang="en"/>
              <a:t> well-known primary-backup protocols </a:t>
            </a:r>
            <a:endParaRPr/>
          </a:p>
          <a:p>
            <a:pPr indent="0" lvl="0" marL="0" rtl="0" algn="l">
              <a:spcBef>
                <a:spcPts val="0"/>
              </a:spcBef>
              <a:spcAft>
                <a:spcPts val="0"/>
              </a:spcAft>
              <a:buClr>
                <a:schemeClr val="dk1"/>
              </a:buClr>
              <a:buSzPts val="1100"/>
              <a:buFont typeface="Arial"/>
              <a:buNone/>
            </a:pPr>
            <a:r>
              <a:rPr lang="en">
                <a:solidFill>
                  <a:schemeClr val="dk1"/>
                </a:solidFill>
              </a:rPr>
              <a:t>First </a:t>
            </a:r>
            <a:r>
              <a:rPr lang="en">
                <a:solidFill>
                  <a:schemeClr val="dk1"/>
                </a:solidFill>
              </a:rPr>
              <a:t>we have three variants of RCC built on top of PBFT.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 version running 'n' instances, one for every replica in the system.</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One running 'f+1' instances, which is the minimum to provide RCC’s resilience benefits as it guarantees at least one honest primary remains active (</a:t>
            </a:r>
            <a:r>
              <a:rPr i="1" lang="en">
                <a:solidFill>
                  <a:schemeClr val="dk1"/>
                </a:solidFill>
              </a:rPr>
              <a:t>to ensure progress and enforce fair ordering</a:t>
            </a:r>
            <a:r>
              <a:rPr lang="en">
                <a:solidFill>
                  <a:schemeClr val="dk1"/>
                </a:solidFill>
              </a:rPr>
              <a: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And finally, a version with just 3 instances, to give us a fixed baseline for comparison</a:t>
            </a:r>
            <a:endParaRPr/>
          </a:p>
          <a:p>
            <a:pPr indent="0" lvl="0" marL="0" rtl="0" algn="l">
              <a:spcBef>
                <a:spcPts val="0"/>
              </a:spcBef>
              <a:spcAft>
                <a:spcPts val="0"/>
              </a:spcAft>
              <a:buNone/>
            </a:pPr>
            <a:r>
              <a:rPr lang="en"/>
              <a:t>Compared against these variants are the primary-backup protocols: PBFT, ZYZZYVA, SBFT, and HOTSTUFF</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rgbClr val="9E9E9E"/>
                </a:solidFill>
              </a:rPr>
              <a:t>Multithreading</a:t>
            </a:r>
            <a:r>
              <a:rPr lang="en">
                <a:solidFill>
                  <a:srgbClr val="9E9E9E"/>
                </a:solidFill>
              </a:rPr>
              <a:t>: utilizing multiple CPU cores to concurrently run independent </a:t>
            </a:r>
            <a:r>
              <a:rPr lang="en">
                <a:solidFill>
                  <a:srgbClr val="9E9E9E"/>
                </a:solidFill>
              </a:rPr>
              <a:t>instructions</a:t>
            </a:r>
            <a:r>
              <a:rPr lang="en">
                <a:solidFill>
                  <a:srgbClr val="9E9E9E"/>
                </a:solidFill>
              </a:rPr>
              <a:t> in parallel</a:t>
            </a:r>
            <a:endParaRPr>
              <a:solidFill>
                <a:srgbClr val="9E9E9E"/>
              </a:solidFill>
            </a:endParaRPr>
          </a:p>
          <a:p>
            <a:pPr indent="0" lvl="0" marL="0" rtl="0" algn="l">
              <a:spcBef>
                <a:spcPts val="0"/>
              </a:spcBef>
              <a:spcAft>
                <a:spcPts val="0"/>
              </a:spcAft>
              <a:buNone/>
            </a:pPr>
            <a:r>
              <a:t/>
            </a:r>
            <a:endParaRPr>
              <a:solidFill>
                <a:srgbClr val="9E9E9E"/>
              </a:solidFill>
            </a:endParaRPr>
          </a:p>
          <a:p>
            <a:pPr indent="0" lvl="0" marL="0" rtl="0" algn="l">
              <a:spcBef>
                <a:spcPts val="0"/>
              </a:spcBef>
              <a:spcAft>
                <a:spcPts val="0"/>
              </a:spcAft>
              <a:buNone/>
            </a:pPr>
            <a:r>
              <a:rPr lang="en">
                <a:solidFill>
                  <a:srgbClr val="9E9E9E"/>
                </a:solidFill>
              </a:rPr>
              <a:t>Pipelining: (like the goal, while out-of-order processing is the mechanism) is a high-level design principle for a system's workflow. It describes the strategy of overlapping the execution of different independent stages of a multi-stage process to increase overall throughput.</a:t>
            </a:r>
            <a:endParaRPr>
              <a:solidFill>
                <a:srgbClr val="9E9E9E"/>
              </a:solidFill>
            </a:endParaRPr>
          </a:p>
          <a:p>
            <a:pPr indent="0" lvl="0" marL="0" rtl="0" algn="l">
              <a:spcBef>
                <a:spcPts val="0"/>
              </a:spcBef>
              <a:spcAft>
                <a:spcPts val="0"/>
              </a:spcAft>
              <a:buNone/>
            </a:pPr>
            <a:r>
              <a:t/>
            </a:r>
            <a:endParaRPr>
              <a:solidFill>
                <a:srgbClr val="9E9E9E"/>
              </a:solidFill>
            </a:endParaRPr>
          </a:p>
          <a:p>
            <a:pPr indent="0" lvl="0" marL="0" rtl="0" algn="l">
              <a:spcBef>
                <a:spcPts val="0"/>
              </a:spcBef>
              <a:spcAft>
                <a:spcPts val="0"/>
              </a:spcAft>
              <a:buNone/>
            </a:pPr>
            <a:r>
              <a:rPr lang="en">
                <a:solidFill>
                  <a:srgbClr val="9E9E9E"/>
                </a:solidFill>
              </a:rPr>
              <a:t>Why f+1: </a:t>
            </a:r>
            <a:endParaRPr>
              <a:solidFill>
                <a:srgbClr val="9E9E9E"/>
              </a:solidFill>
            </a:endParaRPr>
          </a:p>
          <a:p>
            <a:pPr indent="0" lvl="0" marL="0" rtl="0" algn="l">
              <a:spcBef>
                <a:spcPts val="0"/>
              </a:spcBef>
              <a:spcAft>
                <a:spcPts val="0"/>
              </a:spcAft>
              <a:buNone/>
            </a:pPr>
            <a:r>
              <a:rPr lang="en">
                <a:solidFill>
                  <a:srgbClr val="9E9E9E"/>
                </a:solidFill>
              </a:rPr>
              <a:t>Ordering attacks: The single honest primary introduces an unpredictable transaction into the round, which prevents malicious primaries from controlling the final, hash-based order. </a:t>
            </a:r>
            <a:endParaRPr>
              <a:solidFill>
                <a:srgbClr val="9E9E9E"/>
              </a:solidFill>
            </a:endParaRPr>
          </a:p>
          <a:p>
            <a:pPr indent="0" lvl="0" marL="0" rtl="0" algn="l">
              <a:spcBef>
                <a:spcPts val="0"/>
              </a:spcBef>
              <a:spcAft>
                <a:spcPts val="0"/>
              </a:spcAft>
              <a:buNone/>
            </a:pPr>
            <a:r>
              <a:rPr lang="en">
                <a:solidFill>
                  <a:srgbClr val="9E9E9E"/>
                </a:solidFill>
              </a:rPr>
              <a:t>Throttling Attacks: The single honest primary proposes transactions at full speed, creating a performance baseline that allows the system to identify and remove the slow, malicious primaries</a:t>
            </a:r>
            <a:endParaRPr>
              <a:solidFill>
                <a:srgbClr val="9E9E9E"/>
              </a:solidFill>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a1b0c67d7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3a1b0c67d7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shows the system's performance in a perfect, 'best-case' scenario—with no failures. We're looking at throughput in graph (a) and latency in graph (b).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a:t>
            </a:r>
            <a:r>
              <a:rPr lang="en"/>
              <a:t>let's</a:t>
            </a:r>
            <a:r>
              <a:rPr lang="en"/>
              <a:t> look at the throughput graph on the left. </a:t>
            </a:r>
            <a:endParaRPr/>
          </a:p>
          <a:p>
            <a:pPr indent="0" lvl="0" marL="0" rtl="0" algn="l">
              <a:spcBef>
                <a:spcPts val="0"/>
              </a:spcBef>
              <a:spcAft>
                <a:spcPts val="0"/>
              </a:spcAft>
              <a:buNone/>
            </a:pPr>
            <a:r>
              <a:rPr lang="en"/>
              <a:t>"What I want you to notice are the three RCC variants—the black, red, and blue lines. They are outperforming all the traditional protocols in terms of throughput.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let's look at scalability. As we add more replicas, the performance of RCC still remains higher than the other protocols.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Based on this graph and the ones I will cover in the next slides, the answer to Q1 (Throughput): Yes, RCC provides substantially higher throughput. And to Q2 (Scalability): Yes, RCC scales more effectively than the other primary-backup protocols.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latency graph on the right tells the same story. Lower is better here and RCC’s latency grows more slowly than most of the other protocols as the number of replicas increases.</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a1b0c67d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a1b0c67d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we’ll evaluate how these protocols handle a single failure with one primary replica constantly failing.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Looking at the throughput graph on the left.</a:t>
            </a:r>
            <a:endParaRPr/>
          </a:p>
          <a:p>
            <a:pPr indent="0" lvl="0" marL="0" rtl="0" algn="l">
              <a:spcBef>
                <a:spcPts val="0"/>
              </a:spcBef>
              <a:spcAft>
                <a:spcPts val="0"/>
              </a:spcAft>
              <a:buNone/>
            </a:pPr>
            <a:r>
              <a:rPr lang="en"/>
              <a:t>Again we want to focus on RCC and If you compare the RCC lines here to the previous slide, </a:t>
            </a:r>
            <a:r>
              <a:rPr i="1" lang="en">
                <a:solidFill>
                  <a:schemeClr val="dk1"/>
                </a:solidFill>
              </a:rPr>
              <a:t>(CLICK)</a:t>
            </a:r>
            <a:r>
              <a:rPr lang="en"/>
              <a:t> they are nearly identical. This demonstrates RCC's wait-free design, when one instance's primary fails, the recovery for that instance happens in the background, while the other concurrent instances continue processing transactions at full speed. </a:t>
            </a:r>
            <a:r>
              <a:rPr i="1" lang="en">
                <a:solidFill>
                  <a:schemeClr val="dk1"/>
                </a:solidFill>
              </a:rPr>
              <a:t>(CLICK) </a:t>
            </a:r>
            <a:r>
              <a:rPr lang="en"/>
              <a:t>The impact on total system throughput is minimal.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to </a:t>
            </a:r>
            <a:r>
              <a:rPr lang="en"/>
              <a:t>answer</a:t>
            </a:r>
            <a:r>
              <a:rPr lang="en"/>
              <a:t> Q4 (Resilience): Yes, RCC handles failures effectively and maintains its high performance"</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a1b0c67d7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a1b0c67d7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experiment</a:t>
            </a:r>
            <a:r>
              <a:rPr lang="en"/>
              <a:t>, the authors fixed the number of replicas (at 32) and varied the batch size, (which is the number of client transactions grouped into a single proposal), from 10 to 400.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Looking at the throughput graph on the left</a:t>
            </a:r>
            <a:endParaRPr/>
          </a:p>
          <a:p>
            <a:pPr indent="0" lvl="0" marL="0" rtl="0" algn="l">
              <a:spcBef>
                <a:spcPts val="0"/>
              </a:spcBef>
              <a:spcAft>
                <a:spcPts val="0"/>
              </a:spcAft>
              <a:buNone/>
            </a:pPr>
            <a:r>
              <a:rPr lang="en"/>
              <a:t>"As we would expect, for most protocols, increasing the batch size leads to a boost in throughput. The reason is that a larger batch size spreads the fixed overhead of the consensus process across more transactions, which lowers the average cost for each individual transaction.</a:t>
            </a:r>
            <a:endParaRPr/>
          </a:p>
          <a:p>
            <a:pPr indent="0" lvl="0" marL="0" rtl="0" algn="l">
              <a:spcBef>
                <a:spcPts val="0"/>
              </a:spcBef>
              <a:spcAft>
                <a:spcPts val="0"/>
              </a:spcAft>
              <a:buNone/>
            </a:pPr>
            <a:r>
              <a:rPr lang="en"/>
              <a:t>Notice that the performance gains are very steep initially, but they begin to flatten out around the 100-to-200 transaction mark. This marks the point of diminishing returns and justifies the authors' choice of using a batch size of 100 for all the other experiments.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the answer to Q5 (Batching) is: Yes, RCC responds predictably and positively to batching, just as you would expect from any well-designed consensus protocol."</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a1b0c67d7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3a1b0c67d7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final experiment, t</a:t>
            </a:r>
            <a:r>
              <a:rPr lang="en"/>
              <a:t>o answer Q3 about load balancing, the authors disabled the out-of-order processing optimization for every protocol. </a:t>
            </a:r>
            <a:r>
              <a:rPr i="1" lang="en">
                <a:solidFill>
                  <a:schemeClr val="dk1"/>
                </a:solidFill>
              </a:rPr>
              <a:t>The out-of-order optimization was disabled to intentionally change the system's bottleneck from network bandwidth to message delay, creating a controlled experiment to specifically measure and prove the value of RCC's load balancin</a:t>
            </a:r>
            <a:r>
              <a:rPr i="1" lang="en">
                <a:solidFill>
                  <a:schemeClr val="dk1"/>
                </a:solidFill>
              </a:rPr>
              <a:t>g when outgoing primary Bandwidth is not the limiting factor.</a:t>
            </a:r>
            <a:endParaRPr i="1">
              <a:solidFill>
                <a:schemeClr val="dk1"/>
              </a:solidFill>
            </a:endParaRPr>
          </a:p>
          <a:p>
            <a:pPr indent="457200" lvl="0" marL="0" rtl="0" algn="l">
              <a:spcBef>
                <a:spcPts val="0"/>
              </a:spcBef>
              <a:spcAft>
                <a:spcPts val="0"/>
              </a:spcAft>
              <a:buNone/>
            </a:pPr>
            <a:r>
              <a:rPr lang="en">
                <a:solidFill>
                  <a:srgbClr val="9E9E9E"/>
                </a:solidFill>
              </a:rPr>
              <a:t>Network Bandwidth: Network bandwidth is the maximum volume of data that can be transmitted over a network connection in a given amount of time (is effectively how many proposals the primary can broadcast per second)</a:t>
            </a:r>
            <a:endParaRPr>
              <a:solidFill>
                <a:srgbClr val="9E9E9E"/>
              </a:solidFill>
            </a:endParaRPr>
          </a:p>
          <a:p>
            <a:pPr indent="457200" lvl="0" marL="0" rtl="0" algn="l">
              <a:spcBef>
                <a:spcPts val="0"/>
              </a:spcBef>
              <a:spcAft>
                <a:spcPts val="0"/>
              </a:spcAft>
              <a:buNone/>
            </a:pPr>
            <a:r>
              <a:rPr lang="en">
                <a:solidFill>
                  <a:srgbClr val="9E9E9E"/>
                </a:solidFill>
              </a:rPr>
              <a:t>Network Latency: Network latency is the time delay for a single packet of data to travel from a source replica to a destination replica (throughput is determined by how long a single round takes which is is dominated by the time it takes for messages to travel back and forth between replicas)</a:t>
            </a:r>
            <a:endParaRPr>
              <a:solidFill>
                <a:srgbClr val="9E9E9E"/>
              </a:solidFill>
            </a:endParaRPr>
          </a:p>
          <a:p>
            <a:pPr indent="457200" lvl="0" marL="0" rtl="0" algn="l">
              <a:spcBef>
                <a:spcPts val="0"/>
              </a:spcBef>
              <a:spcAft>
                <a:spcPts val="0"/>
              </a:spcAft>
              <a:buNone/>
            </a:pPr>
            <a:r>
              <a:rPr lang="en">
                <a:solidFill>
                  <a:srgbClr val="9E9E9E"/>
                </a:solidFill>
              </a:rPr>
              <a:t>)</a:t>
            </a:r>
            <a:endParaRPr>
              <a:solidFill>
                <a:srgbClr val="9E9E9E"/>
              </a:solidFill>
            </a:endParaRPr>
          </a:p>
          <a:p>
            <a:pPr indent="457200" lvl="0" marL="0" rtl="0" algn="l">
              <a:spcBef>
                <a:spcPts val="0"/>
              </a:spcBef>
              <a:spcAft>
                <a:spcPts val="0"/>
              </a:spcAft>
              <a:buNone/>
            </a:pPr>
            <a:r>
              <a:t/>
            </a:r>
            <a:endParaRPr>
              <a:solidFill>
                <a:srgbClr val="9E9E9E"/>
              </a:solidFill>
            </a:endParaRPr>
          </a:p>
          <a:p>
            <a:pPr indent="457200" lvl="0" marL="0" rtl="0" algn="l">
              <a:spcBef>
                <a:spcPts val="0"/>
              </a:spcBef>
              <a:spcAft>
                <a:spcPts val="0"/>
              </a:spcAft>
              <a:buNone/>
            </a:pPr>
            <a:r>
              <a:rPr lang="en">
                <a:solidFill>
                  <a:srgbClr val="9E9E9E"/>
                </a:solidFill>
              </a:rPr>
              <a:t>(</a:t>
            </a:r>
            <a:r>
              <a:rPr i="1" lang="en">
                <a:solidFill>
                  <a:srgbClr val="9E9E9E"/>
                </a:solidFill>
              </a:rPr>
              <a:t>out-of-order processing of </a:t>
            </a:r>
            <a:r>
              <a:rPr i="1" lang="en">
                <a:solidFill>
                  <a:srgbClr val="9E9E9E"/>
                </a:solidFill>
              </a:rPr>
              <a:t>transactions:</a:t>
            </a:r>
            <a:r>
              <a:rPr i="1" lang="en">
                <a:solidFill>
                  <a:srgbClr val="9E9E9E"/>
                </a:solidFill>
              </a:rPr>
              <a:t> in which primaries can propose future transactions before current transactions are executed</a:t>
            </a:r>
            <a:r>
              <a:rPr lang="en">
                <a:solidFill>
                  <a:srgbClr val="9E9E9E"/>
                </a:solidFill>
              </a:rPr>
              <a:t>)</a:t>
            </a:r>
            <a:endParaRPr>
              <a:solidFill>
                <a:srgbClr val="9E9E9E"/>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Looking at the throughput graph on the left</a:t>
            </a:r>
            <a:endParaRPr/>
          </a:p>
          <a:p>
            <a:pPr indent="0" lvl="0" marL="0" rtl="0" algn="l">
              <a:spcBef>
                <a:spcPts val="0"/>
              </a:spcBef>
              <a:spcAft>
                <a:spcPts val="0"/>
              </a:spcAft>
              <a:buNone/>
            </a:pPr>
            <a:r>
              <a:rPr lang="en">
                <a:solidFill>
                  <a:srgbClr val="9E9E9E"/>
                </a:solidFill>
              </a:rPr>
              <a:t>(</a:t>
            </a:r>
            <a:r>
              <a:rPr i="1" lang="en">
                <a:solidFill>
                  <a:srgbClr val="9E9E9E"/>
                </a:solidFill>
              </a:rPr>
              <a:t>"First, notice the Y-axis is much smaller—we're now looking at tens of thousands of transactions, not hundreds of thousands. This shows just how impactful out-of-order processing is.</a:t>
            </a:r>
            <a:r>
              <a:rPr lang="en">
                <a:solidFill>
                  <a:srgbClr val="9E9E9E"/>
                </a:solidFill>
              </a:rPr>
              <a:t>)</a:t>
            </a:r>
            <a:endParaRPr>
              <a:solidFill>
                <a:srgbClr val="9E9E9E"/>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RCC is the clear winner and the reason is load balancing. In a traditional protocol, the single primary's CPU has to do all the work of proposing transactions and becomes a severe bottleneck. In RCC, that entire workload is distributed evenly across more replicas.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rgbClr val="9E9E9E"/>
                </a:solidFill>
              </a:rPr>
              <a:t>Load Balancing: spreading the total workload of the system over many primaries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performance gain from load balancing powerful enough to make RCC the top performer even when the advantage of out-of-order processing is taken away. So The answer to Q3 is yes, load balancing does provide a measurable benefit.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949d50884a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3949d50884a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table shows RCC’s Throughput Improvement Against Other Protocols in single and no failure scenarios.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RCC consistently outperforms other consensus protocols across both failure and no-failure scenarios. In single failure its up to 82× faster than Zyzzyva, and in no failure scenarios up to 33x faster </a:t>
            </a:r>
            <a:r>
              <a:rPr lang="en">
                <a:solidFill>
                  <a:schemeClr val="dk1"/>
                </a:solidFill>
              </a:rPr>
              <a:t>than</a:t>
            </a:r>
            <a:r>
              <a:rPr lang="en">
                <a:solidFill>
                  <a:schemeClr val="dk1"/>
                </a:solidFill>
              </a:rPr>
              <a:t> HotStuff.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949d50884a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3949d50884a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a:solidFill>
                  <a:schemeClr val="dk1"/>
                </a:solidFill>
              </a:rPr>
              <a:t>(CLICK)</a:t>
            </a:r>
            <a:endParaRPr/>
          </a:p>
          <a:p>
            <a:pPr indent="0" lvl="0" marL="0" rtl="0" algn="l">
              <a:spcBef>
                <a:spcPts val="0"/>
              </a:spcBef>
              <a:spcAft>
                <a:spcPts val="0"/>
              </a:spcAft>
              <a:buNone/>
            </a:pPr>
            <a:r>
              <a:rPr lang="en"/>
              <a:t>"One of the most powerful ideas in this paper is that RCC isn't just a single protocol—it's a paradigm, meaning its like a 'wrapper' that can be applied to other consensus protocols to make them concurrent."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i="1" lang="en">
                <a:solidFill>
                  <a:schemeClr val="dk1"/>
                </a:solidFill>
              </a:rPr>
              <a:t>(CLICK)</a:t>
            </a:r>
            <a:endParaRPr/>
          </a:p>
          <a:p>
            <a:pPr indent="0" lvl="0" marL="0" rtl="0" algn="l">
              <a:spcBef>
                <a:spcPts val="0"/>
              </a:spcBef>
              <a:spcAft>
                <a:spcPts val="0"/>
              </a:spcAft>
              <a:buNone/>
            </a:pPr>
            <a:r>
              <a:rPr lang="en"/>
              <a:t>"To prove this, the authors did exactly that. They took the core RCC principles and applied them to PBFT, SBFT, and to Zyzzyva.</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i="1" lang="en">
                <a:solidFill>
                  <a:schemeClr val="dk1"/>
                </a:solidFill>
              </a:rPr>
              <a:t>(CLICK)</a:t>
            </a:r>
            <a:endParaRPr/>
          </a:p>
          <a:p>
            <a:pPr indent="0" lvl="0" marL="0" rtl="0" algn="l">
              <a:spcBef>
                <a:spcPts val="0"/>
              </a:spcBef>
              <a:spcAft>
                <a:spcPts val="0"/>
              </a:spcAft>
              <a:buNone/>
            </a:pPr>
            <a:r>
              <a:rPr lang="en"/>
              <a:t>All of these new variants share the same fundamental characteristics that we've been discussing: they run multiple concurrent instances, they use a deterministic ordering step after concurrent BCA, and they inherit RCC's wait-free recovery mechanism"</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
                <a:solidFill>
                  <a:schemeClr val="dk1"/>
                </a:solidFill>
              </a:rPr>
              <a:t>(CLICK)</a:t>
            </a:r>
            <a:endParaRPr/>
          </a:p>
          <a:p>
            <a:pPr indent="0" lvl="0" marL="0" rtl="0" algn="l">
              <a:spcBef>
                <a:spcPts val="0"/>
              </a:spcBef>
              <a:spcAft>
                <a:spcPts val="0"/>
              </a:spcAft>
              <a:buNone/>
            </a:pPr>
            <a:r>
              <a:rPr lang="en"/>
              <a:t>By applying the RCC model, the authors were able to create concurrent versions of these protocols that delivered up to three times higher throughput than their original variants. And this boost was achieved while still maintaining the original safety properties of the underlying protocol."</a:t>
            </a:r>
            <a:endParaRPr/>
          </a:p>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949d50884a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3949d50884a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a:solidFill>
                  <a:schemeClr val="dk1"/>
                </a:solidFill>
              </a:rPr>
              <a:t>(CLICK)</a:t>
            </a:r>
            <a:endParaRPr>
              <a:solidFill>
                <a:schemeClr val="dk1"/>
              </a:solidFill>
            </a:endParaRPr>
          </a:p>
          <a:p>
            <a:pPr indent="0" lvl="0" marL="0" rtl="0" algn="l">
              <a:spcBef>
                <a:spcPts val="0"/>
              </a:spcBef>
              <a:spcAft>
                <a:spcPts val="0"/>
              </a:spcAft>
              <a:buNone/>
            </a:pPr>
            <a:r>
              <a:rPr lang="en">
                <a:solidFill>
                  <a:schemeClr val="dk1"/>
                </a:solidFill>
              </a:rPr>
              <a:t>So, RCC isn't the only protocol that has tried to parallelize PBFT. One of the most notable is a protocol called MIRBFT which </a:t>
            </a:r>
            <a:r>
              <a:rPr lang="en">
                <a:solidFill>
                  <a:schemeClr val="dk1"/>
                </a:solidFill>
              </a:rPr>
              <a:t>differs from RCC in</a:t>
            </a:r>
            <a:r>
              <a:rPr lang="en">
                <a:solidFill>
                  <a:schemeClr val="dk1"/>
                </a:solidFill>
              </a:rPr>
              <a:t> how they handle failures.</a:t>
            </a:r>
            <a:endParaRPr>
              <a:solidFill>
                <a:schemeClr val="dk1"/>
              </a:solidFill>
            </a:endParaRPr>
          </a:p>
          <a:p>
            <a:pPr indent="0" lvl="0" marL="0" rtl="0" algn="l">
              <a:spcBef>
                <a:spcPts val="0"/>
              </a:spcBef>
              <a:spcAft>
                <a:spcPts val="0"/>
              </a:spcAft>
              <a:buNone/>
            </a:pPr>
            <a:r>
              <a:rPr lang="en">
                <a:solidFill>
                  <a:schemeClr val="dk1"/>
                </a:solidFill>
              </a:rPr>
              <a:t>"MIRBFT takes a 'stop everything' approach </a:t>
            </a:r>
            <a:r>
              <a:rPr lang="en">
                <a:solidFill>
                  <a:schemeClr val="dk1"/>
                </a:solidFill>
              </a:rPr>
              <a:t>where</a:t>
            </a:r>
            <a:r>
              <a:rPr lang="en">
                <a:solidFill>
                  <a:schemeClr val="dk1"/>
                </a:solidFill>
              </a:rPr>
              <a:t> when any single primary fails, it halt all concurrent instances, even the healthy ones. Because of this, throughput crashes to zero while a complex, system-wide recovery takes place.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i="1" lang="en">
                <a:solidFill>
                  <a:schemeClr val="dk1"/>
                </a:solidFill>
              </a:rPr>
              <a:t>(CLICK)</a:t>
            </a:r>
            <a:endParaRPr>
              <a:solidFill>
                <a:schemeClr val="dk1"/>
              </a:solidFill>
            </a:endParaRPr>
          </a:p>
          <a:p>
            <a:pPr indent="0" lvl="0" marL="0" rtl="0" algn="l">
              <a:spcBef>
                <a:spcPts val="0"/>
              </a:spcBef>
              <a:spcAft>
                <a:spcPts val="0"/>
              </a:spcAft>
              <a:buNone/>
            </a:pPr>
            <a:r>
              <a:rPr lang="en">
                <a:solidFill>
                  <a:schemeClr val="dk1"/>
                </a:solidFill>
              </a:rPr>
              <a:t>RCC, as we've discussed, takes a completely different, much more surgical approach with its per-instance recovery. If one primary fails, the recovery process just affects that single instance. There are no global stalls.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i="1" lang="en">
                <a:solidFill>
                  <a:schemeClr val="dk1"/>
                </a:solidFill>
              </a:rPr>
              <a:t>(CLICK)</a:t>
            </a:r>
            <a:endParaRPr>
              <a:solidFill>
                <a:schemeClr val="dk1"/>
              </a:solidFill>
            </a:endParaRPr>
          </a:p>
          <a:p>
            <a:pPr indent="0" lvl="0" marL="0" rtl="0" algn="l">
              <a:spcBef>
                <a:spcPts val="0"/>
              </a:spcBef>
              <a:spcAft>
                <a:spcPts val="0"/>
              </a:spcAft>
              <a:buNone/>
            </a:pPr>
            <a:r>
              <a:rPr lang="en">
                <a:solidFill>
                  <a:schemeClr val="dk1"/>
                </a:solidFill>
              </a:rPr>
              <a:t>Looking at the graph: RCC is the black line, and MIRBFT is the red line.</a:t>
            </a:r>
            <a:endParaRPr>
              <a:solidFill>
                <a:schemeClr val="dk1"/>
              </a:solidFill>
            </a:endParaRPr>
          </a:p>
          <a:p>
            <a:pPr indent="0" lvl="0" marL="0" rtl="0" algn="l">
              <a:spcBef>
                <a:spcPts val="0"/>
              </a:spcBef>
              <a:spcAft>
                <a:spcPts val="0"/>
              </a:spcAft>
              <a:buNone/>
            </a:pPr>
            <a:r>
              <a:rPr lang="en">
                <a:solidFill>
                  <a:schemeClr val="dk1"/>
                </a:solidFill>
              </a:rPr>
              <a:t>Look at point (a), when a single primary fails. MIRBFT's throughput drops to zero while RCC's throughput just takes a small dip, because the other instances are still working.</a:t>
            </a:r>
            <a:endParaRPr>
              <a:solidFill>
                <a:schemeClr val="dk1"/>
              </a:solidFill>
            </a:endParaRPr>
          </a:p>
          <a:p>
            <a:pPr indent="0" lvl="0" marL="0" rtl="0" algn="l">
              <a:spcBef>
                <a:spcPts val="0"/>
              </a:spcBef>
              <a:spcAft>
                <a:spcPts val="0"/>
              </a:spcAft>
              <a:buNone/>
            </a:pPr>
            <a:r>
              <a:rPr lang="en">
                <a:solidFill>
                  <a:schemeClr val="dk1"/>
                </a:solidFill>
              </a:rPr>
              <a:t>The same thing happens at point (c) when two primaries fail. MIRBFT is forced to stop everything again, while RCC handles it more gracefully</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8bff524de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38bff524de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a:solidFill>
                  <a:schemeClr val="dk1"/>
                </a:solidFill>
              </a:rPr>
              <a:t>(CLICK)</a:t>
            </a:r>
            <a:endParaRPr/>
          </a:p>
          <a:p>
            <a:pPr indent="0" lvl="0" marL="0" rtl="0" algn="l">
              <a:spcBef>
                <a:spcPts val="0"/>
              </a:spcBef>
              <a:spcAft>
                <a:spcPts val="0"/>
              </a:spcAft>
              <a:buNone/>
            </a:pPr>
            <a:r>
              <a:rPr lang="en"/>
              <a:t>In conclusion, </a:t>
            </a:r>
            <a:r>
              <a:rPr lang="en">
                <a:solidFill>
                  <a:schemeClr val="dk1"/>
                </a:solidFill>
              </a:rPr>
              <a:t>RCC expands on traditional consensus protocols by allowing multiple primaries to operate concurrently. This parallelism boosts throughput and avoids centralized bottlenecks.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i="1" lang="en">
                <a:solidFill>
                  <a:schemeClr val="dk1"/>
                </a:solidFill>
              </a:rPr>
              <a:t>(CLICK)</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RCC isn't just a single protocol—it's a paradigm, meaning its like a 'wrapper' that can be applied to other primary-backup consensus protocols to make them concurrent.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i="1" lang="en">
                <a:solidFill>
                  <a:schemeClr val="dk1"/>
                </a:solidFill>
              </a:rPr>
              <a:t>(CLICK)</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Experimental results shows that RCC scales effectively, handles failures gracefully, and delivers consistent performance across workloads.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i="1" lang="en">
                <a:solidFill>
                  <a:schemeClr val="dk1"/>
                </a:solidFill>
              </a:rPr>
              <a:t>(CLICK)</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Lastly, RCC opens the door to building new classes of resilient, high-throughput databases. Its paradigm can be extended to other protocols and systems, making it a foundation for future innovation.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1.png"/><Relationship Id="rId4"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1.png"/><Relationship Id="rId4"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1.png"/><Relationship Id="rId4" Type="http://schemas.openxmlformats.org/officeDocument/2006/relationships/image" Target="../media/image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0" y="720926"/>
            <a:ext cx="5783400" cy="2044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3000"/>
              <a:t>RCC: Resilient Concurrent Consensus for High-Throughput Secure Transaction Processing</a:t>
            </a:r>
            <a:endParaRPr sz="3000"/>
          </a:p>
        </p:txBody>
      </p:sp>
      <p:sp>
        <p:nvSpPr>
          <p:cNvPr id="64" name="Google Shape;64;p13"/>
          <p:cNvSpPr txBox="1"/>
          <p:nvPr>
            <p:ph idx="1" type="subTitle"/>
          </p:nvPr>
        </p:nvSpPr>
        <p:spPr>
          <a:xfrm>
            <a:off x="1505075" y="3174875"/>
            <a:ext cx="6124800" cy="1530600"/>
          </a:xfrm>
          <a:prstGeom prst="rect">
            <a:avLst/>
          </a:prstGeom>
        </p:spPr>
        <p:txBody>
          <a:bodyPr anchorCtr="0" anchor="t" bIns="91425" lIns="91425" spcFirstLastPara="1" rIns="91425" wrap="square" tIns="91425">
            <a:normAutofit/>
          </a:bodyPr>
          <a:lstStyle/>
          <a:p>
            <a:pPr indent="0" lvl="0" marL="0" rtl="0" algn="ctr">
              <a:lnSpc>
                <a:spcPct val="90000"/>
              </a:lnSpc>
              <a:spcBef>
                <a:spcPts val="0"/>
              </a:spcBef>
              <a:spcAft>
                <a:spcPts val="0"/>
              </a:spcAft>
              <a:buNone/>
            </a:pPr>
            <a:r>
              <a:rPr lang="en" sz="1300"/>
              <a:t>Presenters: </a:t>
            </a:r>
            <a:endParaRPr sz="1300"/>
          </a:p>
          <a:p>
            <a:pPr indent="0" lvl="0" marL="0" rtl="0" algn="ctr">
              <a:lnSpc>
                <a:spcPct val="90000"/>
              </a:lnSpc>
              <a:spcBef>
                <a:spcPts val="0"/>
              </a:spcBef>
              <a:spcAft>
                <a:spcPts val="0"/>
              </a:spcAft>
              <a:buNone/>
            </a:pPr>
            <a:r>
              <a:rPr lang="en" sz="1300"/>
              <a:t>Prasad Prabhu, Elliot Shabram, Amey Bable, Nicolas Randazzo, Ryan Nelson</a:t>
            </a:r>
            <a:endParaRPr sz="1300"/>
          </a:p>
          <a:p>
            <a:pPr indent="0" lvl="0" marL="0" rtl="0" algn="ctr">
              <a:lnSpc>
                <a:spcPct val="90000"/>
              </a:lnSpc>
              <a:spcBef>
                <a:spcPts val="0"/>
              </a:spcBef>
              <a:spcAft>
                <a:spcPts val="0"/>
              </a:spcAft>
              <a:buNone/>
            </a:pPr>
            <a:r>
              <a:t/>
            </a:r>
            <a:endParaRPr sz="1300"/>
          </a:p>
          <a:p>
            <a:pPr indent="0" lvl="0" marL="0" rtl="0" algn="ctr">
              <a:lnSpc>
                <a:spcPct val="90000"/>
              </a:lnSpc>
              <a:spcBef>
                <a:spcPts val="0"/>
              </a:spcBef>
              <a:spcAft>
                <a:spcPts val="0"/>
              </a:spcAft>
              <a:buNone/>
            </a:pPr>
            <a:r>
              <a:rPr lang="en" sz="1300"/>
              <a:t>Authors: </a:t>
            </a:r>
            <a:endParaRPr sz="1300"/>
          </a:p>
          <a:p>
            <a:pPr indent="0" lvl="0" marL="0" rtl="0" algn="ctr">
              <a:lnSpc>
                <a:spcPct val="90000"/>
              </a:lnSpc>
              <a:spcBef>
                <a:spcPts val="0"/>
              </a:spcBef>
              <a:spcAft>
                <a:spcPts val="0"/>
              </a:spcAft>
              <a:buNone/>
            </a:pPr>
            <a:r>
              <a:rPr lang="en" sz="1300"/>
              <a:t>Suyash Gupta, Jelle Hellings, Mohammad Sadoghi</a:t>
            </a:r>
            <a:endParaRPr sz="1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Motivation and Context</a:t>
            </a:r>
            <a:endParaRPr/>
          </a:p>
        </p:txBody>
      </p:sp>
      <p:sp>
        <p:nvSpPr>
          <p:cNvPr id="70" name="Google Shape;70;p14"/>
          <p:cNvSpPr txBox="1"/>
          <p:nvPr>
            <p:ph idx="1" type="body"/>
          </p:nvPr>
        </p:nvSpPr>
        <p:spPr>
          <a:xfrm>
            <a:off x="387900" y="1489825"/>
            <a:ext cx="8368200" cy="2037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Consensus-based data-systems are gaining momentum due to the following benefits</a:t>
            </a:r>
            <a:endParaRPr/>
          </a:p>
          <a:p>
            <a:pPr indent="-342900" lvl="0" marL="457200" rtl="0" algn="l">
              <a:spcBef>
                <a:spcPts val="1200"/>
              </a:spcBef>
              <a:spcAft>
                <a:spcPts val="0"/>
              </a:spcAft>
              <a:buSzPts val="1800"/>
              <a:buChar char="-"/>
            </a:pPr>
            <a:r>
              <a:rPr lang="en"/>
              <a:t>Stronger resilience during failures </a:t>
            </a:r>
            <a:endParaRPr/>
          </a:p>
          <a:p>
            <a:pPr indent="-342900" lvl="0" marL="457200" rtl="0" algn="l">
              <a:spcBef>
                <a:spcPts val="0"/>
              </a:spcBef>
              <a:spcAft>
                <a:spcPts val="0"/>
              </a:spcAft>
              <a:buSzPts val="1800"/>
              <a:buChar char="-"/>
            </a:pPr>
            <a:r>
              <a:rPr lang="en"/>
              <a:t>Data provenance (tracking who owns and changes data)</a:t>
            </a:r>
            <a:endParaRPr/>
          </a:p>
          <a:p>
            <a:pPr indent="-342900" lvl="0" marL="457200" rtl="0" algn="l">
              <a:spcBef>
                <a:spcPts val="0"/>
              </a:spcBef>
              <a:spcAft>
                <a:spcPts val="0"/>
              </a:spcAft>
              <a:buSzPts val="1800"/>
              <a:buChar char="-"/>
            </a:pPr>
            <a:r>
              <a:rPr lang="en"/>
              <a:t>Federated data processing (strong independence with collaboration)</a:t>
            </a:r>
            <a:endParaRPr/>
          </a:p>
        </p:txBody>
      </p:sp>
      <p:sp>
        <p:nvSpPr>
          <p:cNvPr id="71" name="Google Shape;71;p14"/>
          <p:cNvSpPr txBox="1"/>
          <p:nvPr/>
        </p:nvSpPr>
        <p:spPr>
          <a:xfrm>
            <a:off x="401250" y="3359025"/>
            <a:ext cx="8341500" cy="157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Roboto"/>
                <a:ea typeface="Roboto"/>
                <a:cs typeface="Roboto"/>
                <a:sym typeface="Roboto"/>
              </a:rPr>
              <a:t>These systems helps prevent some key issues</a:t>
            </a:r>
            <a:endParaRPr sz="1800">
              <a:solidFill>
                <a:schemeClr val="dk1"/>
              </a:solidFill>
              <a:latin typeface="Roboto"/>
              <a:ea typeface="Roboto"/>
              <a:cs typeface="Roboto"/>
              <a:sym typeface="Roboto"/>
            </a:endParaRPr>
          </a:p>
          <a:p>
            <a:pPr indent="-342900" lvl="0" marL="457200" rtl="0" algn="l">
              <a:lnSpc>
                <a:spcPct val="115000"/>
              </a:lnSpc>
              <a:spcBef>
                <a:spcPts val="1200"/>
              </a:spcBef>
              <a:spcAft>
                <a:spcPts val="0"/>
              </a:spcAft>
              <a:buClr>
                <a:schemeClr val="dk1"/>
              </a:buClr>
              <a:buSzPts val="1800"/>
              <a:buFont typeface="Roboto"/>
              <a:buChar char="-"/>
            </a:pPr>
            <a:r>
              <a:rPr lang="en" sz="1800">
                <a:solidFill>
                  <a:schemeClr val="dk1"/>
                </a:solidFill>
                <a:latin typeface="Roboto"/>
                <a:ea typeface="Roboto"/>
                <a:cs typeface="Roboto"/>
                <a:sym typeface="Roboto"/>
              </a:rPr>
              <a:t>Issues from software bugs</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Issues from cyberattacks</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Bad/erroneous data being processed</a:t>
            </a:r>
            <a:endParaRPr sz="18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77125" y="445025"/>
            <a:ext cx="8999100" cy="57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Traditional Primary Backup Consensus Protocols</a:t>
            </a:r>
            <a:endParaRPr/>
          </a:p>
        </p:txBody>
      </p:sp>
      <p:sp>
        <p:nvSpPr>
          <p:cNvPr id="77" name="Google Shape;77;p15"/>
          <p:cNvSpPr txBox="1"/>
          <p:nvPr>
            <p:ph idx="1" type="body"/>
          </p:nvPr>
        </p:nvSpPr>
        <p:spPr>
          <a:xfrm>
            <a:off x="387900" y="1489825"/>
            <a:ext cx="8368200" cy="177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Consensus protocols allow independent participants to maintain a shared database by reliably replicating a single, consistent sequence of transactions across all nodes.</a:t>
            </a:r>
            <a:endParaRPr/>
          </a:p>
          <a:p>
            <a:pPr indent="0" lvl="0" marL="0" rtl="0" algn="l">
              <a:spcBef>
                <a:spcPts val="0"/>
              </a:spcBef>
              <a:spcAft>
                <a:spcPts val="0"/>
              </a:spcAft>
              <a:buNone/>
            </a:pPr>
            <a:r>
              <a:t/>
            </a:r>
            <a:endParaRPr/>
          </a:p>
          <a:p>
            <a:pPr indent="0" lvl="0" marL="0" rtl="0" algn="l">
              <a:spcBef>
                <a:spcPts val="0"/>
              </a:spcBef>
              <a:spcAft>
                <a:spcPts val="1200"/>
              </a:spcAft>
              <a:buNone/>
            </a:pPr>
            <a:r>
              <a:t/>
            </a:r>
            <a:endParaRPr/>
          </a:p>
        </p:txBody>
      </p:sp>
      <p:sp>
        <p:nvSpPr>
          <p:cNvPr id="78" name="Google Shape;78;p15"/>
          <p:cNvSpPr txBox="1"/>
          <p:nvPr>
            <p:ph idx="1" type="body"/>
          </p:nvPr>
        </p:nvSpPr>
        <p:spPr>
          <a:xfrm>
            <a:off x="392575" y="2857400"/>
            <a:ext cx="8368200" cy="1771800"/>
          </a:xfrm>
          <a:prstGeom prst="rect">
            <a:avLst/>
          </a:prstGeom>
        </p:spPr>
        <p:txBody>
          <a:bodyPr anchorCtr="0" anchor="t" bIns="91425" lIns="91425" spcFirstLastPara="1" rIns="91425" wrap="square" tIns="91425">
            <a:normAutofit/>
          </a:bodyPr>
          <a:lstStyle/>
          <a:p>
            <a:pPr indent="0" lvl="0" marL="0" rtl="0" algn="l">
              <a:lnSpc>
                <a:spcPct val="138000"/>
              </a:lnSpc>
              <a:spcBef>
                <a:spcPts val="0"/>
              </a:spcBef>
              <a:spcAft>
                <a:spcPts val="0"/>
              </a:spcAft>
              <a:buNone/>
            </a:pPr>
            <a:r>
              <a:rPr lang="en">
                <a:solidFill>
                  <a:srgbClr val="FFFFFF"/>
                </a:solidFill>
              </a:rPr>
              <a:t>Primary Backup protocols: PBFT, ZYZZYVA, Hotstuff, PoE, and RBFT</a:t>
            </a:r>
            <a:endParaRPr>
              <a:solidFill>
                <a:srgbClr val="FFFFFF"/>
              </a:solidFill>
            </a:endParaRPr>
          </a:p>
          <a:p>
            <a:pPr indent="-342900" lvl="0" marL="457200" rtl="0" algn="l">
              <a:spcBef>
                <a:spcPts val="0"/>
              </a:spcBef>
              <a:spcAft>
                <a:spcPts val="0"/>
              </a:spcAft>
              <a:buClr>
                <a:srgbClr val="FFFFFF"/>
              </a:buClr>
              <a:buSzPts val="1800"/>
              <a:buFont typeface="Roboto"/>
              <a:buChar char="●"/>
            </a:pPr>
            <a:r>
              <a:rPr lang="en">
                <a:solidFill>
                  <a:srgbClr val="FFFFFF"/>
                </a:solidFill>
              </a:rPr>
              <a:t>Single primary</a:t>
            </a:r>
            <a:endParaRPr>
              <a:solidFill>
                <a:srgbClr val="FFFFFF"/>
              </a:solidFill>
            </a:endParaRPr>
          </a:p>
          <a:p>
            <a:pPr indent="-342900" lvl="0" marL="457200" rtl="0" algn="l">
              <a:spcBef>
                <a:spcPts val="0"/>
              </a:spcBef>
              <a:spcAft>
                <a:spcPts val="0"/>
              </a:spcAft>
              <a:buClr>
                <a:srgbClr val="FFFFFF"/>
              </a:buClr>
              <a:buSzPts val="1800"/>
              <a:buFont typeface="Roboto"/>
              <a:buChar char="●"/>
            </a:pPr>
            <a:r>
              <a:rPr lang="en">
                <a:solidFill>
                  <a:srgbClr val="FFFFFF"/>
                </a:solidFill>
              </a:rPr>
              <a:t>Different mechanisms for switching to new primary (Ex. PoE and RBFT)</a:t>
            </a:r>
            <a:endParaRPr>
              <a:solidFill>
                <a:srgbClr val="FFFFFF"/>
              </a:solidFill>
            </a:endParaRPr>
          </a:p>
          <a:p>
            <a:pPr indent="0" lvl="0" marL="0" rtl="0" algn="l">
              <a:spcBef>
                <a:spcPts val="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PBFT Refresher: Byzantine Commit</a:t>
            </a:r>
            <a:endParaRPr/>
          </a:p>
        </p:txBody>
      </p:sp>
      <p:pic>
        <p:nvPicPr>
          <p:cNvPr id="84" name="Google Shape;84;p16"/>
          <p:cNvPicPr preferRelativeResize="0"/>
          <p:nvPr/>
        </p:nvPicPr>
        <p:blipFill>
          <a:blip r:embed="rId3">
            <a:alphaModFix/>
          </a:blip>
          <a:stretch>
            <a:fillRect/>
          </a:stretch>
        </p:blipFill>
        <p:spPr>
          <a:xfrm>
            <a:off x="644150" y="1500450"/>
            <a:ext cx="7855700" cy="3295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Limitation of PBFT</a:t>
            </a:r>
            <a:endParaRPr/>
          </a:p>
        </p:txBody>
      </p:sp>
      <p:sp>
        <p:nvSpPr>
          <p:cNvPr id="90" name="Google Shape;90;p17"/>
          <p:cNvSpPr txBox="1"/>
          <p:nvPr>
            <p:ph idx="1" type="body"/>
          </p:nvPr>
        </p:nvSpPr>
        <p:spPr>
          <a:xfrm>
            <a:off x="387900" y="1489825"/>
            <a:ext cx="7603500" cy="1750200"/>
          </a:xfrm>
          <a:prstGeom prst="rect">
            <a:avLst/>
          </a:prstGeom>
        </p:spPr>
        <p:txBody>
          <a:bodyPr anchorCtr="0" anchor="t" bIns="91425" lIns="91425" spcFirstLastPara="1" rIns="91425" wrap="square" tIns="91425">
            <a:noAutofit/>
          </a:bodyPr>
          <a:lstStyle/>
          <a:p>
            <a:pPr indent="-342900" lvl="0" marL="457200" rtl="0" algn="l">
              <a:lnSpc>
                <a:spcPct val="95000"/>
              </a:lnSpc>
              <a:spcBef>
                <a:spcPts val="0"/>
              </a:spcBef>
              <a:spcAft>
                <a:spcPts val="0"/>
              </a:spcAft>
              <a:buSzPts val="1800"/>
              <a:buChar char="●"/>
            </a:pPr>
            <a:r>
              <a:rPr lang="en"/>
              <a:t>Primary having too much work</a:t>
            </a:r>
            <a:endParaRPr/>
          </a:p>
          <a:p>
            <a:pPr indent="-342900" lvl="0" marL="457200" rtl="0" algn="l">
              <a:lnSpc>
                <a:spcPct val="95000"/>
              </a:lnSpc>
              <a:spcBef>
                <a:spcPts val="0"/>
              </a:spcBef>
              <a:spcAft>
                <a:spcPts val="0"/>
              </a:spcAft>
              <a:buSzPts val="1800"/>
              <a:buChar char="●"/>
            </a:pPr>
            <a:r>
              <a:rPr lang="en"/>
              <a:t>Reliance on primary to stop delays</a:t>
            </a:r>
            <a:endParaRPr/>
          </a:p>
          <a:p>
            <a:pPr indent="-342900" lvl="0" marL="457200" rtl="0" algn="l">
              <a:lnSpc>
                <a:spcPct val="95000"/>
              </a:lnSpc>
              <a:spcBef>
                <a:spcPts val="0"/>
              </a:spcBef>
              <a:spcAft>
                <a:spcPts val="0"/>
              </a:spcAft>
              <a:buSzPts val="1800"/>
              <a:buChar char="●"/>
            </a:pPr>
            <a:r>
              <a:rPr lang="en"/>
              <a:t>Quadratic communication during rounds</a:t>
            </a:r>
            <a:endParaRPr/>
          </a:p>
          <a:p>
            <a:pPr indent="-342900" lvl="0" marL="457200" rtl="0" algn="l">
              <a:lnSpc>
                <a:spcPct val="95000"/>
              </a:lnSpc>
              <a:spcBef>
                <a:spcPts val="0"/>
              </a:spcBef>
              <a:spcAft>
                <a:spcPts val="0"/>
              </a:spcAft>
              <a:buSzPts val="1800"/>
              <a:buChar char="●"/>
            </a:pPr>
            <a:r>
              <a:rPr lang="en"/>
              <a:t>Stalling of whole system during recovery processes</a:t>
            </a:r>
            <a:endParaRPr/>
          </a:p>
          <a:p>
            <a:pPr indent="-342900" lvl="0" marL="457200" rtl="0" algn="l">
              <a:lnSpc>
                <a:spcPct val="95000"/>
              </a:lnSpc>
              <a:spcBef>
                <a:spcPts val="0"/>
              </a:spcBef>
              <a:spcAft>
                <a:spcPts val="0"/>
              </a:spcAft>
              <a:buSzPts val="1800"/>
              <a:buChar char="●"/>
            </a:pPr>
            <a:r>
              <a:rPr lang="en"/>
              <a:t>Reliance on being sequential</a:t>
            </a:r>
            <a:br>
              <a:rPr lang="en"/>
            </a:br>
            <a:endParaRPr/>
          </a:p>
          <a:p>
            <a:pPr indent="0" lvl="0" marL="0" rtl="0" algn="l">
              <a:lnSpc>
                <a:spcPct val="95000"/>
              </a:lnSpc>
              <a:spcBef>
                <a:spcPts val="0"/>
              </a:spcBef>
              <a:spcAft>
                <a:spcPts val="0"/>
              </a:spcAft>
              <a:buSzPts val="275"/>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87900" y="458025"/>
            <a:ext cx="8368200" cy="686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What is Resilient Concurrent Consensus (RCC)</a:t>
            </a:r>
            <a:endParaRPr/>
          </a:p>
        </p:txBody>
      </p:sp>
      <p:sp>
        <p:nvSpPr>
          <p:cNvPr id="96" name="Google Shape;96;p18"/>
          <p:cNvSpPr/>
          <p:nvPr/>
        </p:nvSpPr>
        <p:spPr>
          <a:xfrm>
            <a:off x="1188950" y="2555925"/>
            <a:ext cx="771600" cy="61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Client</a:t>
            </a:r>
            <a:endParaRPr>
              <a:latin typeface="Roboto"/>
              <a:ea typeface="Roboto"/>
              <a:cs typeface="Roboto"/>
              <a:sym typeface="Roboto"/>
            </a:endParaRPr>
          </a:p>
        </p:txBody>
      </p:sp>
      <p:grpSp>
        <p:nvGrpSpPr>
          <p:cNvPr id="97" name="Google Shape;97;p18"/>
          <p:cNvGrpSpPr/>
          <p:nvPr/>
        </p:nvGrpSpPr>
        <p:grpSpPr>
          <a:xfrm>
            <a:off x="1960550" y="2880075"/>
            <a:ext cx="4378625" cy="1147100"/>
            <a:chOff x="1960550" y="2816375"/>
            <a:chExt cx="4378625" cy="1147100"/>
          </a:xfrm>
        </p:grpSpPr>
        <p:cxnSp>
          <p:nvCxnSpPr>
            <p:cNvPr id="98" name="Google Shape;98;p18"/>
            <p:cNvCxnSpPr>
              <a:stCxn id="99" idx="1"/>
              <a:endCxn id="100" idx="6"/>
            </p:cNvCxnSpPr>
            <p:nvPr/>
          </p:nvCxnSpPr>
          <p:spPr>
            <a:xfrm flipH="1">
              <a:off x="5583775" y="2816375"/>
              <a:ext cx="755400" cy="173700"/>
            </a:xfrm>
            <a:prstGeom prst="straightConnector1">
              <a:avLst/>
            </a:prstGeom>
            <a:noFill/>
            <a:ln cap="flat" cmpd="sng" w="9525">
              <a:solidFill>
                <a:schemeClr val="accent1"/>
              </a:solidFill>
              <a:prstDash val="solid"/>
              <a:round/>
              <a:headEnd len="med" w="med" type="none"/>
              <a:tailEnd len="med" w="med" type="triangle"/>
            </a:ln>
          </p:spPr>
        </p:cxnSp>
        <p:cxnSp>
          <p:nvCxnSpPr>
            <p:cNvPr id="101" name="Google Shape;101;p18"/>
            <p:cNvCxnSpPr>
              <a:stCxn id="102" idx="3"/>
            </p:cNvCxnSpPr>
            <p:nvPr/>
          </p:nvCxnSpPr>
          <p:spPr>
            <a:xfrm flipH="1" rot="10800000">
              <a:off x="1960550" y="3962275"/>
              <a:ext cx="1560600" cy="1200"/>
            </a:xfrm>
            <a:prstGeom prst="straightConnector1">
              <a:avLst/>
            </a:prstGeom>
            <a:noFill/>
            <a:ln cap="flat" cmpd="sng" w="9525">
              <a:solidFill>
                <a:schemeClr val="accent1"/>
              </a:solidFill>
              <a:prstDash val="solid"/>
              <a:round/>
              <a:headEnd len="med" w="med" type="none"/>
              <a:tailEnd len="med" w="med" type="triangle"/>
            </a:ln>
          </p:spPr>
        </p:cxnSp>
        <p:cxnSp>
          <p:nvCxnSpPr>
            <p:cNvPr id="103" name="Google Shape;103;p18"/>
            <p:cNvCxnSpPr>
              <a:endCxn id="104" idx="2"/>
            </p:cNvCxnSpPr>
            <p:nvPr/>
          </p:nvCxnSpPr>
          <p:spPr>
            <a:xfrm>
              <a:off x="1960550" y="2863575"/>
              <a:ext cx="1560600" cy="126600"/>
            </a:xfrm>
            <a:prstGeom prst="curvedConnector3">
              <a:avLst>
                <a:gd fmla="val 50000" name="adj1"/>
              </a:avLst>
            </a:prstGeom>
            <a:noFill/>
            <a:ln cap="flat" cmpd="sng" w="9525">
              <a:solidFill>
                <a:schemeClr val="accent1"/>
              </a:solidFill>
              <a:prstDash val="solid"/>
              <a:round/>
              <a:headEnd len="med" w="med" type="none"/>
              <a:tailEnd len="med" w="med" type="stealth"/>
            </a:ln>
          </p:spPr>
        </p:cxnSp>
        <p:cxnSp>
          <p:nvCxnSpPr>
            <p:cNvPr id="105" name="Google Shape;105;p18"/>
            <p:cNvCxnSpPr>
              <a:stCxn id="106" idx="1"/>
              <a:endCxn id="107" idx="6"/>
            </p:cNvCxnSpPr>
            <p:nvPr/>
          </p:nvCxnSpPr>
          <p:spPr>
            <a:xfrm flipH="1">
              <a:off x="5583775" y="3884250"/>
              <a:ext cx="755400" cy="14400"/>
            </a:xfrm>
            <a:prstGeom prst="curvedConnector3">
              <a:avLst>
                <a:gd fmla="val 50002" name="adj1"/>
              </a:avLst>
            </a:prstGeom>
            <a:noFill/>
            <a:ln cap="flat" cmpd="sng" w="9525">
              <a:solidFill>
                <a:schemeClr val="accent1"/>
              </a:solidFill>
              <a:prstDash val="solid"/>
              <a:round/>
              <a:headEnd len="med" w="med" type="none"/>
              <a:tailEnd len="med" w="med" type="stealth"/>
            </a:ln>
          </p:spPr>
        </p:cxnSp>
      </p:grpSp>
      <p:sp>
        <p:nvSpPr>
          <p:cNvPr id="108" name="Google Shape;108;p18"/>
          <p:cNvSpPr txBox="1"/>
          <p:nvPr/>
        </p:nvSpPr>
        <p:spPr>
          <a:xfrm>
            <a:off x="552850" y="1403100"/>
            <a:ext cx="8406300" cy="91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Overview: </a:t>
            </a:r>
            <a:r>
              <a:rPr lang="en" sz="1800">
                <a:solidFill>
                  <a:schemeClr val="dk1"/>
                </a:solidFill>
                <a:latin typeface="Roboto"/>
                <a:ea typeface="Roboto"/>
                <a:cs typeface="Roboto"/>
                <a:sym typeface="Roboto"/>
              </a:rPr>
              <a:t>Each replica acts as a primary for a subset of client transactions</a:t>
            </a:r>
            <a:endParaRPr sz="1800">
              <a:solidFill>
                <a:schemeClr val="dk1"/>
              </a:solidFill>
              <a:latin typeface="Roboto"/>
              <a:ea typeface="Roboto"/>
              <a:cs typeface="Roboto"/>
              <a:sym typeface="Roboto"/>
            </a:endParaRPr>
          </a:p>
        </p:txBody>
      </p:sp>
      <p:grpSp>
        <p:nvGrpSpPr>
          <p:cNvPr id="109" name="Google Shape;109;p18"/>
          <p:cNvGrpSpPr/>
          <p:nvPr/>
        </p:nvGrpSpPr>
        <p:grpSpPr>
          <a:xfrm>
            <a:off x="3521150" y="2710825"/>
            <a:ext cx="2062600" cy="1594475"/>
            <a:chOff x="2149550" y="3549025"/>
            <a:chExt cx="2062600" cy="1594475"/>
          </a:xfrm>
        </p:grpSpPr>
        <p:sp>
          <p:nvSpPr>
            <p:cNvPr id="110" name="Google Shape;110;p18"/>
            <p:cNvSpPr/>
            <p:nvPr/>
          </p:nvSpPr>
          <p:spPr>
            <a:xfrm>
              <a:off x="2149550" y="4457400"/>
              <a:ext cx="686100" cy="68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sp>
          <p:nvSpPr>
            <p:cNvPr id="107" name="Google Shape;107;p18"/>
            <p:cNvSpPr/>
            <p:nvPr/>
          </p:nvSpPr>
          <p:spPr>
            <a:xfrm>
              <a:off x="3526050" y="4457400"/>
              <a:ext cx="686100" cy="68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sp>
          <p:nvSpPr>
            <p:cNvPr id="104" name="Google Shape;104;p18"/>
            <p:cNvSpPr/>
            <p:nvPr/>
          </p:nvSpPr>
          <p:spPr>
            <a:xfrm>
              <a:off x="2149550" y="3549025"/>
              <a:ext cx="686100" cy="68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00" name="Google Shape;100;p18"/>
            <p:cNvSpPr/>
            <p:nvPr/>
          </p:nvSpPr>
          <p:spPr>
            <a:xfrm>
              <a:off x="3526050" y="3549025"/>
              <a:ext cx="686100" cy="68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grpSp>
      <p:grpSp>
        <p:nvGrpSpPr>
          <p:cNvPr id="111" name="Google Shape;111;p18"/>
          <p:cNvGrpSpPr/>
          <p:nvPr/>
        </p:nvGrpSpPr>
        <p:grpSpPr>
          <a:xfrm>
            <a:off x="4106773" y="3053875"/>
            <a:ext cx="891277" cy="665802"/>
            <a:chOff x="2735173" y="3892075"/>
            <a:chExt cx="891277" cy="665802"/>
          </a:xfrm>
        </p:grpSpPr>
        <p:cxnSp>
          <p:nvCxnSpPr>
            <p:cNvPr id="112" name="Google Shape;112;p18"/>
            <p:cNvCxnSpPr>
              <a:stCxn id="104" idx="6"/>
              <a:endCxn id="100" idx="2"/>
            </p:cNvCxnSpPr>
            <p:nvPr/>
          </p:nvCxnSpPr>
          <p:spPr>
            <a:xfrm>
              <a:off x="2835650" y="3892075"/>
              <a:ext cx="690300" cy="0"/>
            </a:xfrm>
            <a:prstGeom prst="straightConnector1">
              <a:avLst/>
            </a:prstGeom>
            <a:noFill/>
            <a:ln cap="flat" cmpd="sng" w="9525">
              <a:solidFill>
                <a:schemeClr val="dk1"/>
              </a:solidFill>
              <a:prstDash val="solid"/>
              <a:round/>
              <a:headEnd len="med" w="med" type="none"/>
              <a:tailEnd len="med" w="med" type="triangle"/>
            </a:ln>
          </p:spPr>
        </p:cxnSp>
        <p:cxnSp>
          <p:nvCxnSpPr>
            <p:cNvPr id="113" name="Google Shape;113;p18"/>
            <p:cNvCxnSpPr>
              <a:stCxn id="104" idx="6"/>
              <a:endCxn id="107" idx="1"/>
            </p:cNvCxnSpPr>
            <p:nvPr/>
          </p:nvCxnSpPr>
          <p:spPr>
            <a:xfrm>
              <a:off x="2835650" y="3892075"/>
              <a:ext cx="790800" cy="665700"/>
            </a:xfrm>
            <a:prstGeom prst="straightConnector1">
              <a:avLst/>
            </a:prstGeom>
            <a:noFill/>
            <a:ln cap="flat" cmpd="sng" w="9525">
              <a:solidFill>
                <a:schemeClr val="dk1"/>
              </a:solidFill>
              <a:prstDash val="solid"/>
              <a:round/>
              <a:headEnd len="med" w="med" type="none"/>
              <a:tailEnd len="med" w="med" type="triangle"/>
            </a:ln>
          </p:spPr>
        </p:cxnSp>
        <p:cxnSp>
          <p:nvCxnSpPr>
            <p:cNvPr id="114" name="Google Shape;114;p18"/>
            <p:cNvCxnSpPr>
              <a:endCxn id="110" idx="7"/>
            </p:cNvCxnSpPr>
            <p:nvPr/>
          </p:nvCxnSpPr>
          <p:spPr>
            <a:xfrm flipH="1">
              <a:off x="2735173" y="3975877"/>
              <a:ext cx="92100" cy="582000"/>
            </a:xfrm>
            <a:prstGeom prst="straightConnector1">
              <a:avLst/>
            </a:prstGeom>
            <a:noFill/>
            <a:ln cap="flat" cmpd="sng" w="9525">
              <a:solidFill>
                <a:schemeClr val="dk1"/>
              </a:solidFill>
              <a:prstDash val="solid"/>
              <a:round/>
              <a:headEnd len="med" w="med" type="none"/>
              <a:tailEnd len="med" w="med" type="triangle"/>
            </a:ln>
          </p:spPr>
        </p:cxnSp>
      </p:grpSp>
      <p:grpSp>
        <p:nvGrpSpPr>
          <p:cNvPr id="115" name="Google Shape;115;p18"/>
          <p:cNvGrpSpPr/>
          <p:nvPr/>
        </p:nvGrpSpPr>
        <p:grpSpPr>
          <a:xfrm rot="9442121">
            <a:off x="4062890" y="3161784"/>
            <a:ext cx="1030251" cy="931299"/>
            <a:chOff x="2593848" y="3673607"/>
            <a:chExt cx="1030251" cy="931299"/>
          </a:xfrm>
        </p:grpSpPr>
        <p:cxnSp>
          <p:nvCxnSpPr>
            <p:cNvPr id="116" name="Google Shape;116;p18"/>
            <p:cNvCxnSpPr/>
            <p:nvPr/>
          </p:nvCxnSpPr>
          <p:spPr>
            <a:xfrm flipH="1" rot="-9441820">
              <a:off x="2867679" y="3806518"/>
              <a:ext cx="722562" cy="160177"/>
            </a:xfrm>
            <a:prstGeom prst="straightConnector1">
              <a:avLst/>
            </a:prstGeom>
            <a:noFill/>
            <a:ln cap="flat" cmpd="sng" w="9525">
              <a:solidFill>
                <a:schemeClr val="accent2"/>
              </a:solidFill>
              <a:prstDash val="solid"/>
              <a:round/>
              <a:headEnd len="med" w="med" type="none"/>
              <a:tailEnd len="med" w="med" type="triangle"/>
            </a:ln>
          </p:spPr>
        </p:cxnSp>
        <p:cxnSp>
          <p:nvCxnSpPr>
            <p:cNvPr id="117" name="Google Shape;117;p18"/>
            <p:cNvCxnSpPr/>
            <p:nvPr/>
          </p:nvCxnSpPr>
          <p:spPr>
            <a:xfrm rot="1357674">
              <a:off x="2735938" y="3960713"/>
              <a:ext cx="822623" cy="505385"/>
            </a:xfrm>
            <a:prstGeom prst="straightConnector1">
              <a:avLst/>
            </a:prstGeom>
            <a:noFill/>
            <a:ln cap="flat" cmpd="sng" w="9525">
              <a:solidFill>
                <a:schemeClr val="accent2"/>
              </a:solidFill>
              <a:prstDash val="solid"/>
              <a:round/>
              <a:headEnd len="med" w="med" type="none"/>
              <a:tailEnd len="med" w="med" type="triangle"/>
            </a:ln>
          </p:spPr>
        </p:cxnSp>
        <p:cxnSp>
          <p:nvCxnSpPr>
            <p:cNvPr id="118" name="Google Shape;118;p18"/>
            <p:cNvCxnSpPr>
              <a:endCxn id="100" idx="3"/>
            </p:cNvCxnSpPr>
            <p:nvPr/>
          </p:nvCxnSpPr>
          <p:spPr>
            <a:xfrm flipH="1" rot="1363784">
              <a:off x="2693045" y="3787335"/>
              <a:ext cx="72208" cy="530123"/>
            </a:xfrm>
            <a:prstGeom prst="straightConnector1">
              <a:avLst/>
            </a:prstGeom>
            <a:noFill/>
            <a:ln cap="flat" cmpd="sng" w="9525">
              <a:solidFill>
                <a:schemeClr val="accent2"/>
              </a:solidFill>
              <a:prstDash val="solid"/>
              <a:round/>
              <a:headEnd len="med" w="med" type="none"/>
              <a:tailEnd len="med" w="med" type="triangle"/>
            </a:ln>
          </p:spPr>
        </p:cxnSp>
      </p:grpSp>
      <p:grpSp>
        <p:nvGrpSpPr>
          <p:cNvPr id="119" name="Google Shape;119;p18"/>
          <p:cNvGrpSpPr/>
          <p:nvPr/>
        </p:nvGrpSpPr>
        <p:grpSpPr>
          <a:xfrm rot="3130185">
            <a:off x="3905191" y="2634641"/>
            <a:ext cx="1333568" cy="1276800"/>
            <a:chOff x="1939832" y="3630346"/>
            <a:chExt cx="1333621" cy="1276850"/>
          </a:xfrm>
        </p:grpSpPr>
        <p:cxnSp>
          <p:nvCxnSpPr>
            <p:cNvPr id="120" name="Google Shape;120;p18"/>
            <p:cNvCxnSpPr/>
            <p:nvPr/>
          </p:nvCxnSpPr>
          <p:spPr>
            <a:xfrm rot="-3129529">
              <a:off x="2973106" y="3791830"/>
              <a:ext cx="222992" cy="305085"/>
            </a:xfrm>
            <a:prstGeom prst="straightConnector1">
              <a:avLst/>
            </a:prstGeom>
            <a:noFill/>
            <a:ln cap="flat" cmpd="sng" w="9525">
              <a:solidFill>
                <a:schemeClr val="accent6"/>
              </a:solidFill>
              <a:prstDash val="solid"/>
              <a:round/>
              <a:headEnd len="med" w="med" type="none"/>
              <a:tailEnd len="med" w="med" type="triangle"/>
            </a:ln>
          </p:spPr>
        </p:cxnSp>
        <p:cxnSp>
          <p:nvCxnSpPr>
            <p:cNvPr id="121" name="Google Shape;121;p18"/>
            <p:cNvCxnSpPr/>
            <p:nvPr/>
          </p:nvCxnSpPr>
          <p:spPr>
            <a:xfrm flipH="1" rot="-3130082">
              <a:off x="2320959" y="4220198"/>
              <a:ext cx="911228" cy="405596"/>
            </a:xfrm>
            <a:prstGeom prst="straightConnector1">
              <a:avLst/>
            </a:prstGeom>
            <a:noFill/>
            <a:ln cap="flat" cmpd="sng" w="9525">
              <a:solidFill>
                <a:schemeClr val="accent6"/>
              </a:solidFill>
              <a:prstDash val="solid"/>
              <a:round/>
              <a:headEnd len="med" w="med" type="none"/>
              <a:tailEnd len="med" w="med" type="triangle"/>
            </a:ln>
          </p:spPr>
        </p:cxnSp>
        <p:cxnSp>
          <p:nvCxnSpPr>
            <p:cNvPr id="122" name="Google Shape;122;p18"/>
            <p:cNvCxnSpPr/>
            <p:nvPr/>
          </p:nvCxnSpPr>
          <p:spPr>
            <a:xfrm rot="7669918">
              <a:off x="1962267" y="3892961"/>
              <a:ext cx="911228" cy="502870"/>
            </a:xfrm>
            <a:prstGeom prst="straightConnector1">
              <a:avLst/>
            </a:prstGeom>
            <a:noFill/>
            <a:ln cap="flat" cmpd="sng" w="9525">
              <a:solidFill>
                <a:schemeClr val="accent6"/>
              </a:solidFill>
              <a:prstDash val="solid"/>
              <a:round/>
              <a:headEnd len="med" w="med" type="none"/>
              <a:tailEnd len="med" w="med" type="triangle"/>
            </a:ln>
          </p:spPr>
        </p:cxnSp>
      </p:grpSp>
      <p:grpSp>
        <p:nvGrpSpPr>
          <p:cNvPr id="123" name="Google Shape;123;p18"/>
          <p:cNvGrpSpPr/>
          <p:nvPr/>
        </p:nvGrpSpPr>
        <p:grpSpPr>
          <a:xfrm>
            <a:off x="4106773" y="3102294"/>
            <a:ext cx="814690" cy="908375"/>
            <a:chOff x="2761160" y="3224925"/>
            <a:chExt cx="814690" cy="908375"/>
          </a:xfrm>
        </p:grpSpPr>
        <p:cxnSp>
          <p:nvCxnSpPr>
            <p:cNvPr id="124" name="Google Shape;124;p18"/>
            <p:cNvCxnSpPr/>
            <p:nvPr/>
          </p:nvCxnSpPr>
          <p:spPr>
            <a:xfrm>
              <a:off x="2835750" y="3968300"/>
              <a:ext cx="740100" cy="165000"/>
            </a:xfrm>
            <a:prstGeom prst="straightConnector1">
              <a:avLst/>
            </a:prstGeom>
            <a:noFill/>
            <a:ln cap="flat" cmpd="sng" w="9525">
              <a:solidFill>
                <a:srgbClr val="DD7E6B"/>
              </a:solidFill>
              <a:prstDash val="solid"/>
              <a:round/>
              <a:headEnd len="med" w="med" type="none"/>
              <a:tailEnd len="med" w="med" type="triangle"/>
            </a:ln>
          </p:spPr>
        </p:cxnSp>
        <p:cxnSp>
          <p:nvCxnSpPr>
            <p:cNvPr id="125" name="Google Shape;125;p18"/>
            <p:cNvCxnSpPr/>
            <p:nvPr/>
          </p:nvCxnSpPr>
          <p:spPr>
            <a:xfrm flipH="1" rot="10800000">
              <a:off x="2835750" y="3224925"/>
              <a:ext cx="740100" cy="743400"/>
            </a:xfrm>
            <a:prstGeom prst="straightConnector1">
              <a:avLst/>
            </a:prstGeom>
            <a:noFill/>
            <a:ln cap="flat" cmpd="sng" w="9525">
              <a:solidFill>
                <a:srgbClr val="DD7E6B"/>
              </a:solidFill>
              <a:prstDash val="solid"/>
              <a:round/>
              <a:headEnd len="med" w="med" type="none"/>
              <a:tailEnd len="med" w="med" type="triangle"/>
            </a:ln>
          </p:spPr>
        </p:cxnSp>
        <p:cxnSp>
          <p:nvCxnSpPr>
            <p:cNvPr id="126" name="Google Shape;126;p18"/>
            <p:cNvCxnSpPr>
              <a:endCxn id="104" idx="5"/>
            </p:cNvCxnSpPr>
            <p:nvPr/>
          </p:nvCxnSpPr>
          <p:spPr>
            <a:xfrm rot="10800000">
              <a:off x="2761160" y="3419079"/>
              <a:ext cx="84300" cy="547800"/>
            </a:xfrm>
            <a:prstGeom prst="straightConnector1">
              <a:avLst/>
            </a:prstGeom>
            <a:noFill/>
            <a:ln cap="flat" cmpd="sng" w="9525">
              <a:solidFill>
                <a:srgbClr val="DD7E6B"/>
              </a:solidFill>
              <a:prstDash val="solid"/>
              <a:round/>
              <a:headEnd len="med" w="med" type="none"/>
              <a:tailEnd len="med" w="med" type="triangle"/>
            </a:ln>
          </p:spPr>
        </p:cxnSp>
      </p:grpSp>
      <p:sp>
        <p:nvSpPr>
          <p:cNvPr id="102" name="Google Shape;102;p18"/>
          <p:cNvSpPr/>
          <p:nvPr/>
        </p:nvSpPr>
        <p:spPr>
          <a:xfrm>
            <a:off x="1188950" y="3719675"/>
            <a:ext cx="771600" cy="61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Client</a:t>
            </a:r>
            <a:endParaRPr>
              <a:latin typeface="Roboto"/>
              <a:ea typeface="Roboto"/>
              <a:cs typeface="Roboto"/>
              <a:sym typeface="Roboto"/>
            </a:endParaRPr>
          </a:p>
        </p:txBody>
      </p:sp>
      <p:sp>
        <p:nvSpPr>
          <p:cNvPr id="106" name="Google Shape;106;p18"/>
          <p:cNvSpPr/>
          <p:nvPr/>
        </p:nvSpPr>
        <p:spPr>
          <a:xfrm>
            <a:off x="6339175" y="3640450"/>
            <a:ext cx="771600" cy="61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Client</a:t>
            </a:r>
            <a:endParaRPr>
              <a:latin typeface="Roboto"/>
              <a:ea typeface="Roboto"/>
              <a:cs typeface="Roboto"/>
              <a:sym typeface="Roboto"/>
            </a:endParaRPr>
          </a:p>
        </p:txBody>
      </p:sp>
      <p:sp>
        <p:nvSpPr>
          <p:cNvPr id="99" name="Google Shape;99;p18"/>
          <p:cNvSpPr/>
          <p:nvPr/>
        </p:nvSpPr>
        <p:spPr>
          <a:xfrm>
            <a:off x="6339175" y="2572575"/>
            <a:ext cx="771600" cy="61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Client</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0" name="Shape 130"/>
        <p:cNvGrpSpPr/>
        <p:nvPr/>
      </p:nvGrpSpPr>
      <p:grpSpPr>
        <a:xfrm>
          <a:off x="0" y="0"/>
          <a:ext cx="0" cy="0"/>
          <a:chOff x="0" y="0"/>
          <a:chExt cx="0" cy="0"/>
        </a:xfrm>
      </p:grpSpPr>
      <p:sp>
        <p:nvSpPr>
          <p:cNvPr id="131" name="Google Shape;131;p19"/>
          <p:cNvSpPr txBox="1"/>
          <p:nvPr>
            <p:ph type="title"/>
          </p:nvPr>
        </p:nvSpPr>
        <p:spPr>
          <a:xfrm>
            <a:off x="133950" y="280675"/>
            <a:ext cx="88761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What is RCC?: Analogy (TSA)</a:t>
            </a:r>
            <a:endParaRPr/>
          </a:p>
        </p:txBody>
      </p:sp>
      <p:pic>
        <p:nvPicPr>
          <p:cNvPr id="132" name="Google Shape;132;p19"/>
          <p:cNvPicPr preferRelativeResize="0"/>
          <p:nvPr/>
        </p:nvPicPr>
        <p:blipFill>
          <a:blip r:embed="rId3">
            <a:alphaModFix/>
          </a:blip>
          <a:stretch>
            <a:fillRect/>
          </a:stretch>
        </p:blipFill>
        <p:spPr>
          <a:xfrm>
            <a:off x="3185687" y="1342000"/>
            <a:ext cx="952478" cy="963700"/>
          </a:xfrm>
          <a:prstGeom prst="rect">
            <a:avLst/>
          </a:prstGeom>
          <a:noFill/>
          <a:ln>
            <a:noFill/>
          </a:ln>
        </p:spPr>
      </p:pic>
      <p:pic>
        <p:nvPicPr>
          <p:cNvPr id="133" name="Google Shape;133;p19"/>
          <p:cNvPicPr preferRelativeResize="0"/>
          <p:nvPr/>
        </p:nvPicPr>
        <p:blipFill>
          <a:blip r:embed="rId4">
            <a:alphaModFix/>
          </a:blip>
          <a:stretch>
            <a:fillRect/>
          </a:stretch>
        </p:blipFill>
        <p:spPr>
          <a:xfrm>
            <a:off x="1125237" y="1341999"/>
            <a:ext cx="1283975" cy="963700"/>
          </a:xfrm>
          <a:prstGeom prst="rect">
            <a:avLst/>
          </a:prstGeom>
          <a:noFill/>
          <a:ln>
            <a:noFill/>
          </a:ln>
        </p:spPr>
      </p:pic>
      <p:pic>
        <p:nvPicPr>
          <p:cNvPr id="134" name="Google Shape;134;p19"/>
          <p:cNvPicPr preferRelativeResize="0"/>
          <p:nvPr/>
        </p:nvPicPr>
        <p:blipFill>
          <a:blip r:embed="rId5">
            <a:alphaModFix/>
          </a:blip>
          <a:stretch>
            <a:fillRect/>
          </a:stretch>
        </p:blipFill>
        <p:spPr>
          <a:xfrm>
            <a:off x="4914638" y="1342000"/>
            <a:ext cx="3104125" cy="963700"/>
          </a:xfrm>
          <a:prstGeom prst="rect">
            <a:avLst/>
          </a:prstGeom>
          <a:noFill/>
          <a:ln>
            <a:noFill/>
          </a:ln>
        </p:spPr>
      </p:pic>
      <p:cxnSp>
        <p:nvCxnSpPr>
          <p:cNvPr id="135" name="Google Shape;135;p19"/>
          <p:cNvCxnSpPr>
            <a:stCxn id="133" idx="3"/>
            <a:endCxn id="132" idx="1"/>
          </p:cNvCxnSpPr>
          <p:nvPr/>
        </p:nvCxnSpPr>
        <p:spPr>
          <a:xfrm>
            <a:off x="2409213" y="1823850"/>
            <a:ext cx="776400" cy="0"/>
          </a:xfrm>
          <a:prstGeom prst="straightConnector1">
            <a:avLst/>
          </a:prstGeom>
          <a:noFill/>
          <a:ln cap="flat" cmpd="sng" w="28575">
            <a:solidFill>
              <a:srgbClr val="000000"/>
            </a:solidFill>
            <a:prstDash val="solid"/>
            <a:round/>
            <a:headEnd len="med" w="med" type="none"/>
            <a:tailEnd len="med" w="med" type="triangle"/>
          </a:ln>
        </p:spPr>
      </p:cxnSp>
      <p:cxnSp>
        <p:nvCxnSpPr>
          <p:cNvPr id="136" name="Google Shape;136;p19"/>
          <p:cNvCxnSpPr>
            <a:stCxn id="132" idx="3"/>
            <a:endCxn id="134" idx="1"/>
          </p:cNvCxnSpPr>
          <p:nvPr/>
        </p:nvCxnSpPr>
        <p:spPr>
          <a:xfrm>
            <a:off x="4138165" y="1823850"/>
            <a:ext cx="776400" cy="0"/>
          </a:xfrm>
          <a:prstGeom prst="straightConnector1">
            <a:avLst/>
          </a:prstGeom>
          <a:noFill/>
          <a:ln cap="flat" cmpd="sng" w="28575">
            <a:solidFill>
              <a:srgbClr val="000000"/>
            </a:solidFill>
            <a:prstDash val="solid"/>
            <a:round/>
            <a:headEnd len="med" w="med" type="none"/>
            <a:tailEnd len="med" w="med" type="triangle"/>
          </a:ln>
        </p:spPr>
      </p:cxnSp>
      <p:pic>
        <p:nvPicPr>
          <p:cNvPr id="137" name="Google Shape;137;p19"/>
          <p:cNvPicPr preferRelativeResize="0"/>
          <p:nvPr/>
        </p:nvPicPr>
        <p:blipFill>
          <a:blip r:embed="rId4">
            <a:alphaModFix/>
          </a:blip>
          <a:stretch>
            <a:fillRect/>
          </a:stretch>
        </p:blipFill>
        <p:spPr>
          <a:xfrm>
            <a:off x="2399650" y="2545837"/>
            <a:ext cx="795561" cy="597125"/>
          </a:xfrm>
          <a:prstGeom prst="rect">
            <a:avLst/>
          </a:prstGeom>
          <a:noFill/>
          <a:ln>
            <a:noFill/>
          </a:ln>
        </p:spPr>
      </p:pic>
      <p:pic>
        <p:nvPicPr>
          <p:cNvPr id="138" name="Google Shape;138;p19"/>
          <p:cNvPicPr preferRelativeResize="0"/>
          <p:nvPr/>
        </p:nvPicPr>
        <p:blipFill>
          <a:blip r:embed="rId3">
            <a:alphaModFix/>
          </a:blip>
          <a:stretch>
            <a:fillRect/>
          </a:stretch>
        </p:blipFill>
        <p:spPr>
          <a:xfrm>
            <a:off x="4034649" y="3205375"/>
            <a:ext cx="590170" cy="597124"/>
          </a:xfrm>
          <a:prstGeom prst="rect">
            <a:avLst/>
          </a:prstGeom>
          <a:noFill/>
          <a:ln>
            <a:noFill/>
          </a:ln>
        </p:spPr>
      </p:pic>
      <p:pic>
        <p:nvPicPr>
          <p:cNvPr id="139" name="Google Shape;139;p19"/>
          <p:cNvPicPr preferRelativeResize="0"/>
          <p:nvPr/>
        </p:nvPicPr>
        <p:blipFill>
          <a:blip r:embed="rId3">
            <a:alphaModFix/>
          </a:blip>
          <a:stretch>
            <a:fillRect/>
          </a:stretch>
        </p:blipFill>
        <p:spPr>
          <a:xfrm>
            <a:off x="4034649" y="3858455"/>
            <a:ext cx="590170" cy="597124"/>
          </a:xfrm>
          <a:prstGeom prst="rect">
            <a:avLst/>
          </a:prstGeom>
          <a:noFill/>
          <a:ln>
            <a:noFill/>
          </a:ln>
        </p:spPr>
      </p:pic>
      <p:pic>
        <p:nvPicPr>
          <p:cNvPr id="140" name="Google Shape;140;p19"/>
          <p:cNvPicPr preferRelativeResize="0"/>
          <p:nvPr/>
        </p:nvPicPr>
        <p:blipFill>
          <a:blip r:embed="rId3">
            <a:alphaModFix/>
          </a:blip>
          <a:stretch>
            <a:fillRect/>
          </a:stretch>
        </p:blipFill>
        <p:spPr>
          <a:xfrm>
            <a:off x="4034649" y="4511525"/>
            <a:ext cx="590170" cy="597124"/>
          </a:xfrm>
          <a:prstGeom prst="rect">
            <a:avLst/>
          </a:prstGeom>
          <a:noFill/>
          <a:ln>
            <a:noFill/>
          </a:ln>
        </p:spPr>
      </p:pic>
      <p:pic>
        <p:nvPicPr>
          <p:cNvPr id="141" name="Google Shape;141;p19"/>
          <p:cNvPicPr preferRelativeResize="0"/>
          <p:nvPr/>
        </p:nvPicPr>
        <p:blipFill>
          <a:blip r:embed="rId5">
            <a:alphaModFix/>
          </a:blip>
          <a:stretch>
            <a:fillRect/>
          </a:stretch>
        </p:blipFill>
        <p:spPr>
          <a:xfrm>
            <a:off x="5323640" y="3207530"/>
            <a:ext cx="1923260" cy="597093"/>
          </a:xfrm>
          <a:prstGeom prst="rect">
            <a:avLst/>
          </a:prstGeom>
          <a:noFill/>
          <a:ln>
            <a:noFill/>
          </a:ln>
        </p:spPr>
      </p:pic>
      <p:pic>
        <p:nvPicPr>
          <p:cNvPr id="142" name="Google Shape;142;p19"/>
          <p:cNvPicPr preferRelativeResize="0"/>
          <p:nvPr/>
        </p:nvPicPr>
        <p:blipFill>
          <a:blip r:embed="rId5">
            <a:alphaModFix/>
          </a:blip>
          <a:stretch>
            <a:fillRect/>
          </a:stretch>
        </p:blipFill>
        <p:spPr>
          <a:xfrm>
            <a:off x="5323640" y="3874145"/>
            <a:ext cx="1923260" cy="597093"/>
          </a:xfrm>
          <a:prstGeom prst="rect">
            <a:avLst/>
          </a:prstGeom>
          <a:noFill/>
          <a:ln>
            <a:noFill/>
          </a:ln>
        </p:spPr>
      </p:pic>
      <p:pic>
        <p:nvPicPr>
          <p:cNvPr id="143" name="Google Shape;143;p19"/>
          <p:cNvPicPr preferRelativeResize="0"/>
          <p:nvPr/>
        </p:nvPicPr>
        <p:blipFill>
          <a:blip r:embed="rId5">
            <a:alphaModFix/>
          </a:blip>
          <a:stretch>
            <a:fillRect/>
          </a:stretch>
        </p:blipFill>
        <p:spPr>
          <a:xfrm>
            <a:off x="5323640" y="4513715"/>
            <a:ext cx="1923260" cy="597093"/>
          </a:xfrm>
          <a:prstGeom prst="rect">
            <a:avLst/>
          </a:prstGeom>
          <a:noFill/>
          <a:ln>
            <a:noFill/>
          </a:ln>
        </p:spPr>
      </p:pic>
      <p:cxnSp>
        <p:nvCxnSpPr>
          <p:cNvPr id="144" name="Google Shape;144;p19"/>
          <p:cNvCxnSpPr>
            <a:stCxn id="138" idx="3"/>
            <a:endCxn id="141" idx="1"/>
          </p:cNvCxnSpPr>
          <p:nvPr/>
        </p:nvCxnSpPr>
        <p:spPr>
          <a:xfrm>
            <a:off x="4624819" y="3503937"/>
            <a:ext cx="698700" cy="2100"/>
          </a:xfrm>
          <a:prstGeom prst="straightConnector1">
            <a:avLst/>
          </a:prstGeom>
          <a:noFill/>
          <a:ln cap="flat" cmpd="sng" w="36300">
            <a:solidFill>
              <a:srgbClr val="000000"/>
            </a:solidFill>
            <a:prstDash val="solid"/>
            <a:round/>
            <a:headEnd len="med" w="med" type="none"/>
            <a:tailEnd len="med" w="med" type="triangle"/>
          </a:ln>
        </p:spPr>
      </p:cxnSp>
      <p:cxnSp>
        <p:nvCxnSpPr>
          <p:cNvPr id="145" name="Google Shape;145;p19"/>
          <p:cNvCxnSpPr>
            <a:stCxn id="139" idx="3"/>
            <a:endCxn id="142" idx="1"/>
          </p:cNvCxnSpPr>
          <p:nvPr/>
        </p:nvCxnSpPr>
        <p:spPr>
          <a:xfrm>
            <a:off x="4624819" y="4157016"/>
            <a:ext cx="698700" cy="15600"/>
          </a:xfrm>
          <a:prstGeom prst="straightConnector1">
            <a:avLst/>
          </a:prstGeom>
          <a:noFill/>
          <a:ln cap="flat" cmpd="sng" w="36300">
            <a:solidFill>
              <a:srgbClr val="000000"/>
            </a:solidFill>
            <a:prstDash val="solid"/>
            <a:round/>
            <a:headEnd len="med" w="med" type="none"/>
            <a:tailEnd len="med" w="med" type="triangle"/>
          </a:ln>
        </p:spPr>
      </p:cxnSp>
      <p:cxnSp>
        <p:nvCxnSpPr>
          <p:cNvPr id="146" name="Google Shape;146;p19"/>
          <p:cNvCxnSpPr>
            <a:stCxn id="140" idx="3"/>
            <a:endCxn id="143" idx="1"/>
          </p:cNvCxnSpPr>
          <p:nvPr/>
        </p:nvCxnSpPr>
        <p:spPr>
          <a:xfrm>
            <a:off x="4624819" y="4810087"/>
            <a:ext cx="698700" cy="2100"/>
          </a:xfrm>
          <a:prstGeom prst="straightConnector1">
            <a:avLst/>
          </a:prstGeom>
          <a:noFill/>
          <a:ln cap="flat" cmpd="sng" w="36300">
            <a:solidFill>
              <a:srgbClr val="000000"/>
            </a:solidFill>
            <a:prstDash val="solid"/>
            <a:round/>
            <a:headEnd len="med" w="med" type="none"/>
            <a:tailEnd len="med" w="med" type="triangle"/>
          </a:ln>
        </p:spPr>
      </p:cxnSp>
      <p:sp>
        <p:nvSpPr>
          <p:cNvPr id="147" name="Google Shape;147;p19"/>
          <p:cNvSpPr txBox="1"/>
          <p:nvPr/>
        </p:nvSpPr>
        <p:spPr>
          <a:xfrm>
            <a:off x="133950" y="1593000"/>
            <a:ext cx="952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PBFT:</a:t>
            </a:r>
            <a:endParaRPr sz="1800">
              <a:solidFill>
                <a:schemeClr val="dk1"/>
              </a:solidFill>
              <a:latin typeface="Roboto"/>
              <a:ea typeface="Roboto"/>
              <a:cs typeface="Roboto"/>
              <a:sym typeface="Roboto"/>
            </a:endParaRPr>
          </a:p>
        </p:txBody>
      </p:sp>
      <p:sp>
        <p:nvSpPr>
          <p:cNvPr id="148" name="Google Shape;148;p19"/>
          <p:cNvSpPr txBox="1"/>
          <p:nvPr/>
        </p:nvSpPr>
        <p:spPr>
          <a:xfrm>
            <a:off x="996450" y="3506025"/>
            <a:ext cx="776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RCC</a:t>
            </a:r>
            <a:r>
              <a:rPr lang="en" sz="1800">
                <a:solidFill>
                  <a:schemeClr val="dk1"/>
                </a:solidFill>
                <a:latin typeface="Roboto"/>
                <a:ea typeface="Roboto"/>
                <a:cs typeface="Roboto"/>
                <a:sym typeface="Roboto"/>
              </a:rPr>
              <a:t>:</a:t>
            </a:r>
            <a:endParaRPr sz="1800">
              <a:solidFill>
                <a:schemeClr val="dk1"/>
              </a:solidFill>
              <a:latin typeface="Roboto"/>
              <a:ea typeface="Roboto"/>
              <a:cs typeface="Roboto"/>
              <a:sym typeface="Roboto"/>
            </a:endParaRPr>
          </a:p>
        </p:txBody>
      </p:sp>
      <p:pic>
        <p:nvPicPr>
          <p:cNvPr id="149" name="Google Shape;149;p19"/>
          <p:cNvPicPr preferRelativeResize="0"/>
          <p:nvPr/>
        </p:nvPicPr>
        <p:blipFill>
          <a:blip r:embed="rId3">
            <a:alphaModFix/>
          </a:blip>
          <a:stretch>
            <a:fillRect/>
          </a:stretch>
        </p:blipFill>
        <p:spPr>
          <a:xfrm>
            <a:off x="4034649" y="2545825"/>
            <a:ext cx="590170" cy="597124"/>
          </a:xfrm>
          <a:prstGeom prst="rect">
            <a:avLst/>
          </a:prstGeom>
          <a:noFill/>
          <a:ln>
            <a:noFill/>
          </a:ln>
        </p:spPr>
      </p:pic>
      <p:pic>
        <p:nvPicPr>
          <p:cNvPr id="150" name="Google Shape;150;p19"/>
          <p:cNvPicPr preferRelativeResize="0"/>
          <p:nvPr/>
        </p:nvPicPr>
        <p:blipFill>
          <a:blip r:embed="rId5">
            <a:alphaModFix/>
          </a:blip>
          <a:stretch>
            <a:fillRect/>
          </a:stretch>
        </p:blipFill>
        <p:spPr>
          <a:xfrm>
            <a:off x="5323640" y="2540903"/>
            <a:ext cx="1923260" cy="597093"/>
          </a:xfrm>
          <a:prstGeom prst="rect">
            <a:avLst/>
          </a:prstGeom>
          <a:noFill/>
          <a:ln>
            <a:noFill/>
          </a:ln>
        </p:spPr>
      </p:pic>
      <p:cxnSp>
        <p:nvCxnSpPr>
          <p:cNvPr id="151" name="Google Shape;151;p19"/>
          <p:cNvCxnSpPr>
            <a:endCxn id="150" idx="1"/>
          </p:cNvCxnSpPr>
          <p:nvPr/>
        </p:nvCxnSpPr>
        <p:spPr>
          <a:xfrm>
            <a:off x="4624640" y="2839450"/>
            <a:ext cx="699000" cy="0"/>
          </a:xfrm>
          <a:prstGeom prst="straightConnector1">
            <a:avLst/>
          </a:prstGeom>
          <a:noFill/>
          <a:ln cap="flat" cmpd="sng" w="36300">
            <a:solidFill>
              <a:srgbClr val="000000"/>
            </a:solidFill>
            <a:prstDash val="solid"/>
            <a:round/>
            <a:headEnd len="med" w="med" type="none"/>
            <a:tailEnd len="med" w="med" type="triangle"/>
          </a:ln>
        </p:spPr>
      </p:cxnSp>
      <p:pic>
        <p:nvPicPr>
          <p:cNvPr id="152" name="Google Shape;152;p19"/>
          <p:cNvPicPr preferRelativeResize="0"/>
          <p:nvPr/>
        </p:nvPicPr>
        <p:blipFill>
          <a:blip r:embed="rId4">
            <a:alphaModFix/>
          </a:blip>
          <a:stretch>
            <a:fillRect/>
          </a:stretch>
        </p:blipFill>
        <p:spPr>
          <a:xfrm>
            <a:off x="2399650" y="3205387"/>
            <a:ext cx="795561" cy="597125"/>
          </a:xfrm>
          <a:prstGeom prst="rect">
            <a:avLst/>
          </a:prstGeom>
          <a:noFill/>
          <a:ln>
            <a:noFill/>
          </a:ln>
        </p:spPr>
      </p:pic>
      <p:pic>
        <p:nvPicPr>
          <p:cNvPr id="153" name="Google Shape;153;p19"/>
          <p:cNvPicPr preferRelativeResize="0"/>
          <p:nvPr/>
        </p:nvPicPr>
        <p:blipFill>
          <a:blip r:embed="rId4">
            <a:alphaModFix/>
          </a:blip>
          <a:stretch>
            <a:fillRect/>
          </a:stretch>
        </p:blipFill>
        <p:spPr>
          <a:xfrm>
            <a:off x="2399650" y="3858462"/>
            <a:ext cx="795561" cy="597125"/>
          </a:xfrm>
          <a:prstGeom prst="rect">
            <a:avLst/>
          </a:prstGeom>
          <a:noFill/>
          <a:ln>
            <a:noFill/>
          </a:ln>
        </p:spPr>
      </p:pic>
      <p:pic>
        <p:nvPicPr>
          <p:cNvPr id="154" name="Google Shape;154;p19"/>
          <p:cNvPicPr preferRelativeResize="0"/>
          <p:nvPr/>
        </p:nvPicPr>
        <p:blipFill>
          <a:blip r:embed="rId4">
            <a:alphaModFix/>
          </a:blip>
          <a:stretch>
            <a:fillRect/>
          </a:stretch>
        </p:blipFill>
        <p:spPr>
          <a:xfrm>
            <a:off x="2399650" y="4511537"/>
            <a:ext cx="795561" cy="597125"/>
          </a:xfrm>
          <a:prstGeom prst="rect">
            <a:avLst/>
          </a:prstGeom>
          <a:noFill/>
          <a:ln>
            <a:noFill/>
          </a:ln>
        </p:spPr>
      </p:pic>
      <p:cxnSp>
        <p:nvCxnSpPr>
          <p:cNvPr id="155" name="Google Shape;155;p19"/>
          <p:cNvCxnSpPr>
            <a:stCxn id="137" idx="3"/>
            <a:endCxn id="149" idx="1"/>
          </p:cNvCxnSpPr>
          <p:nvPr/>
        </p:nvCxnSpPr>
        <p:spPr>
          <a:xfrm>
            <a:off x="3195211" y="2844400"/>
            <a:ext cx="839400" cy="0"/>
          </a:xfrm>
          <a:prstGeom prst="straightConnector1">
            <a:avLst/>
          </a:prstGeom>
          <a:noFill/>
          <a:ln cap="flat" cmpd="sng" w="36300">
            <a:solidFill>
              <a:srgbClr val="000000"/>
            </a:solidFill>
            <a:prstDash val="solid"/>
            <a:round/>
            <a:headEnd len="med" w="med" type="none"/>
            <a:tailEnd len="med" w="med" type="triangle"/>
          </a:ln>
        </p:spPr>
      </p:cxnSp>
      <p:cxnSp>
        <p:nvCxnSpPr>
          <p:cNvPr id="156" name="Google Shape;156;p19"/>
          <p:cNvCxnSpPr>
            <a:stCxn id="152" idx="3"/>
            <a:endCxn id="138" idx="1"/>
          </p:cNvCxnSpPr>
          <p:nvPr/>
        </p:nvCxnSpPr>
        <p:spPr>
          <a:xfrm>
            <a:off x="3195211" y="3503950"/>
            <a:ext cx="839400" cy="0"/>
          </a:xfrm>
          <a:prstGeom prst="straightConnector1">
            <a:avLst/>
          </a:prstGeom>
          <a:noFill/>
          <a:ln cap="flat" cmpd="sng" w="36300">
            <a:solidFill>
              <a:srgbClr val="000000"/>
            </a:solidFill>
            <a:prstDash val="solid"/>
            <a:round/>
            <a:headEnd len="med" w="med" type="none"/>
            <a:tailEnd len="med" w="med" type="triangle"/>
          </a:ln>
        </p:spPr>
      </p:cxnSp>
      <p:cxnSp>
        <p:nvCxnSpPr>
          <p:cNvPr id="157" name="Google Shape;157;p19"/>
          <p:cNvCxnSpPr>
            <a:stCxn id="153" idx="3"/>
            <a:endCxn id="139" idx="1"/>
          </p:cNvCxnSpPr>
          <p:nvPr/>
        </p:nvCxnSpPr>
        <p:spPr>
          <a:xfrm>
            <a:off x="3195211" y="4157025"/>
            <a:ext cx="839400" cy="0"/>
          </a:xfrm>
          <a:prstGeom prst="straightConnector1">
            <a:avLst/>
          </a:prstGeom>
          <a:noFill/>
          <a:ln cap="flat" cmpd="sng" w="36300">
            <a:solidFill>
              <a:srgbClr val="000000"/>
            </a:solidFill>
            <a:prstDash val="solid"/>
            <a:round/>
            <a:headEnd len="med" w="med" type="none"/>
            <a:tailEnd len="med" w="med" type="triangle"/>
          </a:ln>
        </p:spPr>
      </p:cxnSp>
      <p:cxnSp>
        <p:nvCxnSpPr>
          <p:cNvPr id="158" name="Google Shape;158;p19"/>
          <p:cNvCxnSpPr>
            <a:stCxn id="154" idx="3"/>
            <a:endCxn id="140" idx="1"/>
          </p:cNvCxnSpPr>
          <p:nvPr/>
        </p:nvCxnSpPr>
        <p:spPr>
          <a:xfrm>
            <a:off x="3195211" y="4810100"/>
            <a:ext cx="839400" cy="0"/>
          </a:xfrm>
          <a:prstGeom prst="straightConnector1">
            <a:avLst/>
          </a:prstGeom>
          <a:noFill/>
          <a:ln cap="flat" cmpd="sng" w="36300">
            <a:solidFill>
              <a:srgbClr val="000000"/>
            </a:solidFill>
            <a:prstDash val="solid"/>
            <a:round/>
            <a:headEnd len="med" w="med" type="none"/>
            <a:tailEnd len="med" w="med" type="triangle"/>
          </a:ln>
        </p:spPr>
      </p:cxnSp>
      <p:cxnSp>
        <p:nvCxnSpPr>
          <p:cNvPr id="159" name="Google Shape;159;p19"/>
          <p:cNvCxnSpPr/>
          <p:nvPr/>
        </p:nvCxnSpPr>
        <p:spPr>
          <a:xfrm flipH="1" rot="10800000">
            <a:off x="19250" y="2424600"/>
            <a:ext cx="9120900" cy="19200"/>
          </a:xfrm>
          <a:prstGeom prst="straightConnector1">
            <a:avLst/>
          </a:prstGeom>
          <a:noFill/>
          <a:ln cap="flat" cmpd="sng" w="38100">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3" name="Shape 163"/>
        <p:cNvGrpSpPr/>
        <p:nvPr/>
      </p:nvGrpSpPr>
      <p:grpSpPr>
        <a:xfrm>
          <a:off x="0" y="0"/>
          <a:ext cx="0" cy="0"/>
          <a:chOff x="0" y="0"/>
          <a:chExt cx="0" cy="0"/>
        </a:xfrm>
      </p:grpSpPr>
      <p:sp>
        <p:nvSpPr>
          <p:cNvPr id="164" name="Google Shape;164;p2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Why Multiple Primaries?</a:t>
            </a:r>
            <a:endParaRPr/>
          </a:p>
        </p:txBody>
      </p:sp>
      <p:sp>
        <p:nvSpPr>
          <p:cNvPr id="165" name="Google Shape;165;p20"/>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Underutilized replicas → motivation for concurrent consensus.</a:t>
            </a:r>
            <a:endParaRPr/>
          </a:p>
          <a:p>
            <a:pPr indent="-342900" lvl="0" marL="457200" rtl="0" algn="l">
              <a:lnSpc>
                <a:spcPct val="150000"/>
              </a:lnSpc>
              <a:spcBef>
                <a:spcPts val="0"/>
              </a:spcBef>
              <a:spcAft>
                <a:spcPts val="0"/>
              </a:spcAft>
              <a:buSzPts val="1800"/>
              <a:buChar char="●"/>
            </a:pPr>
            <a:r>
              <a:rPr lang="en"/>
              <a:t>Allow concurrent proposals</a:t>
            </a:r>
            <a:endParaRPr/>
          </a:p>
          <a:p>
            <a:pPr indent="-342900" lvl="0" marL="457200" rtl="0" algn="l">
              <a:lnSpc>
                <a:spcPct val="150000"/>
              </a:lnSpc>
              <a:spcBef>
                <a:spcPts val="0"/>
              </a:spcBef>
              <a:spcAft>
                <a:spcPts val="0"/>
              </a:spcAft>
              <a:buSzPts val="1800"/>
              <a:buChar char="●"/>
            </a:pPr>
            <a:r>
              <a:rPr lang="en"/>
              <a:t>Improves network scalability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1"/>
          <p:cNvSpPr txBox="1"/>
          <p:nvPr>
            <p:ph type="title"/>
          </p:nvPr>
        </p:nvSpPr>
        <p:spPr>
          <a:xfrm>
            <a:off x="387900" y="3913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The Idea of Concurrent </a:t>
            </a:r>
            <a:r>
              <a:rPr lang="en"/>
              <a:t>Consensus</a:t>
            </a:r>
            <a:endParaRPr/>
          </a:p>
        </p:txBody>
      </p:sp>
      <p:sp>
        <p:nvSpPr>
          <p:cNvPr id="171" name="Google Shape;171;p21"/>
          <p:cNvSpPr txBox="1"/>
          <p:nvPr>
            <p:ph idx="1" type="body"/>
          </p:nvPr>
        </p:nvSpPr>
        <p:spPr>
          <a:xfrm>
            <a:off x="387900" y="1489824"/>
            <a:ext cx="8368200" cy="307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 Improve overall throughput by using all available resources via concurrency.</a:t>
            </a:r>
            <a:endParaRPr/>
          </a:p>
          <a:p>
            <a:pPr indent="0" lvl="0" marL="0" rtl="0" algn="l">
              <a:spcBef>
                <a:spcPts val="1200"/>
              </a:spcBef>
              <a:spcAft>
                <a:spcPts val="0"/>
              </a:spcAft>
              <a:buNone/>
            </a:pPr>
            <a:r>
              <a:rPr lang="en" sz="1800"/>
              <a:t>E</a:t>
            </a:r>
            <a:r>
              <a:rPr lang="en" sz="1800"/>
              <a:t>very replica is a concurrent primary that propos</a:t>
            </a:r>
            <a:r>
              <a:rPr lang="en"/>
              <a:t>es </a:t>
            </a:r>
            <a:r>
              <a:rPr lang="en" sz="1800"/>
              <a:t>and replicat</a:t>
            </a:r>
            <a:r>
              <a:rPr lang="en"/>
              <a:t>es </a:t>
            </a:r>
            <a:r>
              <a:rPr lang="en" sz="1800"/>
              <a:t>some of these transactions. </a:t>
            </a:r>
            <a:endParaRPr sz="1800"/>
          </a:p>
          <a:p>
            <a:pPr indent="0" lvl="0" marL="0" rtl="0" algn="ctr">
              <a:spcBef>
                <a:spcPts val="1200"/>
              </a:spcBef>
              <a:spcAft>
                <a:spcPts val="0"/>
              </a:spcAft>
              <a:buNone/>
            </a:pPr>
            <a:r>
              <a:rPr lang="en"/>
              <a:t>As there are </a:t>
            </a:r>
            <a:r>
              <a:rPr b="1" lang="en" sz="2000">
                <a:solidFill>
                  <a:schemeClr val="accent2"/>
                </a:solidFill>
              </a:rPr>
              <a:t>nf</a:t>
            </a:r>
            <a:r>
              <a:rPr lang="en" sz="1800"/>
              <a:t> non-faulty replicas, we can expect to always concurrently propose at least </a:t>
            </a:r>
            <a:r>
              <a:rPr b="1" lang="en" sz="2000">
                <a:solidFill>
                  <a:schemeClr val="accent2"/>
                </a:solidFill>
              </a:rPr>
              <a:t>nf</a:t>
            </a:r>
            <a:r>
              <a:rPr lang="en" sz="1800"/>
              <a:t> transactions if sufficient transactions are available.</a:t>
            </a:r>
            <a:endParaRPr/>
          </a:p>
          <a:p>
            <a:pPr indent="0" lvl="0" marL="0" rtl="0" algn="l">
              <a:spcBef>
                <a:spcPts val="1200"/>
              </a:spcBef>
              <a:spcAft>
                <a:spcPts val="1200"/>
              </a:spcAft>
              <a:buNone/>
            </a:pPr>
            <a:r>
              <a:t/>
            </a:r>
            <a:endParaRPr/>
          </a:p>
        </p:txBody>
      </p:sp>
      <p:grpSp>
        <p:nvGrpSpPr>
          <p:cNvPr id="172" name="Google Shape;172;p21"/>
          <p:cNvGrpSpPr/>
          <p:nvPr/>
        </p:nvGrpSpPr>
        <p:grpSpPr>
          <a:xfrm>
            <a:off x="9310525" y="3170325"/>
            <a:ext cx="2062600" cy="1594475"/>
            <a:chOff x="2149550" y="3549025"/>
            <a:chExt cx="2062600" cy="1594475"/>
          </a:xfrm>
        </p:grpSpPr>
        <p:sp>
          <p:nvSpPr>
            <p:cNvPr id="173" name="Google Shape;173;p21"/>
            <p:cNvSpPr/>
            <p:nvPr/>
          </p:nvSpPr>
          <p:spPr>
            <a:xfrm>
              <a:off x="2149550" y="4457400"/>
              <a:ext cx="686100" cy="68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P3</a:t>
              </a:r>
              <a:endParaRPr>
                <a:latin typeface="Roboto"/>
                <a:ea typeface="Roboto"/>
                <a:cs typeface="Roboto"/>
                <a:sym typeface="Roboto"/>
              </a:endParaRPr>
            </a:p>
          </p:txBody>
        </p:sp>
        <p:sp>
          <p:nvSpPr>
            <p:cNvPr id="174" name="Google Shape;174;p21"/>
            <p:cNvSpPr/>
            <p:nvPr/>
          </p:nvSpPr>
          <p:spPr>
            <a:xfrm>
              <a:off x="3526050" y="4457400"/>
              <a:ext cx="686100" cy="68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P4</a:t>
              </a:r>
              <a:endParaRPr>
                <a:latin typeface="Roboto"/>
                <a:ea typeface="Roboto"/>
                <a:cs typeface="Roboto"/>
                <a:sym typeface="Roboto"/>
              </a:endParaRPr>
            </a:p>
          </p:txBody>
        </p:sp>
        <p:sp>
          <p:nvSpPr>
            <p:cNvPr id="175" name="Google Shape;175;p21"/>
            <p:cNvSpPr/>
            <p:nvPr/>
          </p:nvSpPr>
          <p:spPr>
            <a:xfrm>
              <a:off x="2149550" y="3549025"/>
              <a:ext cx="686100" cy="68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sp>
          <p:nvSpPr>
            <p:cNvPr id="176" name="Google Shape;176;p21"/>
            <p:cNvSpPr/>
            <p:nvPr/>
          </p:nvSpPr>
          <p:spPr>
            <a:xfrm>
              <a:off x="3526050" y="3549025"/>
              <a:ext cx="686100" cy="68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P2</a:t>
              </a:r>
              <a:endParaRPr>
                <a:latin typeface="Roboto"/>
                <a:ea typeface="Roboto"/>
                <a:cs typeface="Roboto"/>
                <a:sym typeface="Roboto"/>
              </a:endParaRPr>
            </a:p>
          </p:txBody>
        </p:sp>
      </p:grpSp>
      <p:grpSp>
        <p:nvGrpSpPr>
          <p:cNvPr id="177" name="Google Shape;177;p21"/>
          <p:cNvGrpSpPr/>
          <p:nvPr/>
        </p:nvGrpSpPr>
        <p:grpSpPr>
          <a:xfrm>
            <a:off x="9896125" y="3513375"/>
            <a:ext cx="891300" cy="665700"/>
            <a:chOff x="2735150" y="3892075"/>
            <a:chExt cx="891300" cy="665700"/>
          </a:xfrm>
        </p:grpSpPr>
        <p:cxnSp>
          <p:nvCxnSpPr>
            <p:cNvPr id="178" name="Google Shape;178;p21"/>
            <p:cNvCxnSpPr>
              <a:stCxn id="175" idx="6"/>
              <a:endCxn id="176" idx="2"/>
            </p:cNvCxnSpPr>
            <p:nvPr/>
          </p:nvCxnSpPr>
          <p:spPr>
            <a:xfrm>
              <a:off x="2835650" y="3892075"/>
              <a:ext cx="690300" cy="0"/>
            </a:xfrm>
            <a:prstGeom prst="straightConnector1">
              <a:avLst/>
            </a:prstGeom>
            <a:noFill/>
            <a:ln cap="flat" cmpd="sng" w="9525">
              <a:solidFill>
                <a:schemeClr val="dk1"/>
              </a:solidFill>
              <a:prstDash val="solid"/>
              <a:round/>
              <a:headEnd len="med" w="med" type="none"/>
              <a:tailEnd len="med" w="med" type="triangle"/>
            </a:ln>
          </p:spPr>
        </p:cxnSp>
        <p:cxnSp>
          <p:nvCxnSpPr>
            <p:cNvPr id="179" name="Google Shape;179;p21"/>
            <p:cNvCxnSpPr>
              <a:stCxn id="175" idx="6"/>
              <a:endCxn id="174" idx="1"/>
            </p:cNvCxnSpPr>
            <p:nvPr/>
          </p:nvCxnSpPr>
          <p:spPr>
            <a:xfrm>
              <a:off x="2835650" y="3892075"/>
              <a:ext cx="790800" cy="665700"/>
            </a:xfrm>
            <a:prstGeom prst="straightConnector1">
              <a:avLst/>
            </a:prstGeom>
            <a:noFill/>
            <a:ln cap="flat" cmpd="sng" w="9525">
              <a:solidFill>
                <a:schemeClr val="dk1"/>
              </a:solidFill>
              <a:prstDash val="solid"/>
              <a:round/>
              <a:headEnd len="med" w="med" type="none"/>
              <a:tailEnd len="med" w="med" type="triangle"/>
            </a:ln>
          </p:spPr>
        </p:cxnSp>
        <p:cxnSp>
          <p:nvCxnSpPr>
            <p:cNvPr id="180" name="Google Shape;180;p21"/>
            <p:cNvCxnSpPr>
              <a:stCxn id="175" idx="6"/>
              <a:endCxn id="173" idx="7"/>
            </p:cNvCxnSpPr>
            <p:nvPr/>
          </p:nvCxnSpPr>
          <p:spPr>
            <a:xfrm flipH="1">
              <a:off x="2735150" y="3892075"/>
              <a:ext cx="100500" cy="665700"/>
            </a:xfrm>
            <a:prstGeom prst="straightConnector1">
              <a:avLst/>
            </a:prstGeom>
            <a:noFill/>
            <a:ln cap="flat" cmpd="sng" w="9525">
              <a:solidFill>
                <a:schemeClr val="dk1"/>
              </a:solidFill>
              <a:prstDash val="solid"/>
              <a:round/>
              <a:headEnd len="med" w="med" type="none"/>
              <a:tailEnd len="med" w="med" type="triangle"/>
            </a:ln>
          </p:spPr>
        </p:cxnSp>
      </p:grpSp>
      <p:grpSp>
        <p:nvGrpSpPr>
          <p:cNvPr id="181" name="Google Shape;181;p21"/>
          <p:cNvGrpSpPr/>
          <p:nvPr/>
        </p:nvGrpSpPr>
        <p:grpSpPr>
          <a:xfrm rot="9442121">
            <a:off x="9849608" y="3563566"/>
            <a:ext cx="1202351" cy="931299"/>
            <a:chOff x="2392427" y="3743939"/>
            <a:chExt cx="1202351" cy="931299"/>
          </a:xfrm>
        </p:grpSpPr>
        <p:cxnSp>
          <p:nvCxnSpPr>
            <p:cNvPr id="182" name="Google Shape;182;p21"/>
            <p:cNvCxnSpPr>
              <a:endCxn id="173" idx="6"/>
            </p:cNvCxnSpPr>
            <p:nvPr/>
          </p:nvCxnSpPr>
          <p:spPr>
            <a:xfrm flipH="1" rot="-9441820">
              <a:off x="2838358" y="3876851"/>
              <a:ext cx="722562" cy="160177"/>
            </a:xfrm>
            <a:prstGeom prst="straightConnector1">
              <a:avLst/>
            </a:prstGeom>
            <a:noFill/>
            <a:ln cap="flat" cmpd="sng" w="9525">
              <a:solidFill>
                <a:schemeClr val="accent2"/>
              </a:solidFill>
              <a:prstDash val="solid"/>
              <a:round/>
              <a:headEnd len="med" w="med" type="none"/>
              <a:tailEnd len="med" w="med" type="triangle"/>
            </a:ln>
          </p:spPr>
        </p:cxnSp>
        <p:cxnSp>
          <p:nvCxnSpPr>
            <p:cNvPr id="183" name="Google Shape;183;p21"/>
            <p:cNvCxnSpPr>
              <a:endCxn id="175" idx="5"/>
            </p:cNvCxnSpPr>
            <p:nvPr/>
          </p:nvCxnSpPr>
          <p:spPr>
            <a:xfrm rot="1357674">
              <a:off x="2706617" y="4031046"/>
              <a:ext cx="822623" cy="505385"/>
            </a:xfrm>
            <a:prstGeom prst="straightConnector1">
              <a:avLst/>
            </a:prstGeom>
            <a:noFill/>
            <a:ln cap="flat" cmpd="sng" w="9525">
              <a:solidFill>
                <a:schemeClr val="accent2"/>
              </a:solidFill>
              <a:prstDash val="solid"/>
              <a:round/>
              <a:headEnd len="med" w="med" type="none"/>
              <a:tailEnd len="med" w="med" type="triangle"/>
            </a:ln>
          </p:spPr>
        </p:cxnSp>
        <p:cxnSp>
          <p:nvCxnSpPr>
            <p:cNvPr id="184" name="Google Shape;184;p21"/>
            <p:cNvCxnSpPr>
              <a:endCxn id="176" idx="4"/>
            </p:cNvCxnSpPr>
            <p:nvPr/>
          </p:nvCxnSpPr>
          <p:spPr>
            <a:xfrm flipH="1" rot="1357957">
              <a:off x="2458300" y="3816647"/>
              <a:ext cx="311054" cy="404931"/>
            </a:xfrm>
            <a:prstGeom prst="straightConnector1">
              <a:avLst/>
            </a:prstGeom>
            <a:noFill/>
            <a:ln cap="flat" cmpd="sng" w="9525">
              <a:solidFill>
                <a:schemeClr val="accent2"/>
              </a:solidFill>
              <a:prstDash val="solid"/>
              <a:round/>
              <a:headEnd len="med" w="med" type="none"/>
              <a:tailEnd len="med" w="med" type="triangle"/>
            </a:ln>
          </p:spPr>
        </p:cxnSp>
      </p:grpSp>
      <p:grpSp>
        <p:nvGrpSpPr>
          <p:cNvPr id="185" name="Google Shape;185;p21"/>
          <p:cNvGrpSpPr/>
          <p:nvPr/>
        </p:nvGrpSpPr>
        <p:grpSpPr>
          <a:xfrm rot="3130185">
            <a:off x="9702510" y="3109203"/>
            <a:ext cx="1333568" cy="1276800"/>
            <a:chOff x="1879644" y="3583609"/>
            <a:chExt cx="1333621" cy="1276850"/>
          </a:xfrm>
        </p:grpSpPr>
        <p:cxnSp>
          <p:nvCxnSpPr>
            <p:cNvPr id="186" name="Google Shape;186;p21"/>
            <p:cNvCxnSpPr>
              <a:endCxn id="174" idx="0"/>
            </p:cNvCxnSpPr>
            <p:nvPr/>
          </p:nvCxnSpPr>
          <p:spPr>
            <a:xfrm rot="-3129529">
              <a:off x="2912919" y="3745093"/>
              <a:ext cx="222992" cy="305085"/>
            </a:xfrm>
            <a:prstGeom prst="straightConnector1">
              <a:avLst/>
            </a:prstGeom>
            <a:noFill/>
            <a:ln cap="flat" cmpd="sng" w="9525">
              <a:solidFill>
                <a:schemeClr val="accent6"/>
              </a:solidFill>
              <a:prstDash val="solid"/>
              <a:round/>
              <a:headEnd len="med" w="med" type="none"/>
              <a:tailEnd len="med" w="med" type="triangle"/>
            </a:ln>
          </p:spPr>
        </p:cxnSp>
        <p:cxnSp>
          <p:nvCxnSpPr>
            <p:cNvPr id="187" name="Google Shape;187;p21"/>
            <p:cNvCxnSpPr>
              <a:endCxn id="173" idx="7"/>
            </p:cNvCxnSpPr>
            <p:nvPr/>
          </p:nvCxnSpPr>
          <p:spPr>
            <a:xfrm flipH="1" rot="-3130082">
              <a:off x="2260771" y="4173461"/>
              <a:ext cx="911228" cy="405596"/>
            </a:xfrm>
            <a:prstGeom prst="straightConnector1">
              <a:avLst/>
            </a:prstGeom>
            <a:noFill/>
            <a:ln cap="flat" cmpd="sng" w="9525">
              <a:solidFill>
                <a:schemeClr val="accent6"/>
              </a:solidFill>
              <a:prstDash val="solid"/>
              <a:round/>
              <a:headEnd len="med" w="med" type="none"/>
              <a:tailEnd len="med" w="med" type="triangle"/>
            </a:ln>
          </p:spPr>
        </p:cxnSp>
        <p:cxnSp>
          <p:nvCxnSpPr>
            <p:cNvPr id="188" name="Google Shape;188;p21"/>
            <p:cNvCxnSpPr>
              <a:endCxn id="175" idx="7"/>
            </p:cNvCxnSpPr>
            <p:nvPr/>
          </p:nvCxnSpPr>
          <p:spPr>
            <a:xfrm rot="7669918">
              <a:off x="1902080" y="3846223"/>
              <a:ext cx="911228" cy="502870"/>
            </a:xfrm>
            <a:prstGeom prst="straightConnector1">
              <a:avLst/>
            </a:prstGeom>
            <a:noFill/>
            <a:ln cap="flat" cmpd="sng" w="9525">
              <a:solidFill>
                <a:schemeClr val="accent6"/>
              </a:solidFill>
              <a:prstDash val="solid"/>
              <a:round/>
              <a:headEnd len="med" w="med" type="none"/>
              <a:tailEnd len="med" w="med" type="triangle"/>
            </a:ln>
          </p:spPr>
        </p:cxnSp>
      </p:grpSp>
      <p:grpSp>
        <p:nvGrpSpPr>
          <p:cNvPr id="189" name="Google Shape;189;p21"/>
          <p:cNvGrpSpPr/>
          <p:nvPr/>
        </p:nvGrpSpPr>
        <p:grpSpPr>
          <a:xfrm>
            <a:off x="9603775" y="3513375"/>
            <a:ext cx="1083250" cy="908375"/>
            <a:chOff x="2492600" y="3148725"/>
            <a:chExt cx="1083250" cy="908375"/>
          </a:xfrm>
        </p:grpSpPr>
        <p:cxnSp>
          <p:nvCxnSpPr>
            <p:cNvPr id="190" name="Google Shape;190;p21"/>
            <p:cNvCxnSpPr>
              <a:endCxn id="174" idx="2"/>
            </p:cNvCxnSpPr>
            <p:nvPr/>
          </p:nvCxnSpPr>
          <p:spPr>
            <a:xfrm>
              <a:off x="2835750" y="3892100"/>
              <a:ext cx="740100" cy="165000"/>
            </a:xfrm>
            <a:prstGeom prst="straightConnector1">
              <a:avLst/>
            </a:prstGeom>
            <a:noFill/>
            <a:ln cap="flat" cmpd="sng" w="9525">
              <a:solidFill>
                <a:srgbClr val="DD7E6B"/>
              </a:solidFill>
              <a:prstDash val="solid"/>
              <a:round/>
              <a:headEnd len="med" w="med" type="none"/>
              <a:tailEnd len="med" w="med" type="triangle"/>
            </a:ln>
          </p:spPr>
        </p:cxnSp>
        <p:cxnSp>
          <p:nvCxnSpPr>
            <p:cNvPr id="191" name="Google Shape;191;p21"/>
            <p:cNvCxnSpPr>
              <a:endCxn id="176" idx="2"/>
            </p:cNvCxnSpPr>
            <p:nvPr/>
          </p:nvCxnSpPr>
          <p:spPr>
            <a:xfrm flipH="1" rot="10800000">
              <a:off x="2835750" y="3148725"/>
              <a:ext cx="740100" cy="743400"/>
            </a:xfrm>
            <a:prstGeom prst="straightConnector1">
              <a:avLst/>
            </a:prstGeom>
            <a:noFill/>
            <a:ln cap="flat" cmpd="sng" w="9525">
              <a:solidFill>
                <a:srgbClr val="DD7E6B"/>
              </a:solidFill>
              <a:prstDash val="solid"/>
              <a:round/>
              <a:headEnd len="med" w="med" type="none"/>
              <a:tailEnd len="med" w="med" type="triangle"/>
            </a:ln>
          </p:spPr>
        </p:cxnSp>
        <p:cxnSp>
          <p:nvCxnSpPr>
            <p:cNvPr id="192" name="Google Shape;192;p21"/>
            <p:cNvCxnSpPr/>
            <p:nvPr/>
          </p:nvCxnSpPr>
          <p:spPr>
            <a:xfrm rot="10800000">
              <a:off x="2492600" y="3491775"/>
              <a:ext cx="343200" cy="400200"/>
            </a:xfrm>
            <a:prstGeom prst="straightConnector1">
              <a:avLst/>
            </a:prstGeom>
            <a:noFill/>
            <a:ln cap="flat" cmpd="sng" w="9525">
              <a:solidFill>
                <a:srgbClr val="DD7E6B"/>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Theoretical Throughput Gain</a:t>
            </a:r>
            <a:endParaRPr/>
          </a:p>
        </p:txBody>
      </p:sp>
      <p:sp>
        <p:nvSpPr>
          <p:cNvPr id="198" name="Google Shape;198;p22"/>
          <p:cNvSpPr txBox="1"/>
          <p:nvPr>
            <p:ph idx="1" type="body"/>
          </p:nvPr>
        </p:nvSpPr>
        <p:spPr>
          <a:xfrm>
            <a:off x="192650" y="1049225"/>
            <a:ext cx="85635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88"/>
              <a:buNone/>
            </a:pPr>
            <a:r>
              <a:rPr lang="en"/>
              <a:t>T</a:t>
            </a:r>
            <a:r>
              <a:rPr baseline="-25000" lang="en"/>
              <a:t>max</a:t>
            </a:r>
            <a:r>
              <a:rPr lang="en"/>
              <a:t> </a:t>
            </a:r>
            <a:endParaRPr/>
          </a:p>
          <a:p>
            <a:pPr indent="-311150" lvl="0" marL="457200" rtl="0" algn="l">
              <a:lnSpc>
                <a:spcPct val="95000"/>
              </a:lnSpc>
              <a:spcBef>
                <a:spcPts val="1200"/>
              </a:spcBef>
              <a:spcAft>
                <a:spcPts val="0"/>
              </a:spcAft>
              <a:buSzPts val="1300"/>
              <a:buChar char="-"/>
            </a:pPr>
            <a:r>
              <a:rPr lang="en" sz="1300"/>
              <a:t>Determined by the outgoing bandwidth B of the primary, the number of replicas n, and the size of transactions.</a:t>
            </a:r>
            <a:endParaRPr sz="1300"/>
          </a:p>
          <a:p>
            <a:pPr indent="0" lvl="0" marL="0" rtl="0" algn="l">
              <a:lnSpc>
                <a:spcPct val="95000"/>
              </a:lnSpc>
              <a:spcBef>
                <a:spcPts val="1200"/>
              </a:spcBef>
              <a:spcAft>
                <a:spcPts val="0"/>
              </a:spcAft>
              <a:buSzPts val="688"/>
              <a:buNone/>
            </a:pPr>
            <a:r>
              <a:rPr lang="en"/>
              <a:t>T</a:t>
            </a:r>
            <a:r>
              <a:rPr baseline="-25000" lang="en"/>
              <a:t>PBFT</a:t>
            </a:r>
            <a:endParaRPr/>
          </a:p>
          <a:p>
            <a:pPr indent="-311150" lvl="0" marL="457200" rtl="0" algn="l">
              <a:lnSpc>
                <a:spcPct val="95000"/>
              </a:lnSpc>
              <a:spcBef>
                <a:spcPts val="1200"/>
              </a:spcBef>
              <a:spcAft>
                <a:spcPts val="0"/>
              </a:spcAft>
              <a:buSzPts val="1300"/>
              <a:buChar char="-"/>
            </a:pPr>
            <a:r>
              <a:rPr lang="en" sz="1300"/>
              <a:t>Min. amt of state exchanges (PREPARE, COMMIT) between all replicas. </a:t>
            </a:r>
            <a:endParaRPr sz="1300"/>
          </a:p>
          <a:p>
            <a:pPr indent="-311150" lvl="0" marL="457200" rtl="0" algn="l">
              <a:lnSpc>
                <a:spcPct val="95000"/>
              </a:lnSpc>
              <a:spcBef>
                <a:spcPts val="0"/>
              </a:spcBef>
              <a:spcAft>
                <a:spcPts val="0"/>
              </a:spcAft>
              <a:buSzPts val="1300"/>
              <a:buChar char="-"/>
            </a:pPr>
            <a:r>
              <a:rPr lang="en" sz="1300"/>
              <a:t>State exchange, no concurrency.</a:t>
            </a:r>
            <a:endParaRPr sz="1300"/>
          </a:p>
          <a:p>
            <a:pPr indent="0" lvl="0" marL="0" rtl="0" algn="l">
              <a:lnSpc>
                <a:spcPct val="95000"/>
              </a:lnSpc>
              <a:spcBef>
                <a:spcPts val="1200"/>
              </a:spcBef>
              <a:spcAft>
                <a:spcPts val="0"/>
              </a:spcAft>
              <a:buSzPts val="688"/>
              <a:buNone/>
            </a:pPr>
            <a:r>
              <a:rPr lang="en"/>
              <a:t>T</a:t>
            </a:r>
            <a:r>
              <a:rPr baseline="-25000" lang="en"/>
              <a:t>cmax</a:t>
            </a:r>
            <a:r>
              <a:rPr lang="en"/>
              <a:t> </a:t>
            </a:r>
            <a:endParaRPr/>
          </a:p>
          <a:p>
            <a:pPr indent="-311150" lvl="0" marL="457200" rtl="0" algn="l">
              <a:lnSpc>
                <a:spcPct val="95000"/>
              </a:lnSpc>
              <a:spcBef>
                <a:spcPts val="1200"/>
              </a:spcBef>
              <a:spcAft>
                <a:spcPts val="0"/>
              </a:spcAft>
              <a:buSzPts val="1300"/>
              <a:buChar char="-"/>
            </a:pPr>
            <a:r>
              <a:rPr lang="en" sz="1300"/>
              <a:t>Each round, each primary will send out one proposal to all other replicas, and receive nf-1 proposals from other primaries.</a:t>
            </a:r>
            <a:endParaRPr sz="1300"/>
          </a:p>
          <a:p>
            <a:pPr indent="-311150" lvl="0" marL="457200" rtl="0" algn="l">
              <a:lnSpc>
                <a:spcPct val="95000"/>
              </a:lnSpc>
              <a:spcBef>
                <a:spcPts val="0"/>
              </a:spcBef>
              <a:spcAft>
                <a:spcPts val="0"/>
              </a:spcAft>
              <a:buSzPts val="1300"/>
              <a:buChar char="-"/>
            </a:pPr>
            <a:r>
              <a:rPr lang="en" sz="1300"/>
              <a:t>No state exchange.</a:t>
            </a:r>
            <a:endParaRPr sz="1300"/>
          </a:p>
          <a:p>
            <a:pPr indent="0" lvl="0" marL="0" rtl="0" algn="l">
              <a:lnSpc>
                <a:spcPct val="95000"/>
              </a:lnSpc>
              <a:spcBef>
                <a:spcPts val="1200"/>
              </a:spcBef>
              <a:spcAft>
                <a:spcPts val="0"/>
              </a:spcAft>
              <a:buSzPts val="688"/>
              <a:buNone/>
            </a:pPr>
            <a:r>
              <a:rPr lang="en" sz="1300"/>
              <a:t>Since each replica needs to participate in state exchange,</a:t>
            </a:r>
            <a:endParaRPr sz="1300"/>
          </a:p>
          <a:p>
            <a:pPr indent="0" lvl="0" marL="0" rtl="0" algn="l">
              <a:lnSpc>
                <a:spcPct val="95000"/>
              </a:lnSpc>
              <a:spcBef>
                <a:spcPts val="1200"/>
              </a:spcBef>
              <a:spcAft>
                <a:spcPts val="0"/>
              </a:spcAft>
              <a:buSzPts val="688"/>
              <a:buNone/>
            </a:pPr>
            <a:r>
              <a:rPr lang="en">
                <a:solidFill>
                  <a:srgbClr val="FFFFFF"/>
                </a:solidFill>
              </a:rPr>
              <a:t>T</a:t>
            </a:r>
            <a:r>
              <a:rPr baseline="-25000" lang="en">
                <a:solidFill>
                  <a:srgbClr val="FFFFFF"/>
                </a:solidFill>
              </a:rPr>
              <a:t>cPBFT</a:t>
            </a:r>
            <a:endParaRPr>
              <a:solidFill>
                <a:srgbClr val="FFFFFF"/>
              </a:solidFill>
            </a:endParaRPr>
          </a:p>
          <a:p>
            <a:pPr indent="-311150" lvl="0" marL="457200" rtl="0" algn="l">
              <a:lnSpc>
                <a:spcPct val="95000"/>
              </a:lnSpc>
              <a:spcBef>
                <a:spcPts val="1200"/>
              </a:spcBef>
              <a:spcAft>
                <a:spcPts val="0"/>
              </a:spcAft>
              <a:buClr>
                <a:srgbClr val="FFFFFF"/>
              </a:buClr>
              <a:buSzPts val="1300"/>
              <a:buChar char="-"/>
            </a:pPr>
            <a:r>
              <a:rPr lang="en" sz="1300">
                <a:solidFill>
                  <a:srgbClr val="FFFFFF"/>
                </a:solidFill>
              </a:rPr>
              <a:t>Integrates PBFT style state exchange while concurrently proposing to primary instances in Replicas.</a:t>
            </a:r>
            <a:endParaRPr sz="1300">
              <a:solidFill>
                <a:srgbClr val="FFFFFF"/>
              </a:solidFill>
            </a:endParaRPr>
          </a:p>
          <a:p>
            <a:pPr indent="0" lvl="0" marL="0" rtl="0" algn="l">
              <a:lnSpc>
                <a:spcPct val="95000"/>
              </a:lnSpc>
              <a:spcBef>
                <a:spcPts val="1200"/>
              </a:spcBef>
              <a:spcAft>
                <a:spcPts val="1200"/>
              </a:spcAft>
              <a:buSzPts val="688"/>
              <a:buNone/>
            </a:pPr>
            <a:r>
              <a:t/>
            </a:r>
            <a:endParaRPr sz="1300">
              <a:solidFill>
                <a:srgbClr val="FFFFFF"/>
              </a:solidFill>
            </a:endParaRPr>
          </a:p>
        </p:txBody>
      </p:sp>
      <p:pic>
        <p:nvPicPr>
          <p:cNvPr id="199" name="Google Shape;199;p22"/>
          <p:cNvPicPr preferRelativeResize="0"/>
          <p:nvPr/>
        </p:nvPicPr>
        <p:blipFill rotWithShape="1">
          <a:blip r:embed="rId3">
            <a:alphaModFix/>
          </a:blip>
          <a:srcRect b="0" l="0" r="48551" t="0"/>
          <a:stretch/>
        </p:blipFill>
        <p:spPr>
          <a:xfrm>
            <a:off x="328994" y="1376275"/>
            <a:ext cx="4440625" cy="3416400"/>
          </a:xfrm>
          <a:prstGeom prst="rect">
            <a:avLst/>
          </a:prstGeom>
          <a:noFill/>
          <a:ln>
            <a:noFill/>
          </a:ln>
        </p:spPr>
      </p:pic>
      <p:pic>
        <p:nvPicPr>
          <p:cNvPr id="200" name="Google Shape;200;p22"/>
          <p:cNvPicPr preferRelativeResize="0"/>
          <p:nvPr/>
        </p:nvPicPr>
        <p:blipFill rotWithShape="1">
          <a:blip r:embed="rId3">
            <a:alphaModFix/>
          </a:blip>
          <a:srcRect b="0" l="50300" r="0" t="0"/>
          <a:stretch/>
        </p:blipFill>
        <p:spPr>
          <a:xfrm>
            <a:off x="4769630" y="1376275"/>
            <a:ext cx="4289700" cy="341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9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3"/>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Design, Importance of Design</a:t>
            </a:r>
            <a:endParaRPr/>
          </a:p>
        </p:txBody>
      </p:sp>
      <p:sp>
        <p:nvSpPr>
          <p:cNvPr id="206" name="Google Shape;206;p23"/>
          <p:cNvSpPr txBox="1"/>
          <p:nvPr/>
        </p:nvSpPr>
        <p:spPr>
          <a:xfrm>
            <a:off x="96525" y="1080000"/>
            <a:ext cx="8728800" cy="34557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b="1" lang="en" sz="1700">
                <a:solidFill>
                  <a:schemeClr val="dk1"/>
                </a:solidFill>
                <a:latin typeface="Roboto"/>
                <a:ea typeface="Roboto"/>
                <a:cs typeface="Roboto"/>
                <a:sym typeface="Roboto"/>
              </a:rPr>
              <a:t>Design Goals</a:t>
            </a:r>
            <a:endParaRPr b="1" sz="1700">
              <a:solidFill>
                <a:schemeClr val="dk1"/>
              </a:solidFill>
              <a:latin typeface="Roboto"/>
              <a:ea typeface="Roboto"/>
              <a:cs typeface="Roboto"/>
              <a:sym typeface="Roboto"/>
            </a:endParaRPr>
          </a:p>
          <a:p>
            <a:pPr indent="-336550" lvl="0" marL="914400" rtl="0" algn="l">
              <a:lnSpc>
                <a:spcPct val="115000"/>
              </a:lnSpc>
              <a:spcBef>
                <a:spcPts val="0"/>
              </a:spcBef>
              <a:spcAft>
                <a:spcPts val="0"/>
              </a:spcAft>
              <a:buClr>
                <a:schemeClr val="dk1"/>
              </a:buClr>
              <a:buSzPts val="1700"/>
              <a:buFont typeface="Roboto"/>
              <a:buChar char="●"/>
            </a:pPr>
            <a:r>
              <a:rPr lang="en" sz="1700">
                <a:solidFill>
                  <a:schemeClr val="dk1"/>
                </a:solidFill>
                <a:latin typeface="Roboto"/>
                <a:ea typeface="Roboto"/>
                <a:cs typeface="Roboto"/>
                <a:sym typeface="Roboto"/>
              </a:rPr>
              <a:t>D1: What to execute and how to execute (Deterministic Ordering)</a:t>
            </a:r>
            <a:endParaRPr sz="1700">
              <a:solidFill>
                <a:schemeClr val="dk1"/>
              </a:solidFill>
              <a:latin typeface="Roboto"/>
              <a:ea typeface="Roboto"/>
              <a:cs typeface="Roboto"/>
              <a:sym typeface="Roboto"/>
            </a:endParaRPr>
          </a:p>
          <a:p>
            <a:pPr indent="-336550" lvl="1" marL="1371600" rtl="0" algn="l">
              <a:lnSpc>
                <a:spcPct val="115000"/>
              </a:lnSpc>
              <a:spcBef>
                <a:spcPts val="0"/>
              </a:spcBef>
              <a:spcAft>
                <a:spcPts val="0"/>
              </a:spcAft>
              <a:buClr>
                <a:schemeClr val="dk1"/>
              </a:buClr>
              <a:buSzPts val="1700"/>
              <a:buFont typeface="Roboto"/>
              <a:buChar char="○"/>
            </a:pPr>
            <a:r>
              <a:rPr lang="en" sz="1700">
                <a:solidFill>
                  <a:schemeClr val="dk1"/>
                </a:solidFill>
                <a:latin typeface="Roboto"/>
                <a:ea typeface="Roboto"/>
                <a:cs typeface="Roboto"/>
                <a:sym typeface="Roboto"/>
              </a:rPr>
              <a:t>Replicas agree on transactions and their order </a:t>
            </a:r>
            <a:endParaRPr sz="1700">
              <a:solidFill>
                <a:schemeClr val="dk1"/>
              </a:solidFill>
              <a:latin typeface="Roboto"/>
              <a:ea typeface="Roboto"/>
              <a:cs typeface="Roboto"/>
              <a:sym typeface="Roboto"/>
            </a:endParaRPr>
          </a:p>
          <a:p>
            <a:pPr indent="-336550" lvl="0" marL="914400" rtl="0" algn="l">
              <a:lnSpc>
                <a:spcPct val="115000"/>
              </a:lnSpc>
              <a:spcBef>
                <a:spcPts val="0"/>
              </a:spcBef>
              <a:spcAft>
                <a:spcPts val="0"/>
              </a:spcAft>
              <a:buClr>
                <a:schemeClr val="dk1"/>
              </a:buClr>
              <a:buSzPts val="1700"/>
              <a:buFont typeface="Roboto"/>
              <a:buChar char="●"/>
            </a:pPr>
            <a:r>
              <a:rPr lang="en" sz="1700">
                <a:solidFill>
                  <a:schemeClr val="dk1"/>
                </a:solidFill>
                <a:latin typeface="Roboto"/>
                <a:ea typeface="Roboto"/>
                <a:cs typeface="Roboto"/>
                <a:sym typeface="Roboto"/>
              </a:rPr>
              <a:t>D2: Client’s Interactivity</a:t>
            </a:r>
            <a:endParaRPr sz="1700">
              <a:solidFill>
                <a:schemeClr val="dk1"/>
              </a:solidFill>
              <a:latin typeface="Roboto"/>
              <a:ea typeface="Roboto"/>
              <a:cs typeface="Roboto"/>
              <a:sym typeface="Roboto"/>
            </a:endParaRPr>
          </a:p>
          <a:p>
            <a:pPr indent="-336550" lvl="1" marL="1371600" rtl="0" algn="l">
              <a:lnSpc>
                <a:spcPct val="115000"/>
              </a:lnSpc>
              <a:spcBef>
                <a:spcPts val="0"/>
              </a:spcBef>
              <a:spcAft>
                <a:spcPts val="0"/>
              </a:spcAft>
              <a:buClr>
                <a:schemeClr val="dk1"/>
              </a:buClr>
              <a:buSzPts val="1700"/>
              <a:buFont typeface="Roboto"/>
              <a:buChar char="○"/>
            </a:pPr>
            <a:r>
              <a:rPr lang="en" sz="1700">
                <a:solidFill>
                  <a:schemeClr val="dk1"/>
                </a:solidFill>
                <a:latin typeface="Roboto"/>
                <a:ea typeface="Roboto"/>
                <a:cs typeface="Roboto"/>
                <a:sym typeface="Roboto"/>
              </a:rPr>
              <a:t>Clients can force execution and get results</a:t>
            </a:r>
            <a:endParaRPr sz="1700">
              <a:solidFill>
                <a:schemeClr val="dk1"/>
              </a:solidFill>
              <a:latin typeface="Roboto"/>
              <a:ea typeface="Roboto"/>
              <a:cs typeface="Roboto"/>
              <a:sym typeface="Roboto"/>
            </a:endParaRPr>
          </a:p>
          <a:p>
            <a:pPr indent="-336550" lvl="0" marL="914400" rtl="0" algn="l">
              <a:lnSpc>
                <a:spcPct val="115000"/>
              </a:lnSpc>
              <a:spcBef>
                <a:spcPts val="0"/>
              </a:spcBef>
              <a:spcAft>
                <a:spcPts val="0"/>
              </a:spcAft>
              <a:buClr>
                <a:schemeClr val="dk1"/>
              </a:buClr>
              <a:buSzPts val="1700"/>
              <a:buFont typeface="Roboto"/>
              <a:buChar char="●"/>
            </a:pPr>
            <a:r>
              <a:rPr lang="en" sz="1700">
                <a:solidFill>
                  <a:schemeClr val="dk1"/>
                </a:solidFill>
                <a:latin typeface="Roboto"/>
                <a:ea typeface="Roboto"/>
                <a:cs typeface="Roboto"/>
                <a:sym typeface="Roboto"/>
              </a:rPr>
              <a:t>D3: Can be applied to any primary backup consensus protocol</a:t>
            </a:r>
            <a:endParaRPr sz="1700">
              <a:solidFill>
                <a:schemeClr val="dk1"/>
              </a:solidFill>
              <a:latin typeface="Roboto"/>
              <a:ea typeface="Roboto"/>
              <a:cs typeface="Roboto"/>
              <a:sym typeface="Roboto"/>
            </a:endParaRPr>
          </a:p>
          <a:p>
            <a:pPr indent="-336550" lvl="1" marL="1371600" rtl="0" algn="l">
              <a:lnSpc>
                <a:spcPct val="115000"/>
              </a:lnSpc>
              <a:spcBef>
                <a:spcPts val="0"/>
              </a:spcBef>
              <a:spcAft>
                <a:spcPts val="0"/>
              </a:spcAft>
              <a:buClr>
                <a:schemeClr val="dk1"/>
              </a:buClr>
              <a:buSzPts val="1700"/>
              <a:buFont typeface="Roboto"/>
              <a:buChar char="○"/>
            </a:pPr>
            <a:r>
              <a:rPr lang="en" sz="1700">
                <a:solidFill>
                  <a:schemeClr val="dk1"/>
                </a:solidFill>
                <a:latin typeface="Roboto"/>
                <a:ea typeface="Roboto"/>
                <a:cs typeface="Roboto"/>
                <a:sym typeface="Roboto"/>
              </a:rPr>
              <a:t>RCC works with any primary-backup protocol </a:t>
            </a:r>
            <a:endParaRPr sz="1700">
              <a:solidFill>
                <a:schemeClr val="dk1"/>
              </a:solidFill>
              <a:latin typeface="Roboto"/>
              <a:ea typeface="Roboto"/>
              <a:cs typeface="Roboto"/>
              <a:sym typeface="Roboto"/>
            </a:endParaRPr>
          </a:p>
          <a:p>
            <a:pPr indent="-336550" lvl="0" marL="914400" rtl="0" algn="l">
              <a:lnSpc>
                <a:spcPct val="115000"/>
              </a:lnSpc>
              <a:spcBef>
                <a:spcPts val="0"/>
              </a:spcBef>
              <a:spcAft>
                <a:spcPts val="0"/>
              </a:spcAft>
              <a:buClr>
                <a:schemeClr val="dk1"/>
              </a:buClr>
              <a:buSzPts val="1700"/>
              <a:buFont typeface="Roboto"/>
              <a:buChar char="●"/>
            </a:pPr>
            <a:r>
              <a:rPr lang="en" sz="1700">
                <a:solidFill>
                  <a:schemeClr val="dk1"/>
                </a:solidFill>
                <a:latin typeface="Roboto"/>
                <a:ea typeface="Roboto"/>
                <a:cs typeface="Roboto"/>
                <a:sym typeface="Roboto"/>
              </a:rPr>
              <a:t>D4: Wait Free</a:t>
            </a:r>
            <a:endParaRPr sz="1700">
              <a:solidFill>
                <a:schemeClr val="dk1"/>
              </a:solidFill>
              <a:latin typeface="Roboto"/>
              <a:ea typeface="Roboto"/>
              <a:cs typeface="Roboto"/>
              <a:sym typeface="Roboto"/>
            </a:endParaRPr>
          </a:p>
          <a:p>
            <a:pPr indent="-336550" lvl="1" marL="1371600" rtl="0" algn="l">
              <a:lnSpc>
                <a:spcPct val="115000"/>
              </a:lnSpc>
              <a:spcBef>
                <a:spcPts val="0"/>
              </a:spcBef>
              <a:spcAft>
                <a:spcPts val="0"/>
              </a:spcAft>
              <a:buClr>
                <a:schemeClr val="dk1"/>
              </a:buClr>
              <a:buSzPts val="1700"/>
              <a:buFont typeface="Roboto"/>
              <a:buChar char="○"/>
            </a:pPr>
            <a:r>
              <a:rPr lang="en" sz="1700">
                <a:solidFill>
                  <a:schemeClr val="dk1"/>
                </a:solidFill>
                <a:latin typeface="Roboto"/>
                <a:ea typeface="Roboto"/>
                <a:cs typeface="Roboto"/>
                <a:sym typeface="Roboto"/>
              </a:rPr>
              <a:t>Never stops good primaries from proposing</a:t>
            </a:r>
            <a:endParaRPr sz="1700">
              <a:solidFill>
                <a:schemeClr val="dk1"/>
              </a:solidFill>
              <a:latin typeface="Roboto"/>
              <a:ea typeface="Roboto"/>
              <a:cs typeface="Roboto"/>
              <a:sym typeface="Roboto"/>
            </a:endParaRPr>
          </a:p>
          <a:p>
            <a:pPr indent="-336550" lvl="0" marL="914400" rtl="0" algn="l">
              <a:lnSpc>
                <a:spcPct val="115000"/>
              </a:lnSpc>
              <a:spcBef>
                <a:spcPts val="0"/>
              </a:spcBef>
              <a:spcAft>
                <a:spcPts val="0"/>
              </a:spcAft>
              <a:buClr>
                <a:schemeClr val="dk1"/>
              </a:buClr>
              <a:buSzPts val="1700"/>
              <a:buFont typeface="Roboto"/>
              <a:buChar char="●"/>
            </a:pPr>
            <a:r>
              <a:rPr lang="en" sz="1700">
                <a:solidFill>
                  <a:schemeClr val="dk1"/>
                </a:solidFill>
                <a:latin typeface="Roboto"/>
                <a:ea typeface="Roboto"/>
                <a:cs typeface="Roboto"/>
                <a:sym typeface="Roboto"/>
              </a:rPr>
              <a:t>D5: Fault Isolation</a:t>
            </a:r>
            <a:endParaRPr sz="1700">
              <a:solidFill>
                <a:schemeClr val="dk1"/>
              </a:solidFill>
              <a:latin typeface="Roboto"/>
              <a:ea typeface="Roboto"/>
              <a:cs typeface="Roboto"/>
              <a:sym typeface="Roboto"/>
            </a:endParaRPr>
          </a:p>
          <a:p>
            <a:pPr indent="-336550" lvl="1" marL="1371600" rtl="0" algn="l">
              <a:lnSpc>
                <a:spcPct val="115000"/>
              </a:lnSpc>
              <a:spcBef>
                <a:spcPts val="0"/>
              </a:spcBef>
              <a:spcAft>
                <a:spcPts val="0"/>
              </a:spcAft>
              <a:buClr>
                <a:schemeClr val="dk1"/>
              </a:buClr>
              <a:buSzPts val="1700"/>
              <a:buFont typeface="Roboto"/>
              <a:buChar char="○"/>
            </a:pPr>
            <a:r>
              <a:rPr lang="en" sz="1700">
                <a:solidFill>
                  <a:schemeClr val="dk1"/>
                </a:solidFill>
                <a:latin typeface="Roboto"/>
                <a:ea typeface="Roboto"/>
                <a:cs typeface="Roboto"/>
                <a:sym typeface="Roboto"/>
              </a:rPr>
              <a:t>Contains failures to one instance</a:t>
            </a:r>
            <a:endParaRPr sz="17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How RCC Extends PBFT</a:t>
            </a:r>
            <a:endParaRPr/>
          </a:p>
        </p:txBody>
      </p:sp>
      <p:sp>
        <p:nvSpPr>
          <p:cNvPr id="212" name="Google Shape;212;p2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PBFT Core: One primary proposes → replicas Prepare → Commit → Execute</a:t>
            </a:r>
            <a:endParaRPr/>
          </a:p>
          <a:p>
            <a:pPr indent="-342900" lvl="0" marL="457200" rtl="0" algn="l">
              <a:spcBef>
                <a:spcPts val="0"/>
              </a:spcBef>
              <a:spcAft>
                <a:spcPts val="0"/>
              </a:spcAft>
              <a:buSzPts val="1800"/>
              <a:buChar char="●"/>
            </a:pPr>
            <a:r>
              <a:rPr lang="en"/>
              <a:t>RCC Extension:</a:t>
            </a:r>
            <a:endParaRPr/>
          </a:p>
          <a:p>
            <a:pPr indent="-317500" lvl="1" marL="914400" rtl="0" algn="l">
              <a:spcBef>
                <a:spcPts val="0"/>
              </a:spcBef>
              <a:spcAft>
                <a:spcPts val="0"/>
              </a:spcAft>
              <a:buSzPts val="1400"/>
              <a:buChar char="○"/>
            </a:pPr>
            <a:r>
              <a:rPr lang="en"/>
              <a:t>Every replica runs its own PBFT instance in parallel</a:t>
            </a:r>
            <a:endParaRPr/>
          </a:p>
          <a:p>
            <a:pPr indent="-317500" lvl="1" marL="914400" rtl="0" algn="l">
              <a:spcBef>
                <a:spcPts val="0"/>
              </a:spcBef>
              <a:spcAft>
                <a:spcPts val="0"/>
              </a:spcAft>
              <a:buSzPts val="1400"/>
              <a:buChar char="○"/>
            </a:pPr>
            <a:r>
              <a:rPr lang="en"/>
              <a:t>One primary per instance, multiple proposals per round</a:t>
            </a:r>
            <a:endParaRPr/>
          </a:p>
          <a:p>
            <a:pPr indent="-317500" lvl="1" marL="914400" rtl="0" algn="l">
              <a:spcBef>
                <a:spcPts val="0"/>
              </a:spcBef>
              <a:spcAft>
                <a:spcPts val="0"/>
              </a:spcAft>
              <a:buSzPts val="1400"/>
              <a:buChar char="○"/>
            </a:pPr>
            <a:r>
              <a:rPr lang="en"/>
              <a:t>Minimal coordination to merge results into a single global order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Wait-Free Progress and </a:t>
            </a:r>
            <a:r>
              <a:rPr lang="en"/>
              <a:t>RCC Assumptions</a:t>
            </a:r>
            <a:endParaRPr/>
          </a:p>
        </p:txBody>
      </p:sp>
      <p:sp>
        <p:nvSpPr>
          <p:cNvPr id="218" name="Google Shape;218;p25"/>
          <p:cNvSpPr txBox="1"/>
          <p:nvPr>
            <p:ph idx="1" type="body"/>
          </p:nvPr>
        </p:nvSpPr>
        <p:spPr>
          <a:xfrm>
            <a:off x="387900" y="1489825"/>
            <a:ext cx="4605300" cy="35259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A1. When an instance is successful, enough correct replicas accepted so that progress is meaningful.</a:t>
            </a:r>
            <a:endParaRPr/>
          </a:p>
          <a:p>
            <a:pPr indent="0" lvl="0" marL="0" rtl="0" algn="l">
              <a:spcBef>
                <a:spcPts val="1200"/>
              </a:spcBef>
              <a:spcAft>
                <a:spcPts val="0"/>
              </a:spcAft>
              <a:buNone/>
            </a:pPr>
            <a:r>
              <a:rPr lang="en"/>
              <a:t>A2. Ensures the accepted value is consistent among correct replicas, preserving safety across replicas and instances.</a:t>
            </a:r>
            <a:endParaRPr/>
          </a:p>
          <a:p>
            <a:pPr indent="0" lvl="0" marL="0" rtl="0" algn="l">
              <a:spcBef>
                <a:spcPts val="1200"/>
              </a:spcBef>
              <a:spcAft>
                <a:spcPts val="0"/>
              </a:spcAft>
              <a:buNone/>
            </a:pPr>
            <a:r>
              <a:rPr lang="en"/>
              <a:t>A3. Ensures that replicas behind or delayed can catch up from other correct replicas, avoiding blocking due to stalled primaries or message loss.</a:t>
            </a:r>
            <a:endParaRPr/>
          </a:p>
          <a:p>
            <a:pPr indent="0" lvl="0" marL="0" rtl="0" algn="l">
              <a:spcBef>
                <a:spcPts val="1200"/>
              </a:spcBef>
              <a:spcAft>
                <a:spcPts val="1200"/>
              </a:spcAft>
              <a:buNone/>
            </a:pPr>
            <a:r>
              <a:rPr lang="en"/>
              <a:t>A4. Ensures that when an instance has a good setup (honest primary + reliable communication) it will complete quickly, enabling high throughput.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Core RCC Pipeline</a:t>
            </a:r>
            <a:endParaRPr/>
          </a:p>
        </p:txBody>
      </p:sp>
      <p:sp>
        <p:nvSpPr>
          <p:cNvPr id="224" name="Google Shape;224;p26"/>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Concurrent BCA</a:t>
            </a:r>
            <a:endParaRPr/>
          </a:p>
          <a:p>
            <a:pPr indent="-317500" lvl="1" marL="914400" rtl="0" algn="l">
              <a:spcBef>
                <a:spcPts val="0"/>
              </a:spcBef>
              <a:spcAft>
                <a:spcPts val="0"/>
              </a:spcAft>
              <a:buSzPts val="1400"/>
              <a:buAutoNum type="alphaLcPeriod"/>
            </a:pPr>
            <a:r>
              <a:rPr lang="en"/>
              <a:t>Each replica has m instances of BCA, proposing a transaction to all replicas</a:t>
            </a:r>
            <a:endParaRPr/>
          </a:p>
          <a:p>
            <a:pPr indent="-342900" lvl="0" marL="457200" rtl="0" algn="l">
              <a:spcBef>
                <a:spcPts val="0"/>
              </a:spcBef>
              <a:spcAft>
                <a:spcPts val="0"/>
              </a:spcAft>
              <a:buSzPts val="1800"/>
              <a:buAutoNum type="arabicPeriod"/>
            </a:pPr>
            <a:r>
              <a:rPr lang="en"/>
              <a:t>Deterministic Ordering</a:t>
            </a:r>
            <a:endParaRPr/>
          </a:p>
          <a:p>
            <a:pPr indent="-317500" lvl="1" marL="914400" rtl="0" algn="l">
              <a:spcBef>
                <a:spcPts val="0"/>
              </a:spcBef>
              <a:spcAft>
                <a:spcPts val="0"/>
              </a:spcAft>
              <a:buSzPts val="1400"/>
              <a:buAutoNum type="alphaLcPeriod"/>
            </a:pPr>
            <a:r>
              <a:rPr lang="en"/>
              <a:t>Collects successful replicated transactions (deterministically ordered)</a:t>
            </a:r>
            <a:endParaRPr/>
          </a:p>
          <a:p>
            <a:pPr indent="-342900" lvl="0" marL="457200" rtl="0" algn="l">
              <a:spcBef>
                <a:spcPts val="0"/>
              </a:spcBef>
              <a:spcAft>
                <a:spcPts val="0"/>
              </a:spcAft>
              <a:buSzPts val="1800"/>
              <a:buAutoNum type="arabicPeriod"/>
            </a:pPr>
            <a:r>
              <a:rPr lang="en"/>
              <a:t>Execution and Commitment</a:t>
            </a:r>
            <a:endParaRPr/>
          </a:p>
          <a:p>
            <a:pPr indent="-317500" lvl="1" marL="914400" rtl="0" algn="l">
              <a:spcBef>
                <a:spcPts val="0"/>
              </a:spcBef>
              <a:spcAft>
                <a:spcPts val="0"/>
              </a:spcAft>
              <a:buSzPts val="1400"/>
              <a:buAutoNum type="alphaLcPeriod"/>
            </a:pPr>
            <a:r>
              <a:rPr lang="en"/>
              <a:t>Executes transactions of the round, informs clients</a:t>
            </a:r>
            <a:endParaRPr/>
          </a:p>
        </p:txBody>
      </p:sp>
      <p:grpSp>
        <p:nvGrpSpPr>
          <p:cNvPr id="225" name="Google Shape;225;p26"/>
          <p:cNvGrpSpPr/>
          <p:nvPr/>
        </p:nvGrpSpPr>
        <p:grpSpPr>
          <a:xfrm>
            <a:off x="361500" y="3559150"/>
            <a:ext cx="545100" cy="1268175"/>
            <a:chOff x="361500" y="3559150"/>
            <a:chExt cx="545100" cy="1268175"/>
          </a:xfrm>
        </p:grpSpPr>
        <p:sp>
          <p:nvSpPr>
            <p:cNvPr id="226" name="Google Shape;226;p26"/>
            <p:cNvSpPr/>
            <p:nvPr/>
          </p:nvSpPr>
          <p:spPr>
            <a:xfrm>
              <a:off x="361500" y="3559150"/>
              <a:ext cx="545100" cy="545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R1</a:t>
              </a:r>
              <a:endParaRPr sz="1000">
                <a:latin typeface="Roboto"/>
                <a:ea typeface="Roboto"/>
                <a:cs typeface="Roboto"/>
                <a:sym typeface="Roboto"/>
              </a:endParaRPr>
            </a:p>
          </p:txBody>
        </p:sp>
        <p:sp>
          <p:nvSpPr>
            <p:cNvPr id="227" name="Google Shape;227;p26"/>
            <p:cNvSpPr/>
            <p:nvPr/>
          </p:nvSpPr>
          <p:spPr>
            <a:xfrm>
              <a:off x="361500" y="4282225"/>
              <a:ext cx="545100" cy="545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R2</a:t>
              </a:r>
              <a:endParaRPr sz="1000">
                <a:latin typeface="Roboto"/>
                <a:ea typeface="Roboto"/>
                <a:cs typeface="Roboto"/>
                <a:sym typeface="Roboto"/>
              </a:endParaRPr>
            </a:p>
          </p:txBody>
        </p:sp>
      </p:grpSp>
      <p:grpSp>
        <p:nvGrpSpPr>
          <p:cNvPr id="228" name="Google Shape;228;p26"/>
          <p:cNvGrpSpPr/>
          <p:nvPr/>
        </p:nvGrpSpPr>
        <p:grpSpPr>
          <a:xfrm>
            <a:off x="634050" y="3437675"/>
            <a:ext cx="1531625" cy="1309822"/>
            <a:chOff x="634050" y="3437675"/>
            <a:chExt cx="1531625" cy="1309822"/>
          </a:xfrm>
        </p:grpSpPr>
        <p:grpSp>
          <p:nvGrpSpPr>
            <p:cNvPr id="229" name="Google Shape;229;p26"/>
            <p:cNvGrpSpPr/>
            <p:nvPr/>
          </p:nvGrpSpPr>
          <p:grpSpPr>
            <a:xfrm>
              <a:off x="634050" y="3591278"/>
              <a:ext cx="743250" cy="1156219"/>
              <a:chOff x="634050" y="3591278"/>
              <a:chExt cx="743250" cy="1156219"/>
            </a:xfrm>
          </p:grpSpPr>
          <p:cxnSp>
            <p:nvCxnSpPr>
              <p:cNvPr id="230" name="Google Shape;230;p26"/>
              <p:cNvCxnSpPr>
                <a:stCxn id="226" idx="4"/>
                <a:endCxn id="227" idx="0"/>
              </p:cNvCxnSpPr>
              <p:nvPr/>
            </p:nvCxnSpPr>
            <p:spPr>
              <a:xfrm>
                <a:off x="634050" y="4104250"/>
                <a:ext cx="0" cy="177900"/>
              </a:xfrm>
              <a:prstGeom prst="straightConnector1">
                <a:avLst/>
              </a:prstGeom>
              <a:noFill/>
              <a:ln cap="flat" cmpd="sng" w="9525">
                <a:solidFill>
                  <a:schemeClr val="accent2"/>
                </a:solidFill>
                <a:prstDash val="solid"/>
                <a:round/>
                <a:headEnd len="med" w="med" type="none"/>
                <a:tailEnd len="med" w="med" type="triangle"/>
              </a:ln>
            </p:spPr>
          </p:cxnSp>
          <p:cxnSp>
            <p:nvCxnSpPr>
              <p:cNvPr id="231" name="Google Shape;231;p26"/>
              <p:cNvCxnSpPr>
                <a:stCxn id="227" idx="7"/>
                <a:endCxn id="226" idx="5"/>
              </p:cNvCxnSpPr>
              <p:nvPr/>
            </p:nvCxnSpPr>
            <p:spPr>
              <a:xfrm rot="10800000">
                <a:off x="826772" y="4024553"/>
                <a:ext cx="0" cy="337500"/>
              </a:xfrm>
              <a:prstGeom prst="straightConnector1">
                <a:avLst/>
              </a:prstGeom>
              <a:noFill/>
              <a:ln cap="flat" cmpd="sng" w="9525">
                <a:solidFill>
                  <a:schemeClr val="accent2"/>
                </a:solidFill>
                <a:prstDash val="solid"/>
                <a:round/>
                <a:headEnd len="med" w="med" type="none"/>
                <a:tailEnd len="med" w="med" type="triangle"/>
              </a:ln>
            </p:spPr>
          </p:cxnSp>
          <p:cxnSp>
            <p:nvCxnSpPr>
              <p:cNvPr id="232" name="Google Shape;232;p26"/>
              <p:cNvCxnSpPr>
                <a:stCxn id="226" idx="6"/>
              </p:cNvCxnSpPr>
              <p:nvPr/>
            </p:nvCxnSpPr>
            <p:spPr>
              <a:xfrm flipH="1" rot="10800000">
                <a:off x="906600" y="3642700"/>
                <a:ext cx="406200" cy="189000"/>
              </a:xfrm>
              <a:prstGeom prst="straightConnector1">
                <a:avLst/>
              </a:prstGeom>
              <a:noFill/>
              <a:ln cap="flat" cmpd="sng" w="9525">
                <a:solidFill>
                  <a:schemeClr val="accent2"/>
                </a:solidFill>
                <a:prstDash val="solid"/>
                <a:round/>
                <a:headEnd len="med" w="med" type="none"/>
                <a:tailEnd len="med" w="med" type="triangle"/>
              </a:ln>
            </p:spPr>
          </p:cxnSp>
          <p:cxnSp>
            <p:nvCxnSpPr>
              <p:cNvPr id="233" name="Google Shape;233;p26"/>
              <p:cNvCxnSpPr>
                <a:stCxn id="227" idx="6"/>
              </p:cNvCxnSpPr>
              <p:nvPr/>
            </p:nvCxnSpPr>
            <p:spPr>
              <a:xfrm flipH="1" rot="10800000">
                <a:off x="906600" y="3797275"/>
                <a:ext cx="470700" cy="757500"/>
              </a:xfrm>
              <a:prstGeom prst="straightConnector1">
                <a:avLst/>
              </a:prstGeom>
              <a:noFill/>
              <a:ln cap="flat" cmpd="sng" w="9525">
                <a:solidFill>
                  <a:schemeClr val="accent2"/>
                </a:solidFill>
                <a:prstDash val="solid"/>
                <a:round/>
                <a:headEnd len="med" w="med" type="none"/>
                <a:tailEnd len="med" w="med" type="triangle"/>
              </a:ln>
            </p:spPr>
          </p:cxnSp>
          <p:cxnSp>
            <p:nvCxnSpPr>
              <p:cNvPr id="234" name="Google Shape;234;p26"/>
              <p:cNvCxnSpPr>
                <a:stCxn id="226" idx="7"/>
              </p:cNvCxnSpPr>
              <p:nvPr/>
            </p:nvCxnSpPr>
            <p:spPr>
              <a:xfrm flipH="1" rot="10800000">
                <a:off x="826772" y="3591278"/>
                <a:ext cx="524700" cy="47700"/>
              </a:xfrm>
              <a:prstGeom prst="straightConnector1">
                <a:avLst/>
              </a:prstGeom>
              <a:noFill/>
              <a:ln cap="flat" cmpd="sng" w="9525">
                <a:solidFill>
                  <a:schemeClr val="accent2"/>
                </a:solidFill>
                <a:prstDash val="solid"/>
                <a:round/>
                <a:headEnd len="med" w="med" type="none"/>
                <a:tailEnd len="med" w="med" type="triangle"/>
              </a:ln>
            </p:spPr>
          </p:cxnSp>
          <p:cxnSp>
            <p:nvCxnSpPr>
              <p:cNvPr id="235" name="Google Shape;235;p26"/>
              <p:cNvCxnSpPr>
                <a:stCxn id="227" idx="5"/>
              </p:cNvCxnSpPr>
              <p:nvPr/>
            </p:nvCxnSpPr>
            <p:spPr>
              <a:xfrm flipH="1" rot="10800000">
                <a:off x="826772" y="3848697"/>
                <a:ext cx="421800" cy="898800"/>
              </a:xfrm>
              <a:prstGeom prst="straightConnector1">
                <a:avLst/>
              </a:prstGeom>
              <a:noFill/>
              <a:ln cap="flat" cmpd="sng" w="9525">
                <a:solidFill>
                  <a:schemeClr val="accent2"/>
                </a:solidFill>
                <a:prstDash val="solid"/>
                <a:round/>
                <a:headEnd len="med" w="med" type="none"/>
                <a:tailEnd len="med" w="med" type="triangle"/>
              </a:ln>
            </p:spPr>
          </p:cxnSp>
        </p:grpSp>
        <p:sp>
          <p:nvSpPr>
            <p:cNvPr id="236" name="Google Shape;236;p26"/>
            <p:cNvSpPr txBox="1"/>
            <p:nvPr/>
          </p:nvSpPr>
          <p:spPr>
            <a:xfrm>
              <a:off x="1248575" y="3437675"/>
              <a:ext cx="917100" cy="35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To other </a:t>
              </a:r>
              <a:r>
                <a:rPr lang="en" sz="1000">
                  <a:solidFill>
                    <a:schemeClr val="dk1"/>
                  </a:solidFill>
                  <a:latin typeface="Roboto"/>
                  <a:ea typeface="Roboto"/>
                  <a:cs typeface="Roboto"/>
                  <a:sym typeface="Roboto"/>
                </a:rPr>
                <a:t>n</a:t>
              </a:r>
              <a:r>
                <a:rPr lang="en" sz="1000">
                  <a:solidFill>
                    <a:schemeClr val="dk1"/>
                  </a:solidFill>
                  <a:latin typeface="Roboto"/>
                  <a:ea typeface="Roboto"/>
                  <a:cs typeface="Roboto"/>
                  <a:sym typeface="Roboto"/>
                </a:rPr>
                <a:t> replicas</a:t>
              </a:r>
              <a:endParaRPr sz="1000">
                <a:solidFill>
                  <a:schemeClr val="dk1"/>
                </a:solidFill>
                <a:latin typeface="Roboto"/>
                <a:ea typeface="Roboto"/>
                <a:cs typeface="Roboto"/>
                <a:sym typeface="Roboto"/>
              </a:endParaRPr>
            </a:p>
          </p:txBody>
        </p:sp>
      </p:grpSp>
      <p:grpSp>
        <p:nvGrpSpPr>
          <p:cNvPr id="237" name="Google Shape;237;p26"/>
          <p:cNvGrpSpPr/>
          <p:nvPr/>
        </p:nvGrpSpPr>
        <p:grpSpPr>
          <a:xfrm>
            <a:off x="3425913" y="3648950"/>
            <a:ext cx="2881213" cy="1270800"/>
            <a:chOff x="2206713" y="3648950"/>
            <a:chExt cx="2881213" cy="1270800"/>
          </a:xfrm>
        </p:grpSpPr>
        <p:sp>
          <p:nvSpPr>
            <p:cNvPr id="238" name="Google Shape;238;p26"/>
            <p:cNvSpPr/>
            <p:nvPr/>
          </p:nvSpPr>
          <p:spPr>
            <a:xfrm>
              <a:off x="2206725" y="3650275"/>
              <a:ext cx="2881175" cy="1268175"/>
            </a:xfrm>
            <a:prstGeom prst="flowChartProcess">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9" name="Google Shape;239;p26"/>
            <p:cNvCxnSpPr/>
            <p:nvPr/>
          </p:nvCxnSpPr>
          <p:spPr>
            <a:xfrm>
              <a:off x="2642050" y="3648950"/>
              <a:ext cx="0" cy="1266000"/>
            </a:xfrm>
            <a:prstGeom prst="straightConnector1">
              <a:avLst/>
            </a:prstGeom>
            <a:noFill/>
            <a:ln cap="flat" cmpd="sng" w="9525">
              <a:solidFill>
                <a:schemeClr val="dk2"/>
              </a:solidFill>
              <a:prstDash val="solid"/>
              <a:round/>
              <a:headEnd len="med" w="med" type="none"/>
              <a:tailEnd len="med" w="med" type="none"/>
            </a:ln>
          </p:spPr>
        </p:cxnSp>
        <p:cxnSp>
          <p:nvCxnSpPr>
            <p:cNvPr id="240" name="Google Shape;240;p26"/>
            <p:cNvCxnSpPr/>
            <p:nvPr/>
          </p:nvCxnSpPr>
          <p:spPr>
            <a:xfrm>
              <a:off x="3312225" y="3653750"/>
              <a:ext cx="0" cy="1266000"/>
            </a:xfrm>
            <a:prstGeom prst="straightConnector1">
              <a:avLst/>
            </a:prstGeom>
            <a:noFill/>
            <a:ln cap="flat" cmpd="sng" w="9525">
              <a:solidFill>
                <a:schemeClr val="dk2"/>
              </a:solidFill>
              <a:prstDash val="solid"/>
              <a:round/>
              <a:headEnd len="med" w="med" type="none"/>
              <a:tailEnd len="med" w="med" type="none"/>
            </a:ln>
          </p:spPr>
        </p:cxnSp>
        <p:cxnSp>
          <p:nvCxnSpPr>
            <p:cNvPr id="241" name="Google Shape;241;p26"/>
            <p:cNvCxnSpPr/>
            <p:nvPr/>
          </p:nvCxnSpPr>
          <p:spPr>
            <a:xfrm>
              <a:off x="3982400" y="3653750"/>
              <a:ext cx="0" cy="1266000"/>
            </a:xfrm>
            <a:prstGeom prst="straightConnector1">
              <a:avLst/>
            </a:prstGeom>
            <a:noFill/>
            <a:ln cap="flat" cmpd="sng" w="9525">
              <a:solidFill>
                <a:schemeClr val="dk2"/>
              </a:solidFill>
              <a:prstDash val="solid"/>
              <a:round/>
              <a:headEnd len="med" w="med" type="none"/>
              <a:tailEnd len="med" w="med" type="none"/>
            </a:ln>
          </p:spPr>
        </p:cxnSp>
        <p:cxnSp>
          <p:nvCxnSpPr>
            <p:cNvPr id="242" name="Google Shape;242;p26"/>
            <p:cNvCxnSpPr/>
            <p:nvPr/>
          </p:nvCxnSpPr>
          <p:spPr>
            <a:xfrm>
              <a:off x="4652575" y="3648963"/>
              <a:ext cx="0" cy="1266000"/>
            </a:xfrm>
            <a:prstGeom prst="straightConnector1">
              <a:avLst/>
            </a:prstGeom>
            <a:noFill/>
            <a:ln cap="flat" cmpd="sng" w="9525">
              <a:solidFill>
                <a:schemeClr val="dk2"/>
              </a:solidFill>
              <a:prstDash val="solid"/>
              <a:round/>
              <a:headEnd len="med" w="med" type="none"/>
              <a:tailEnd len="med" w="med" type="none"/>
            </a:ln>
          </p:spPr>
        </p:cxnSp>
        <p:cxnSp>
          <p:nvCxnSpPr>
            <p:cNvPr id="243" name="Google Shape;243;p26"/>
            <p:cNvCxnSpPr/>
            <p:nvPr/>
          </p:nvCxnSpPr>
          <p:spPr>
            <a:xfrm>
              <a:off x="2206725" y="4193225"/>
              <a:ext cx="2881200" cy="0"/>
            </a:xfrm>
            <a:prstGeom prst="straightConnector1">
              <a:avLst/>
            </a:prstGeom>
            <a:noFill/>
            <a:ln cap="flat" cmpd="sng" w="9525">
              <a:solidFill>
                <a:schemeClr val="dk2"/>
              </a:solidFill>
              <a:prstDash val="solid"/>
              <a:round/>
              <a:headEnd len="med" w="med" type="none"/>
              <a:tailEnd len="med" w="med" type="none"/>
            </a:ln>
          </p:spPr>
        </p:cxnSp>
        <p:cxnSp>
          <p:nvCxnSpPr>
            <p:cNvPr id="244" name="Google Shape;244;p26"/>
            <p:cNvCxnSpPr/>
            <p:nvPr/>
          </p:nvCxnSpPr>
          <p:spPr>
            <a:xfrm>
              <a:off x="2206725" y="3916138"/>
              <a:ext cx="2881200" cy="0"/>
            </a:xfrm>
            <a:prstGeom prst="straightConnector1">
              <a:avLst/>
            </a:prstGeom>
            <a:noFill/>
            <a:ln cap="flat" cmpd="sng" w="9525">
              <a:solidFill>
                <a:schemeClr val="dk2"/>
              </a:solidFill>
              <a:prstDash val="solid"/>
              <a:round/>
              <a:headEnd len="med" w="med" type="none"/>
              <a:tailEnd len="med" w="med" type="none"/>
            </a:ln>
          </p:spPr>
        </p:cxnSp>
        <p:cxnSp>
          <p:nvCxnSpPr>
            <p:cNvPr id="245" name="Google Shape;245;p26"/>
            <p:cNvCxnSpPr/>
            <p:nvPr/>
          </p:nvCxnSpPr>
          <p:spPr>
            <a:xfrm>
              <a:off x="2206713" y="4450388"/>
              <a:ext cx="2881200" cy="0"/>
            </a:xfrm>
            <a:prstGeom prst="straightConnector1">
              <a:avLst/>
            </a:prstGeom>
            <a:noFill/>
            <a:ln cap="flat" cmpd="sng" w="9525">
              <a:solidFill>
                <a:schemeClr val="dk2"/>
              </a:solidFill>
              <a:prstDash val="solid"/>
              <a:round/>
              <a:headEnd len="med" w="med" type="none"/>
              <a:tailEnd len="med" w="med" type="none"/>
            </a:ln>
          </p:spPr>
        </p:cxnSp>
        <p:cxnSp>
          <p:nvCxnSpPr>
            <p:cNvPr id="246" name="Google Shape;246;p26"/>
            <p:cNvCxnSpPr/>
            <p:nvPr/>
          </p:nvCxnSpPr>
          <p:spPr>
            <a:xfrm>
              <a:off x="2206713" y="4700138"/>
              <a:ext cx="2881200" cy="0"/>
            </a:xfrm>
            <a:prstGeom prst="straightConnector1">
              <a:avLst/>
            </a:prstGeom>
            <a:noFill/>
            <a:ln cap="flat" cmpd="sng" w="9525">
              <a:solidFill>
                <a:schemeClr val="dk2"/>
              </a:solidFill>
              <a:prstDash val="solid"/>
              <a:round/>
              <a:headEnd len="med" w="med" type="none"/>
              <a:tailEnd len="med" w="med" type="none"/>
            </a:ln>
          </p:spPr>
        </p:cxnSp>
      </p:grpSp>
      <p:grpSp>
        <p:nvGrpSpPr>
          <p:cNvPr id="247" name="Google Shape;247;p26"/>
          <p:cNvGrpSpPr/>
          <p:nvPr/>
        </p:nvGrpSpPr>
        <p:grpSpPr>
          <a:xfrm>
            <a:off x="2714197" y="3490200"/>
            <a:ext cx="849300" cy="1352021"/>
            <a:chOff x="1494997" y="3490200"/>
            <a:chExt cx="849300" cy="1352021"/>
          </a:xfrm>
        </p:grpSpPr>
        <p:sp>
          <p:nvSpPr>
            <p:cNvPr id="248" name="Google Shape;248;p26"/>
            <p:cNvSpPr txBox="1"/>
            <p:nvPr/>
          </p:nvSpPr>
          <p:spPr>
            <a:xfrm>
              <a:off x="1494997" y="3490200"/>
              <a:ext cx="849300" cy="29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Roboto"/>
                  <a:ea typeface="Roboto"/>
                  <a:cs typeface="Roboto"/>
                  <a:sym typeface="Roboto"/>
                </a:rPr>
                <a:t>Clients 1…n</a:t>
              </a:r>
              <a:endParaRPr sz="800">
                <a:solidFill>
                  <a:schemeClr val="dk1"/>
                </a:solidFill>
                <a:latin typeface="Roboto"/>
                <a:ea typeface="Roboto"/>
                <a:cs typeface="Roboto"/>
                <a:sym typeface="Roboto"/>
              </a:endParaRPr>
            </a:p>
          </p:txBody>
        </p:sp>
        <p:sp>
          <p:nvSpPr>
            <p:cNvPr id="249" name="Google Shape;249;p26"/>
            <p:cNvSpPr txBox="1"/>
            <p:nvPr/>
          </p:nvSpPr>
          <p:spPr>
            <a:xfrm>
              <a:off x="1745643" y="3759360"/>
              <a:ext cx="514800" cy="29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FF9900"/>
                  </a:solidFill>
                  <a:latin typeface="Roboto"/>
                  <a:ea typeface="Roboto"/>
                  <a:cs typeface="Roboto"/>
                  <a:sym typeface="Roboto"/>
                </a:rPr>
                <a:t>Replica</a:t>
              </a:r>
              <a:endParaRPr sz="800">
                <a:solidFill>
                  <a:srgbClr val="FF9900"/>
                </a:solidFill>
                <a:latin typeface="Roboto"/>
                <a:ea typeface="Roboto"/>
                <a:cs typeface="Roboto"/>
                <a:sym typeface="Roboto"/>
              </a:endParaRPr>
            </a:p>
          </p:txBody>
        </p:sp>
        <p:sp>
          <p:nvSpPr>
            <p:cNvPr id="250" name="Google Shape;250;p26"/>
            <p:cNvSpPr txBox="1"/>
            <p:nvPr/>
          </p:nvSpPr>
          <p:spPr>
            <a:xfrm>
              <a:off x="1745643" y="4281346"/>
              <a:ext cx="514800" cy="29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0000FF"/>
                  </a:solidFill>
                  <a:latin typeface="Roboto"/>
                  <a:ea typeface="Roboto"/>
                  <a:cs typeface="Roboto"/>
                  <a:sym typeface="Roboto"/>
                </a:rPr>
                <a:t>Replica</a:t>
              </a:r>
              <a:endParaRPr sz="800">
                <a:solidFill>
                  <a:srgbClr val="0000FF"/>
                </a:solidFill>
                <a:latin typeface="Roboto"/>
                <a:ea typeface="Roboto"/>
                <a:cs typeface="Roboto"/>
                <a:sym typeface="Roboto"/>
              </a:endParaRPr>
            </a:p>
          </p:txBody>
        </p:sp>
        <p:sp>
          <p:nvSpPr>
            <p:cNvPr id="251" name="Google Shape;251;p26"/>
            <p:cNvSpPr txBox="1"/>
            <p:nvPr/>
          </p:nvSpPr>
          <p:spPr>
            <a:xfrm>
              <a:off x="1745643" y="4029223"/>
              <a:ext cx="514800" cy="29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00FFFF"/>
                  </a:solidFill>
                  <a:latin typeface="Roboto"/>
                  <a:ea typeface="Roboto"/>
                  <a:cs typeface="Roboto"/>
                  <a:sym typeface="Roboto"/>
                </a:rPr>
                <a:t>Replica</a:t>
              </a:r>
              <a:endParaRPr sz="800">
                <a:solidFill>
                  <a:srgbClr val="00FFFF"/>
                </a:solidFill>
                <a:latin typeface="Roboto"/>
                <a:ea typeface="Roboto"/>
                <a:cs typeface="Roboto"/>
                <a:sym typeface="Roboto"/>
              </a:endParaRPr>
            </a:p>
          </p:txBody>
        </p:sp>
        <p:sp>
          <p:nvSpPr>
            <p:cNvPr id="252" name="Google Shape;252;p26"/>
            <p:cNvSpPr txBox="1"/>
            <p:nvPr/>
          </p:nvSpPr>
          <p:spPr>
            <a:xfrm>
              <a:off x="1745643" y="4546721"/>
              <a:ext cx="514800" cy="29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FF00FF"/>
                  </a:solidFill>
                  <a:latin typeface="Roboto"/>
                  <a:ea typeface="Roboto"/>
                  <a:cs typeface="Roboto"/>
                  <a:sym typeface="Roboto"/>
                </a:rPr>
                <a:t>Replica</a:t>
              </a:r>
              <a:endParaRPr sz="800">
                <a:solidFill>
                  <a:srgbClr val="FF00FF"/>
                </a:solidFill>
                <a:latin typeface="Roboto"/>
                <a:ea typeface="Roboto"/>
                <a:cs typeface="Roboto"/>
                <a:sym typeface="Roboto"/>
              </a:endParaRPr>
            </a:p>
          </p:txBody>
        </p:sp>
      </p:grpSp>
      <p:cxnSp>
        <p:nvCxnSpPr>
          <p:cNvPr id="253" name="Google Shape;253;p26"/>
          <p:cNvCxnSpPr/>
          <p:nvPr/>
        </p:nvCxnSpPr>
        <p:spPr>
          <a:xfrm>
            <a:off x="3443675" y="3673925"/>
            <a:ext cx="408300" cy="248400"/>
          </a:xfrm>
          <a:prstGeom prst="straightConnector1">
            <a:avLst/>
          </a:prstGeom>
          <a:noFill/>
          <a:ln cap="flat" cmpd="sng" w="9525">
            <a:solidFill>
              <a:srgbClr val="FF9900"/>
            </a:solidFill>
            <a:prstDash val="solid"/>
            <a:round/>
            <a:headEnd len="med" w="med" type="none"/>
            <a:tailEnd len="med" w="med" type="triangle"/>
          </a:ln>
        </p:spPr>
      </p:cxnSp>
      <p:cxnSp>
        <p:nvCxnSpPr>
          <p:cNvPr id="254" name="Google Shape;254;p26"/>
          <p:cNvCxnSpPr/>
          <p:nvPr/>
        </p:nvCxnSpPr>
        <p:spPr>
          <a:xfrm>
            <a:off x="3443675" y="3673925"/>
            <a:ext cx="414000" cy="526500"/>
          </a:xfrm>
          <a:prstGeom prst="straightConnector1">
            <a:avLst/>
          </a:prstGeom>
          <a:noFill/>
          <a:ln cap="flat" cmpd="sng" w="9525">
            <a:solidFill>
              <a:srgbClr val="00FFFF"/>
            </a:solidFill>
            <a:prstDash val="solid"/>
            <a:round/>
            <a:headEnd len="med" w="med" type="none"/>
            <a:tailEnd len="med" w="med" type="triangle"/>
          </a:ln>
        </p:spPr>
      </p:cxnSp>
      <p:cxnSp>
        <p:nvCxnSpPr>
          <p:cNvPr id="255" name="Google Shape;255;p26"/>
          <p:cNvCxnSpPr/>
          <p:nvPr/>
        </p:nvCxnSpPr>
        <p:spPr>
          <a:xfrm>
            <a:off x="3440825" y="3673925"/>
            <a:ext cx="423000" cy="786900"/>
          </a:xfrm>
          <a:prstGeom prst="straightConnector1">
            <a:avLst/>
          </a:prstGeom>
          <a:noFill/>
          <a:ln cap="flat" cmpd="sng" w="9525">
            <a:solidFill>
              <a:srgbClr val="0000FF"/>
            </a:solidFill>
            <a:prstDash val="solid"/>
            <a:round/>
            <a:headEnd len="med" w="med" type="none"/>
            <a:tailEnd len="med" w="med" type="triangle"/>
          </a:ln>
        </p:spPr>
      </p:cxnSp>
      <p:cxnSp>
        <p:nvCxnSpPr>
          <p:cNvPr id="256" name="Google Shape;256;p26"/>
          <p:cNvCxnSpPr/>
          <p:nvPr/>
        </p:nvCxnSpPr>
        <p:spPr>
          <a:xfrm>
            <a:off x="3436325" y="3648950"/>
            <a:ext cx="421500" cy="1048500"/>
          </a:xfrm>
          <a:prstGeom prst="straightConnector1">
            <a:avLst/>
          </a:prstGeom>
          <a:noFill/>
          <a:ln cap="flat" cmpd="sng" w="9525">
            <a:solidFill>
              <a:srgbClr val="FF00FF"/>
            </a:solidFill>
            <a:prstDash val="solid"/>
            <a:round/>
            <a:headEnd len="med" w="med" type="none"/>
            <a:tailEnd len="med" w="med" type="triangle"/>
          </a:ln>
        </p:spPr>
      </p:cxnSp>
      <p:grpSp>
        <p:nvGrpSpPr>
          <p:cNvPr id="257" name="Google Shape;257;p26"/>
          <p:cNvGrpSpPr/>
          <p:nvPr/>
        </p:nvGrpSpPr>
        <p:grpSpPr>
          <a:xfrm>
            <a:off x="3384875" y="3437675"/>
            <a:ext cx="3114000" cy="235200"/>
            <a:chOff x="2165675" y="3437675"/>
            <a:chExt cx="3114000" cy="235200"/>
          </a:xfrm>
        </p:grpSpPr>
        <p:sp>
          <p:nvSpPr>
            <p:cNvPr id="258" name="Google Shape;258;p26"/>
            <p:cNvSpPr txBox="1"/>
            <p:nvPr/>
          </p:nvSpPr>
          <p:spPr>
            <a:xfrm>
              <a:off x="2165675" y="3437675"/>
              <a:ext cx="650100" cy="2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Roboto"/>
                  <a:ea typeface="Roboto"/>
                  <a:cs typeface="Roboto"/>
                  <a:sym typeface="Roboto"/>
                </a:rPr>
                <a:t>Request</a:t>
              </a:r>
              <a:endParaRPr sz="700">
                <a:solidFill>
                  <a:schemeClr val="dk1"/>
                </a:solidFill>
                <a:latin typeface="Roboto"/>
                <a:ea typeface="Roboto"/>
                <a:cs typeface="Roboto"/>
                <a:sym typeface="Roboto"/>
              </a:endParaRPr>
            </a:p>
          </p:txBody>
        </p:sp>
        <p:sp>
          <p:nvSpPr>
            <p:cNvPr id="259" name="Google Shape;259;p26"/>
            <p:cNvSpPr txBox="1"/>
            <p:nvPr/>
          </p:nvSpPr>
          <p:spPr>
            <a:xfrm>
              <a:off x="2696075" y="3437675"/>
              <a:ext cx="650100" cy="2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Roboto"/>
                  <a:ea typeface="Roboto"/>
                  <a:cs typeface="Roboto"/>
                  <a:sym typeface="Roboto"/>
                </a:rPr>
                <a:t>Pre-prepare</a:t>
              </a:r>
              <a:endParaRPr sz="700">
                <a:solidFill>
                  <a:schemeClr val="dk1"/>
                </a:solidFill>
                <a:latin typeface="Roboto"/>
                <a:ea typeface="Roboto"/>
                <a:cs typeface="Roboto"/>
                <a:sym typeface="Roboto"/>
              </a:endParaRPr>
            </a:p>
          </p:txBody>
        </p:sp>
        <p:sp>
          <p:nvSpPr>
            <p:cNvPr id="260" name="Google Shape;260;p26"/>
            <p:cNvSpPr txBox="1"/>
            <p:nvPr/>
          </p:nvSpPr>
          <p:spPr>
            <a:xfrm>
              <a:off x="3397625" y="3437675"/>
              <a:ext cx="650100" cy="2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Roboto"/>
                  <a:ea typeface="Roboto"/>
                  <a:cs typeface="Roboto"/>
                  <a:sym typeface="Roboto"/>
                </a:rPr>
                <a:t>Prepare</a:t>
              </a:r>
              <a:endParaRPr sz="700">
                <a:solidFill>
                  <a:schemeClr val="dk1"/>
                </a:solidFill>
                <a:latin typeface="Roboto"/>
                <a:ea typeface="Roboto"/>
                <a:cs typeface="Roboto"/>
                <a:sym typeface="Roboto"/>
              </a:endParaRPr>
            </a:p>
          </p:txBody>
        </p:sp>
        <p:sp>
          <p:nvSpPr>
            <p:cNvPr id="261" name="Google Shape;261;p26"/>
            <p:cNvSpPr txBox="1"/>
            <p:nvPr/>
          </p:nvSpPr>
          <p:spPr>
            <a:xfrm>
              <a:off x="3986175" y="3437675"/>
              <a:ext cx="650100" cy="2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Roboto"/>
                  <a:ea typeface="Roboto"/>
                  <a:cs typeface="Roboto"/>
                  <a:sym typeface="Roboto"/>
                </a:rPr>
                <a:t>Commit</a:t>
              </a:r>
              <a:endParaRPr sz="700">
                <a:solidFill>
                  <a:schemeClr val="dk1"/>
                </a:solidFill>
                <a:latin typeface="Roboto"/>
                <a:ea typeface="Roboto"/>
                <a:cs typeface="Roboto"/>
                <a:sym typeface="Roboto"/>
              </a:endParaRPr>
            </a:p>
          </p:txBody>
        </p:sp>
        <p:sp>
          <p:nvSpPr>
            <p:cNvPr id="262" name="Google Shape;262;p26"/>
            <p:cNvSpPr txBox="1"/>
            <p:nvPr/>
          </p:nvSpPr>
          <p:spPr>
            <a:xfrm>
              <a:off x="4629575" y="3437675"/>
              <a:ext cx="650100" cy="2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Roboto"/>
                  <a:ea typeface="Roboto"/>
                  <a:cs typeface="Roboto"/>
                  <a:sym typeface="Roboto"/>
                </a:rPr>
                <a:t>Reply</a:t>
              </a:r>
              <a:endParaRPr sz="700">
                <a:solidFill>
                  <a:schemeClr val="dk1"/>
                </a:solidFill>
                <a:latin typeface="Roboto"/>
                <a:ea typeface="Roboto"/>
                <a:cs typeface="Roboto"/>
                <a:sym typeface="Roboto"/>
              </a:endParaRPr>
            </a:p>
          </p:txBody>
        </p:sp>
      </p:grpSp>
      <p:grpSp>
        <p:nvGrpSpPr>
          <p:cNvPr id="263" name="Google Shape;263;p26"/>
          <p:cNvGrpSpPr/>
          <p:nvPr/>
        </p:nvGrpSpPr>
        <p:grpSpPr>
          <a:xfrm>
            <a:off x="3868325" y="3935025"/>
            <a:ext cx="665400" cy="750300"/>
            <a:chOff x="2221625" y="3673925"/>
            <a:chExt cx="665400" cy="750300"/>
          </a:xfrm>
        </p:grpSpPr>
        <p:cxnSp>
          <p:nvCxnSpPr>
            <p:cNvPr id="264" name="Google Shape;264;p26"/>
            <p:cNvCxnSpPr/>
            <p:nvPr/>
          </p:nvCxnSpPr>
          <p:spPr>
            <a:xfrm>
              <a:off x="2224475" y="3673925"/>
              <a:ext cx="656100" cy="254700"/>
            </a:xfrm>
            <a:prstGeom prst="straightConnector1">
              <a:avLst/>
            </a:prstGeom>
            <a:noFill/>
            <a:ln cap="flat" cmpd="sng" w="9525">
              <a:solidFill>
                <a:srgbClr val="FF9900"/>
              </a:solidFill>
              <a:prstDash val="solid"/>
              <a:round/>
              <a:headEnd len="med" w="med" type="none"/>
              <a:tailEnd len="med" w="med" type="triangle"/>
            </a:ln>
          </p:spPr>
        </p:cxnSp>
        <p:cxnSp>
          <p:nvCxnSpPr>
            <p:cNvPr id="265" name="Google Shape;265;p26"/>
            <p:cNvCxnSpPr/>
            <p:nvPr/>
          </p:nvCxnSpPr>
          <p:spPr>
            <a:xfrm>
              <a:off x="2224475" y="3673925"/>
              <a:ext cx="636600" cy="492900"/>
            </a:xfrm>
            <a:prstGeom prst="straightConnector1">
              <a:avLst/>
            </a:prstGeom>
            <a:noFill/>
            <a:ln cap="flat" cmpd="sng" w="9525">
              <a:solidFill>
                <a:srgbClr val="FF9900"/>
              </a:solidFill>
              <a:prstDash val="solid"/>
              <a:round/>
              <a:headEnd len="med" w="med" type="none"/>
              <a:tailEnd len="med" w="med" type="triangle"/>
            </a:ln>
          </p:spPr>
        </p:cxnSp>
        <p:cxnSp>
          <p:nvCxnSpPr>
            <p:cNvPr id="266" name="Google Shape;266;p26"/>
            <p:cNvCxnSpPr/>
            <p:nvPr/>
          </p:nvCxnSpPr>
          <p:spPr>
            <a:xfrm>
              <a:off x="2221625" y="3673925"/>
              <a:ext cx="665400" cy="750300"/>
            </a:xfrm>
            <a:prstGeom prst="straightConnector1">
              <a:avLst/>
            </a:prstGeom>
            <a:noFill/>
            <a:ln cap="flat" cmpd="sng" w="9525">
              <a:solidFill>
                <a:srgbClr val="FF9900"/>
              </a:solidFill>
              <a:prstDash val="solid"/>
              <a:round/>
              <a:headEnd len="med" w="med" type="none"/>
              <a:tailEnd len="med" w="med" type="triangle"/>
            </a:ln>
          </p:spPr>
        </p:cxnSp>
      </p:grpSp>
      <p:grpSp>
        <p:nvGrpSpPr>
          <p:cNvPr id="267" name="Google Shape;267;p26"/>
          <p:cNvGrpSpPr/>
          <p:nvPr/>
        </p:nvGrpSpPr>
        <p:grpSpPr>
          <a:xfrm>
            <a:off x="3870941" y="3930716"/>
            <a:ext cx="651450" cy="766800"/>
            <a:chOff x="2221625" y="3424025"/>
            <a:chExt cx="651450" cy="766800"/>
          </a:xfrm>
        </p:grpSpPr>
        <p:cxnSp>
          <p:nvCxnSpPr>
            <p:cNvPr id="268" name="Google Shape;268;p26"/>
            <p:cNvCxnSpPr/>
            <p:nvPr/>
          </p:nvCxnSpPr>
          <p:spPr>
            <a:xfrm flipH="1" rot="10800000">
              <a:off x="2224475" y="3424025"/>
              <a:ext cx="648600" cy="249900"/>
            </a:xfrm>
            <a:prstGeom prst="straightConnector1">
              <a:avLst/>
            </a:prstGeom>
            <a:noFill/>
            <a:ln cap="flat" cmpd="sng" w="9525">
              <a:solidFill>
                <a:srgbClr val="00FFFF"/>
              </a:solidFill>
              <a:prstDash val="solid"/>
              <a:round/>
              <a:headEnd len="med" w="med" type="none"/>
              <a:tailEnd len="med" w="med" type="triangle"/>
            </a:ln>
          </p:spPr>
        </p:cxnSp>
        <p:cxnSp>
          <p:nvCxnSpPr>
            <p:cNvPr id="269" name="Google Shape;269;p26"/>
            <p:cNvCxnSpPr/>
            <p:nvPr/>
          </p:nvCxnSpPr>
          <p:spPr>
            <a:xfrm>
              <a:off x="2224475" y="3673925"/>
              <a:ext cx="629400" cy="273900"/>
            </a:xfrm>
            <a:prstGeom prst="straightConnector1">
              <a:avLst/>
            </a:prstGeom>
            <a:noFill/>
            <a:ln cap="flat" cmpd="sng" w="9525">
              <a:solidFill>
                <a:srgbClr val="00FFFF"/>
              </a:solidFill>
              <a:prstDash val="solid"/>
              <a:round/>
              <a:headEnd len="med" w="med" type="none"/>
              <a:tailEnd len="med" w="med" type="triangle"/>
            </a:ln>
          </p:spPr>
        </p:cxnSp>
        <p:cxnSp>
          <p:nvCxnSpPr>
            <p:cNvPr id="270" name="Google Shape;270;p26"/>
            <p:cNvCxnSpPr/>
            <p:nvPr/>
          </p:nvCxnSpPr>
          <p:spPr>
            <a:xfrm>
              <a:off x="2221625" y="3673925"/>
              <a:ext cx="636900" cy="516900"/>
            </a:xfrm>
            <a:prstGeom prst="straightConnector1">
              <a:avLst/>
            </a:prstGeom>
            <a:noFill/>
            <a:ln cap="flat" cmpd="sng" w="9525">
              <a:solidFill>
                <a:srgbClr val="00FFFF"/>
              </a:solidFill>
              <a:prstDash val="solid"/>
              <a:round/>
              <a:headEnd len="med" w="med" type="none"/>
              <a:tailEnd len="med" w="med" type="triangle"/>
            </a:ln>
          </p:spPr>
        </p:cxnSp>
      </p:grpSp>
      <p:grpSp>
        <p:nvGrpSpPr>
          <p:cNvPr id="271" name="Google Shape;271;p26"/>
          <p:cNvGrpSpPr/>
          <p:nvPr/>
        </p:nvGrpSpPr>
        <p:grpSpPr>
          <a:xfrm>
            <a:off x="3867800" y="3941173"/>
            <a:ext cx="651450" cy="771600"/>
            <a:chOff x="2221625" y="3157325"/>
            <a:chExt cx="651450" cy="771600"/>
          </a:xfrm>
        </p:grpSpPr>
        <p:cxnSp>
          <p:nvCxnSpPr>
            <p:cNvPr id="272" name="Google Shape;272;p26"/>
            <p:cNvCxnSpPr/>
            <p:nvPr/>
          </p:nvCxnSpPr>
          <p:spPr>
            <a:xfrm flipH="1" rot="10800000">
              <a:off x="2224475" y="3157325"/>
              <a:ext cx="648600" cy="516600"/>
            </a:xfrm>
            <a:prstGeom prst="straightConnector1">
              <a:avLst/>
            </a:prstGeom>
            <a:noFill/>
            <a:ln cap="flat" cmpd="sng" w="9525">
              <a:solidFill>
                <a:srgbClr val="0000FF"/>
              </a:solidFill>
              <a:prstDash val="solid"/>
              <a:round/>
              <a:headEnd len="med" w="med" type="none"/>
              <a:tailEnd len="med" w="med" type="triangle"/>
            </a:ln>
          </p:spPr>
        </p:cxnSp>
        <p:cxnSp>
          <p:nvCxnSpPr>
            <p:cNvPr id="273" name="Google Shape;273;p26"/>
            <p:cNvCxnSpPr/>
            <p:nvPr/>
          </p:nvCxnSpPr>
          <p:spPr>
            <a:xfrm flipH="1" rot="10800000">
              <a:off x="2224475" y="3428825"/>
              <a:ext cx="643800" cy="245100"/>
            </a:xfrm>
            <a:prstGeom prst="straightConnector1">
              <a:avLst/>
            </a:prstGeom>
            <a:noFill/>
            <a:ln cap="flat" cmpd="sng" w="9525">
              <a:solidFill>
                <a:srgbClr val="0000FF"/>
              </a:solidFill>
              <a:prstDash val="solid"/>
              <a:round/>
              <a:headEnd len="med" w="med" type="none"/>
              <a:tailEnd len="med" w="med" type="triangle"/>
            </a:ln>
          </p:spPr>
        </p:cxnSp>
        <p:cxnSp>
          <p:nvCxnSpPr>
            <p:cNvPr id="274" name="Google Shape;274;p26"/>
            <p:cNvCxnSpPr/>
            <p:nvPr/>
          </p:nvCxnSpPr>
          <p:spPr>
            <a:xfrm>
              <a:off x="2221625" y="3673925"/>
              <a:ext cx="651300" cy="255000"/>
            </a:xfrm>
            <a:prstGeom prst="straightConnector1">
              <a:avLst/>
            </a:prstGeom>
            <a:noFill/>
            <a:ln cap="flat" cmpd="sng" w="9525">
              <a:solidFill>
                <a:srgbClr val="0000FF"/>
              </a:solidFill>
              <a:prstDash val="solid"/>
              <a:round/>
              <a:headEnd len="med" w="med" type="none"/>
              <a:tailEnd len="med" w="med" type="triangle"/>
            </a:ln>
          </p:spPr>
        </p:cxnSp>
      </p:grpSp>
      <p:grpSp>
        <p:nvGrpSpPr>
          <p:cNvPr id="275" name="Google Shape;275;p26"/>
          <p:cNvGrpSpPr/>
          <p:nvPr/>
        </p:nvGrpSpPr>
        <p:grpSpPr>
          <a:xfrm>
            <a:off x="3855992" y="3947781"/>
            <a:ext cx="651450" cy="750000"/>
            <a:chOff x="2221625" y="2923925"/>
            <a:chExt cx="651450" cy="750000"/>
          </a:xfrm>
        </p:grpSpPr>
        <p:cxnSp>
          <p:nvCxnSpPr>
            <p:cNvPr id="276" name="Google Shape;276;p26"/>
            <p:cNvCxnSpPr/>
            <p:nvPr/>
          </p:nvCxnSpPr>
          <p:spPr>
            <a:xfrm flipH="1" rot="10800000">
              <a:off x="2224475" y="2923925"/>
              <a:ext cx="648600" cy="750000"/>
            </a:xfrm>
            <a:prstGeom prst="straightConnector1">
              <a:avLst/>
            </a:prstGeom>
            <a:noFill/>
            <a:ln cap="flat" cmpd="sng" w="9525">
              <a:solidFill>
                <a:srgbClr val="FF00FF"/>
              </a:solidFill>
              <a:prstDash val="solid"/>
              <a:round/>
              <a:headEnd len="med" w="med" type="none"/>
              <a:tailEnd len="med" w="med" type="triangle"/>
            </a:ln>
          </p:spPr>
        </p:cxnSp>
        <p:cxnSp>
          <p:nvCxnSpPr>
            <p:cNvPr id="277" name="Google Shape;277;p26"/>
            <p:cNvCxnSpPr/>
            <p:nvPr/>
          </p:nvCxnSpPr>
          <p:spPr>
            <a:xfrm flipH="1" rot="10800000">
              <a:off x="2224475" y="3195425"/>
              <a:ext cx="639000" cy="478500"/>
            </a:xfrm>
            <a:prstGeom prst="straightConnector1">
              <a:avLst/>
            </a:prstGeom>
            <a:noFill/>
            <a:ln cap="flat" cmpd="sng" w="9525">
              <a:solidFill>
                <a:srgbClr val="FF00FF"/>
              </a:solidFill>
              <a:prstDash val="solid"/>
              <a:round/>
              <a:headEnd len="med" w="med" type="none"/>
              <a:tailEnd len="med" w="med" type="triangle"/>
            </a:ln>
          </p:spPr>
        </p:cxnSp>
        <p:cxnSp>
          <p:nvCxnSpPr>
            <p:cNvPr id="278" name="Google Shape;278;p26"/>
            <p:cNvCxnSpPr/>
            <p:nvPr/>
          </p:nvCxnSpPr>
          <p:spPr>
            <a:xfrm flipH="1" rot="10800000">
              <a:off x="2221625" y="3452525"/>
              <a:ext cx="646500" cy="221400"/>
            </a:xfrm>
            <a:prstGeom prst="straightConnector1">
              <a:avLst/>
            </a:prstGeom>
            <a:noFill/>
            <a:ln cap="flat" cmpd="sng" w="9525">
              <a:solidFill>
                <a:srgbClr val="FF00FF"/>
              </a:solidFill>
              <a:prstDash val="solid"/>
              <a:round/>
              <a:headEnd len="med" w="med" type="none"/>
              <a:tailEnd len="med" w="med" type="triangle"/>
            </a:ln>
          </p:spPr>
        </p:cxnSp>
      </p:grpSp>
      <p:grpSp>
        <p:nvGrpSpPr>
          <p:cNvPr id="279" name="Google Shape;279;p26"/>
          <p:cNvGrpSpPr/>
          <p:nvPr/>
        </p:nvGrpSpPr>
        <p:grpSpPr>
          <a:xfrm>
            <a:off x="4529363" y="3927788"/>
            <a:ext cx="665400" cy="750300"/>
            <a:chOff x="2221625" y="3673925"/>
            <a:chExt cx="665400" cy="750300"/>
          </a:xfrm>
        </p:grpSpPr>
        <p:cxnSp>
          <p:nvCxnSpPr>
            <p:cNvPr id="280" name="Google Shape;280;p26"/>
            <p:cNvCxnSpPr/>
            <p:nvPr/>
          </p:nvCxnSpPr>
          <p:spPr>
            <a:xfrm>
              <a:off x="2224475" y="3673925"/>
              <a:ext cx="656100" cy="254700"/>
            </a:xfrm>
            <a:prstGeom prst="straightConnector1">
              <a:avLst/>
            </a:prstGeom>
            <a:noFill/>
            <a:ln cap="flat" cmpd="sng" w="9525">
              <a:solidFill>
                <a:srgbClr val="FF9900"/>
              </a:solidFill>
              <a:prstDash val="solid"/>
              <a:round/>
              <a:headEnd len="med" w="med" type="none"/>
              <a:tailEnd len="med" w="med" type="triangle"/>
            </a:ln>
          </p:spPr>
        </p:cxnSp>
        <p:cxnSp>
          <p:nvCxnSpPr>
            <p:cNvPr id="281" name="Google Shape;281;p26"/>
            <p:cNvCxnSpPr/>
            <p:nvPr/>
          </p:nvCxnSpPr>
          <p:spPr>
            <a:xfrm>
              <a:off x="2224475" y="3673925"/>
              <a:ext cx="636600" cy="492900"/>
            </a:xfrm>
            <a:prstGeom prst="straightConnector1">
              <a:avLst/>
            </a:prstGeom>
            <a:noFill/>
            <a:ln cap="flat" cmpd="sng" w="9525">
              <a:solidFill>
                <a:srgbClr val="FF9900"/>
              </a:solidFill>
              <a:prstDash val="solid"/>
              <a:round/>
              <a:headEnd len="med" w="med" type="none"/>
              <a:tailEnd len="med" w="med" type="triangle"/>
            </a:ln>
          </p:spPr>
        </p:cxnSp>
        <p:cxnSp>
          <p:nvCxnSpPr>
            <p:cNvPr id="282" name="Google Shape;282;p26"/>
            <p:cNvCxnSpPr/>
            <p:nvPr/>
          </p:nvCxnSpPr>
          <p:spPr>
            <a:xfrm>
              <a:off x="2221625" y="3673925"/>
              <a:ext cx="665400" cy="750300"/>
            </a:xfrm>
            <a:prstGeom prst="straightConnector1">
              <a:avLst/>
            </a:prstGeom>
            <a:noFill/>
            <a:ln cap="flat" cmpd="sng" w="9525">
              <a:solidFill>
                <a:srgbClr val="FF9900"/>
              </a:solidFill>
              <a:prstDash val="solid"/>
              <a:round/>
              <a:headEnd len="med" w="med" type="none"/>
              <a:tailEnd len="med" w="med" type="triangle"/>
            </a:ln>
          </p:spPr>
        </p:cxnSp>
      </p:grpSp>
      <p:grpSp>
        <p:nvGrpSpPr>
          <p:cNvPr id="283" name="Google Shape;283;p26"/>
          <p:cNvGrpSpPr/>
          <p:nvPr/>
        </p:nvGrpSpPr>
        <p:grpSpPr>
          <a:xfrm>
            <a:off x="4538213" y="3919538"/>
            <a:ext cx="651450" cy="766800"/>
            <a:chOff x="2221625" y="3424025"/>
            <a:chExt cx="651450" cy="766800"/>
          </a:xfrm>
        </p:grpSpPr>
        <p:cxnSp>
          <p:nvCxnSpPr>
            <p:cNvPr id="284" name="Google Shape;284;p26"/>
            <p:cNvCxnSpPr/>
            <p:nvPr/>
          </p:nvCxnSpPr>
          <p:spPr>
            <a:xfrm flipH="1" rot="10800000">
              <a:off x="2224475" y="3424025"/>
              <a:ext cx="648600" cy="249900"/>
            </a:xfrm>
            <a:prstGeom prst="straightConnector1">
              <a:avLst/>
            </a:prstGeom>
            <a:noFill/>
            <a:ln cap="flat" cmpd="sng" w="9525">
              <a:solidFill>
                <a:srgbClr val="00FFFF"/>
              </a:solidFill>
              <a:prstDash val="solid"/>
              <a:round/>
              <a:headEnd len="med" w="med" type="none"/>
              <a:tailEnd len="med" w="med" type="triangle"/>
            </a:ln>
          </p:spPr>
        </p:cxnSp>
        <p:cxnSp>
          <p:nvCxnSpPr>
            <p:cNvPr id="285" name="Google Shape;285;p26"/>
            <p:cNvCxnSpPr/>
            <p:nvPr/>
          </p:nvCxnSpPr>
          <p:spPr>
            <a:xfrm>
              <a:off x="2224475" y="3673925"/>
              <a:ext cx="629400" cy="273900"/>
            </a:xfrm>
            <a:prstGeom prst="straightConnector1">
              <a:avLst/>
            </a:prstGeom>
            <a:noFill/>
            <a:ln cap="flat" cmpd="sng" w="9525">
              <a:solidFill>
                <a:srgbClr val="00FFFF"/>
              </a:solidFill>
              <a:prstDash val="solid"/>
              <a:round/>
              <a:headEnd len="med" w="med" type="none"/>
              <a:tailEnd len="med" w="med" type="triangle"/>
            </a:ln>
          </p:spPr>
        </p:cxnSp>
        <p:cxnSp>
          <p:nvCxnSpPr>
            <p:cNvPr id="286" name="Google Shape;286;p26"/>
            <p:cNvCxnSpPr/>
            <p:nvPr/>
          </p:nvCxnSpPr>
          <p:spPr>
            <a:xfrm>
              <a:off x="2221625" y="3673925"/>
              <a:ext cx="636900" cy="516900"/>
            </a:xfrm>
            <a:prstGeom prst="straightConnector1">
              <a:avLst/>
            </a:prstGeom>
            <a:noFill/>
            <a:ln cap="flat" cmpd="sng" w="9525">
              <a:solidFill>
                <a:srgbClr val="00FFFF"/>
              </a:solidFill>
              <a:prstDash val="solid"/>
              <a:round/>
              <a:headEnd len="med" w="med" type="none"/>
              <a:tailEnd len="med" w="med" type="triangle"/>
            </a:ln>
          </p:spPr>
        </p:cxnSp>
      </p:grpSp>
      <p:grpSp>
        <p:nvGrpSpPr>
          <p:cNvPr id="287" name="Google Shape;287;p26"/>
          <p:cNvGrpSpPr/>
          <p:nvPr/>
        </p:nvGrpSpPr>
        <p:grpSpPr>
          <a:xfrm>
            <a:off x="4538213" y="3924313"/>
            <a:ext cx="651450" cy="771600"/>
            <a:chOff x="2221625" y="3157325"/>
            <a:chExt cx="651450" cy="771600"/>
          </a:xfrm>
        </p:grpSpPr>
        <p:cxnSp>
          <p:nvCxnSpPr>
            <p:cNvPr id="288" name="Google Shape;288;p26"/>
            <p:cNvCxnSpPr/>
            <p:nvPr/>
          </p:nvCxnSpPr>
          <p:spPr>
            <a:xfrm flipH="1" rot="10800000">
              <a:off x="2224475" y="3157325"/>
              <a:ext cx="648600" cy="516600"/>
            </a:xfrm>
            <a:prstGeom prst="straightConnector1">
              <a:avLst/>
            </a:prstGeom>
            <a:noFill/>
            <a:ln cap="flat" cmpd="sng" w="9525">
              <a:solidFill>
                <a:srgbClr val="0000FF"/>
              </a:solidFill>
              <a:prstDash val="solid"/>
              <a:round/>
              <a:headEnd len="med" w="med" type="none"/>
              <a:tailEnd len="med" w="med" type="triangle"/>
            </a:ln>
          </p:spPr>
        </p:cxnSp>
        <p:cxnSp>
          <p:nvCxnSpPr>
            <p:cNvPr id="289" name="Google Shape;289;p26"/>
            <p:cNvCxnSpPr/>
            <p:nvPr/>
          </p:nvCxnSpPr>
          <p:spPr>
            <a:xfrm flipH="1" rot="10800000">
              <a:off x="2224475" y="3428825"/>
              <a:ext cx="643800" cy="245100"/>
            </a:xfrm>
            <a:prstGeom prst="straightConnector1">
              <a:avLst/>
            </a:prstGeom>
            <a:noFill/>
            <a:ln cap="flat" cmpd="sng" w="9525">
              <a:solidFill>
                <a:srgbClr val="0000FF"/>
              </a:solidFill>
              <a:prstDash val="solid"/>
              <a:round/>
              <a:headEnd len="med" w="med" type="none"/>
              <a:tailEnd len="med" w="med" type="triangle"/>
            </a:ln>
          </p:spPr>
        </p:cxnSp>
        <p:cxnSp>
          <p:nvCxnSpPr>
            <p:cNvPr id="290" name="Google Shape;290;p26"/>
            <p:cNvCxnSpPr/>
            <p:nvPr/>
          </p:nvCxnSpPr>
          <p:spPr>
            <a:xfrm>
              <a:off x="2221625" y="3673925"/>
              <a:ext cx="651300" cy="255000"/>
            </a:xfrm>
            <a:prstGeom prst="straightConnector1">
              <a:avLst/>
            </a:prstGeom>
            <a:noFill/>
            <a:ln cap="flat" cmpd="sng" w="9525">
              <a:solidFill>
                <a:srgbClr val="0000FF"/>
              </a:solidFill>
              <a:prstDash val="solid"/>
              <a:round/>
              <a:headEnd len="med" w="med" type="none"/>
              <a:tailEnd len="med" w="med" type="triangle"/>
            </a:ln>
          </p:spPr>
        </p:cxnSp>
      </p:grpSp>
      <p:grpSp>
        <p:nvGrpSpPr>
          <p:cNvPr id="291" name="Google Shape;291;p26"/>
          <p:cNvGrpSpPr/>
          <p:nvPr/>
        </p:nvGrpSpPr>
        <p:grpSpPr>
          <a:xfrm>
            <a:off x="4538213" y="3938550"/>
            <a:ext cx="651450" cy="750000"/>
            <a:chOff x="2221625" y="2923925"/>
            <a:chExt cx="651450" cy="750000"/>
          </a:xfrm>
        </p:grpSpPr>
        <p:cxnSp>
          <p:nvCxnSpPr>
            <p:cNvPr id="292" name="Google Shape;292;p26"/>
            <p:cNvCxnSpPr/>
            <p:nvPr/>
          </p:nvCxnSpPr>
          <p:spPr>
            <a:xfrm flipH="1" rot="10800000">
              <a:off x="2224475" y="2923925"/>
              <a:ext cx="648600" cy="750000"/>
            </a:xfrm>
            <a:prstGeom prst="straightConnector1">
              <a:avLst/>
            </a:prstGeom>
            <a:noFill/>
            <a:ln cap="flat" cmpd="sng" w="9525">
              <a:solidFill>
                <a:srgbClr val="FF00FF"/>
              </a:solidFill>
              <a:prstDash val="solid"/>
              <a:round/>
              <a:headEnd len="med" w="med" type="none"/>
              <a:tailEnd len="med" w="med" type="triangle"/>
            </a:ln>
          </p:spPr>
        </p:cxnSp>
        <p:cxnSp>
          <p:nvCxnSpPr>
            <p:cNvPr id="293" name="Google Shape;293;p26"/>
            <p:cNvCxnSpPr/>
            <p:nvPr/>
          </p:nvCxnSpPr>
          <p:spPr>
            <a:xfrm flipH="1" rot="10800000">
              <a:off x="2224475" y="3195425"/>
              <a:ext cx="639000" cy="478500"/>
            </a:xfrm>
            <a:prstGeom prst="straightConnector1">
              <a:avLst/>
            </a:prstGeom>
            <a:noFill/>
            <a:ln cap="flat" cmpd="sng" w="9525">
              <a:solidFill>
                <a:srgbClr val="FF00FF"/>
              </a:solidFill>
              <a:prstDash val="solid"/>
              <a:round/>
              <a:headEnd len="med" w="med" type="none"/>
              <a:tailEnd len="med" w="med" type="triangle"/>
            </a:ln>
          </p:spPr>
        </p:cxnSp>
        <p:cxnSp>
          <p:nvCxnSpPr>
            <p:cNvPr id="294" name="Google Shape;294;p26"/>
            <p:cNvCxnSpPr/>
            <p:nvPr/>
          </p:nvCxnSpPr>
          <p:spPr>
            <a:xfrm flipH="1" rot="10800000">
              <a:off x="2221625" y="3452525"/>
              <a:ext cx="646500" cy="221400"/>
            </a:xfrm>
            <a:prstGeom prst="straightConnector1">
              <a:avLst/>
            </a:prstGeom>
            <a:noFill/>
            <a:ln cap="flat" cmpd="sng" w="9525">
              <a:solidFill>
                <a:srgbClr val="FF00FF"/>
              </a:solidFill>
              <a:prstDash val="solid"/>
              <a:round/>
              <a:headEnd len="med" w="med" type="none"/>
              <a:tailEnd len="med" w="med" type="triangle"/>
            </a:ln>
          </p:spPr>
        </p:cxnSp>
      </p:grpSp>
      <p:grpSp>
        <p:nvGrpSpPr>
          <p:cNvPr id="295" name="Google Shape;295;p26"/>
          <p:cNvGrpSpPr/>
          <p:nvPr/>
        </p:nvGrpSpPr>
        <p:grpSpPr>
          <a:xfrm>
            <a:off x="5208113" y="3935013"/>
            <a:ext cx="665400" cy="750300"/>
            <a:chOff x="2221625" y="3673925"/>
            <a:chExt cx="665400" cy="750300"/>
          </a:xfrm>
        </p:grpSpPr>
        <p:cxnSp>
          <p:nvCxnSpPr>
            <p:cNvPr id="296" name="Google Shape;296;p26"/>
            <p:cNvCxnSpPr/>
            <p:nvPr/>
          </p:nvCxnSpPr>
          <p:spPr>
            <a:xfrm>
              <a:off x="2224475" y="3673925"/>
              <a:ext cx="656100" cy="254700"/>
            </a:xfrm>
            <a:prstGeom prst="straightConnector1">
              <a:avLst/>
            </a:prstGeom>
            <a:noFill/>
            <a:ln cap="flat" cmpd="sng" w="9525">
              <a:solidFill>
                <a:srgbClr val="FF9900"/>
              </a:solidFill>
              <a:prstDash val="solid"/>
              <a:round/>
              <a:headEnd len="med" w="med" type="none"/>
              <a:tailEnd len="med" w="med" type="triangle"/>
            </a:ln>
          </p:spPr>
        </p:cxnSp>
        <p:cxnSp>
          <p:nvCxnSpPr>
            <p:cNvPr id="297" name="Google Shape;297;p26"/>
            <p:cNvCxnSpPr/>
            <p:nvPr/>
          </p:nvCxnSpPr>
          <p:spPr>
            <a:xfrm>
              <a:off x="2224475" y="3673925"/>
              <a:ext cx="636600" cy="492900"/>
            </a:xfrm>
            <a:prstGeom prst="straightConnector1">
              <a:avLst/>
            </a:prstGeom>
            <a:noFill/>
            <a:ln cap="flat" cmpd="sng" w="9525">
              <a:solidFill>
                <a:srgbClr val="FF9900"/>
              </a:solidFill>
              <a:prstDash val="solid"/>
              <a:round/>
              <a:headEnd len="med" w="med" type="none"/>
              <a:tailEnd len="med" w="med" type="triangle"/>
            </a:ln>
          </p:spPr>
        </p:cxnSp>
        <p:cxnSp>
          <p:nvCxnSpPr>
            <p:cNvPr id="298" name="Google Shape;298;p26"/>
            <p:cNvCxnSpPr/>
            <p:nvPr/>
          </p:nvCxnSpPr>
          <p:spPr>
            <a:xfrm>
              <a:off x="2221625" y="3673925"/>
              <a:ext cx="665400" cy="750300"/>
            </a:xfrm>
            <a:prstGeom prst="straightConnector1">
              <a:avLst/>
            </a:prstGeom>
            <a:noFill/>
            <a:ln cap="flat" cmpd="sng" w="9525">
              <a:solidFill>
                <a:srgbClr val="FF9900"/>
              </a:solidFill>
              <a:prstDash val="solid"/>
              <a:round/>
              <a:headEnd len="med" w="med" type="none"/>
              <a:tailEnd len="med" w="med" type="triangle"/>
            </a:ln>
          </p:spPr>
        </p:cxnSp>
      </p:grpSp>
      <p:grpSp>
        <p:nvGrpSpPr>
          <p:cNvPr id="299" name="Google Shape;299;p26"/>
          <p:cNvGrpSpPr/>
          <p:nvPr/>
        </p:nvGrpSpPr>
        <p:grpSpPr>
          <a:xfrm>
            <a:off x="5208113" y="3919538"/>
            <a:ext cx="651450" cy="766800"/>
            <a:chOff x="2221625" y="3424025"/>
            <a:chExt cx="651450" cy="766800"/>
          </a:xfrm>
        </p:grpSpPr>
        <p:cxnSp>
          <p:nvCxnSpPr>
            <p:cNvPr id="300" name="Google Shape;300;p26"/>
            <p:cNvCxnSpPr/>
            <p:nvPr/>
          </p:nvCxnSpPr>
          <p:spPr>
            <a:xfrm flipH="1" rot="10800000">
              <a:off x="2224475" y="3424025"/>
              <a:ext cx="648600" cy="249900"/>
            </a:xfrm>
            <a:prstGeom prst="straightConnector1">
              <a:avLst/>
            </a:prstGeom>
            <a:noFill/>
            <a:ln cap="flat" cmpd="sng" w="9525">
              <a:solidFill>
                <a:srgbClr val="00FFFF"/>
              </a:solidFill>
              <a:prstDash val="solid"/>
              <a:round/>
              <a:headEnd len="med" w="med" type="none"/>
              <a:tailEnd len="med" w="med" type="triangle"/>
            </a:ln>
          </p:spPr>
        </p:cxnSp>
        <p:cxnSp>
          <p:nvCxnSpPr>
            <p:cNvPr id="301" name="Google Shape;301;p26"/>
            <p:cNvCxnSpPr/>
            <p:nvPr/>
          </p:nvCxnSpPr>
          <p:spPr>
            <a:xfrm>
              <a:off x="2224475" y="3673925"/>
              <a:ext cx="629400" cy="273900"/>
            </a:xfrm>
            <a:prstGeom prst="straightConnector1">
              <a:avLst/>
            </a:prstGeom>
            <a:noFill/>
            <a:ln cap="flat" cmpd="sng" w="9525">
              <a:solidFill>
                <a:srgbClr val="00FFFF"/>
              </a:solidFill>
              <a:prstDash val="solid"/>
              <a:round/>
              <a:headEnd len="med" w="med" type="none"/>
              <a:tailEnd len="med" w="med" type="triangle"/>
            </a:ln>
          </p:spPr>
        </p:cxnSp>
        <p:cxnSp>
          <p:nvCxnSpPr>
            <p:cNvPr id="302" name="Google Shape;302;p26"/>
            <p:cNvCxnSpPr/>
            <p:nvPr/>
          </p:nvCxnSpPr>
          <p:spPr>
            <a:xfrm>
              <a:off x="2221625" y="3673925"/>
              <a:ext cx="636900" cy="516900"/>
            </a:xfrm>
            <a:prstGeom prst="straightConnector1">
              <a:avLst/>
            </a:prstGeom>
            <a:noFill/>
            <a:ln cap="flat" cmpd="sng" w="9525">
              <a:solidFill>
                <a:srgbClr val="00FFFF"/>
              </a:solidFill>
              <a:prstDash val="solid"/>
              <a:round/>
              <a:headEnd len="med" w="med" type="none"/>
              <a:tailEnd len="med" w="med" type="triangle"/>
            </a:ln>
          </p:spPr>
        </p:cxnSp>
      </p:grpSp>
      <p:grpSp>
        <p:nvGrpSpPr>
          <p:cNvPr id="303" name="Google Shape;303;p26"/>
          <p:cNvGrpSpPr/>
          <p:nvPr/>
        </p:nvGrpSpPr>
        <p:grpSpPr>
          <a:xfrm>
            <a:off x="5208113" y="3924313"/>
            <a:ext cx="651450" cy="771600"/>
            <a:chOff x="2221625" y="3157325"/>
            <a:chExt cx="651450" cy="771600"/>
          </a:xfrm>
        </p:grpSpPr>
        <p:cxnSp>
          <p:nvCxnSpPr>
            <p:cNvPr id="304" name="Google Shape;304;p26"/>
            <p:cNvCxnSpPr/>
            <p:nvPr/>
          </p:nvCxnSpPr>
          <p:spPr>
            <a:xfrm flipH="1" rot="10800000">
              <a:off x="2224475" y="3157325"/>
              <a:ext cx="648600" cy="516600"/>
            </a:xfrm>
            <a:prstGeom prst="straightConnector1">
              <a:avLst/>
            </a:prstGeom>
            <a:noFill/>
            <a:ln cap="flat" cmpd="sng" w="9525">
              <a:solidFill>
                <a:srgbClr val="0000FF"/>
              </a:solidFill>
              <a:prstDash val="solid"/>
              <a:round/>
              <a:headEnd len="med" w="med" type="none"/>
              <a:tailEnd len="med" w="med" type="triangle"/>
            </a:ln>
          </p:spPr>
        </p:cxnSp>
        <p:cxnSp>
          <p:nvCxnSpPr>
            <p:cNvPr id="305" name="Google Shape;305;p26"/>
            <p:cNvCxnSpPr/>
            <p:nvPr/>
          </p:nvCxnSpPr>
          <p:spPr>
            <a:xfrm flipH="1" rot="10800000">
              <a:off x="2224475" y="3428825"/>
              <a:ext cx="643800" cy="245100"/>
            </a:xfrm>
            <a:prstGeom prst="straightConnector1">
              <a:avLst/>
            </a:prstGeom>
            <a:noFill/>
            <a:ln cap="flat" cmpd="sng" w="9525">
              <a:solidFill>
                <a:srgbClr val="0000FF"/>
              </a:solidFill>
              <a:prstDash val="solid"/>
              <a:round/>
              <a:headEnd len="med" w="med" type="none"/>
              <a:tailEnd len="med" w="med" type="triangle"/>
            </a:ln>
          </p:spPr>
        </p:cxnSp>
        <p:cxnSp>
          <p:nvCxnSpPr>
            <p:cNvPr id="306" name="Google Shape;306;p26"/>
            <p:cNvCxnSpPr/>
            <p:nvPr/>
          </p:nvCxnSpPr>
          <p:spPr>
            <a:xfrm>
              <a:off x="2221625" y="3673925"/>
              <a:ext cx="651300" cy="255000"/>
            </a:xfrm>
            <a:prstGeom prst="straightConnector1">
              <a:avLst/>
            </a:prstGeom>
            <a:noFill/>
            <a:ln cap="flat" cmpd="sng" w="9525">
              <a:solidFill>
                <a:srgbClr val="0000FF"/>
              </a:solidFill>
              <a:prstDash val="solid"/>
              <a:round/>
              <a:headEnd len="med" w="med" type="none"/>
              <a:tailEnd len="med" w="med" type="triangle"/>
            </a:ln>
          </p:spPr>
        </p:cxnSp>
      </p:grpSp>
      <p:grpSp>
        <p:nvGrpSpPr>
          <p:cNvPr id="307" name="Google Shape;307;p26"/>
          <p:cNvGrpSpPr/>
          <p:nvPr/>
        </p:nvGrpSpPr>
        <p:grpSpPr>
          <a:xfrm>
            <a:off x="5208113" y="3938550"/>
            <a:ext cx="651450" cy="750000"/>
            <a:chOff x="2221625" y="2923925"/>
            <a:chExt cx="651450" cy="750000"/>
          </a:xfrm>
        </p:grpSpPr>
        <p:cxnSp>
          <p:nvCxnSpPr>
            <p:cNvPr id="308" name="Google Shape;308;p26"/>
            <p:cNvCxnSpPr/>
            <p:nvPr/>
          </p:nvCxnSpPr>
          <p:spPr>
            <a:xfrm flipH="1" rot="10800000">
              <a:off x="2224475" y="2923925"/>
              <a:ext cx="648600" cy="750000"/>
            </a:xfrm>
            <a:prstGeom prst="straightConnector1">
              <a:avLst/>
            </a:prstGeom>
            <a:noFill/>
            <a:ln cap="flat" cmpd="sng" w="9525">
              <a:solidFill>
                <a:srgbClr val="FF00FF"/>
              </a:solidFill>
              <a:prstDash val="solid"/>
              <a:round/>
              <a:headEnd len="med" w="med" type="none"/>
              <a:tailEnd len="med" w="med" type="triangle"/>
            </a:ln>
          </p:spPr>
        </p:cxnSp>
        <p:cxnSp>
          <p:nvCxnSpPr>
            <p:cNvPr id="309" name="Google Shape;309;p26"/>
            <p:cNvCxnSpPr/>
            <p:nvPr/>
          </p:nvCxnSpPr>
          <p:spPr>
            <a:xfrm flipH="1" rot="10800000">
              <a:off x="2224475" y="3195425"/>
              <a:ext cx="639000" cy="478500"/>
            </a:xfrm>
            <a:prstGeom prst="straightConnector1">
              <a:avLst/>
            </a:prstGeom>
            <a:noFill/>
            <a:ln cap="flat" cmpd="sng" w="9525">
              <a:solidFill>
                <a:srgbClr val="FF00FF"/>
              </a:solidFill>
              <a:prstDash val="solid"/>
              <a:round/>
              <a:headEnd len="med" w="med" type="none"/>
              <a:tailEnd len="med" w="med" type="triangle"/>
            </a:ln>
          </p:spPr>
        </p:cxnSp>
        <p:cxnSp>
          <p:nvCxnSpPr>
            <p:cNvPr id="310" name="Google Shape;310;p26"/>
            <p:cNvCxnSpPr/>
            <p:nvPr/>
          </p:nvCxnSpPr>
          <p:spPr>
            <a:xfrm flipH="1" rot="10800000">
              <a:off x="2221625" y="3452525"/>
              <a:ext cx="646500" cy="221400"/>
            </a:xfrm>
            <a:prstGeom prst="straightConnector1">
              <a:avLst/>
            </a:prstGeom>
            <a:noFill/>
            <a:ln cap="flat" cmpd="sng" w="9525">
              <a:solidFill>
                <a:srgbClr val="FF00FF"/>
              </a:solidFill>
              <a:prstDash val="solid"/>
              <a:round/>
              <a:headEnd len="med" w="med" type="none"/>
              <a:tailEnd len="med" w="med" type="triangle"/>
            </a:ln>
          </p:spPr>
        </p:cxnSp>
      </p:grpSp>
      <p:grpSp>
        <p:nvGrpSpPr>
          <p:cNvPr id="311" name="Google Shape;311;p26"/>
          <p:cNvGrpSpPr/>
          <p:nvPr/>
        </p:nvGrpSpPr>
        <p:grpSpPr>
          <a:xfrm>
            <a:off x="5872175" y="3657675"/>
            <a:ext cx="433350" cy="1043950"/>
            <a:chOff x="4652975" y="3657675"/>
            <a:chExt cx="433350" cy="1043950"/>
          </a:xfrm>
        </p:grpSpPr>
        <p:cxnSp>
          <p:nvCxnSpPr>
            <p:cNvPr id="312" name="Google Shape;312;p26"/>
            <p:cNvCxnSpPr/>
            <p:nvPr/>
          </p:nvCxnSpPr>
          <p:spPr>
            <a:xfrm flipH="1" rot="10800000">
              <a:off x="4652975" y="3657675"/>
              <a:ext cx="419100" cy="257100"/>
            </a:xfrm>
            <a:prstGeom prst="straightConnector1">
              <a:avLst/>
            </a:prstGeom>
            <a:noFill/>
            <a:ln cap="flat" cmpd="sng" w="9525">
              <a:solidFill>
                <a:schemeClr val="dk2"/>
              </a:solidFill>
              <a:prstDash val="solid"/>
              <a:round/>
              <a:headEnd len="med" w="med" type="none"/>
              <a:tailEnd len="med" w="med" type="triangle"/>
            </a:ln>
          </p:spPr>
        </p:cxnSp>
        <p:cxnSp>
          <p:nvCxnSpPr>
            <p:cNvPr id="313" name="Google Shape;313;p26"/>
            <p:cNvCxnSpPr/>
            <p:nvPr/>
          </p:nvCxnSpPr>
          <p:spPr>
            <a:xfrm flipH="1" rot="10800000">
              <a:off x="4658825" y="3672050"/>
              <a:ext cx="422700" cy="504600"/>
            </a:xfrm>
            <a:prstGeom prst="straightConnector1">
              <a:avLst/>
            </a:prstGeom>
            <a:noFill/>
            <a:ln cap="flat" cmpd="sng" w="9525">
              <a:solidFill>
                <a:schemeClr val="dk2"/>
              </a:solidFill>
              <a:prstDash val="solid"/>
              <a:round/>
              <a:headEnd len="med" w="med" type="none"/>
              <a:tailEnd len="med" w="med" type="triangle"/>
            </a:ln>
          </p:spPr>
        </p:cxnSp>
        <p:cxnSp>
          <p:nvCxnSpPr>
            <p:cNvPr id="314" name="Google Shape;314;p26"/>
            <p:cNvCxnSpPr/>
            <p:nvPr/>
          </p:nvCxnSpPr>
          <p:spPr>
            <a:xfrm flipH="1" rot="10800000">
              <a:off x="4658825" y="3657738"/>
              <a:ext cx="427500" cy="787800"/>
            </a:xfrm>
            <a:prstGeom prst="straightConnector1">
              <a:avLst/>
            </a:prstGeom>
            <a:noFill/>
            <a:ln cap="flat" cmpd="sng" w="9525">
              <a:solidFill>
                <a:schemeClr val="dk2"/>
              </a:solidFill>
              <a:prstDash val="solid"/>
              <a:round/>
              <a:headEnd len="med" w="med" type="none"/>
              <a:tailEnd len="med" w="med" type="triangle"/>
            </a:ln>
          </p:spPr>
        </p:cxnSp>
        <p:cxnSp>
          <p:nvCxnSpPr>
            <p:cNvPr id="315" name="Google Shape;315;p26"/>
            <p:cNvCxnSpPr/>
            <p:nvPr/>
          </p:nvCxnSpPr>
          <p:spPr>
            <a:xfrm flipH="1" rot="10800000">
              <a:off x="4658825" y="3662425"/>
              <a:ext cx="422700" cy="1039200"/>
            </a:xfrm>
            <a:prstGeom prst="straightConnector1">
              <a:avLst/>
            </a:prstGeom>
            <a:noFill/>
            <a:ln cap="flat" cmpd="sng" w="9525">
              <a:solidFill>
                <a:schemeClr val="dk2"/>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1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8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8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9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9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9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0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0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6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1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7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8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8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9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9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9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0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0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6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1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6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6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7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8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8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9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9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9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0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0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7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Step 1 - Concurrent BCA</a:t>
            </a:r>
            <a:endParaRPr/>
          </a:p>
        </p:txBody>
      </p:sp>
      <p:sp>
        <p:nvSpPr>
          <p:cNvPr id="321" name="Google Shape;321;p27"/>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a:t>
            </a:r>
            <a:r>
              <a:rPr lang="en"/>
              <a:t>ach replica participates in m (1&lt;= m &lt;= n) instances of BCA.</a:t>
            </a:r>
            <a:endParaRPr/>
          </a:p>
          <a:p>
            <a:pPr indent="-342900" lvl="0" marL="457200" rtl="0" algn="l">
              <a:spcBef>
                <a:spcPts val="1200"/>
              </a:spcBef>
              <a:spcAft>
                <a:spcPts val="0"/>
              </a:spcAft>
              <a:buSzPts val="1800"/>
              <a:buChar char="-"/>
            </a:pPr>
            <a:r>
              <a:rPr lang="en"/>
              <a:t>E</a:t>
            </a:r>
            <a:r>
              <a:rPr lang="en"/>
              <a:t>ach instance is proposing </a:t>
            </a:r>
            <a:r>
              <a:rPr lang="en"/>
              <a:t>a transaction requested by a client to all replicas.</a:t>
            </a:r>
            <a:endParaRPr/>
          </a:p>
          <a:p>
            <a:pPr indent="0" lvl="0" marL="0" rtl="0" algn="l">
              <a:spcBef>
                <a:spcPts val="1200"/>
              </a:spcBef>
              <a:spcAft>
                <a:spcPts val="1200"/>
              </a:spcAft>
              <a:buNone/>
            </a:pPr>
            <a:r>
              <a:rPr lang="en"/>
              <a:t>							Replica R</a:t>
            </a:r>
            <a:r>
              <a:rPr baseline="-25000" lang="en"/>
              <a:t>1</a:t>
            </a:r>
            <a:r>
              <a:rPr lang="en"/>
              <a:t>, m replicas (e.g., m = 4)</a:t>
            </a:r>
            <a:endParaRPr/>
          </a:p>
        </p:txBody>
      </p:sp>
      <p:grpSp>
        <p:nvGrpSpPr>
          <p:cNvPr id="322" name="Google Shape;322;p27"/>
          <p:cNvGrpSpPr/>
          <p:nvPr/>
        </p:nvGrpSpPr>
        <p:grpSpPr>
          <a:xfrm>
            <a:off x="3597582" y="3221825"/>
            <a:ext cx="1948831" cy="1862475"/>
            <a:chOff x="2229394" y="3208050"/>
            <a:chExt cx="1948831" cy="1862475"/>
          </a:xfrm>
        </p:grpSpPr>
        <p:pic>
          <p:nvPicPr>
            <p:cNvPr id="323" name="Google Shape;323;p27"/>
            <p:cNvPicPr preferRelativeResize="0"/>
            <p:nvPr/>
          </p:nvPicPr>
          <p:blipFill rotWithShape="1">
            <a:blip r:embed="rId3">
              <a:alphaModFix/>
            </a:blip>
            <a:srcRect b="0" l="0" r="64005" t="0"/>
            <a:stretch/>
          </p:blipFill>
          <p:spPr>
            <a:xfrm>
              <a:off x="2325150" y="3208050"/>
              <a:ext cx="1853076" cy="1862475"/>
            </a:xfrm>
            <a:prstGeom prst="rect">
              <a:avLst/>
            </a:prstGeom>
            <a:noFill/>
            <a:ln>
              <a:noFill/>
            </a:ln>
          </p:spPr>
        </p:pic>
        <p:sp>
          <p:nvSpPr>
            <p:cNvPr id="324" name="Google Shape;324;p27"/>
            <p:cNvSpPr/>
            <p:nvPr/>
          </p:nvSpPr>
          <p:spPr>
            <a:xfrm>
              <a:off x="2670950" y="3534050"/>
              <a:ext cx="1388700" cy="14244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25" name="Google Shape;325;p27"/>
            <p:cNvSpPr txBox="1"/>
            <p:nvPr/>
          </p:nvSpPr>
          <p:spPr>
            <a:xfrm>
              <a:off x="2229394" y="3534038"/>
              <a:ext cx="925800" cy="1210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600">
                  <a:solidFill>
                    <a:schemeClr val="dk2"/>
                  </a:solidFill>
                  <a:latin typeface="Roboto"/>
                  <a:ea typeface="Roboto"/>
                  <a:cs typeface="Roboto"/>
                  <a:sym typeface="Roboto"/>
                </a:rPr>
                <a:t>R1</a:t>
              </a:r>
              <a:endParaRPr b="1" sz="1600">
                <a:solidFill>
                  <a:schemeClr val="dk2"/>
                </a:solidFill>
                <a:latin typeface="Roboto"/>
                <a:ea typeface="Roboto"/>
                <a:cs typeface="Roboto"/>
                <a:sym typeface="Roboto"/>
              </a:endParaRPr>
            </a:p>
            <a:p>
              <a:pPr indent="0" lvl="0" marL="0" rtl="0" algn="l">
                <a:lnSpc>
                  <a:spcPct val="150000"/>
                </a:lnSpc>
                <a:spcBef>
                  <a:spcPts val="0"/>
                </a:spcBef>
                <a:spcAft>
                  <a:spcPts val="0"/>
                </a:spcAft>
                <a:buNone/>
              </a:pPr>
              <a:r>
                <a:rPr b="1" lang="en" sz="1600">
                  <a:solidFill>
                    <a:schemeClr val="dk2"/>
                  </a:solidFill>
                  <a:latin typeface="Roboto"/>
                  <a:ea typeface="Roboto"/>
                  <a:cs typeface="Roboto"/>
                  <a:sym typeface="Roboto"/>
                </a:rPr>
                <a:t>R2</a:t>
              </a:r>
              <a:endParaRPr b="1" sz="1600">
                <a:solidFill>
                  <a:schemeClr val="dk2"/>
                </a:solidFill>
                <a:latin typeface="Roboto"/>
                <a:ea typeface="Roboto"/>
                <a:cs typeface="Roboto"/>
                <a:sym typeface="Roboto"/>
              </a:endParaRPr>
            </a:p>
            <a:p>
              <a:pPr indent="0" lvl="0" marL="0" rtl="0" algn="l">
                <a:lnSpc>
                  <a:spcPct val="150000"/>
                </a:lnSpc>
                <a:spcBef>
                  <a:spcPts val="0"/>
                </a:spcBef>
                <a:spcAft>
                  <a:spcPts val="0"/>
                </a:spcAft>
                <a:buNone/>
              </a:pPr>
              <a:r>
                <a:rPr b="1" lang="en" sz="1600">
                  <a:solidFill>
                    <a:schemeClr val="dk2"/>
                  </a:solidFill>
                  <a:latin typeface="Roboto"/>
                  <a:ea typeface="Roboto"/>
                  <a:cs typeface="Roboto"/>
                  <a:sym typeface="Roboto"/>
                </a:rPr>
                <a:t>R3</a:t>
              </a:r>
              <a:endParaRPr b="1" sz="1600">
                <a:solidFill>
                  <a:schemeClr val="dk2"/>
                </a:solidFill>
                <a:latin typeface="Roboto"/>
                <a:ea typeface="Roboto"/>
                <a:cs typeface="Roboto"/>
                <a:sym typeface="Roboto"/>
              </a:endParaRPr>
            </a:p>
            <a:p>
              <a:pPr indent="0" lvl="0" marL="0" rtl="0" algn="l">
                <a:lnSpc>
                  <a:spcPct val="150000"/>
                </a:lnSpc>
                <a:spcBef>
                  <a:spcPts val="0"/>
                </a:spcBef>
                <a:spcAft>
                  <a:spcPts val="0"/>
                </a:spcAft>
                <a:buNone/>
              </a:pPr>
              <a:r>
                <a:rPr b="1" lang="en" sz="1600">
                  <a:solidFill>
                    <a:schemeClr val="dk2"/>
                  </a:solidFill>
                  <a:latin typeface="Roboto"/>
                  <a:ea typeface="Roboto"/>
                  <a:cs typeface="Roboto"/>
                  <a:sym typeface="Roboto"/>
                </a:rPr>
                <a:t>R4</a:t>
              </a:r>
              <a:endParaRPr b="1" sz="1600">
                <a:solidFill>
                  <a:schemeClr val="dk2"/>
                </a:solidFill>
                <a:latin typeface="Roboto"/>
                <a:ea typeface="Roboto"/>
                <a:cs typeface="Roboto"/>
                <a:sym typeface="Robot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Step 2 - Ordering</a:t>
            </a:r>
            <a:endParaRPr/>
          </a:p>
        </p:txBody>
      </p:sp>
      <p:sp>
        <p:nvSpPr>
          <p:cNvPr id="331" name="Google Shape;331;p28"/>
          <p:cNvSpPr txBox="1"/>
          <p:nvPr>
            <p:ph idx="1" type="body"/>
          </p:nvPr>
        </p:nvSpPr>
        <p:spPr>
          <a:xfrm>
            <a:off x="387900" y="1489826"/>
            <a:ext cx="8368200" cy="1691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Then, each replica collects all successfully replicated client transactions and puts them in the same (deterministically determined) order. </a:t>
            </a:r>
            <a:endParaRPr/>
          </a:p>
          <a:p>
            <a:pPr indent="-342900" lvl="0" marL="457200" rtl="0" algn="l">
              <a:spcBef>
                <a:spcPts val="1200"/>
              </a:spcBef>
              <a:spcAft>
                <a:spcPts val="0"/>
              </a:spcAft>
              <a:buSzPts val="1800"/>
              <a:buChar char="-"/>
            </a:pPr>
            <a:r>
              <a:rPr lang="en"/>
              <a:t>Ordering function is consistent across replicas.</a:t>
            </a:r>
            <a:endParaRPr/>
          </a:p>
        </p:txBody>
      </p:sp>
      <p:grpSp>
        <p:nvGrpSpPr>
          <p:cNvPr id="332" name="Google Shape;332;p28"/>
          <p:cNvGrpSpPr/>
          <p:nvPr/>
        </p:nvGrpSpPr>
        <p:grpSpPr>
          <a:xfrm>
            <a:off x="2600099" y="2960725"/>
            <a:ext cx="3943801" cy="1862475"/>
            <a:chOff x="2885949" y="3101225"/>
            <a:chExt cx="3943801" cy="1862475"/>
          </a:xfrm>
        </p:grpSpPr>
        <p:pic>
          <p:nvPicPr>
            <p:cNvPr id="333" name="Google Shape;333;p28"/>
            <p:cNvPicPr preferRelativeResize="0"/>
            <p:nvPr/>
          </p:nvPicPr>
          <p:blipFill rotWithShape="1">
            <a:blip r:embed="rId3">
              <a:alphaModFix/>
            </a:blip>
            <a:srcRect b="0" l="0" r="23395" t="0"/>
            <a:stretch/>
          </p:blipFill>
          <p:spPr>
            <a:xfrm>
              <a:off x="2885949" y="3101225"/>
              <a:ext cx="3943801" cy="1862475"/>
            </a:xfrm>
            <a:prstGeom prst="rect">
              <a:avLst/>
            </a:prstGeom>
            <a:noFill/>
            <a:ln>
              <a:noFill/>
            </a:ln>
          </p:spPr>
        </p:pic>
        <p:sp>
          <p:nvSpPr>
            <p:cNvPr id="334" name="Google Shape;334;p28"/>
            <p:cNvSpPr/>
            <p:nvPr/>
          </p:nvSpPr>
          <p:spPr>
            <a:xfrm>
              <a:off x="4491650" y="3475300"/>
              <a:ext cx="2231100" cy="13797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8">
                                  <p:stCondLst>
                                    <p:cond delay="0"/>
                                  </p:stCondLst>
                                  <p:childTnLst>
                                    <p:anim calcmode="lin" valueType="num">
                                      <p:cBhvr additive="base">
                                        <p:cTn dur="1000"/>
                                        <p:tgtEl>
                                          <p:spTgt spid="332"/>
                                        </p:tgtEl>
                                        <p:attrNameLst>
                                          <p:attrName>ppt_x</p:attrName>
                                        </p:attrNameLst>
                                      </p:cBhvr>
                                      <p:tavLst>
                                        <p:tav fmla="" tm="0">
                                          <p:val>
                                            <p:strVal val="#ppt_x"/>
                                          </p:val>
                                        </p:tav>
                                        <p:tav fmla="" tm="100000">
                                          <p:val>
                                            <p:strVal val="#ppt_x-1"/>
                                          </p:val>
                                        </p:tav>
                                      </p:tavLst>
                                    </p:anim>
                                    <p:set>
                                      <p:cBhvr>
                                        <p:cTn dur="1" fill="hold">
                                          <p:stCondLst>
                                            <p:cond delay="1000"/>
                                          </p:stCondLst>
                                        </p:cTn>
                                        <p:tgtEl>
                                          <p:spTgt spid="33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9"/>
          <p:cNvSpPr txBox="1"/>
          <p:nvPr>
            <p:ph type="title"/>
          </p:nvPr>
        </p:nvSpPr>
        <p:spPr>
          <a:xfrm>
            <a:off x="387900" y="4491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Step 2 - Ordering – Deterministic Ordering??</a:t>
            </a:r>
            <a:endParaRPr/>
          </a:p>
        </p:txBody>
      </p:sp>
      <p:sp>
        <p:nvSpPr>
          <p:cNvPr id="340" name="Google Shape;340;p29"/>
          <p:cNvSpPr txBox="1"/>
          <p:nvPr/>
        </p:nvSpPr>
        <p:spPr>
          <a:xfrm>
            <a:off x="0" y="1296003"/>
            <a:ext cx="9054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Each replica has an accepted set S = {T</a:t>
            </a:r>
            <a:r>
              <a:rPr baseline="-25000" lang="en" sz="1600">
                <a:solidFill>
                  <a:schemeClr val="dk1"/>
                </a:solidFill>
              </a:rPr>
              <a:t>1</a:t>
            </a:r>
            <a:r>
              <a:rPr lang="en" sz="1600">
                <a:solidFill>
                  <a:schemeClr val="dk1"/>
                </a:solidFill>
              </a:rPr>
              <a:t>, T</a:t>
            </a:r>
            <a:r>
              <a:rPr baseline="-25000" lang="en" sz="1600">
                <a:solidFill>
                  <a:schemeClr val="dk1"/>
                </a:solidFill>
              </a:rPr>
              <a:t>2</a:t>
            </a:r>
            <a:r>
              <a:rPr lang="en" sz="1600">
                <a:solidFill>
                  <a:schemeClr val="dk1"/>
                </a:solidFill>
              </a:rPr>
              <a:t>, …,T</a:t>
            </a:r>
            <a:r>
              <a:rPr baseline="-25000" lang="en" sz="1600">
                <a:solidFill>
                  <a:schemeClr val="dk1"/>
                </a:solidFill>
              </a:rPr>
              <a:t>k</a:t>
            </a:r>
            <a:r>
              <a:rPr lang="en" sz="1600">
                <a:solidFill>
                  <a:schemeClr val="dk1"/>
                </a:solidFill>
              </a:rPr>
              <a:t>) from each of the m instances.</a:t>
            </a:r>
            <a:endParaRPr sz="1600">
              <a:solidFill>
                <a:schemeClr val="dk1"/>
              </a:solidFill>
            </a:endParaRPr>
          </a:p>
          <a:p>
            <a:pPr indent="0" lvl="0" marL="0" rtl="0" algn="l">
              <a:spcBef>
                <a:spcPts val="0"/>
              </a:spcBef>
              <a:spcAft>
                <a:spcPts val="0"/>
              </a:spcAft>
              <a:buNone/>
            </a:pPr>
            <a:r>
              <a:t/>
            </a:r>
            <a:endParaRPr sz="1600">
              <a:solidFill>
                <a:schemeClr val="dk1"/>
              </a:solidFill>
            </a:endParaRPr>
          </a:p>
        </p:txBody>
      </p:sp>
      <p:sp>
        <p:nvSpPr>
          <p:cNvPr id="341" name="Google Shape;341;p29"/>
          <p:cNvSpPr txBox="1"/>
          <p:nvPr/>
        </p:nvSpPr>
        <p:spPr>
          <a:xfrm>
            <a:off x="179825" y="1757225"/>
            <a:ext cx="3195900" cy="43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Remember assumption 2?</a:t>
            </a:r>
            <a:endParaRPr sz="1800">
              <a:solidFill>
                <a:schemeClr val="dk1"/>
              </a:solidFill>
              <a:latin typeface="Roboto"/>
              <a:ea typeface="Roboto"/>
              <a:cs typeface="Roboto"/>
              <a:sym typeface="Roboto"/>
            </a:endParaRPr>
          </a:p>
        </p:txBody>
      </p:sp>
      <p:sp>
        <p:nvSpPr>
          <p:cNvPr id="342" name="Google Shape;342;p29"/>
          <p:cNvSpPr txBox="1"/>
          <p:nvPr/>
        </p:nvSpPr>
        <p:spPr>
          <a:xfrm>
            <a:off x="179825" y="1844475"/>
            <a:ext cx="4655700" cy="50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highlight>
                  <a:srgbClr val="FF9900"/>
                </a:highlight>
              </a:rPr>
              <a:t>A</a:t>
            </a:r>
            <a:r>
              <a:rPr lang="en" sz="1300">
                <a:solidFill>
                  <a:schemeClr val="dk1"/>
                </a:solidFill>
                <a:highlight>
                  <a:srgbClr val="FF9900"/>
                </a:highlight>
              </a:rPr>
              <a:t>ll non-faulty replicas accept the same transaction set in each instance.</a:t>
            </a:r>
            <a:endParaRPr sz="2000">
              <a:solidFill>
                <a:schemeClr val="dk1"/>
              </a:solidFill>
              <a:highlight>
                <a:srgbClr val="FF9900"/>
              </a:highlight>
              <a:latin typeface="Roboto"/>
              <a:ea typeface="Roboto"/>
              <a:cs typeface="Roboto"/>
              <a:sym typeface="Roboto"/>
            </a:endParaRPr>
          </a:p>
        </p:txBody>
      </p:sp>
      <p:sp>
        <p:nvSpPr>
          <p:cNvPr id="343" name="Google Shape;343;p29"/>
          <p:cNvSpPr txBox="1"/>
          <p:nvPr/>
        </p:nvSpPr>
        <p:spPr>
          <a:xfrm>
            <a:off x="4446725" y="1633825"/>
            <a:ext cx="4428900" cy="284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Thus, all nf replicas hold the same S.</a:t>
            </a:r>
            <a:endParaRPr sz="1500">
              <a:solidFill>
                <a:schemeClr val="dk1"/>
              </a:solidFill>
              <a:latin typeface="Roboto"/>
              <a:ea typeface="Roboto"/>
              <a:cs typeface="Roboto"/>
              <a:sym typeface="Roboto"/>
            </a:endParaRPr>
          </a:p>
          <a:p>
            <a:pPr indent="-323850" lvl="0" marL="457200" rtl="0" algn="l">
              <a:lnSpc>
                <a:spcPct val="115000"/>
              </a:lnSpc>
              <a:spcBef>
                <a:spcPts val="0"/>
              </a:spcBef>
              <a:spcAft>
                <a:spcPts val="0"/>
              </a:spcAft>
              <a:buClr>
                <a:schemeClr val="dk1"/>
              </a:buClr>
              <a:buSzPts val="1500"/>
              <a:buFont typeface="Roboto"/>
              <a:buChar char="-"/>
            </a:pPr>
            <a:r>
              <a:rPr lang="en" sz="1500">
                <a:solidFill>
                  <a:schemeClr val="dk1"/>
                </a:solidFill>
                <a:latin typeface="Roboto"/>
                <a:ea typeface="Roboto"/>
                <a:cs typeface="Roboto"/>
                <a:sym typeface="Roboto"/>
              </a:rPr>
              <a:t>Bijection f</a:t>
            </a:r>
            <a:r>
              <a:rPr baseline="-25000" lang="en" sz="1500">
                <a:solidFill>
                  <a:schemeClr val="dk1"/>
                </a:solidFill>
                <a:latin typeface="Roboto"/>
                <a:ea typeface="Roboto"/>
                <a:cs typeface="Roboto"/>
                <a:sym typeface="Roboto"/>
              </a:rPr>
              <a:t>S</a:t>
            </a:r>
            <a:r>
              <a:rPr lang="en" sz="1500">
                <a:solidFill>
                  <a:schemeClr val="dk1"/>
                </a:solidFill>
                <a:latin typeface="Roboto"/>
                <a:ea typeface="Roboto"/>
                <a:cs typeface="Roboto"/>
                <a:sym typeface="Roboto"/>
              </a:rPr>
              <a:t> from {0, 1, …, k!-1) to all permutations of S.</a:t>
            </a:r>
            <a:endParaRPr sz="1500">
              <a:solidFill>
                <a:schemeClr val="dk1"/>
              </a:solidFill>
              <a:latin typeface="Roboto"/>
              <a:ea typeface="Roboto"/>
              <a:cs typeface="Roboto"/>
              <a:sym typeface="Roboto"/>
            </a:endParaRPr>
          </a:p>
          <a:p>
            <a:pPr indent="-323850" lvl="0" marL="457200" rtl="0" algn="l">
              <a:lnSpc>
                <a:spcPct val="115000"/>
              </a:lnSpc>
              <a:spcBef>
                <a:spcPts val="0"/>
              </a:spcBef>
              <a:spcAft>
                <a:spcPts val="0"/>
              </a:spcAft>
              <a:buClr>
                <a:schemeClr val="dk1"/>
              </a:buClr>
              <a:buSzPts val="1500"/>
              <a:buFont typeface="Roboto"/>
              <a:buChar char="-"/>
            </a:pPr>
            <a:r>
              <a:rPr lang="en" sz="1500">
                <a:solidFill>
                  <a:schemeClr val="dk1"/>
                </a:solidFill>
                <a:latin typeface="Roboto"/>
                <a:ea typeface="Roboto"/>
                <a:cs typeface="Roboto"/>
                <a:sym typeface="Roboto"/>
              </a:rPr>
              <a:t>RCC uses cryptographic hash of S to compute index h = digest(S) mod(k!-1).</a:t>
            </a:r>
            <a:endParaRPr sz="1500">
              <a:solidFill>
                <a:schemeClr val="dk1"/>
              </a:solidFill>
              <a:latin typeface="Roboto"/>
              <a:ea typeface="Roboto"/>
              <a:cs typeface="Roboto"/>
              <a:sym typeface="Roboto"/>
            </a:endParaRPr>
          </a:p>
          <a:p>
            <a:pPr indent="-323850" lvl="0" marL="457200" rtl="0" algn="l">
              <a:lnSpc>
                <a:spcPct val="115000"/>
              </a:lnSpc>
              <a:spcBef>
                <a:spcPts val="0"/>
              </a:spcBef>
              <a:spcAft>
                <a:spcPts val="0"/>
              </a:spcAft>
              <a:buClr>
                <a:schemeClr val="dk1"/>
              </a:buClr>
              <a:buSzPts val="1500"/>
              <a:buFont typeface="Roboto"/>
              <a:buChar char="-"/>
            </a:pPr>
            <a:r>
              <a:rPr lang="en" sz="1500">
                <a:solidFill>
                  <a:schemeClr val="dk1"/>
                </a:solidFill>
                <a:latin typeface="Roboto"/>
                <a:ea typeface="Roboto"/>
                <a:cs typeface="Roboto"/>
                <a:sym typeface="Roboto"/>
              </a:rPr>
              <a:t>Uses the permutation f</a:t>
            </a:r>
            <a:r>
              <a:rPr baseline="-25000" lang="en" sz="1500">
                <a:solidFill>
                  <a:schemeClr val="dk1"/>
                </a:solidFill>
                <a:latin typeface="Roboto"/>
                <a:ea typeface="Roboto"/>
                <a:cs typeface="Roboto"/>
                <a:sym typeface="Roboto"/>
              </a:rPr>
              <a:t>S</a:t>
            </a:r>
            <a:r>
              <a:rPr lang="en" sz="1500">
                <a:solidFill>
                  <a:schemeClr val="dk1"/>
                </a:solidFill>
                <a:latin typeface="Roboto"/>
                <a:ea typeface="Roboto"/>
                <a:cs typeface="Roboto"/>
                <a:sym typeface="Roboto"/>
              </a:rPr>
              <a:t>(h) as the execution order of the transactions in S.</a:t>
            </a:r>
            <a:endParaRPr sz="1500">
              <a:solidFill>
                <a:schemeClr val="dk1"/>
              </a:solidFill>
              <a:latin typeface="Roboto"/>
              <a:ea typeface="Roboto"/>
              <a:cs typeface="Roboto"/>
              <a:sym typeface="Roboto"/>
            </a:endParaRPr>
          </a:p>
          <a:p>
            <a:pPr indent="-323850" lvl="0" marL="457200" rtl="0" algn="l">
              <a:lnSpc>
                <a:spcPct val="115000"/>
              </a:lnSpc>
              <a:spcBef>
                <a:spcPts val="0"/>
              </a:spcBef>
              <a:spcAft>
                <a:spcPts val="0"/>
              </a:spcAft>
              <a:buClr>
                <a:schemeClr val="dk1"/>
              </a:buClr>
              <a:buSzPts val="1500"/>
              <a:buFont typeface="Roboto"/>
              <a:buChar char="-"/>
            </a:pPr>
            <a:r>
              <a:rPr lang="en" sz="1500">
                <a:solidFill>
                  <a:schemeClr val="dk1"/>
                </a:solidFill>
                <a:latin typeface="Roboto"/>
                <a:ea typeface="Roboto"/>
                <a:cs typeface="Roboto"/>
                <a:sym typeface="Roboto"/>
              </a:rPr>
              <a:t>Each nf replica computes same S and same f</a:t>
            </a:r>
            <a:r>
              <a:rPr baseline="-25000" lang="en" sz="1500">
                <a:solidFill>
                  <a:schemeClr val="dk1"/>
                </a:solidFill>
                <a:latin typeface="Roboto"/>
                <a:ea typeface="Roboto"/>
                <a:cs typeface="Roboto"/>
                <a:sym typeface="Roboto"/>
              </a:rPr>
              <a:t>S</a:t>
            </a:r>
            <a:r>
              <a:rPr lang="en" sz="1500">
                <a:solidFill>
                  <a:schemeClr val="dk1"/>
                </a:solidFill>
                <a:latin typeface="Roboto"/>
                <a:ea typeface="Roboto"/>
                <a:cs typeface="Roboto"/>
                <a:sym typeface="Roboto"/>
              </a:rPr>
              <a:t>, thus all derive same permutation order on S.</a:t>
            </a:r>
            <a:endParaRPr sz="1600">
              <a:solidFill>
                <a:schemeClr val="dk1"/>
              </a:solidFill>
              <a:latin typeface="Roboto"/>
              <a:ea typeface="Roboto"/>
              <a:cs typeface="Roboto"/>
              <a:sym typeface="Roboto"/>
            </a:endParaRPr>
          </a:p>
        </p:txBody>
      </p:sp>
      <p:sp>
        <p:nvSpPr>
          <p:cNvPr id="344" name="Google Shape;344;p29"/>
          <p:cNvSpPr txBox="1"/>
          <p:nvPr/>
        </p:nvSpPr>
        <p:spPr>
          <a:xfrm>
            <a:off x="268825" y="147800"/>
            <a:ext cx="9882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k</a:t>
            </a:r>
            <a:r>
              <a:rPr lang="en" sz="1800">
                <a:solidFill>
                  <a:schemeClr val="dk1"/>
                </a:solidFill>
                <a:latin typeface="Roboto"/>
                <a:ea typeface="Roboto"/>
                <a:cs typeface="Roboto"/>
                <a:sym typeface="Roboto"/>
              </a:rPr>
              <a:t> = |S|</a:t>
            </a:r>
            <a:endParaRPr sz="1800">
              <a:solidFill>
                <a:schemeClr val="dk1"/>
              </a:solidFill>
              <a:latin typeface="Roboto"/>
              <a:ea typeface="Roboto"/>
              <a:cs typeface="Roboto"/>
              <a:sym typeface="Roboto"/>
            </a:endParaRPr>
          </a:p>
        </p:txBody>
      </p:sp>
      <p:sp>
        <p:nvSpPr>
          <p:cNvPr id="345" name="Google Shape;345;p29"/>
          <p:cNvSpPr/>
          <p:nvPr/>
        </p:nvSpPr>
        <p:spPr>
          <a:xfrm>
            <a:off x="268825" y="2620650"/>
            <a:ext cx="1244400" cy="58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Concurrent BCA</a:t>
            </a:r>
            <a:endParaRPr>
              <a:latin typeface="Roboto"/>
              <a:ea typeface="Roboto"/>
              <a:cs typeface="Roboto"/>
              <a:sym typeface="Roboto"/>
            </a:endParaRPr>
          </a:p>
        </p:txBody>
      </p:sp>
      <p:cxnSp>
        <p:nvCxnSpPr>
          <p:cNvPr id="346" name="Google Shape;346;p29"/>
          <p:cNvCxnSpPr>
            <a:stCxn id="345" idx="3"/>
          </p:cNvCxnSpPr>
          <p:nvPr/>
        </p:nvCxnSpPr>
        <p:spPr>
          <a:xfrm>
            <a:off x="1513225" y="2912400"/>
            <a:ext cx="591900" cy="0"/>
          </a:xfrm>
          <a:prstGeom prst="straightConnector1">
            <a:avLst/>
          </a:prstGeom>
          <a:noFill/>
          <a:ln cap="flat" cmpd="sng" w="38100">
            <a:solidFill>
              <a:srgbClr val="FF0000"/>
            </a:solidFill>
            <a:prstDash val="solid"/>
            <a:round/>
            <a:headEnd len="med" w="med" type="none"/>
            <a:tailEnd len="med" w="med" type="triangle"/>
          </a:ln>
        </p:spPr>
      </p:cxnSp>
      <p:sp>
        <p:nvSpPr>
          <p:cNvPr id="347" name="Google Shape;347;p29"/>
          <p:cNvSpPr/>
          <p:nvPr/>
        </p:nvSpPr>
        <p:spPr>
          <a:xfrm>
            <a:off x="2105125" y="2620650"/>
            <a:ext cx="1321500" cy="58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Deterministic Ordering</a:t>
            </a:r>
            <a:endParaRPr>
              <a:latin typeface="Roboto"/>
              <a:ea typeface="Roboto"/>
              <a:cs typeface="Roboto"/>
              <a:sym typeface="Roboto"/>
            </a:endParaRPr>
          </a:p>
        </p:txBody>
      </p:sp>
      <p:cxnSp>
        <p:nvCxnSpPr>
          <p:cNvPr id="348" name="Google Shape;348;p29"/>
          <p:cNvCxnSpPr>
            <a:stCxn id="347" idx="2"/>
          </p:cNvCxnSpPr>
          <p:nvPr/>
        </p:nvCxnSpPr>
        <p:spPr>
          <a:xfrm>
            <a:off x="2765875" y="3204150"/>
            <a:ext cx="0" cy="540600"/>
          </a:xfrm>
          <a:prstGeom prst="straightConnector1">
            <a:avLst/>
          </a:prstGeom>
          <a:noFill/>
          <a:ln cap="flat" cmpd="sng" w="28575">
            <a:solidFill>
              <a:srgbClr val="FF0000"/>
            </a:solidFill>
            <a:prstDash val="solid"/>
            <a:round/>
            <a:headEnd len="med" w="med" type="none"/>
            <a:tailEnd len="med" w="med" type="triangle"/>
          </a:ln>
        </p:spPr>
      </p:cxnSp>
      <p:sp>
        <p:nvSpPr>
          <p:cNvPr id="349" name="Google Shape;349;p29"/>
          <p:cNvSpPr/>
          <p:nvPr/>
        </p:nvSpPr>
        <p:spPr>
          <a:xfrm>
            <a:off x="2105125" y="3699825"/>
            <a:ext cx="1321500" cy="58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Sort by hash(T)</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600"/>
                                        <p:tgtEl>
                                          <p:spTgt spid="341"/>
                                        </p:tgtEl>
                                        <p:attrNameLst>
                                          <p:attrName>ppt_w</p:attrName>
                                        </p:attrNameLst>
                                      </p:cBhvr>
                                      <p:tavLst>
                                        <p:tav fmla="" tm="0">
                                          <p:val>
                                            <p:strVal val="#ppt_w"/>
                                          </p:val>
                                        </p:tav>
                                        <p:tav fmla="" tm="100000">
                                          <p:val>
                                            <p:strVal val="0"/>
                                          </p:val>
                                        </p:tav>
                                      </p:tavLst>
                                    </p:anim>
                                    <p:anim calcmode="lin" valueType="num">
                                      <p:cBhvr additive="base">
                                        <p:cTn dur="600"/>
                                        <p:tgtEl>
                                          <p:spTgt spid="341"/>
                                        </p:tgtEl>
                                        <p:attrNameLst>
                                          <p:attrName>ppt_h</p:attrName>
                                        </p:attrNameLst>
                                      </p:cBhvr>
                                      <p:tavLst>
                                        <p:tav fmla="" tm="0">
                                          <p:val>
                                            <p:strVal val="#ppt_h"/>
                                          </p:val>
                                        </p:tav>
                                        <p:tav fmla="" tm="100000">
                                          <p:val>
                                            <p:strVal val="0"/>
                                          </p:val>
                                        </p:tav>
                                      </p:tavLst>
                                    </p:anim>
                                    <p:set>
                                      <p:cBhvr>
                                        <p:cTn dur="1" fill="hold">
                                          <p:stCondLst>
                                            <p:cond delay="600"/>
                                          </p:stCondLst>
                                        </p:cTn>
                                        <p:tgtEl>
                                          <p:spTgt spid="341"/>
                                        </p:tgtEl>
                                        <p:attrNameLst>
                                          <p:attrName>style.visibility</p:attrName>
                                        </p:attrNameLst>
                                      </p:cBhvr>
                                      <p:to>
                                        <p:strVal val="hidden"/>
                                      </p:to>
                                    </p:set>
                                  </p:childTnLst>
                                </p:cTn>
                              </p:par>
                            </p:childTnLst>
                          </p:cTn>
                        </p:par>
                        <p:par>
                          <p:cTn fill="hold">
                            <p:stCondLst>
                              <p:cond delay="600"/>
                            </p:stCondLst>
                            <p:childTnLst>
                              <p:par>
                                <p:cTn fill="hold" nodeType="after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Step 3 - Execution</a:t>
            </a:r>
            <a:endParaRPr/>
          </a:p>
        </p:txBody>
      </p:sp>
      <p:sp>
        <p:nvSpPr>
          <p:cNvPr id="355" name="Google Shape;355;p30"/>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Finally, each replica executes the transactions of round ρ in order and informs the clients of the outcome of their requested transactions.</a:t>
            </a:r>
            <a:endParaRPr/>
          </a:p>
        </p:txBody>
      </p:sp>
      <p:grpSp>
        <p:nvGrpSpPr>
          <p:cNvPr id="356" name="Google Shape;356;p30"/>
          <p:cNvGrpSpPr/>
          <p:nvPr/>
        </p:nvGrpSpPr>
        <p:grpSpPr>
          <a:xfrm>
            <a:off x="1469347" y="2374180"/>
            <a:ext cx="6205317" cy="2384613"/>
            <a:chOff x="2872938" y="3116825"/>
            <a:chExt cx="3398125" cy="1305850"/>
          </a:xfrm>
        </p:grpSpPr>
        <p:pic>
          <p:nvPicPr>
            <p:cNvPr id="357" name="Google Shape;357;p30"/>
            <p:cNvPicPr preferRelativeResize="0"/>
            <p:nvPr/>
          </p:nvPicPr>
          <p:blipFill rotWithShape="1">
            <a:blip r:embed="rId3">
              <a:alphaModFix/>
            </a:blip>
            <a:srcRect b="36106" l="9072" r="8378" t="0"/>
            <a:stretch/>
          </p:blipFill>
          <p:spPr>
            <a:xfrm>
              <a:off x="2872938" y="3116825"/>
              <a:ext cx="3398125" cy="1305850"/>
            </a:xfrm>
            <a:prstGeom prst="rect">
              <a:avLst/>
            </a:prstGeom>
            <a:noFill/>
            <a:ln>
              <a:noFill/>
            </a:ln>
          </p:spPr>
        </p:pic>
        <p:sp>
          <p:nvSpPr>
            <p:cNvPr id="358" name="Google Shape;358;p30"/>
            <p:cNvSpPr/>
            <p:nvPr/>
          </p:nvSpPr>
          <p:spPr>
            <a:xfrm>
              <a:off x="5406075" y="3375800"/>
              <a:ext cx="729300" cy="986700"/>
            </a:xfrm>
            <a:prstGeom prst="rect">
              <a:avLst/>
            </a:prstGeom>
            <a:noFill/>
            <a:ln cap="flat" cmpd="sng" w="69575">
              <a:solidFill>
                <a:srgbClr val="FF0000"/>
              </a:solidFill>
              <a:prstDash val="solid"/>
              <a:round/>
              <a:headEnd len="sm" w="sm" type="none"/>
              <a:tailEnd len="sm" w="sm" type="none"/>
            </a:ln>
          </p:spPr>
          <p:txBody>
            <a:bodyPr anchorCtr="0" anchor="ctr" bIns="166950" lIns="166950" spcFirstLastPara="1" rIns="166950" wrap="square" tIns="166950">
              <a:noAutofit/>
            </a:bodyPr>
            <a:lstStyle/>
            <a:p>
              <a:pPr indent="0" lvl="0" marL="0" rtl="0" algn="ctr">
                <a:spcBef>
                  <a:spcPts val="0"/>
                </a:spcBef>
                <a:spcAft>
                  <a:spcPts val="0"/>
                </a:spcAft>
                <a:buNone/>
              </a:pPr>
              <a:r>
                <a:t/>
              </a:r>
              <a:endParaRPr sz="2556">
                <a:latin typeface="Roboto"/>
                <a:ea typeface="Roboto"/>
                <a:cs typeface="Roboto"/>
                <a:sym typeface="Robot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1"/>
          <p:cNvSpPr txBox="1"/>
          <p:nvPr>
            <p:ph type="title"/>
          </p:nvPr>
        </p:nvSpPr>
        <p:spPr>
          <a:xfrm>
            <a:off x="387900" y="451422"/>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Handling Detectable Failures</a:t>
            </a:r>
            <a:endParaRPr/>
          </a:p>
        </p:txBody>
      </p:sp>
      <p:sp>
        <p:nvSpPr>
          <p:cNvPr id="364" name="Google Shape;364;p31"/>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365" name="Google Shape;365;p31"/>
          <p:cNvSpPr txBox="1"/>
          <p:nvPr/>
        </p:nvSpPr>
        <p:spPr>
          <a:xfrm>
            <a:off x="508000" y="1489825"/>
            <a:ext cx="3291300" cy="40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800">
                <a:solidFill>
                  <a:schemeClr val="dk1"/>
                </a:solidFill>
                <a:latin typeface="Roboto"/>
                <a:ea typeface="Roboto"/>
                <a:cs typeface="Roboto"/>
                <a:sym typeface="Roboto"/>
              </a:rPr>
              <a:t>What’s a “Detectable” Failure?</a:t>
            </a:r>
            <a:endParaRPr sz="1800">
              <a:solidFill>
                <a:schemeClr val="dk1"/>
              </a:solidFill>
              <a:latin typeface="Roboto"/>
              <a:ea typeface="Roboto"/>
              <a:cs typeface="Roboto"/>
              <a:sym typeface="Roboto"/>
            </a:endParaRPr>
          </a:p>
        </p:txBody>
      </p:sp>
      <p:sp>
        <p:nvSpPr>
          <p:cNvPr id="366" name="Google Shape;366;p31"/>
          <p:cNvSpPr txBox="1"/>
          <p:nvPr/>
        </p:nvSpPr>
        <p:spPr>
          <a:xfrm>
            <a:off x="508000" y="1897525"/>
            <a:ext cx="5158800" cy="45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800">
                <a:solidFill>
                  <a:schemeClr val="dk1"/>
                </a:solidFill>
                <a:latin typeface="Roboto"/>
                <a:ea typeface="Roboto"/>
                <a:cs typeface="Roboto"/>
                <a:sym typeface="Roboto"/>
              </a:rPr>
              <a:t>Observed by f+1 distinct replicas.</a:t>
            </a:r>
            <a:endParaRPr sz="1800">
              <a:solidFill>
                <a:schemeClr val="dk1"/>
              </a:solidFill>
              <a:latin typeface="Roboto"/>
              <a:ea typeface="Roboto"/>
              <a:cs typeface="Roboto"/>
              <a:sym typeface="Roboto"/>
            </a:endParaRPr>
          </a:p>
        </p:txBody>
      </p:sp>
      <p:sp>
        <p:nvSpPr>
          <p:cNvPr id="367" name="Google Shape;367;p31"/>
          <p:cNvSpPr txBox="1"/>
          <p:nvPr/>
        </p:nvSpPr>
        <p:spPr>
          <a:xfrm>
            <a:off x="508000" y="2348425"/>
            <a:ext cx="4443300" cy="1194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Stopped Proposing</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Sent Conflicting Proposals</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Unreliable Communication</a:t>
            </a:r>
            <a:endParaRPr sz="1800">
              <a:solidFill>
                <a:schemeClr val="dk1"/>
              </a:solidFill>
              <a:latin typeface="Roboto"/>
              <a:ea typeface="Roboto"/>
              <a:cs typeface="Roboto"/>
              <a:sym typeface="Roboto"/>
            </a:endParaRPr>
          </a:p>
        </p:txBody>
      </p:sp>
      <p:sp>
        <p:nvSpPr>
          <p:cNvPr id="368" name="Google Shape;368;p31"/>
          <p:cNvSpPr txBox="1"/>
          <p:nvPr/>
        </p:nvSpPr>
        <p:spPr>
          <a:xfrm>
            <a:off x="651100" y="3462975"/>
            <a:ext cx="3770700" cy="37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1"/>
                </a:solidFill>
                <a:latin typeface="Roboto"/>
                <a:ea typeface="Roboto"/>
                <a:cs typeface="Roboto"/>
                <a:sym typeface="Roboto"/>
              </a:rPr>
              <a:t>PBFT triggers view change</a:t>
            </a:r>
            <a:endParaRPr sz="18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sz="1800">
              <a:solidFill>
                <a:schemeClr val="dk1"/>
              </a:solidFill>
              <a:latin typeface="Roboto"/>
              <a:ea typeface="Roboto"/>
              <a:cs typeface="Roboto"/>
              <a:sym typeface="Roboto"/>
            </a:endParaRPr>
          </a:p>
          <a:p>
            <a:pPr indent="0" lvl="0" marL="0" rtl="0" algn="l">
              <a:spcBef>
                <a:spcPts val="1200"/>
              </a:spcBef>
              <a:spcAft>
                <a:spcPts val="0"/>
              </a:spcAft>
              <a:buNone/>
            </a:pPr>
            <a:r>
              <a:t/>
            </a:r>
            <a:endParaRPr sz="1800">
              <a:solidFill>
                <a:schemeClr val="dk1"/>
              </a:solidFill>
              <a:latin typeface="Roboto"/>
              <a:ea typeface="Roboto"/>
              <a:cs typeface="Roboto"/>
              <a:sym typeface="Roboto"/>
            </a:endParaRPr>
          </a:p>
        </p:txBody>
      </p:sp>
      <p:sp>
        <p:nvSpPr>
          <p:cNvPr id="369" name="Google Shape;369;p31"/>
          <p:cNvSpPr txBox="1"/>
          <p:nvPr/>
        </p:nvSpPr>
        <p:spPr>
          <a:xfrm>
            <a:off x="651100" y="3928050"/>
            <a:ext cx="4572000" cy="56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800">
                <a:solidFill>
                  <a:schemeClr val="dk1"/>
                </a:solidFill>
                <a:latin typeface="Roboto"/>
                <a:ea typeface="Roboto"/>
                <a:cs typeface="Roboto"/>
                <a:sym typeface="Roboto"/>
              </a:rPr>
              <a:t>RCC handles on per-instance basis</a:t>
            </a:r>
            <a:endParaRPr sz="18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RCC’s Recovery Algorithm</a:t>
            </a:r>
            <a:endParaRPr/>
          </a:p>
        </p:txBody>
      </p:sp>
      <p:sp>
        <p:nvSpPr>
          <p:cNvPr id="375" name="Google Shape;375;p32"/>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t/>
            </a:r>
            <a:endParaRPr/>
          </a:p>
          <a:p>
            <a:pPr indent="0" lvl="0" marL="0" rtl="0" algn="l">
              <a:lnSpc>
                <a:spcPct val="150000"/>
              </a:lnSpc>
              <a:spcBef>
                <a:spcPts val="1200"/>
              </a:spcBef>
              <a:spcAft>
                <a:spcPts val="0"/>
              </a:spcAft>
              <a:buNone/>
            </a:pPr>
            <a:r>
              <a:t/>
            </a:r>
            <a:endParaRPr/>
          </a:p>
          <a:p>
            <a:pPr indent="0" lvl="0" marL="0" rtl="0" algn="l">
              <a:lnSpc>
                <a:spcPct val="150000"/>
              </a:lnSpc>
              <a:spcBef>
                <a:spcPts val="1200"/>
              </a:spcBef>
              <a:spcAft>
                <a:spcPts val="0"/>
              </a:spcAft>
              <a:buNone/>
            </a:pPr>
            <a:r>
              <a:t/>
            </a:r>
            <a:endParaRPr/>
          </a:p>
          <a:p>
            <a:pPr indent="0" lvl="0" marL="0" rtl="0" algn="l">
              <a:spcBef>
                <a:spcPts val="1200"/>
              </a:spcBef>
              <a:spcAft>
                <a:spcPts val="1200"/>
              </a:spcAft>
              <a:buNone/>
            </a:pPr>
            <a:r>
              <a:t/>
            </a:r>
            <a:endParaRPr/>
          </a:p>
        </p:txBody>
      </p:sp>
      <p:sp>
        <p:nvSpPr>
          <p:cNvPr id="376" name="Google Shape;376;p32"/>
          <p:cNvSpPr txBox="1"/>
          <p:nvPr/>
        </p:nvSpPr>
        <p:spPr>
          <a:xfrm>
            <a:off x="568800" y="1562400"/>
            <a:ext cx="3456000" cy="38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800">
                <a:solidFill>
                  <a:schemeClr val="dk1"/>
                </a:solidFill>
                <a:latin typeface="Roboto"/>
                <a:ea typeface="Roboto"/>
                <a:cs typeface="Roboto"/>
                <a:sym typeface="Roboto"/>
              </a:rPr>
              <a:t>Consists of 3 Steps/Roles:</a:t>
            </a:r>
            <a:endParaRPr sz="1800">
              <a:solidFill>
                <a:schemeClr val="dk1"/>
              </a:solidFill>
              <a:latin typeface="Roboto"/>
              <a:ea typeface="Roboto"/>
              <a:cs typeface="Roboto"/>
              <a:sym typeface="Roboto"/>
            </a:endParaRPr>
          </a:p>
        </p:txBody>
      </p:sp>
      <p:sp>
        <p:nvSpPr>
          <p:cNvPr id="377" name="Google Shape;377;p32"/>
          <p:cNvSpPr txBox="1"/>
          <p:nvPr/>
        </p:nvSpPr>
        <p:spPr>
          <a:xfrm>
            <a:off x="568800" y="2116800"/>
            <a:ext cx="3225600" cy="3888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Font typeface="Roboto"/>
              <a:buAutoNum type="arabicPeriod"/>
            </a:pPr>
            <a:r>
              <a:rPr lang="en" sz="1800">
                <a:solidFill>
                  <a:schemeClr val="dk1"/>
                </a:solidFill>
                <a:latin typeface="Roboto"/>
                <a:ea typeface="Roboto"/>
                <a:cs typeface="Roboto"/>
                <a:sym typeface="Roboto"/>
              </a:rPr>
              <a:t>Detect the failure of P</a:t>
            </a:r>
            <a:r>
              <a:rPr baseline="-25000" lang="en" sz="1800">
                <a:solidFill>
                  <a:schemeClr val="dk1"/>
                </a:solidFill>
                <a:latin typeface="Roboto"/>
                <a:ea typeface="Roboto"/>
                <a:cs typeface="Roboto"/>
                <a:sym typeface="Roboto"/>
              </a:rPr>
              <a:t>i</a:t>
            </a:r>
            <a:endParaRPr sz="1800">
              <a:solidFill>
                <a:schemeClr val="dk1"/>
              </a:solidFill>
              <a:latin typeface="Roboto"/>
              <a:ea typeface="Roboto"/>
              <a:cs typeface="Roboto"/>
              <a:sym typeface="Roboto"/>
            </a:endParaRPr>
          </a:p>
        </p:txBody>
      </p:sp>
      <p:sp>
        <p:nvSpPr>
          <p:cNvPr id="378" name="Google Shape;378;p32"/>
          <p:cNvSpPr txBox="1"/>
          <p:nvPr/>
        </p:nvSpPr>
        <p:spPr>
          <a:xfrm>
            <a:off x="612000" y="2682000"/>
            <a:ext cx="6508800" cy="525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1200"/>
              </a:spcAft>
              <a:buNone/>
            </a:pPr>
            <a:r>
              <a:rPr lang="en" sz="1800">
                <a:solidFill>
                  <a:schemeClr val="dk1"/>
                </a:solidFill>
                <a:latin typeface="Roboto"/>
                <a:ea typeface="Roboto"/>
                <a:cs typeface="Roboto"/>
                <a:sym typeface="Roboto"/>
              </a:rPr>
              <a:t>2. Finalize and freeze</a:t>
            </a:r>
            <a:r>
              <a:rPr lang="en" sz="1800">
                <a:solidFill>
                  <a:schemeClr val="dk1"/>
                </a:solidFill>
                <a:latin typeface="Roboto"/>
                <a:ea typeface="Roboto"/>
                <a:cs typeface="Roboto"/>
                <a:sym typeface="Roboto"/>
              </a:rPr>
              <a:t> state of </a:t>
            </a:r>
            <a:r>
              <a:rPr lang="en" sz="1800">
                <a:solidFill>
                  <a:schemeClr val="dk1"/>
                </a:solidFill>
                <a:latin typeface="Times New Roman"/>
                <a:ea typeface="Times New Roman"/>
                <a:cs typeface="Times New Roman"/>
                <a:sym typeface="Times New Roman"/>
              </a:rPr>
              <a:t>I</a:t>
            </a:r>
            <a:r>
              <a:rPr baseline="-25000" lang="en" sz="1800">
                <a:solidFill>
                  <a:schemeClr val="dk1"/>
                </a:solidFill>
                <a:latin typeface="Times New Roman"/>
                <a:ea typeface="Times New Roman"/>
                <a:cs typeface="Times New Roman"/>
                <a:sym typeface="Times New Roman"/>
              </a:rPr>
              <a:t>i</a:t>
            </a:r>
            <a:r>
              <a:rPr lang="en" sz="1800">
                <a:solidFill>
                  <a:schemeClr val="dk1"/>
                </a:solidFill>
                <a:latin typeface="Roboto"/>
                <a:ea typeface="Roboto"/>
                <a:cs typeface="Roboto"/>
                <a:sym typeface="Roboto"/>
              </a:rPr>
              <a:t> up-to the round it failed</a:t>
            </a:r>
            <a:endParaRPr sz="1800">
              <a:solidFill>
                <a:schemeClr val="dk1"/>
              </a:solidFill>
              <a:latin typeface="Roboto"/>
              <a:ea typeface="Roboto"/>
              <a:cs typeface="Roboto"/>
              <a:sym typeface="Roboto"/>
            </a:endParaRPr>
          </a:p>
        </p:txBody>
      </p:sp>
      <p:sp>
        <p:nvSpPr>
          <p:cNvPr id="379" name="Google Shape;379;p32"/>
          <p:cNvSpPr txBox="1"/>
          <p:nvPr/>
        </p:nvSpPr>
        <p:spPr>
          <a:xfrm>
            <a:off x="612000" y="3268800"/>
            <a:ext cx="6645600" cy="432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1200"/>
              </a:spcAft>
              <a:buNone/>
            </a:pPr>
            <a:r>
              <a:rPr lang="en" sz="1800">
                <a:solidFill>
                  <a:schemeClr val="dk1"/>
                </a:solidFill>
                <a:latin typeface="Roboto"/>
                <a:ea typeface="Roboto"/>
                <a:cs typeface="Roboto"/>
                <a:sym typeface="Roboto"/>
              </a:rPr>
              <a:t>3. </a:t>
            </a:r>
            <a:r>
              <a:rPr lang="en" sz="1800">
                <a:solidFill>
                  <a:schemeClr val="dk1"/>
                </a:solidFill>
                <a:latin typeface="Roboto"/>
                <a:ea typeface="Roboto"/>
                <a:cs typeface="Roboto"/>
                <a:sym typeface="Roboto"/>
              </a:rPr>
              <a:t>Determine the round in which </a:t>
            </a:r>
            <a:r>
              <a:rPr lang="en" sz="1800">
                <a:solidFill>
                  <a:schemeClr val="dk1"/>
                </a:solidFill>
                <a:latin typeface="Times New Roman"/>
                <a:ea typeface="Times New Roman"/>
                <a:cs typeface="Times New Roman"/>
                <a:sym typeface="Times New Roman"/>
              </a:rPr>
              <a:t>I</a:t>
            </a:r>
            <a:r>
              <a:rPr baseline="-25000" lang="en" sz="1800">
                <a:solidFill>
                  <a:schemeClr val="dk1"/>
                </a:solidFill>
                <a:latin typeface="Times New Roman"/>
                <a:ea typeface="Times New Roman"/>
                <a:cs typeface="Times New Roman"/>
                <a:sym typeface="Times New Roman"/>
              </a:rPr>
              <a:t>i</a:t>
            </a:r>
            <a:r>
              <a:rPr lang="en" sz="1800">
                <a:solidFill>
                  <a:schemeClr val="dk1"/>
                </a:solidFill>
                <a:latin typeface="Roboto"/>
                <a:ea typeface="Roboto"/>
                <a:cs typeface="Roboto"/>
                <a:sym typeface="Roboto"/>
              </a:rPr>
              <a:t> can resume operations</a:t>
            </a:r>
            <a:endParaRPr sz="18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3" name="Shape 383"/>
        <p:cNvGrpSpPr/>
        <p:nvPr/>
      </p:nvGrpSpPr>
      <p:grpSpPr>
        <a:xfrm>
          <a:off x="0" y="0"/>
          <a:ext cx="0" cy="0"/>
          <a:chOff x="0" y="0"/>
          <a:chExt cx="0" cy="0"/>
        </a:xfrm>
      </p:grpSpPr>
      <p:sp>
        <p:nvSpPr>
          <p:cNvPr id="384" name="Google Shape;384;p33"/>
          <p:cNvSpPr/>
          <p:nvPr/>
        </p:nvSpPr>
        <p:spPr>
          <a:xfrm>
            <a:off x="1169100" y="812200"/>
            <a:ext cx="645300" cy="1074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5" name="Google Shape;385;p33"/>
          <p:cNvSpPr/>
          <p:nvPr/>
        </p:nvSpPr>
        <p:spPr>
          <a:xfrm rot="5400000">
            <a:off x="1767875" y="-78550"/>
            <a:ext cx="645300" cy="1333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6" name="Google Shape;386;p33"/>
          <p:cNvSpPr txBox="1"/>
          <p:nvPr/>
        </p:nvSpPr>
        <p:spPr>
          <a:xfrm>
            <a:off x="1034725" y="316725"/>
            <a:ext cx="4698000" cy="47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Recovery Request Role (used by replica R)</a:t>
            </a:r>
            <a:endParaRPr sz="1800">
              <a:solidFill>
                <a:schemeClr val="dk1"/>
              </a:solidFill>
            </a:endParaRPr>
          </a:p>
        </p:txBody>
      </p:sp>
      <p:sp>
        <p:nvSpPr>
          <p:cNvPr id="387" name="Google Shape;387;p33"/>
          <p:cNvSpPr/>
          <p:nvPr/>
        </p:nvSpPr>
        <p:spPr>
          <a:xfrm>
            <a:off x="3666000" y="812200"/>
            <a:ext cx="828000" cy="82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a:t>
            </a:r>
            <a:r>
              <a:rPr baseline="-25000" lang="en"/>
              <a:t>1</a:t>
            </a:r>
            <a:endParaRPr baseline="-25000"/>
          </a:p>
        </p:txBody>
      </p:sp>
      <p:sp>
        <p:nvSpPr>
          <p:cNvPr id="388" name="Google Shape;388;p33"/>
          <p:cNvSpPr/>
          <p:nvPr/>
        </p:nvSpPr>
        <p:spPr>
          <a:xfrm>
            <a:off x="2095200" y="1901400"/>
            <a:ext cx="770400" cy="82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a:t>
            </a:r>
            <a:r>
              <a:rPr baseline="-25000" lang="en"/>
              <a:t>2</a:t>
            </a:r>
            <a:endParaRPr baseline="-25000"/>
          </a:p>
        </p:txBody>
      </p:sp>
      <p:sp>
        <p:nvSpPr>
          <p:cNvPr id="389" name="Google Shape;389;p33"/>
          <p:cNvSpPr/>
          <p:nvPr/>
        </p:nvSpPr>
        <p:spPr>
          <a:xfrm>
            <a:off x="3650400" y="2265800"/>
            <a:ext cx="770400" cy="82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a:t>
            </a:r>
            <a:r>
              <a:rPr baseline="-25000" lang="en"/>
              <a:t>3</a:t>
            </a:r>
            <a:endParaRPr baseline="-25000"/>
          </a:p>
        </p:txBody>
      </p:sp>
      <p:sp>
        <p:nvSpPr>
          <p:cNvPr id="390" name="Google Shape;390;p33"/>
          <p:cNvSpPr/>
          <p:nvPr/>
        </p:nvSpPr>
        <p:spPr>
          <a:xfrm>
            <a:off x="5320800" y="1901400"/>
            <a:ext cx="770400" cy="82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a:t>
            </a:r>
            <a:r>
              <a:rPr baseline="-25000" lang="en"/>
              <a:t>4</a:t>
            </a:r>
            <a:endParaRPr baseline="-25000"/>
          </a:p>
        </p:txBody>
      </p:sp>
      <p:cxnSp>
        <p:nvCxnSpPr>
          <p:cNvPr id="391" name="Google Shape;391;p33"/>
          <p:cNvCxnSpPr/>
          <p:nvPr/>
        </p:nvCxnSpPr>
        <p:spPr>
          <a:xfrm flipH="1">
            <a:off x="2923200" y="1569600"/>
            <a:ext cx="741600" cy="424800"/>
          </a:xfrm>
          <a:prstGeom prst="straightConnector1">
            <a:avLst/>
          </a:prstGeom>
          <a:noFill/>
          <a:ln cap="flat" cmpd="sng" w="9525">
            <a:solidFill>
              <a:schemeClr val="accent2"/>
            </a:solidFill>
            <a:prstDash val="solid"/>
            <a:round/>
            <a:headEnd len="med" w="med" type="none"/>
            <a:tailEnd len="med" w="med" type="triangle"/>
          </a:ln>
        </p:spPr>
      </p:cxnSp>
      <p:cxnSp>
        <p:nvCxnSpPr>
          <p:cNvPr id="392" name="Google Shape;392;p33"/>
          <p:cNvCxnSpPr/>
          <p:nvPr/>
        </p:nvCxnSpPr>
        <p:spPr>
          <a:xfrm flipH="1">
            <a:off x="4032000" y="1710000"/>
            <a:ext cx="7200" cy="428400"/>
          </a:xfrm>
          <a:prstGeom prst="straightConnector1">
            <a:avLst/>
          </a:prstGeom>
          <a:noFill/>
          <a:ln cap="flat" cmpd="sng" w="9525">
            <a:solidFill>
              <a:schemeClr val="accent2"/>
            </a:solidFill>
            <a:prstDash val="solid"/>
            <a:round/>
            <a:headEnd len="med" w="med" type="none"/>
            <a:tailEnd len="med" w="med" type="triangle"/>
          </a:ln>
        </p:spPr>
      </p:cxnSp>
      <p:cxnSp>
        <p:nvCxnSpPr>
          <p:cNvPr id="393" name="Google Shape;393;p33"/>
          <p:cNvCxnSpPr/>
          <p:nvPr/>
        </p:nvCxnSpPr>
        <p:spPr>
          <a:xfrm>
            <a:off x="4572000" y="1542600"/>
            <a:ext cx="561600" cy="437400"/>
          </a:xfrm>
          <a:prstGeom prst="straightConnector1">
            <a:avLst/>
          </a:prstGeom>
          <a:noFill/>
          <a:ln cap="flat" cmpd="sng" w="9525">
            <a:solidFill>
              <a:schemeClr val="accent2"/>
            </a:solidFill>
            <a:prstDash val="solid"/>
            <a:round/>
            <a:headEnd len="med" w="med" type="none"/>
            <a:tailEnd len="med" w="med" type="triangle"/>
          </a:ln>
        </p:spPr>
      </p:cxnSp>
      <p:sp>
        <p:nvSpPr>
          <p:cNvPr id="394" name="Google Shape;394;p33"/>
          <p:cNvSpPr txBox="1"/>
          <p:nvPr/>
        </p:nvSpPr>
        <p:spPr>
          <a:xfrm>
            <a:off x="7063200" y="962800"/>
            <a:ext cx="1483200" cy="51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Round: </a:t>
            </a:r>
            <a:r>
              <a:rPr b="1" lang="en" sz="2100">
                <a:solidFill>
                  <a:schemeClr val="dk1"/>
                </a:solidFill>
              </a:rPr>
              <a:t>ρ</a:t>
            </a:r>
            <a:endParaRPr sz="2800">
              <a:solidFill>
                <a:schemeClr val="dk1"/>
              </a:solidFill>
            </a:endParaRPr>
          </a:p>
        </p:txBody>
      </p:sp>
      <p:sp>
        <p:nvSpPr>
          <p:cNvPr id="395" name="Google Shape;395;p33"/>
          <p:cNvSpPr/>
          <p:nvPr/>
        </p:nvSpPr>
        <p:spPr>
          <a:xfrm>
            <a:off x="7437700" y="3195475"/>
            <a:ext cx="645300" cy="913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96" name="Google Shape;396;p33"/>
          <p:cNvSpPr/>
          <p:nvPr/>
        </p:nvSpPr>
        <p:spPr>
          <a:xfrm>
            <a:off x="6472800" y="2138400"/>
            <a:ext cx="1987200" cy="33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Key Threshold Points:</a:t>
            </a:r>
            <a:endParaRPr/>
          </a:p>
          <a:p>
            <a:pPr indent="0" lvl="0" marL="0" rtl="0" algn="l">
              <a:spcBef>
                <a:spcPts val="0"/>
              </a:spcBef>
              <a:spcAft>
                <a:spcPts val="0"/>
              </a:spcAft>
              <a:buNone/>
            </a:pPr>
            <a:r>
              <a:t/>
            </a:r>
            <a:endParaRPr b="1"/>
          </a:p>
          <a:p>
            <a:pPr indent="0" lvl="0" marL="0" rtl="0" algn="l">
              <a:spcBef>
                <a:spcPts val="0"/>
              </a:spcBef>
              <a:spcAft>
                <a:spcPts val="0"/>
              </a:spcAft>
              <a:buNone/>
            </a:pPr>
            <a:r>
              <a:t/>
            </a:r>
            <a:endParaRPr b="1">
              <a:solidFill>
                <a:schemeClr val="accent2"/>
              </a:solidFill>
            </a:endParaRPr>
          </a:p>
          <a:p>
            <a:pPr indent="0" lvl="0" marL="0" rtl="0" algn="l">
              <a:spcBef>
                <a:spcPts val="0"/>
              </a:spcBef>
              <a:spcAft>
                <a:spcPts val="0"/>
              </a:spcAft>
              <a:buNone/>
            </a:pPr>
            <a:r>
              <a:t/>
            </a:r>
            <a:endParaRPr b="1"/>
          </a:p>
        </p:txBody>
      </p:sp>
      <p:grpSp>
        <p:nvGrpSpPr>
          <p:cNvPr id="397" name="Google Shape;397;p33"/>
          <p:cNvGrpSpPr/>
          <p:nvPr/>
        </p:nvGrpSpPr>
        <p:grpSpPr>
          <a:xfrm>
            <a:off x="538525" y="2622613"/>
            <a:ext cx="1658850" cy="1069088"/>
            <a:chOff x="538525" y="2622613"/>
            <a:chExt cx="1658850" cy="1069088"/>
          </a:xfrm>
        </p:grpSpPr>
        <p:sp>
          <p:nvSpPr>
            <p:cNvPr id="398" name="Google Shape;398;p33"/>
            <p:cNvSpPr/>
            <p:nvPr/>
          </p:nvSpPr>
          <p:spPr>
            <a:xfrm>
              <a:off x="538525" y="3086600"/>
              <a:ext cx="1275900" cy="605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Halts </a:t>
              </a:r>
              <a:r>
                <a:rPr lang="en">
                  <a:latin typeface="Times New Roman"/>
                  <a:ea typeface="Times New Roman"/>
                  <a:cs typeface="Times New Roman"/>
                  <a:sym typeface="Times New Roman"/>
                </a:rPr>
                <a:t>I</a:t>
              </a:r>
              <a:r>
                <a:rPr baseline="-25000" lang="en"/>
                <a:t>1</a:t>
              </a:r>
              <a:r>
                <a:rPr lang="en"/>
                <a:t> locally</a:t>
              </a:r>
              <a:endParaRPr/>
            </a:p>
          </p:txBody>
        </p:sp>
        <p:cxnSp>
          <p:nvCxnSpPr>
            <p:cNvPr id="399" name="Google Shape;399;p33"/>
            <p:cNvCxnSpPr/>
            <p:nvPr/>
          </p:nvCxnSpPr>
          <p:spPr>
            <a:xfrm flipH="1">
              <a:off x="1455775" y="2622613"/>
              <a:ext cx="741600" cy="424800"/>
            </a:xfrm>
            <a:prstGeom prst="straightConnector1">
              <a:avLst/>
            </a:prstGeom>
            <a:noFill/>
            <a:ln cap="flat" cmpd="sng" w="9525">
              <a:solidFill>
                <a:schemeClr val="accent2"/>
              </a:solidFill>
              <a:prstDash val="solid"/>
              <a:round/>
              <a:headEnd len="med" w="med" type="none"/>
              <a:tailEnd len="med" w="med" type="triangle"/>
            </a:ln>
          </p:spPr>
        </p:cxnSp>
      </p:grpSp>
      <p:grpSp>
        <p:nvGrpSpPr>
          <p:cNvPr id="400" name="Google Shape;400;p33"/>
          <p:cNvGrpSpPr/>
          <p:nvPr/>
        </p:nvGrpSpPr>
        <p:grpSpPr>
          <a:xfrm>
            <a:off x="2321975" y="2601997"/>
            <a:ext cx="1411200" cy="1224091"/>
            <a:chOff x="2321975" y="2601997"/>
            <a:chExt cx="1411200" cy="1224091"/>
          </a:xfrm>
        </p:grpSpPr>
        <p:sp>
          <p:nvSpPr>
            <p:cNvPr id="401" name="Google Shape;401;p33"/>
            <p:cNvSpPr/>
            <p:nvPr/>
          </p:nvSpPr>
          <p:spPr>
            <a:xfrm>
              <a:off x="2321975" y="3086588"/>
              <a:ext cx="1411200" cy="739500"/>
            </a:xfrm>
            <a:prstGeom prst="rect">
              <a:avLst/>
            </a:prstGeom>
            <a:solidFill>
              <a:schemeClr val="lt2"/>
            </a:solidFill>
            <a:ln cap="flat" cmpd="sng" w="7550">
              <a:solidFill>
                <a:schemeClr val="dk2"/>
              </a:solidFill>
              <a:prstDash val="solid"/>
              <a:round/>
              <a:headEnd len="sm" w="sm" type="none"/>
              <a:tailEnd len="sm" w="sm" type="none"/>
            </a:ln>
          </p:spPr>
          <p:txBody>
            <a:bodyPr anchorCtr="0" anchor="ctr" bIns="72550" lIns="72550" spcFirstLastPara="1" rIns="72550" wrap="square" tIns="72550">
              <a:noAutofit/>
            </a:bodyPr>
            <a:lstStyle/>
            <a:p>
              <a:pPr indent="0" lvl="0" marL="0" rtl="0" algn="ctr">
                <a:spcBef>
                  <a:spcPts val="0"/>
                </a:spcBef>
                <a:spcAft>
                  <a:spcPts val="0"/>
                </a:spcAft>
                <a:buNone/>
              </a:pPr>
              <a:r>
                <a:rPr lang="en" sz="1200">
                  <a:solidFill>
                    <a:schemeClr val="dk2"/>
                  </a:solidFill>
                </a:rPr>
                <a:t>Broadcasts</a:t>
              </a:r>
              <a:endParaRPr sz="1200">
                <a:solidFill>
                  <a:schemeClr val="dk2"/>
                </a:solidFill>
              </a:endParaRPr>
            </a:p>
            <a:p>
              <a:pPr indent="0" lvl="0" marL="0" rtl="0" algn="ctr">
                <a:spcBef>
                  <a:spcPts val="0"/>
                </a:spcBef>
                <a:spcAft>
                  <a:spcPts val="0"/>
                </a:spcAft>
                <a:buNone/>
              </a:pPr>
              <a:r>
                <a:rPr lang="en" sz="1200">
                  <a:solidFill>
                    <a:schemeClr val="dk2"/>
                  </a:solidFill>
                </a:rPr>
                <a:t>Failure(1, </a:t>
              </a:r>
              <a:r>
                <a:rPr b="1" lang="en" sz="1200">
                  <a:solidFill>
                    <a:schemeClr val="dk2"/>
                  </a:solidFill>
                </a:rPr>
                <a:t>ρ,</a:t>
              </a:r>
              <a:r>
                <a:rPr b="1" i="1" lang="en" sz="1200">
                  <a:solidFill>
                    <a:schemeClr val="dk2"/>
                  </a:solidFill>
                  <a:latin typeface="Times New Roman"/>
                  <a:ea typeface="Times New Roman"/>
                  <a:cs typeface="Times New Roman"/>
                  <a:sym typeface="Times New Roman"/>
                </a:rPr>
                <a:t> S</a:t>
              </a:r>
              <a:r>
                <a:rPr b="1" baseline="-25000" i="1" lang="en" sz="1200">
                  <a:solidFill>
                    <a:schemeClr val="dk2"/>
                  </a:solidFill>
                  <a:latin typeface="Times New Roman"/>
                  <a:ea typeface="Times New Roman"/>
                  <a:cs typeface="Times New Roman"/>
                  <a:sym typeface="Times New Roman"/>
                </a:rPr>
                <a:t>2</a:t>
              </a:r>
              <a:r>
                <a:rPr b="1" lang="en" sz="1200">
                  <a:solidFill>
                    <a:schemeClr val="dk2"/>
                  </a:solidFill>
                </a:rPr>
                <a:t>)</a:t>
              </a:r>
              <a:endParaRPr sz="1200">
                <a:solidFill>
                  <a:schemeClr val="dk2"/>
                </a:solidFill>
              </a:endParaRPr>
            </a:p>
          </p:txBody>
        </p:sp>
        <p:cxnSp>
          <p:nvCxnSpPr>
            <p:cNvPr id="402" name="Google Shape;402;p33"/>
            <p:cNvCxnSpPr>
              <a:stCxn id="388" idx="5"/>
            </p:cNvCxnSpPr>
            <p:nvPr/>
          </p:nvCxnSpPr>
          <p:spPr>
            <a:xfrm>
              <a:off x="2752778" y="2601997"/>
              <a:ext cx="242400" cy="443700"/>
            </a:xfrm>
            <a:prstGeom prst="straightConnector1">
              <a:avLst/>
            </a:prstGeom>
            <a:noFill/>
            <a:ln cap="flat" cmpd="sng" w="9525">
              <a:solidFill>
                <a:schemeClr val="accent2"/>
              </a:solidFill>
              <a:prstDash val="solid"/>
              <a:round/>
              <a:headEnd len="med" w="med" type="none"/>
              <a:tailEnd len="med" w="med" type="triangle"/>
            </a:ln>
          </p:spPr>
        </p:cxnSp>
      </p:grpSp>
      <p:sp>
        <p:nvSpPr>
          <p:cNvPr id="403" name="Google Shape;403;p33"/>
          <p:cNvSpPr txBox="1"/>
          <p:nvPr/>
        </p:nvSpPr>
        <p:spPr>
          <a:xfrm>
            <a:off x="237600" y="1042600"/>
            <a:ext cx="1778400" cy="5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Instance: </a:t>
            </a:r>
            <a:r>
              <a:rPr lang="en" sz="1800">
                <a:solidFill>
                  <a:schemeClr val="dk1"/>
                </a:solidFill>
                <a:latin typeface="Times New Roman"/>
                <a:ea typeface="Times New Roman"/>
                <a:cs typeface="Times New Roman"/>
                <a:sym typeface="Times New Roman"/>
              </a:rPr>
              <a:t>I</a:t>
            </a:r>
            <a:r>
              <a:rPr baseline="-25000" lang="en" sz="1800">
                <a:solidFill>
                  <a:schemeClr val="dk1"/>
                </a:solidFill>
                <a:latin typeface="Times New Roman"/>
                <a:ea typeface="Times New Roman"/>
                <a:cs typeface="Times New Roman"/>
                <a:sym typeface="Times New Roman"/>
              </a:rPr>
              <a:t>1</a:t>
            </a:r>
            <a:endParaRPr baseline="-25000" sz="1800">
              <a:solidFill>
                <a:schemeClr val="dk1"/>
              </a:solidFill>
              <a:latin typeface="Times New Roman"/>
              <a:ea typeface="Times New Roman"/>
              <a:cs typeface="Times New Roman"/>
              <a:sym typeface="Times New Roman"/>
            </a:endParaRPr>
          </a:p>
        </p:txBody>
      </p:sp>
      <p:sp>
        <p:nvSpPr>
          <p:cNvPr id="404" name="Google Shape;404;p33"/>
          <p:cNvSpPr/>
          <p:nvPr/>
        </p:nvSpPr>
        <p:spPr>
          <a:xfrm>
            <a:off x="6530400" y="2602925"/>
            <a:ext cx="1987200" cy="1069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replica gets</a:t>
            </a:r>
            <a:r>
              <a:rPr b="1" lang="en"/>
              <a:t> f+1 distinct failure</a:t>
            </a:r>
            <a:r>
              <a:rPr lang="en"/>
              <a:t> messages</a:t>
            </a:r>
            <a:r>
              <a:rPr b="1" lang="en"/>
              <a:t>,</a:t>
            </a:r>
            <a:endParaRPr b="1"/>
          </a:p>
          <a:p>
            <a:pPr indent="0" lvl="0" marL="0" rtl="0" algn="l">
              <a:spcBef>
                <a:spcPts val="0"/>
              </a:spcBef>
              <a:spcAft>
                <a:spcPts val="0"/>
              </a:spcAft>
              <a:buNone/>
            </a:pPr>
            <a:r>
              <a:rPr lang="en"/>
              <a:t>it knows ≥ 1 honest observed the failure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latin typeface="Roboto"/>
              <a:ea typeface="Roboto"/>
              <a:cs typeface="Roboto"/>
              <a:sym typeface="Roboto"/>
            </a:endParaRPr>
          </a:p>
        </p:txBody>
      </p:sp>
      <p:sp>
        <p:nvSpPr>
          <p:cNvPr id="405" name="Google Shape;405;p33"/>
          <p:cNvSpPr/>
          <p:nvPr/>
        </p:nvSpPr>
        <p:spPr>
          <a:xfrm>
            <a:off x="6537600" y="3981600"/>
            <a:ext cx="1987200" cy="94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When system collects </a:t>
            </a:r>
            <a:r>
              <a:rPr b="1" lang="en"/>
              <a:t>nf distinct failure </a:t>
            </a:r>
            <a:r>
              <a:rPr lang="en"/>
              <a:t>messages, it is a confirmed failure</a:t>
            </a:r>
            <a:endParaRPr>
              <a:latin typeface="Roboto"/>
              <a:ea typeface="Roboto"/>
              <a:cs typeface="Roboto"/>
              <a:sym typeface="Roboto"/>
            </a:endParaRPr>
          </a:p>
        </p:txBody>
      </p:sp>
      <p:sp>
        <p:nvSpPr>
          <p:cNvPr id="406" name="Google Shape;406;p33"/>
          <p:cNvSpPr/>
          <p:nvPr/>
        </p:nvSpPr>
        <p:spPr>
          <a:xfrm>
            <a:off x="1360800" y="3988800"/>
            <a:ext cx="2772000" cy="74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Still a local suspicion! </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9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388"/>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4"/>
          <p:cNvSpPr txBox="1"/>
          <p:nvPr/>
        </p:nvSpPr>
        <p:spPr>
          <a:xfrm>
            <a:off x="1034725" y="316725"/>
            <a:ext cx="4926900" cy="47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Recovery Leader Role (used by leader L</a:t>
            </a:r>
            <a:r>
              <a:rPr baseline="-25000" lang="en" sz="1800">
                <a:solidFill>
                  <a:schemeClr val="dk1"/>
                </a:solidFill>
              </a:rPr>
              <a:t>i</a:t>
            </a:r>
            <a:r>
              <a:rPr lang="en" sz="1800">
                <a:solidFill>
                  <a:schemeClr val="dk1"/>
                </a:solidFill>
              </a:rPr>
              <a:t>)</a:t>
            </a:r>
            <a:endParaRPr sz="1800">
              <a:solidFill>
                <a:schemeClr val="dk1"/>
              </a:solidFill>
            </a:endParaRPr>
          </a:p>
        </p:txBody>
      </p:sp>
      <p:sp>
        <p:nvSpPr>
          <p:cNvPr id="412" name="Google Shape;412;p34"/>
          <p:cNvSpPr/>
          <p:nvPr/>
        </p:nvSpPr>
        <p:spPr>
          <a:xfrm>
            <a:off x="3760500" y="764950"/>
            <a:ext cx="828000" cy="82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t>L</a:t>
            </a:r>
            <a:r>
              <a:rPr baseline="-25000" lang="en" sz="2100"/>
              <a:t>i</a:t>
            </a:r>
            <a:endParaRPr baseline="-25000" sz="2100"/>
          </a:p>
        </p:txBody>
      </p:sp>
      <p:sp>
        <p:nvSpPr>
          <p:cNvPr id="413" name="Google Shape;413;p34"/>
          <p:cNvSpPr/>
          <p:nvPr/>
        </p:nvSpPr>
        <p:spPr>
          <a:xfrm>
            <a:off x="6733450" y="1589950"/>
            <a:ext cx="2234700" cy="164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Key Takeaways:</a:t>
            </a:r>
            <a:endParaRPr/>
          </a:p>
          <a:p>
            <a:pPr indent="0" lvl="0" marL="0" rtl="0" algn="l">
              <a:spcBef>
                <a:spcPts val="0"/>
              </a:spcBef>
              <a:spcAft>
                <a:spcPts val="0"/>
              </a:spcAft>
              <a:buNone/>
            </a:pPr>
            <a:r>
              <a:rPr lang="en"/>
              <a:t>L</a:t>
            </a:r>
            <a:r>
              <a:rPr baseline="-25000" lang="en"/>
              <a:t>i</a:t>
            </a:r>
            <a:r>
              <a:rPr lang="en"/>
              <a:t> proposes Stop(i,E) when it receives</a:t>
            </a:r>
            <a:r>
              <a:rPr b="1" i="1" lang="en"/>
              <a:t> nf</a:t>
            </a:r>
            <a:r>
              <a:rPr lang="en"/>
              <a:t> failure messages from distinct replicas</a:t>
            </a:r>
            <a:endParaRPr/>
          </a:p>
        </p:txBody>
      </p:sp>
      <p:grpSp>
        <p:nvGrpSpPr>
          <p:cNvPr id="414" name="Google Shape;414;p34"/>
          <p:cNvGrpSpPr/>
          <p:nvPr/>
        </p:nvGrpSpPr>
        <p:grpSpPr>
          <a:xfrm>
            <a:off x="1864050" y="1465547"/>
            <a:ext cx="2017708" cy="2278453"/>
            <a:chOff x="1864050" y="1465547"/>
            <a:chExt cx="2017708" cy="2278453"/>
          </a:xfrm>
        </p:grpSpPr>
        <p:sp>
          <p:nvSpPr>
            <p:cNvPr id="415" name="Google Shape;415;p34"/>
            <p:cNvSpPr/>
            <p:nvPr/>
          </p:nvSpPr>
          <p:spPr>
            <a:xfrm>
              <a:off x="1864050" y="2122600"/>
              <a:ext cx="1405500" cy="28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Failure(1, </a:t>
              </a:r>
              <a:r>
                <a:rPr b="1" lang="en" sz="1100">
                  <a:solidFill>
                    <a:schemeClr val="dk2"/>
                  </a:solidFill>
                </a:rPr>
                <a:t>ρ, S</a:t>
              </a:r>
              <a:r>
                <a:rPr b="1" baseline="-25000" lang="en" sz="1100">
                  <a:solidFill>
                    <a:schemeClr val="dk2"/>
                  </a:solidFill>
                </a:rPr>
                <a:t>2</a:t>
              </a:r>
              <a:r>
                <a:rPr lang="en">
                  <a:solidFill>
                    <a:schemeClr val="dk2"/>
                  </a:solidFill>
                </a:rPr>
                <a:t>)</a:t>
              </a:r>
              <a:endParaRPr>
                <a:solidFill>
                  <a:schemeClr val="dk2"/>
                </a:solidFill>
              </a:endParaRPr>
            </a:p>
          </p:txBody>
        </p:sp>
        <p:sp>
          <p:nvSpPr>
            <p:cNvPr id="416" name="Google Shape;416;p34"/>
            <p:cNvSpPr/>
            <p:nvPr/>
          </p:nvSpPr>
          <p:spPr>
            <a:xfrm>
              <a:off x="2028750" y="2923200"/>
              <a:ext cx="770400" cy="82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a:t>
              </a:r>
              <a:r>
                <a:rPr baseline="-25000" lang="en"/>
                <a:t>2</a:t>
              </a:r>
              <a:endParaRPr baseline="-25000"/>
            </a:p>
          </p:txBody>
        </p:sp>
        <p:cxnSp>
          <p:nvCxnSpPr>
            <p:cNvPr id="417" name="Google Shape;417;p34"/>
            <p:cNvCxnSpPr>
              <a:stCxn id="416" idx="7"/>
            </p:cNvCxnSpPr>
            <p:nvPr/>
          </p:nvCxnSpPr>
          <p:spPr>
            <a:xfrm flipH="1" rot="10800000">
              <a:off x="2686328" y="2440703"/>
              <a:ext cx="215400" cy="602700"/>
            </a:xfrm>
            <a:prstGeom prst="straightConnector1">
              <a:avLst/>
            </a:prstGeom>
            <a:noFill/>
            <a:ln cap="flat" cmpd="sng" w="9525">
              <a:solidFill>
                <a:schemeClr val="accent2"/>
              </a:solidFill>
              <a:prstDash val="solid"/>
              <a:round/>
              <a:headEnd len="med" w="med" type="none"/>
              <a:tailEnd len="med" w="med" type="triangle"/>
            </a:ln>
          </p:spPr>
        </p:cxnSp>
        <p:cxnSp>
          <p:nvCxnSpPr>
            <p:cNvPr id="418" name="Google Shape;418;p34"/>
            <p:cNvCxnSpPr>
              <a:endCxn id="412" idx="3"/>
            </p:cNvCxnSpPr>
            <p:nvPr/>
          </p:nvCxnSpPr>
          <p:spPr>
            <a:xfrm flipH="1" rot="10800000">
              <a:off x="3096958" y="1465547"/>
              <a:ext cx="784800" cy="657000"/>
            </a:xfrm>
            <a:prstGeom prst="straightConnector1">
              <a:avLst/>
            </a:prstGeom>
            <a:noFill/>
            <a:ln cap="flat" cmpd="sng" w="9525">
              <a:solidFill>
                <a:schemeClr val="accent2"/>
              </a:solidFill>
              <a:prstDash val="solid"/>
              <a:round/>
              <a:headEnd len="med" w="med" type="none"/>
              <a:tailEnd len="med" w="med" type="triangle"/>
            </a:ln>
          </p:spPr>
        </p:cxnSp>
      </p:grpSp>
      <p:grpSp>
        <p:nvGrpSpPr>
          <p:cNvPr id="419" name="Google Shape;419;p34"/>
          <p:cNvGrpSpPr/>
          <p:nvPr/>
        </p:nvGrpSpPr>
        <p:grpSpPr>
          <a:xfrm>
            <a:off x="3410850" y="1585750"/>
            <a:ext cx="1405500" cy="2182500"/>
            <a:chOff x="3410850" y="1585750"/>
            <a:chExt cx="1405500" cy="2182500"/>
          </a:xfrm>
        </p:grpSpPr>
        <p:sp>
          <p:nvSpPr>
            <p:cNvPr id="420" name="Google Shape;420;p34"/>
            <p:cNvSpPr/>
            <p:nvPr/>
          </p:nvSpPr>
          <p:spPr>
            <a:xfrm>
              <a:off x="3663600" y="2947450"/>
              <a:ext cx="770400" cy="82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a:t>
              </a:r>
              <a:r>
                <a:rPr baseline="-25000" lang="en"/>
                <a:t>3</a:t>
              </a:r>
              <a:endParaRPr baseline="-25000"/>
            </a:p>
          </p:txBody>
        </p:sp>
        <p:sp>
          <p:nvSpPr>
            <p:cNvPr id="421" name="Google Shape;421;p34"/>
            <p:cNvSpPr/>
            <p:nvPr/>
          </p:nvSpPr>
          <p:spPr>
            <a:xfrm>
              <a:off x="3410850" y="2122600"/>
              <a:ext cx="1405500" cy="28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Failure(1, </a:t>
              </a:r>
              <a:r>
                <a:rPr b="1" lang="en" sz="1100">
                  <a:solidFill>
                    <a:schemeClr val="dk2"/>
                  </a:solidFill>
                </a:rPr>
                <a:t>ρ, S</a:t>
              </a:r>
              <a:r>
                <a:rPr b="1" baseline="-25000" lang="en" sz="1100">
                  <a:solidFill>
                    <a:schemeClr val="dk2"/>
                  </a:solidFill>
                </a:rPr>
                <a:t>3</a:t>
              </a:r>
              <a:r>
                <a:rPr lang="en">
                  <a:solidFill>
                    <a:schemeClr val="dk2"/>
                  </a:solidFill>
                </a:rPr>
                <a:t>)</a:t>
              </a:r>
              <a:endParaRPr sz="1700">
                <a:solidFill>
                  <a:schemeClr val="dk2"/>
                </a:solidFill>
              </a:endParaRPr>
            </a:p>
          </p:txBody>
        </p:sp>
        <p:cxnSp>
          <p:nvCxnSpPr>
            <p:cNvPr id="422" name="Google Shape;422;p34"/>
            <p:cNvCxnSpPr>
              <a:stCxn id="420" idx="0"/>
            </p:cNvCxnSpPr>
            <p:nvPr/>
          </p:nvCxnSpPr>
          <p:spPr>
            <a:xfrm flipH="1" rot="10800000">
              <a:off x="4048800" y="2410750"/>
              <a:ext cx="172500" cy="536700"/>
            </a:xfrm>
            <a:prstGeom prst="straightConnector1">
              <a:avLst/>
            </a:prstGeom>
            <a:noFill/>
            <a:ln cap="flat" cmpd="sng" w="9525">
              <a:solidFill>
                <a:schemeClr val="accent2"/>
              </a:solidFill>
              <a:prstDash val="solid"/>
              <a:round/>
              <a:headEnd len="med" w="med" type="none"/>
              <a:tailEnd len="med" w="med" type="triangle"/>
            </a:ln>
          </p:spPr>
        </p:cxnSp>
        <p:cxnSp>
          <p:nvCxnSpPr>
            <p:cNvPr id="423" name="Google Shape;423;p34"/>
            <p:cNvCxnSpPr>
              <a:endCxn id="412" idx="4"/>
            </p:cNvCxnSpPr>
            <p:nvPr/>
          </p:nvCxnSpPr>
          <p:spPr>
            <a:xfrm flipH="1" rot="10800000">
              <a:off x="4130400" y="1585750"/>
              <a:ext cx="44100" cy="553500"/>
            </a:xfrm>
            <a:prstGeom prst="straightConnector1">
              <a:avLst/>
            </a:prstGeom>
            <a:noFill/>
            <a:ln cap="flat" cmpd="sng" w="9525">
              <a:solidFill>
                <a:schemeClr val="accent2"/>
              </a:solidFill>
              <a:prstDash val="solid"/>
              <a:round/>
              <a:headEnd len="med" w="med" type="none"/>
              <a:tailEnd len="med" w="med" type="triangle"/>
            </a:ln>
          </p:spPr>
        </p:cxnSp>
      </p:grpSp>
      <p:grpSp>
        <p:nvGrpSpPr>
          <p:cNvPr id="424" name="Google Shape;424;p34"/>
          <p:cNvGrpSpPr/>
          <p:nvPr/>
        </p:nvGrpSpPr>
        <p:grpSpPr>
          <a:xfrm>
            <a:off x="4467242" y="1465547"/>
            <a:ext cx="1895908" cy="2302703"/>
            <a:chOff x="4467242" y="1465547"/>
            <a:chExt cx="1895908" cy="2302703"/>
          </a:xfrm>
        </p:grpSpPr>
        <p:sp>
          <p:nvSpPr>
            <p:cNvPr id="425" name="Google Shape;425;p34"/>
            <p:cNvSpPr/>
            <p:nvPr/>
          </p:nvSpPr>
          <p:spPr>
            <a:xfrm>
              <a:off x="4957650" y="2122600"/>
              <a:ext cx="1405500" cy="28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Failure(1, </a:t>
              </a:r>
              <a:r>
                <a:rPr b="1" lang="en" sz="1100">
                  <a:solidFill>
                    <a:schemeClr val="dk2"/>
                  </a:solidFill>
                </a:rPr>
                <a:t>ρ, S</a:t>
              </a:r>
              <a:r>
                <a:rPr b="1" baseline="-25000" lang="en" sz="1100">
                  <a:solidFill>
                    <a:schemeClr val="dk2"/>
                  </a:solidFill>
                </a:rPr>
                <a:t>4</a:t>
              </a:r>
              <a:r>
                <a:rPr lang="en">
                  <a:solidFill>
                    <a:schemeClr val="dk2"/>
                  </a:solidFill>
                </a:rPr>
                <a:t>)</a:t>
              </a:r>
              <a:endParaRPr>
                <a:solidFill>
                  <a:schemeClr val="dk2"/>
                </a:solidFill>
              </a:endParaRPr>
            </a:p>
          </p:txBody>
        </p:sp>
        <p:sp>
          <p:nvSpPr>
            <p:cNvPr id="426" name="Google Shape;426;p34"/>
            <p:cNvSpPr/>
            <p:nvPr/>
          </p:nvSpPr>
          <p:spPr>
            <a:xfrm>
              <a:off x="5348850" y="2947450"/>
              <a:ext cx="770400" cy="82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a:t>
              </a:r>
              <a:r>
                <a:rPr baseline="-25000" lang="en"/>
                <a:t>4</a:t>
              </a:r>
              <a:endParaRPr baseline="-25000"/>
            </a:p>
          </p:txBody>
        </p:sp>
        <p:cxnSp>
          <p:nvCxnSpPr>
            <p:cNvPr id="427" name="Google Shape;427;p34"/>
            <p:cNvCxnSpPr>
              <a:stCxn id="426" idx="0"/>
            </p:cNvCxnSpPr>
            <p:nvPr/>
          </p:nvCxnSpPr>
          <p:spPr>
            <a:xfrm rot="10800000">
              <a:off x="5508150" y="2419150"/>
              <a:ext cx="225900" cy="528300"/>
            </a:xfrm>
            <a:prstGeom prst="straightConnector1">
              <a:avLst/>
            </a:prstGeom>
            <a:noFill/>
            <a:ln cap="flat" cmpd="sng" w="9525">
              <a:solidFill>
                <a:schemeClr val="accent2"/>
              </a:solidFill>
              <a:prstDash val="solid"/>
              <a:round/>
              <a:headEnd len="med" w="med" type="none"/>
              <a:tailEnd len="med" w="med" type="triangle"/>
            </a:ln>
          </p:spPr>
        </p:cxnSp>
        <p:cxnSp>
          <p:nvCxnSpPr>
            <p:cNvPr id="428" name="Google Shape;428;p34"/>
            <p:cNvCxnSpPr>
              <a:endCxn id="412" idx="5"/>
            </p:cNvCxnSpPr>
            <p:nvPr/>
          </p:nvCxnSpPr>
          <p:spPr>
            <a:xfrm rot="10800000">
              <a:off x="4467242" y="1465547"/>
              <a:ext cx="787500" cy="657000"/>
            </a:xfrm>
            <a:prstGeom prst="straightConnector1">
              <a:avLst/>
            </a:prstGeom>
            <a:noFill/>
            <a:ln cap="flat" cmpd="sng" w="9525">
              <a:solidFill>
                <a:schemeClr val="accent2"/>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5"/>
          <p:cNvSpPr txBox="1"/>
          <p:nvPr/>
        </p:nvSpPr>
        <p:spPr>
          <a:xfrm>
            <a:off x="1034725" y="316725"/>
            <a:ext cx="4926900" cy="47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Recovery Leader Role (continued…)</a:t>
            </a:r>
            <a:endParaRPr sz="1800">
              <a:solidFill>
                <a:schemeClr val="dk1"/>
              </a:solidFill>
            </a:endParaRPr>
          </a:p>
        </p:txBody>
      </p:sp>
      <p:sp>
        <p:nvSpPr>
          <p:cNvPr id="434" name="Google Shape;434;p35"/>
          <p:cNvSpPr/>
          <p:nvPr/>
        </p:nvSpPr>
        <p:spPr>
          <a:xfrm>
            <a:off x="1767350" y="1345650"/>
            <a:ext cx="828000" cy="820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t>L</a:t>
            </a:r>
            <a:r>
              <a:rPr baseline="-25000" lang="en" sz="2100"/>
              <a:t>i</a:t>
            </a:r>
            <a:endParaRPr baseline="-25000" sz="2100"/>
          </a:p>
        </p:txBody>
      </p:sp>
      <p:sp>
        <p:nvSpPr>
          <p:cNvPr id="435" name="Google Shape;435;p35"/>
          <p:cNvSpPr/>
          <p:nvPr/>
        </p:nvSpPr>
        <p:spPr>
          <a:xfrm>
            <a:off x="3215800" y="1263025"/>
            <a:ext cx="2796300" cy="39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Set |E| is nf failure (</a:t>
            </a:r>
            <a:r>
              <a:rPr lang="en"/>
              <a:t>messages</a:t>
            </a:r>
            <a:r>
              <a:rPr lang="en"/>
              <a:t>) </a:t>
            </a:r>
            <a:endParaRPr/>
          </a:p>
        </p:txBody>
      </p:sp>
      <p:sp>
        <p:nvSpPr>
          <p:cNvPr id="436" name="Google Shape;436;p35"/>
          <p:cNvSpPr/>
          <p:nvPr/>
        </p:nvSpPr>
        <p:spPr>
          <a:xfrm>
            <a:off x="3215800" y="1855200"/>
            <a:ext cx="2796300" cy="39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Set |E| = { m</a:t>
            </a:r>
            <a:r>
              <a:rPr baseline="-25000" lang="en"/>
              <a:t>2</a:t>
            </a:r>
            <a:r>
              <a:rPr lang="en"/>
              <a:t>, m</a:t>
            </a:r>
            <a:r>
              <a:rPr baseline="-25000" lang="en"/>
              <a:t>3</a:t>
            </a:r>
            <a:r>
              <a:rPr lang="en"/>
              <a:t>, m</a:t>
            </a:r>
            <a:r>
              <a:rPr baseline="-25000" lang="en"/>
              <a:t>4</a:t>
            </a:r>
            <a:r>
              <a:rPr lang="en"/>
              <a:t> }</a:t>
            </a:r>
            <a:endParaRPr/>
          </a:p>
        </p:txBody>
      </p:sp>
      <p:grpSp>
        <p:nvGrpSpPr>
          <p:cNvPr id="437" name="Google Shape;437;p35"/>
          <p:cNvGrpSpPr/>
          <p:nvPr/>
        </p:nvGrpSpPr>
        <p:grpSpPr>
          <a:xfrm>
            <a:off x="480625" y="2046247"/>
            <a:ext cx="1407983" cy="1650228"/>
            <a:chOff x="480625" y="2046247"/>
            <a:chExt cx="1407983" cy="1650228"/>
          </a:xfrm>
        </p:grpSpPr>
        <p:cxnSp>
          <p:nvCxnSpPr>
            <p:cNvPr id="438" name="Google Shape;438;p35"/>
            <p:cNvCxnSpPr>
              <a:stCxn id="434" idx="3"/>
              <a:endCxn id="439" idx="0"/>
            </p:cNvCxnSpPr>
            <p:nvPr/>
          </p:nvCxnSpPr>
          <p:spPr>
            <a:xfrm flipH="1">
              <a:off x="1123908" y="2046247"/>
              <a:ext cx="764700" cy="785100"/>
            </a:xfrm>
            <a:prstGeom prst="straightConnector1">
              <a:avLst/>
            </a:prstGeom>
            <a:noFill/>
            <a:ln cap="flat" cmpd="sng" w="9525">
              <a:solidFill>
                <a:schemeClr val="accent2"/>
              </a:solidFill>
              <a:prstDash val="solid"/>
              <a:round/>
              <a:headEnd len="med" w="med" type="none"/>
              <a:tailEnd len="med" w="med" type="triangle"/>
            </a:ln>
          </p:spPr>
        </p:cxnSp>
        <p:sp>
          <p:nvSpPr>
            <p:cNvPr id="439" name="Google Shape;439;p35"/>
            <p:cNvSpPr/>
            <p:nvPr/>
          </p:nvSpPr>
          <p:spPr>
            <a:xfrm>
              <a:off x="480625" y="2831275"/>
              <a:ext cx="1286700" cy="86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Runs the special PBFT consensus</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grpSp>
      <p:grpSp>
        <p:nvGrpSpPr>
          <p:cNvPr id="440" name="Google Shape;440;p35"/>
          <p:cNvGrpSpPr/>
          <p:nvPr/>
        </p:nvGrpSpPr>
        <p:grpSpPr>
          <a:xfrm>
            <a:off x="2258400" y="2166447"/>
            <a:ext cx="957300" cy="1647478"/>
            <a:chOff x="2258400" y="2166447"/>
            <a:chExt cx="957300" cy="1647478"/>
          </a:xfrm>
        </p:grpSpPr>
        <p:cxnSp>
          <p:nvCxnSpPr>
            <p:cNvPr id="441" name="Google Shape;441;p35"/>
            <p:cNvCxnSpPr/>
            <p:nvPr/>
          </p:nvCxnSpPr>
          <p:spPr>
            <a:xfrm>
              <a:off x="2327508" y="2166447"/>
              <a:ext cx="449400" cy="737400"/>
            </a:xfrm>
            <a:prstGeom prst="straightConnector1">
              <a:avLst/>
            </a:prstGeom>
            <a:noFill/>
            <a:ln cap="flat" cmpd="sng" w="9525">
              <a:solidFill>
                <a:schemeClr val="accent2"/>
              </a:solidFill>
              <a:prstDash val="solid"/>
              <a:round/>
              <a:headEnd len="med" w="med" type="none"/>
              <a:tailEnd len="med" w="med" type="triangle"/>
            </a:ln>
          </p:spPr>
        </p:cxnSp>
        <p:sp>
          <p:nvSpPr>
            <p:cNvPr id="442" name="Google Shape;442;p35"/>
            <p:cNvSpPr/>
            <p:nvPr/>
          </p:nvSpPr>
          <p:spPr>
            <a:xfrm>
              <a:off x="2258400" y="2948725"/>
              <a:ext cx="957300" cy="86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Proposes </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stop (i,E)</a:t>
              </a:r>
              <a:endParaRPr>
                <a:latin typeface="Roboto"/>
                <a:ea typeface="Roboto"/>
                <a:cs typeface="Roboto"/>
                <a:sym typeface="Roboto"/>
              </a:endParaRPr>
            </a:p>
          </p:txBody>
        </p:sp>
      </p:grpSp>
      <p:sp>
        <p:nvSpPr>
          <p:cNvPr id="443" name="Google Shape;443;p35"/>
          <p:cNvSpPr/>
          <p:nvPr/>
        </p:nvSpPr>
        <p:spPr>
          <a:xfrm>
            <a:off x="1092325" y="4299350"/>
            <a:ext cx="4377900" cy="82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‘Lets stop instance i at state S based on evidence E’</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6"/>
          <p:cNvSpPr txBox="1"/>
          <p:nvPr>
            <p:ph type="ctrTitle"/>
          </p:nvPr>
        </p:nvSpPr>
        <p:spPr>
          <a:xfrm>
            <a:off x="998200" y="-56496"/>
            <a:ext cx="5783400" cy="1114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400">
                <a:latin typeface="Arial"/>
                <a:ea typeface="Arial"/>
                <a:cs typeface="Arial"/>
                <a:sym typeface="Arial"/>
              </a:rPr>
              <a:t>State </a:t>
            </a:r>
            <a:r>
              <a:rPr lang="en" sz="2400">
                <a:latin typeface="Arial"/>
                <a:ea typeface="Arial"/>
                <a:cs typeface="Arial"/>
                <a:sym typeface="Arial"/>
              </a:rPr>
              <a:t>Recovery Role (used by replica R)</a:t>
            </a:r>
            <a:endParaRPr sz="2400">
              <a:latin typeface="Arial"/>
              <a:ea typeface="Arial"/>
              <a:cs typeface="Arial"/>
              <a:sym typeface="Arial"/>
            </a:endParaRPr>
          </a:p>
          <a:p>
            <a:pPr indent="0" lvl="0" marL="0" rtl="0" algn="ctr">
              <a:spcBef>
                <a:spcPts val="0"/>
              </a:spcBef>
              <a:spcAft>
                <a:spcPts val="0"/>
              </a:spcAft>
              <a:buNone/>
            </a:pPr>
            <a:r>
              <a:t/>
            </a:r>
            <a:endParaRPr sz="2400"/>
          </a:p>
        </p:txBody>
      </p:sp>
      <p:sp>
        <p:nvSpPr>
          <p:cNvPr id="449" name="Google Shape;449;p36"/>
          <p:cNvSpPr txBox="1"/>
          <p:nvPr/>
        </p:nvSpPr>
        <p:spPr>
          <a:xfrm>
            <a:off x="2053550" y="952500"/>
            <a:ext cx="5016000" cy="4107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Replicas accept the stop(i,E) from L</a:t>
            </a:r>
            <a:r>
              <a:rPr baseline="-25000" lang="en" sz="1900">
                <a:solidFill>
                  <a:schemeClr val="dk1"/>
                </a:solidFill>
                <a:latin typeface="Times New Roman"/>
                <a:ea typeface="Times New Roman"/>
                <a:cs typeface="Times New Roman"/>
                <a:sym typeface="Times New Roman"/>
              </a:rPr>
              <a:t>i</a:t>
            </a:r>
            <a:endParaRPr sz="1800">
              <a:solidFill>
                <a:schemeClr val="dk1"/>
              </a:solidFill>
              <a:latin typeface="Roboto"/>
              <a:ea typeface="Roboto"/>
              <a:cs typeface="Roboto"/>
              <a:sym typeface="Roboto"/>
            </a:endParaRPr>
          </a:p>
        </p:txBody>
      </p:sp>
      <p:sp>
        <p:nvSpPr>
          <p:cNvPr id="450" name="Google Shape;450;p36"/>
          <p:cNvSpPr txBox="1"/>
          <p:nvPr/>
        </p:nvSpPr>
        <p:spPr>
          <a:xfrm>
            <a:off x="2071025" y="1450600"/>
            <a:ext cx="4465500" cy="4107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Agree on last state of I</a:t>
            </a:r>
            <a:r>
              <a:rPr baseline="-25000" lang="en" sz="1900">
                <a:solidFill>
                  <a:schemeClr val="dk1"/>
                </a:solidFill>
                <a:latin typeface="Times New Roman"/>
                <a:ea typeface="Times New Roman"/>
                <a:cs typeface="Times New Roman"/>
                <a:sym typeface="Times New Roman"/>
              </a:rPr>
              <a:t>i </a:t>
            </a:r>
            <a:r>
              <a:rPr lang="en" sz="1900">
                <a:solidFill>
                  <a:schemeClr val="dk1"/>
                </a:solidFill>
                <a:latin typeface="Times New Roman"/>
                <a:ea typeface="Times New Roman"/>
                <a:cs typeface="Times New Roman"/>
                <a:sym typeface="Times New Roman"/>
              </a:rPr>
              <a:t>using E</a:t>
            </a:r>
            <a:endParaRPr sz="1800">
              <a:solidFill>
                <a:schemeClr val="dk1"/>
              </a:solidFill>
              <a:latin typeface="Roboto"/>
              <a:ea typeface="Roboto"/>
              <a:cs typeface="Roboto"/>
              <a:sym typeface="Roboto"/>
            </a:endParaRPr>
          </a:p>
        </p:txBody>
      </p:sp>
      <p:sp>
        <p:nvSpPr>
          <p:cNvPr id="451" name="Google Shape;451;p36"/>
          <p:cNvSpPr txBox="1"/>
          <p:nvPr/>
        </p:nvSpPr>
        <p:spPr>
          <a:xfrm>
            <a:off x="2071025" y="2001125"/>
            <a:ext cx="5783400" cy="5706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Roboto Slab"/>
              <a:buChar char="●"/>
            </a:pPr>
            <a:r>
              <a:rPr lang="en" sz="1900">
                <a:solidFill>
                  <a:schemeClr val="dk1"/>
                </a:solidFill>
                <a:latin typeface="Times New Roman"/>
                <a:ea typeface="Times New Roman"/>
                <a:cs typeface="Times New Roman"/>
                <a:sym typeface="Times New Roman"/>
              </a:rPr>
              <a:t>Determine last round </a:t>
            </a:r>
            <a:r>
              <a:rPr b="1" lang="en" sz="1900">
                <a:solidFill>
                  <a:schemeClr val="dk1"/>
                </a:solidFill>
                <a:latin typeface="Times New Roman"/>
                <a:ea typeface="Times New Roman"/>
                <a:cs typeface="Times New Roman"/>
                <a:sym typeface="Times New Roman"/>
              </a:rPr>
              <a:t>ρ</a:t>
            </a:r>
            <a:r>
              <a:rPr lang="en" sz="1900">
                <a:solidFill>
                  <a:schemeClr val="dk1"/>
                </a:solidFill>
                <a:latin typeface="Times New Roman"/>
                <a:ea typeface="Times New Roman"/>
                <a:cs typeface="Times New Roman"/>
                <a:sym typeface="Times New Roman"/>
              </a:rPr>
              <a:t> where I</a:t>
            </a:r>
            <a:r>
              <a:rPr baseline="-25000" lang="en" sz="1900">
                <a:solidFill>
                  <a:schemeClr val="dk1"/>
                </a:solidFill>
                <a:latin typeface="Times New Roman"/>
                <a:ea typeface="Times New Roman"/>
                <a:cs typeface="Times New Roman"/>
                <a:sym typeface="Times New Roman"/>
              </a:rPr>
              <a:t>i  </a:t>
            </a:r>
            <a:r>
              <a:rPr lang="en" sz="1900">
                <a:solidFill>
                  <a:schemeClr val="dk1"/>
                </a:solidFill>
                <a:latin typeface="Times New Roman"/>
                <a:ea typeface="Times New Roman"/>
                <a:cs typeface="Times New Roman"/>
                <a:sym typeface="Times New Roman"/>
              </a:rPr>
              <a:t>accepted Proposal</a:t>
            </a:r>
            <a:endParaRPr sz="1800">
              <a:solidFill>
                <a:schemeClr val="dk1"/>
              </a:solidFill>
              <a:latin typeface="Roboto"/>
              <a:ea typeface="Roboto"/>
              <a:cs typeface="Roboto"/>
              <a:sym typeface="Roboto"/>
            </a:endParaRPr>
          </a:p>
        </p:txBody>
      </p:sp>
      <p:sp>
        <p:nvSpPr>
          <p:cNvPr id="452" name="Google Shape;452;p36"/>
          <p:cNvSpPr txBox="1"/>
          <p:nvPr/>
        </p:nvSpPr>
        <p:spPr>
          <a:xfrm>
            <a:off x="2079775" y="2688400"/>
            <a:ext cx="5426700" cy="4107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Roboto Slab"/>
              <a:buChar char="●"/>
            </a:pPr>
            <a:r>
              <a:rPr lang="en" sz="1900">
                <a:solidFill>
                  <a:schemeClr val="dk1"/>
                </a:solidFill>
                <a:latin typeface="Times New Roman"/>
                <a:ea typeface="Times New Roman"/>
                <a:cs typeface="Times New Roman"/>
                <a:sym typeface="Times New Roman"/>
              </a:rPr>
              <a:t>Set </a:t>
            </a:r>
            <a:r>
              <a:rPr b="1" lang="en" sz="1900">
                <a:solidFill>
                  <a:schemeClr val="dk1"/>
                </a:solidFill>
                <a:latin typeface="Times New Roman"/>
                <a:ea typeface="Times New Roman"/>
                <a:cs typeface="Times New Roman"/>
                <a:sym typeface="Times New Roman"/>
              </a:rPr>
              <a:t>ρ</a:t>
            </a:r>
            <a:r>
              <a:rPr lang="en" sz="1900">
                <a:solidFill>
                  <a:schemeClr val="dk1"/>
                </a:solidFill>
                <a:latin typeface="Times New Roman"/>
                <a:ea typeface="Times New Roman"/>
                <a:cs typeface="Times New Roman"/>
                <a:sym typeface="Times New Roman"/>
              </a:rPr>
              <a:t> + 2</a:t>
            </a:r>
            <a:r>
              <a:rPr baseline="30000" lang="en" sz="1900">
                <a:solidFill>
                  <a:schemeClr val="dk1"/>
                </a:solidFill>
                <a:latin typeface="Times New Roman"/>
                <a:ea typeface="Times New Roman"/>
                <a:cs typeface="Times New Roman"/>
                <a:sym typeface="Times New Roman"/>
              </a:rPr>
              <a:t>F </a:t>
            </a:r>
            <a:r>
              <a:rPr lang="en" sz="1900">
                <a:solidFill>
                  <a:schemeClr val="dk1"/>
                </a:solidFill>
                <a:latin typeface="Times New Roman"/>
                <a:ea typeface="Times New Roman"/>
                <a:cs typeface="Times New Roman"/>
                <a:sym typeface="Times New Roman"/>
              </a:rPr>
              <a:t> as valid round for I</a:t>
            </a:r>
            <a:r>
              <a:rPr baseline="-25000" lang="en" sz="1900">
                <a:solidFill>
                  <a:schemeClr val="dk1"/>
                </a:solidFill>
                <a:latin typeface="Times New Roman"/>
                <a:ea typeface="Times New Roman"/>
                <a:cs typeface="Times New Roman"/>
                <a:sym typeface="Times New Roman"/>
              </a:rPr>
              <a:t>i</a:t>
            </a:r>
            <a:r>
              <a:rPr lang="en" sz="1900">
                <a:solidFill>
                  <a:schemeClr val="dk1"/>
                </a:solidFill>
                <a:latin typeface="Times New Roman"/>
                <a:ea typeface="Times New Roman"/>
                <a:cs typeface="Times New Roman"/>
                <a:sym typeface="Times New Roman"/>
              </a:rPr>
              <a:t> to begin</a:t>
            </a:r>
            <a:endParaRPr sz="1800">
              <a:solidFill>
                <a:schemeClr val="dk1"/>
              </a:solidFill>
              <a:latin typeface="Roboto"/>
              <a:ea typeface="Roboto"/>
              <a:cs typeface="Roboto"/>
              <a:sym typeface="Roboto"/>
            </a:endParaRPr>
          </a:p>
        </p:txBody>
      </p:sp>
      <p:sp>
        <p:nvSpPr>
          <p:cNvPr id="453" name="Google Shape;453;p36"/>
          <p:cNvSpPr txBox="1"/>
          <p:nvPr/>
        </p:nvSpPr>
        <p:spPr>
          <a:xfrm>
            <a:off x="2079775" y="3215775"/>
            <a:ext cx="5783400" cy="8127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F is number of stop(i; E′) operations (past recoveries) that have been accepted for this instance Iᵢ</a:t>
            </a:r>
            <a:endParaRPr sz="18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Intuition: Why Wait-Free Recovery Works</a:t>
            </a:r>
            <a:endParaRPr/>
          </a:p>
        </p:txBody>
      </p:sp>
      <p:sp>
        <p:nvSpPr>
          <p:cNvPr id="459" name="Google Shape;459;p37"/>
          <p:cNvSpPr txBox="1"/>
          <p:nvPr>
            <p:ph idx="1" type="body"/>
          </p:nvPr>
        </p:nvSpPr>
        <p:spPr>
          <a:xfrm>
            <a:off x="387900" y="1457949"/>
            <a:ext cx="8368200" cy="3078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lang="en"/>
              <a:t>Contrast with PBFT view-change.</a:t>
            </a:r>
            <a:endParaRPr/>
          </a:p>
          <a:p>
            <a:pPr indent="0" lvl="0" marL="0" rtl="0" algn="l">
              <a:lnSpc>
                <a:spcPct val="95000"/>
              </a:lnSpc>
              <a:spcBef>
                <a:spcPts val="1200"/>
              </a:spcBef>
              <a:spcAft>
                <a:spcPts val="0"/>
              </a:spcAft>
              <a:buSzPts val="605"/>
              <a:buNone/>
            </a:pPr>
            <a:r>
              <a:rPr lang="en"/>
              <a:t>PBFT halts the whole protocol to replace a faulty primary.</a:t>
            </a:r>
            <a:endParaRPr/>
          </a:p>
          <a:p>
            <a:pPr indent="0" lvl="0" marL="0" rtl="0" algn="l">
              <a:lnSpc>
                <a:spcPct val="95000"/>
              </a:lnSpc>
              <a:spcBef>
                <a:spcPts val="1200"/>
              </a:spcBef>
              <a:spcAft>
                <a:spcPts val="0"/>
              </a:spcAft>
              <a:buSzPts val="605"/>
              <a:buNone/>
            </a:pPr>
            <a:r>
              <a:rPr lang="en"/>
              <a:t>Only the faulty instance pauses; all others continue.</a:t>
            </a:r>
            <a:endParaRPr/>
          </a:p>
          <a:p>
            <a:pPr indent="0" lvl="0" marL="0" rtl="0" algn="l">
              <a:lnSpc>
                <a:spcPct val="95000"/>
              </a:lnSpc>
              <a:spcBef>
                <a:spcPts val="1200"/>
              </a:spcBef>
              <a:spcAft>
                <a:spcPts val="0"/>
              </a:spcAft>
              <a:buSzPts val="605"/>
              <a:buNone/>
            </a:pPr>
            <a:r>
              <a:rPr lang="en"/>
              <a:t>Recovery handled locally by that instance’s recovery leader.</a:t>
            </a:r>
            <a:endParaRPr/>
          </a:p>
          <a:p>
            <a:pPr indent="0" lvl="0" marL="0" rtl="0" algn="l">
              <a:lnSpc>
                <a:spcPct val="95000"/>
              </a:lnSpc>
              <a:spcBef>
                <a:spcPts val="1200"/>
              </a:spcBef>
              <a:spcAft>
                <a:spcPts val="0"/>
              </a:spcAft>
              <a:buSzPts val="605"/>
              <a:buNone/>
            </a:pPr>
            <a:r>
              <a:rPr lang="en"/>
              <a:t>Maintains progress across healthy instances.</a:t>
            </a:r>
            <a:endParaRPr/>
          </a:p>
          <a:p>
            <a:pPr indent="0" lvl="0" marL="0" rtl="0" algn="l">
              <a:lnSpc>
                <a:spcPct val="95000"/>
              </a:lnSpc>
              <a:spcBef>
                <a:spcPts val="1200"/>
              </a:spcBef>
              <a:spcAft>
                <a:spcPts val="1200"/>
              </a:spcAft>
              <a:buSzPts val="605"/>
              <a:buNone/>
            </a:pPr>
            <a:r>
              <a:rPr lang="en"/>
              <a:t>Enables continuous operation and high throughput.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3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n" sz="2600"/>
              <a:t>Difference between PBFT &amp; RCC Recovery Process*</a:t>
            </a:r>
            <a:endParaRPr sz="2600"/>
          </a:p>
        </p:txBody>
      </p:sp>
      <p:graphicFrame>
        <p:nvGraphicFramePr>
          <p:cNvPr id="465" name="Google Shape;465;p38"/>
          <p:cNvGraphicFramePr/>
          <p:nvPr/>
        </p:nvGraphicFramePr>
        <p:xfrm>
          <a:off x="952500" y="1430750"/>
          <a:ext cx="3000000" cy="3000000"/>
        </p:xfrm>
        <a:graphic>
          <a:graphicData uri="http://schemas.openxmlformats.org/drawingml/2006/table">
            <a:tbl>
              <a:tblPr>
                <a:noFill/>
                <a:tableStyleId>{E50B8033-110F-470B-9C70-293B9FA0C6B0}</a:tableStyleId>
              </a:tblPr>
              <a:tblGrid>
                <a:gridCol w="2413000"/>
                <a:gridCol w="2413000"/>
                <a:gridCol w="2413000"/>
              </a:tblGrid>
              <a:tr h="706100">
                <a:tc>
                  <a:txBody>
                    <a:bodyPr/>
                    <a:lstStyle/>
                    <a:p>
                      <a:pPr indent="0" lvl="0" marL="0" rtl="0" algn="l">
                        <a:spcBef>
                          <a:spcPts val="0"/>
                        </a:spcBef>
                        <a:spcAft>
                          <a:spcPts val="0"/>
                        </a:spcAft>
                        <a:buNone/>
                      </a:pPr>
                      <a:r>
                        <a:rPr lang="en">
                          <a:solidFill>
                            <a:schemeClr val="dk1"/>
                          </a:solidFill>
                          <a:latin typeface="Roboto Slab"/>
                          <a:ea typeface="Roboto Slab"/>
                          <a:cs typeface="Roboto Slab"/>
                          <a:sym typeface="Roboto Slab"/>
                        </a:rPr>
                        <a:t>Criteria</a:t>
                      </a:r>
                      <a:endParaRPr>
                        <a:solidFill>
                          <a:schemeClr val="dk1"/>
                        </a:solidFill>
                        <a:latin typeface="Roboto Slab"/>
                        <a:ea typeface="Roboto Slab"/>
                        <a:cs typeface="Roboto Slab"/>
                        <a:sym typeface="Roboto Slab"/>
                      </a:endParaRPr>
                    </a:p>
                  </a:txBody>
                  <a:tcPr marT="91425" marB="91425" marR="91425" marL="91425"/>
                </a:tc>
                <a:tc>
                  <a:txBody>
                    <a:bodyPr/>
                    <a:lstStyle/>
                    <a:p>
                      <a:pPr indent="0" lvl="0" marL="0" rtl="0" algn="l">
                        <a:spcBef>
                          <a:spcPts val="0"/>
                        </a:spcBef>
                        <a:spcAft>
                          <a:spcPts val="0"/>
                        </a:spcAft>
                        <a:buNone/>
                      </a:pPr>
                      <a:r>
                        <a:rPr lang="en">
                          <a:solidFill>
                            <a:schemeClr val="dk1"/>
                          </a:solidFill>
                        </a:rPr>
                        <a:t>PBFT</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RCC</a:t>
                      </a:r>
                      <a:endParaRPr>
                        <a:solidFill>
                          <a:schemeClr val="dk1"/>
                        </a:solidFill>
                      </a:endParaRPr>
                    </a:p>
                  </a:txBody>
                  <a:tcPr marT="91425" marB="91425" marR="91425" marL="91425"/>
                </a:tc>
              </a:tr>
              <a:tr h="706100">
                <a:tc>
                  <a:txBody>
                    <a:bodyPr/>
                    <a:lstStyle/>
                    <a:p>
                      <a:pPr indent="0" lvl="0" marL="0" rtl="0" algn="l">
                        <a:spcBef>
                          <a:spcPts val="0"/>
                        </a:spcBef>
                        <a:spcAft>
                          <a:spcPts val="0"/>
                        </a:spcAft>
                        <a:buNone/>
                      </a:pPr>
                      <a:r>
                        <a:rPr lang="en">
                          <a:solidFill>
                            <a:schemeClr val="dk1"/>
                          </a:solidFill>
                        </a:rPr>
                        <a:t>Scope of Fault Impact</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System Wide (Global)</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Local/Instance Specific</a:t>
                      </a:r>
                      <a:endParaRPr>
                        <a:solidFill>
                          <a:schemeClr val="dk1"/>
                        </a:solidFill>
                      </a:endParaRPr>
                    </a:p>
                  </a:txBody>
                  <a:tcPr marT="91425" marB="91425" marR="91425" marL="91425"/>
                </a:tc>
              </a:tr>
              <a:tr h="706100">
                <a:tc>
                  <a:txBody>
                    <a:bodyPr/>
                    <a:lstStyle/>
                    <a:p>
                      <a:pPr indent="0" lvl="0" marL="0" rtl="0" algn="l">
                        <a:spcBef>
                          <a:spcPts val="0"/>
                        </a:spcBef>
                        <a:spcAft>
                          <a:spcPts val="0"/>
                        </a:spcAft>
                        <a:buNone/>
                      </a:pPr>
                      <a:r>
                        <a:rPr lang="en">
                          <a:solidFill>
                            <a:schemeClr val="dk1"/>
                          </a:solidFill>
                        </a:rPr>
                        <a:t>Goal of Recovery</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Primary Replacement</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Primary P</a:t>
                      </a:r>
                      <a:r>
                        <a:rPr lang="en">
                          <a:solidFill>
                            <a:schemeClr val="dk1"/>
                          </a:solidFill>
                        </a:rPr>
                        <a:t>enalization &amp; Isolation</a:t>
                      </a:r>
                      <a:endParaRPr>
                        <a:solidFill>
                          <a:schemeClr val="dk1"/>
                        </a:solidFill>
                      </a:endParaRPr>
                    </a:p>
                  </a:txBody>
                  <a:tcPr marT="91425" marB="91425" marR="91425" marL="91425"/>
                </a:tc>
              </a:tr>
              <a:tr h="706100">
                <a:tc>
                  <a:txBody>
                    <a:bodyPr/>
                    <a:lstStyle/>
                    <a:p>
                      <a:pPr indent="0" lvl="0" marL="0" rtl="0" algn="l">
                        <a:spcBef>
                          <a:spcPts val="0"/>
                        </a:spcBef>
                        <a:spcAft>
                          <a:spcPts val="0"/>
                        </a:spcAft>
                        <a:buNone/>
                      </a:pPr>
                      <a:r>
                        <a:rPr lang="en">
                          <a:solidFill>
                            <a:schemeClr val="dk1"/>
                          </a:solidFill>
                        </a:rPr>
                        <a:t>Wait Free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solidFill>
                          <a:schemeClr val="dk1"/>
                        </a:solidFill>
                      </a:endParaRPr>
                    </a:p>
                  </a:txBody>
                  <a:tcPr marT="91425" marB="91425" marR="91425" marL="91425"/>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39"/>
          <p:cNvSpPr txBox="1"/>
          <p:nvPr>
            <p:ph type="title"/>
          </p:nvPr>
        </p:nvSpPr>
        <p:spPr>
          <a:xfrm>
            <a:off x="387900" y="458025"/>
            <a:ext cx="23214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Who is L</a:t>
            </a:r>
            <a:r>
              <a:rPr baseline="-25000" lang="en"/>
              <a:t>i</a:t>
            </a:r>
            <a:r>
              <a:rPr lang="en"/>
              <a:t> </a:t>
            </a:r>
            <a:r>
              <a:rPr lang="en"/>
              <a:t>?*</a:t>
            </a:r>
            <a:endParaRPr/>
          </a:p>
        </p:txBody>
      </p:sp>
      <p:sp>
        <p:nvSpPr>
          <p:cNvPr id="471" name="Google Shape;471;p39"/>
          <p:cNvSpPr txBox="1"/>
          <p:nvPr/>
        </p:nvSpPr>
        <p:spPr>
          <a:xfrm>
            <a:off x="172750" y="1656925"/>
            <a:ext cx="8826300" cy="48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L</a:t>
            </a:r>
            <a:r>
              <a:rPr baseline="-25000" lang="en" sz="1800">
                <a:solidFill>
                  <a:schemeClr val="dk1"/>
                </a:solidFill>
                <a:latin typeface="Roboto"/>
                <a:ea typeface="Roboto"/>
                <a:cs typeface="Roboto"/>
                <a:sym typeface="Roboto"/>
              </a:rPr>
              <a:t>i</a:t>
            </a:r>
            <a:r>
              <a:rPr lang="en" sz="1800">
                <a:solidFill>
                  <a:schemeClr val="dk1"/>
                </a:solidFill>
                <a:latin typeface="Roboto"/>
                <a:ea typeface="Roboto"/>
                <a:cs typeface="Roboto"/>
                <a:sym typeface="Roboto"/>
              </a:rPr>
              <a:t>: primary (leader) of the separate coordinating instance P used ONLY for recovery.</a:t>
            </a:r>
            <a:endParaRPr sz="1800">
              <a:solidFill>
                <a:schemeClr val="dk1"/>
              </a:solidFill>
              <a:latin typeface="Roboto"/>
              <a:ea typeface="Roboto"/>
              <a:cs typeface="Roboto"/>
              <a:sym typeface="Roboto"/>
            </a:endParaRPr>
          </a:p>
        </p:txBody>
      </p:sp>
      <p:sp>
        <p:nvSpPr>
          <p:cNvPr id="472" name="Google Shape;472;p39"/>
          <p:cNvSpPr txBox="1"/>
          <p:nvPr/>
        </p:nvSpPr>
        <p:spPr>
          <a:xfrm>
            <a:off x="628225" y="2387200"/>
            <a:ext cx="6714000" cy="77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L</a:t>
            </a:r>
            <a:r>
              <a:rPr baseline="-25000" lang="en" sz="1800">
                <a:solidFill>
                  <a:schemeClr val="dk1"/>
                </a:solidFill>
                <a:latin typeface="Roboto"/>
                <a:ea typeface="Roboto"/>
                <a:cs typeface="Roboto"/>
                <a:sym typeface="Roboto"/>
              </a:rPr>
              <a:t>i</a:t>
            </a:r>
            <a:r>
              <a:rPr lang="en" sz="1800">
                <a:solidFill>
                  <a:schemeClr val="dk1"/>
                </a:solidFill>
                <a:latin typeface="Roboto"/>
                <a:ea typeface="Roboto"/>
                <a:cs typeface="Roboto"/>
                <a:sym typeface="Roboto"/>
              </a:rPr>
              <a:t> is chosen using the deterministic round robin formula:</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L</a:t>
            </a:r>
            <a:r>
              <a:rPr baseline="-25000" lang="en" sz="1800">
                <a:solidFill>
                  <a:schemeClr val="dk1"/>
                </a:solidFill>
                <a:latin typeface="Roboto"/>
                <a:ea typeface="Roboto"/>
                <a:cs typeface="Roboto"/>
                <a:sym typeface="Roboto"/>
              </a:rPr>
              <a:t>i </a:t>
            </a:r>
            <a:r>
              <a:rPr lang="en" sz="1800">
                <a:solidFill>
                  <a:schemeClr val="dk1"/>
                </a:solidFill>
                <a:latin typeface="Roboto"/>
                <a:ea typeface="Roboto"/>
                <a:cs typeface="Roboto"/>
                <a:sym typeface="Roboto"/>
              </a:rPr>
              <a:t>= (view_number_of_P) mod n</a:t>
            </a:r>
            <a:endParaRPr sz="1800">
              <a:solidFill>
                <a:schemeClr val="dk1"/>
              </a:solidFill>
              <a:latin typeface="Roboto"/>
              <a:ea typeface="Roboto"/>
              <a:cs typeface="Roboto"/>
              <a:sym typeface="Roboto"/>
            </a:endParaRPr>
          </a:p>
          <a:p>
            <a:pPr indent="0" lvl="0" marL="45720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p:txBody>
      </p:sp>
      <p:pic>
        <p:nvPicPr>
          <p:cNvPr id="473" name="Google Shape;473;p39" title="v6fqkxfwzq071.png"/>
          <p:cNvPicPr preferRelativeResize="0"/>
          <p:nvPr/>
        </p:nvPicPr>
        <p:blipFill>
          <a:blip r:embed="rId3">
            <a:alphaModFix/>
          </a:blip>
          <a:stretch>
            <a:fillRect/>
          </a:stretch>
        </p:blipFill>
        <p:spPr>
          <a:xfrm>
            <a:off x="7134825" y="85925"/>
            <a:ext cx="1581650" cy="1523875"/>
          </a:xfrm>
          <a:prstGeom prst="rect">
            <a:avLst/>
          </a:prstGeom>
          <a:noFill/>
          <a:ln>
            <a:noFill/>
          </a:ln>
        </p:spPr>
      </p:pic>
      <p:sp>
        <p:nvSpPr>
          <p:cNvPr id="474" name="Google Shape;474;p39"/>
          <p:cNvSpPr txBox="1"/>
          <p:nvPr/>
        </p:nvSpPr>
        <p:spPr>
          <a:xfrm>
            <a:off x="636075" y="3392350"/>
            <a:ext cx="7947000" cy="68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 L</a:t>
            </a:r>
            <a:r>
              <a:rPr baseline="-25000" lang="en" sz="1800">
                <a:solidFill>
                  <a:schemeClr val="dk1"/>
                </a:solidFill>
                <a:latin typeface="Roboto"/>
                <a:ea typeface="Roboto"/>
                <a:cs typeface="Roboto"/>
                <a:sym typeface="Roboto"/>
              </a:rPr>
              <a:t>i</a:t>
            </a:r>
            <a:r>
              <a:rPr lang="en" sz="1800">
                <a:solidFill>
                  <a:schemeClr val="dk1"/>
                </a:solidFill>
                <a:latin typeface="Roboto"/>
                <a:ea typeface="Roboto"/>
                <a:cs typeface="Roboto"/>
                <a:sym typeface="Roboto"/>
              </a:rPr>
              <a:t> is NOT a separate node, NOT a separate network.</a:t>
            </a:r>
            <a:endParaRPr sz="1800">
              <a:solidFill>
                <a:schemeClr val="dk1"/>
              </a:solidFill>
              <a:latin typeface="Roboto"/>
              <a:ea typeface="Roboto"/>
              <a:cs typeface="Roboto"/>
              <a:sym typeface="Roboto"/>
            </a:endParaRPr>
          </a:p>
        </p:txBody>
      </p:sp>
      <p:sp>
        <p:nvSpPr>
          <p:cNvPr id="475" name="Google Shape;475;p39"/>
          <p:cNvSpPr txBox="1"/>
          <p:nvPr/>
        </p:nvSpPr>
        <p:spPr>
          <a:xfrm>
            <a:off x="541825" y="4209025"/>
            <a:ext cx="8221800" cy="77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Each failed instance I</a:t>
            </a:r>
            <a:r>
              <a:rPr baseline="-25000" lang="en" sz="1800">
                <a:solidFill>
                  <a:schemeClr val="dk1"/>
                </a:solidFill>
                <a:latin typeface="Roboto"/>
                <a:ea typeface="Roboto"/>
                <a:cs typeface="Roboto"/>
                <a:sym typeface="Roboto"/>
              </a:rPr>
              <a:t>i </a:t>
            </a:r>
            <a:r>
              <a:rPr lang="en" sz="1800">
                <a:solidFill>
                  <a:schemeClr val="dk1"/>
                </a:solidFill>
                <a:latin typeface="Roboto"/>
                <a:ea typeface="Roboto"/>
                <a:cs typeface="Roboto"/>
                <a:sym typeface="Roboto"/>
              </a:rPr>
              <a:t>uses its own coordinating PBFT instance P, each with its own L</a:t>
            </a:r>
            <a:r>
              <a:rPr baseline="-25000" lang="en" sz="1800">
                <a:solidFill>
                  <a:schemeClr val="dk1"/>
                </a:solidFill>
                <a:latin typeface="Roboto"/>
                <a:ea typeface="Roboto"/>
                <a:cs typeface="Roboto"/>
                <a:sym typeface="Roboto"/>
              </a:rPr>
              <a:t>i</a:t>
            </a:r>
            <a:r>
              <a:rPr lang="en" sz="1800">
                <a:solidFill>
                  <a:schemeClr val="dk1"/>
                </a:solidFill>
                <a:latin typeface="Roboto"/>
                <a:ea typeface="Roboto"/>
                <a:cs typeface="Roboto"/>
                <a:sym typeface="Roboto"/>
              </a:rPr>
              <a:t>.</a:t>
            </a:r>
            <a:endParaRPr sz="18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7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How is new L</a:t>
            </a:r>
            <a:r>
              <a:rPr baseline="-25000" lang="en"/>
              <a:t>i</a:t>
            </a:r>
            <a:r>
              <a:rPr lang="en"/>
              <a:t> chosen?*</a:t>
            </a:r>
            <a:endParaRPr/>
          </a:p>
        </p:txBody>
      </p:sp>
      <p:sp>
        <p:nvSpPr>
          <p:cNvPr id="481" name="Google Shape;481;p40"/>
          <p:cNvSpPr txBox="1"/>
          <p:nvPr/>
        </p:nvSpPr>
        <p:spPr>
          <a:xfrm>
            <a:off x="172750" y="1562675"/>
            <a:ext cx="8857800" cy="43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Coordinating P runs a normal view change when L</a:t>
            </a:r>
            <a:r>
              <a:rPr baseline="-25000" lang="en" sz="1800">
                <a:solidFill>
                  <a:schemeClr val="dk1"/>
                </a:solidFill>
                <a:latin typeface="Roboto"/>
                <a:ea typeface="Roboto"/>
                <a:cs typeface="Roboto"/>
                <a:sym typeface="Roboto"/>
              </a:rPr>
              <a:t>i</a:t>
            </a:r>
            <a:r>
              <a:rPr lang="en" sz="1800">
                <a:solidFill>
                  <a:schemeClr val="dk1"/>
                </a:solidFill>
                <a:latin typeface="Roboto"/>
                <a:ea typeface="Roboto"/>
                <a:cs typeface="Roboto"/>
                <a:sym typeface="Roboto"/>
              </a:rPr>
              <a:t> fails to propose stop(i,E)</a:t>
            </a:r>
            <a:endParaRPr sz="1800">
              <a:solidFill>
                <a:schemeClr val="dk1"/>
              </a:solidFill>
              <a:latin typeface="Roboto"/>
              <a:ea typeface="Roboto"/>
              <a:cs typeface="Roboto"/>
              <a:sym typeface="Roboto"/>
            </a:endParaRPr>
          </a:p>
        </p:txBody>
      </p:sp>
      <p:sp>
        <p:nvSpPr>
          <p:cNvPr id="482" name="Google Shape;482;p40"/>
          <p:cNvSpPr txBox="1"/>
          <p:nvPr/>
        </p:nvSpPr>
        <p:spPr>
          <a:xfrm>
            <a:off x="628225" y="2073100"/>
            <a:ext cx="6714000" cy="9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So, in next view v+1 of P:</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L</a:t>
            </a:r>
            <a:r>
              <a:rPr baseline="-25000" lang="en" sz="1800">
                <a:solidFill>
                  <a:schemeClr val="dk1"/>
                </a:solidFill>
                <a:latin typeface="Roboto"/>
                <a:ea typeface="Roboto"/>
                <a:cs typeface="Roboto"/>
                <a:sym typeface="Roboto"/>
              </a:rPr>
              <a:t>i </a:t>
            </a:r>
            <a:r>
              <a:rPr lang="en" sz="1800">
                <a:solidFill>
                  <a:schemeClr val="dk1"/>
                </a:solidFill>
                <a:latin typeface="Roboto"/>
                <a:ea typeface="Roboto"/>
                <a:cs typeface="Roboto"/>
                <a:sym typeface="Roboto"/>
              </a:rPr>
              <a:t>new =  (v+1) mod n</a:t>
            </a:r>
            <a:endParaRPr sz="1800">
              <a:solidFill>
                <a:schemeClr val="dk1"/>
              </a:solidFill>
              <a:latin typeface="Roboto"/>
              <a:ea typeface="Roboto"/>
              <a:cs typeface="Roboto"/>
              <a:sym typeface="Roboto"/>
            </a:endParaRPr>
          </a:p>
        </p:txBody>
      </p:sp>
      <p:sp>
        <p:nvSpPr>
          <p:cNvPr id="483" name="Google Shape;483;p40"/>
          <p:cNvSpPr txBox="1"/>
          <p:nvPr/>
        </p:nvSpPr>
        <p:spPr>
          <a:xfrm>
            <a:off x="584300" y="3126525"/>
            <a:ext cx="8218500" cy="9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Note: This view change don’t affect any other instances at all</a:t>
            </a:r>
            <a:endParaRPr sz="18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1"/>
          <p:cNvSpPr txBox="1"/>
          <p:nvPr>
            <p:ph type="title"/>
          </p:nvPr>
        </p:nvSpPr>
        <p:spPr>
          <a:xfrm>
            <a:off x="387900" y="451422"/>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Handling</a:t>
            </a:r>
            <a:r>
              <a:rPr lang="en"/>
              <a:t> Undetectable Failures</a:t>
            </a:r>
            <a:endParaRPr/>
          </a:p>
        </p:txBody>
      </p:sp>
      <p:sp>
        <p:nvSpPr>
          <p:cNvPr id="489" name="Google Shape;489;p41"/>
          <p:cNvSpPr txBox="1"/>
          <p:nvPr>
            <p:ph idx="1" type="body"/>
          </p:nvPr>
        </p:nvSpPr>
        <p:spPr>
          <a:xfrm>
            <a:off x="387900" y="1505530"/>
            <a:ext cx="8368200" cy="347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490" name="Google Shape;490;p41"/>
          <p:cNvSpPr txBox="1"/>
          <p:nvPr/>
        </p:nvSpPr>
        <p:spPr>
          <a:xfrm>
            <a:off x="508000" y="1489825"/>
            <a:ext cx="3691200" cy="40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800">
                <a:solidFill>
                  <a:schemeClr val="dk1"/>
                </a:solidFill>
                <a:latin typeface="Roboto"/>
                <a:ea typeface="Roboto"/>
                <a:cs typeface="Roboto"/>
                <a:sym typeface="Roboto"/>
              </a:rPr>
              <a:t>What’s an “Undetectable” Failure?</a:t>
            </a:r>
            <a:endParaRPr sz="1800">
              <a:solidFill>
                <a:schemeClr val="dk1"/>
              </a:solidFill>
              <a:latin typeface="Roboto"/>
              <a:ea typeface="Roboto"/>
              <a:cs typeface="Roboto"/>
              <a:sym typeface="Roboto"/>
            </a:endParaRPr>
          </a:p>
        </p:txBody>
      </p:sp>
      <p:sp>
        <p:nvSpPr>
          <p:cNvPr id="491" name="Google Shape;491;p41"/>
          <p:cNvSpPr txBox="1"/>
          <p:nvPr/>
        </p:nvSpPr>
        <p:spPr>
          <a:xfrm>
            <a:off x="508000" y="1897525"/>
            <a:ext cx="5594100" cy="45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800">
                <a:solidFill>
                  <a:schemeClr val="dk1"/>
                </a:solidFill>
                <a:latin typeface="Roboto"/>
                <a:ea typeface="Roboto"/>
                <a:cs typeface="Roboto"/>
                <a:sym typeface="Roboto"/>
              </a:rPr>
              <a:t>Can’t be </a:t>
            </a:r>
            <a:r>
              <a:rPr lang="en" sz="1800">
                <a:solidFill>
                  <a:schemeClr val="dk1"/>
                </a:solidFill>
                <a:latin typeface="Roboto"/>
                <a:ea typeface="Roboto"/>
                <a:cs typeface="Roboto"/>
                <a:sym typeface="Roboto"/>
              </a:rPr>
              <a:t>Observed by f+1 distinct replicas.</a:t>
            </a:r>
            <a:endParaRPr sz="1800">
              <a:solidFill>
                <a:schemeClr val="dk1"/>
              </a:solidFill>
              <a:latin typeface="Roboto"/>
              <a:ea typeface="Roboto"/>
              <a:cs typeface="Roboto"/>
              <a:sym typeface="Roboto"/>
            </a:endParaRPr>
          </a:p>
        </p:txBody>
      </p:sp>
      <p:sp>
        <p:nvSpPr>
          <p:cNvPr id="492" name="Google Shape;492;p41"/>
          <p:cNvSpPr txBox="1"/>
          <p:nvPr/>
        </p:nvSpPr>
        <p:spPr>
          <a:xfrm>
            <a:off x="547250" y="3142000"/>
            <a:ext cx="5422500" cy="123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1"/>
                </a:solidFill>
                <a:latin typeface="Roboto"/>
                <a:ea typeface="Roboto"/>
                <a:cs typeface="Roboto"/>
                <a:sym typeface="Roboto"/>
              </a:rPr>
              <a:t>Key Problems for RCC</a:t>
            </a:r>
            <a:r>
              <a:rPr lang="en" sz="1800">
                <a:solidFill>
                  <a:schemeClr val="dk1"/>
                </a:solidFill>
                <a:latin typeface="Roboto"/>
                <a:ea typeface="Roboto"/>
                <a:cs typeface="Roboto"/>
                <a:sym typeface="Roboto"/>
              </a:rPr>
              <a:t>⚠️</a:t>
            </a:r>
            <a:r>
              <a:rPr lang="en" sz="1800">
                <a:solidFill>
                  <a:schemeClr val="dk1"/>
                </a:solidFill>
                <a:latin typeface="Roboto"/>
                <a:ea typeface="Roboto"/>
                <a:cs typeface="Roboto"/>
                <a:sym typeface="Roboto"/>
              </a:rPr>
              <a:t>:</a:t>
            </a:r>
            <a:endParaRPr sz="1800">
              <a:solidFill>
                <a:schemeClr val="dk1"/>
              </a:solidFill>
              <a:latin typeface="Roboto"/>
              <a:ea typeface="Roboto"/>
              <a:cs typeface="Roboto"/>
              <a:sym typeface="Roboto"/>
            </a:endParaRPr>
          </a:p>
          <a:p>
            <a:pPr indent="-342900" lvl="0" marL="457200" rtl="0" algn="l">
              <a:lnSpc>
                <a:spcPct val="115000"/>
              </a:lnSpc>
              <a:spcBef>
                <a:spcPts val="1200"/>
              </a:spcBef>
              <a:spcAft>
                <a:spcPts val="0"/>
              </a:spcAft>
              <a:buClr>
                <a:schemeClr val="dk1"/>
              </a:buClr>
              <a:buSzPts val="1800"/>
              <a:buFont typeface="Roboto"/>
              <a:buChar char="●"/>
            </a:pPr>
            <a:r>
              <a:rPr lang="en" sz="1800">
                <a:solidFill>
                  <a:schemeClr val="dk1"/>
                </a:solidFill>
                <a:latin typeface="Roboto"/>
                <a:ea typeface="Roboto"/>
                <a:cs typeface="Roboto"/>
                <a:sym typeface="Roboto"/>
              </a:rPr>
              <a:t>Can stall the progress of good replicas</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Difficulty in detecting failures</a:t>
            </a:r>
            <a:endParaRPr sz="1800">
              <a:solidFill>
                <a:schemeClr val="dk1"/>
              </a:solidFill>
              <a:latin typeface="Roboto"/>
              <a:ea typeface="Roboto"/>
              <a:cs typeface="Roboto"/>
              <a:sym typeface="Roboto"/>
            </a:endParaRPr>
          </a:p>
        </p:txBody>
      </p:sp>
      <p:sp>
        <p:nvSpPr>
          <p:cNvPr id="493" name="Google Shape;493;p41"/>
          <p:cNvSpPr txBox="1"/>
          <p:nvPr/>
        </p:nvSpPr>
        <p:spPr>
          <a:xfrm>
            <a:off x="508000" y="2452700"/>
            <a:ext cx="4572000" cy="40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800">
                <a:solidFill>
                  <a:schemeClr val="dk1"/>
                </a:solidFill>
                <a:latin typeface="Roboto"/>
                <a:ea typeface="Roboto"/>
                <a:cs typeface="Roboto"/>
                <a:sym typeface="Roboto"/>
              </a:rPr>
              <a:t>Troublesome for RCC</a:t>
            </a:r>
            <a:endParaRPr sz="18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4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Example (Collusion Attack)</a:t>
            </a:r>
            <a:endParaRPr/>
          </a:p>
        </p:txBody>
      </p:sp>
      <p:sp>
        <p:nvSpPr>
          <p:cNvPr id="499" name="Google Shape;499;p42"/>
          <p:cNvSpPr/>
          <p:nvPr/>
        </p:nvSpPr>
        <p:spPr>
          <a:xfrm>
            <a:off x="815550" y="1337725"/>
            <a:ext cx="1974300" cy="105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Good Replicas</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|A| = 2</a:t>
            </a:r>
            <a:endParaRPr>
              <a:latin typeface="Roboto"/>
              <a:ea typeface="Roboto"/>
              <a:cs typeface="Roboto"/>
              <a:sym typeface="Roboto"/>
            </a:endParaRPr>
          </a:p>
        </p:txBody>
      </p:sp>
      <p:sp>
        <p:nvSpPr>
          <p:cNvPr id="500" name="Google Shape;500;p42"/>
          <p:cNvSpPr/>
          <p:nvPr/>
        </p:nvSpPr>
        <p:spPr>
          <a:xfrm>
            <a:off x="3584838" y="1337725"/>
            <a:ext cx="1974300" cy="105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Good Replica</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|B| = 1</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sp>
        <p:nvSpPr>
          <p:cNvPr id="501" name="Google Shape;501;p42"/>
          <p:cNvSpPr/>
          <p:nvPr/>
        </p:nvSpPr>
        <p:spPr>
          <a:xfrm>
            <a:off x="6442675" y="1337725"/>
            <a:ext cx="1974300" cy="105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Good Replicas</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|C| = 2</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sp>
        <p:nvSpPr>
          <p:cNvPr id="502" name="Google Shape;502;p42"/>
          <p:cNvSpPr/>
          <p:nvPr/>
        </p:nvSpPr>
        <p:spPr>
          <a:xfrm>
            <a:off x="2925850" y="3855825"/>
            <a:ext cx="2925900" cy="1201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P</a:t>
            </a:r>
            <a:r>
              <a:rPr baseline="-25000" lang="en">
                <a:latin typeface="Roboto"/>
                <a:ea typeface="Roboto"/>
                <a:cs typeface="Roboto"/>
                <a:sym typeface="Roboto"/>
              </a:rPr>
              <a:t>1</a:t>
            </a:r>
            <a:r>
              <a:rPr lang="en">
                <a:latin typeface="Roboto"/>
                <a:ea typeface="Roboto"/>
                <a:cs typeface="Roboto"/>
                <a:sym typeface="Roboto"/>
              </a:rPr>
              <a:t>                    P</a:t>
            </a:r>
            <a:r>
              <a:rPr baseline="-25000" lang="en">
                <a:latin typeface="Roboto"/>
                <a:ea typeface="Roboto"/>
                <a:cs typeface="Roboto"/>
                <a:sym typeface="Roboto"/>
              </a:rPr>
              <a:t>2</a:t>
            </a:r>
            <a:endParaRPr baseline="-25000">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Malicious</a:t>
            </a:r>
            <a:endParaRPr>
              <a:latin typeface="Roboto"/>
              <a:ea typeface="Roboto"/>
              <a:cs typeface="Roboto"/>
              <a:sym typeface="Roboto"/>
            </a:endParaRPr>
          </a:p>
        </p:txBody>
      </p:sp>
      <p:grpSp>
        <p:nvGrpSpPr>
          <p:cNvPr id="503" name="Google Shape;503;p42"/>
          <p:cNvGrpSpPr/>
          <p:nvPr/>
        </p:nvGrpSpPr>
        <p:grpSpPr>
          <a:xfrm>
            <a:off x="1802700" y="2396425"/>
            <a:ext cx="1945800" cy="1988700"/>
            <a:chOff x="1802700" y="2396425"/>
            <a:chExt cx="1945800" cy="1988700"/>
          </a:xfrm>
        </p:grpSpPr>
        <p:cxnSp>
          <p:nvCxnSpPr>
            <p:cNvPr id="504" name="Google Shape;504;p42"/>
            <p:cNvCxnSpPr>
              <a:endCxn id="499" idx="4"/>
            </p:cNvCxnSpPr>
            <p:nvPr/>
          </p:nvCxnSpPr>
          <p:spPr>
            <a:xfrm rot="10800000">
              <a:off x="1802700" y="2396425"/>
              <a:ext cx="1945800" cy="1988700"/>
            </a:xfrm>
            <a:prstGeom prst="straightConnector1">
              <a:avLst/>
            </a:prstGeom>
            <a:noFill/>
            <a:ln cap="flat" cmpd="sng" w="9525">
              <a:solidFill>
                <a:schemeClr val="accent2"/>
              </a:solidFill>
              <a:prstDash val="solid"/>
              <a:round/>
              <a:headEnd len="med" w="med" type="none"/>
              <a:tailEnd len="med" w="med" type="triangle"/>
            </a:ln>
          </p:spPr>
        </p:cxnSp>
        <p:sp>
          <p:nvSpPr>
            <p:cNvPr id="505" name="Google Shape;505;p42"/>
            <p:cNvSpPr txBox="1"/>
            <p:nvPr/>
          </p:nvSpPr>
          <p:spPr>
            <a:xfrm>
              <a:off x="2167425" y="3369225"/>
              <a:ext cx="901500" cy="4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{T</a:t>
              </a:r>
              <a:r>
                <a:rPr baseline="-25000" lang="en" sz="1800">
                  <a:solidFill>
                    <a:schemeClr val="dk1"/>
                  </a:solidFill>
                  <a:latin typeface="Roboto"/>
                  <a:ea typeface="Roboto"/>
                  <a:cs typeface="Roboto"/>
                  <a:sym typeface="Roboto"/>
                </a:rPr>
                <a:t>1</a:t>
              </a:r>
              <a:r>
                <a:rPr lang="en" sz="1800">
                  <a:solidFill>
                    <a:schemeClr val="dk1"/>
                  </a:solidFill>
                  <a:latin typeface="Roboto"/>
                  <a:ea typeface="Roboto"/>
                  <a:cs typeface="Roboto"/>
                  <a:sym typeface="Roboto"/>
                </a:rPr>
                <a:t>}c</a:t>
              </a:r>
              <a:r>
                <a:rPr baseline="-25000" lang="en" sz="1800">
                  <a:solidFill>
                    <a:schemeClr val="dk1"/>
                  </a:solidFill>
                  <a:latin typeface="Roboto"/>
                  <a:ea typeface="Roboto"/>
                  <a:cs typeface="Roboto"/>
                  <a:sym typeface="Roboto"/>
                </a:rPr>
                <a:t>1</a:t>
              </a:r>
              <a:endParaRPr baseline="-25000" sz="1800">
                <a:solidFill>
                  <a:schemeClr val="dk1"/>
                </a:solidFill>
                <a:latin typeface="Roboto"/>
                <a:ea typeface="Roboto"/>
                <a:cs typeface="Roboto"/>
                <a:sym typeface="Roboto"/>
              </a:endParaRPr>
            </a:p>
          </p:txBody>
        </p:sp>
      </p:grpSp>
      <p:grpSp>
        <p:nvGrpSpPr>
          <p:cNvPr id="506" name="Google Shape;506;p42"/>
          <p:cNvGrpSpPr/>
          <p:nvPr/>
        </p:nvGrpSpPr>
        <p:grpSpPr>
          <a:xfrm>
            <a:off x="4735800" y="2389250"/>
            <a:ext cx="962213" cy="1960200"/>
            <a:chOff x="4735800" y="2389250"/>
            <a:chExt cx="962213" cy="1960200"/>
          </a:xfrm>
        </p:grpSpPr>
        <p:cxnSp>
          <p:nvCxnSpPr>
            <p:cNvPr id="507" name="Google Shape;507;p42"/>
            <p:cNvCxnSpPr/>
            <p:nvPr/>
          </p:nvCxnSpPr>
          <p:spPr>
            <a:xfrm rot="10800000">
              <a:off x="4735800" y="2389250"/>
              <a:ext cx="221700" cy="1960200"/>
            </a:xfrm>
            <a:prstGeom prst="straightConnector1">
              <a:avLst/>
            </a:prstGeom>
            <a:noFill/>
            <a:ln cap="flat" cmpd="sng" w="9525">
              <a:solidFill>
                <a:schemeClr val="accent2"/>
              </a:solidFill>
              <a:prstDash val="solid"/>
              <a:round/>
              <a:headEnd len="med" w="med" type="none"/>
              <a:tailEnd len="med" w="med" type="triangle"/>
            </a:ln>
          </p:spPr>
        </p:cxnSp>
        <p:sp>
          <p:nvSpPr>
            <p:cNvPr id="508" name="Google Shape;508;p42"/>
            <p:cNvSpPr txBox="1"/>
            <p:nvPr/>
          </p:nvSpPr>
          <p:spPr>
            <a:xfrm>
              <a:off x="4796513" y="3126050"/>
              <a:ext cx="901500" cy="4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{T</a:t>
              </a:r>
              <a:r>
                <a:rPr baseline="-25000" lang="en" sz="1800">
                  <a:solidFill>
                    <a:schemeClr val="dk1"/>
                  </a:solidFill>
                  <a:latin typeface="Roboto"/>
                  <a:ea typeface="Roboto"/>
                  <a:cs typeface="Roboto"/>
                  <a:sym typeface="Roboto"/>
                </a:rPr>
                <a:t>2</a:t>
              </a:r>
              <a:r>
                <a:rPr lang="en" sz="1800">
                  <a:solidFill>
                    <a:schemeClr val="dk1"/>
                  </a:solidFill>
                  <a:latin typeface="Roboto"/>
                  <a:ea typeface="Roboto"/>
                  <a:cs typeface="Roboto"/>
                  <a:sym typeface="Roboto"/>
                </a:rPr>
                <a:t>}c</a:t>
              </a:r>
              <a:r>
                <a:rPr baseline="-25000" lang="en" sz="1800">
                  <a:solidFill>
                    <a:schemeClr val="dk1"/>
                  </a:solidFill>
                  <a:latin typeface="Roboto"/>
                  <a:ea typeface="Roboto"/>
                  <a:cs typeface="Roboto"/>
                  <a:sym typeface="Roboto"/>
                </a:rPr>
                <a:t>2</a:t>
              </a:r>
              <a:endParaRPr baseline="-25000" sz="1800">
                <a:solidFill>
                  <a:schemeClr val="dk1"/>
                </a:solidFill>
                <a:latin typeface="Roboto"/>
                <a:ea typeface="Roboto"/>
                <a:cs typeface="Roboto"/>
                <a:sym typeface="Roboto"/>
              </a:endParaRPr>
            </a:p>
          </p:txBody>
        </p:sp>
      </p:grpSp>
      <p:grpSp>
        <p:nvGrpSpPr>
          <p:cNvPr id="509" name="Google Shape;509;p42"/>
          <p:cNvGrpSpPr/>
          <p:nvPr/>
        </p:nvGrpSpPr>
        <p:grpSpPr>
          <a:xfrm>
            <a:off x="3405200" y="2382075"/>
            <a:ext cx="901500" cy="2010300"/>
            <a:chOff x="3405200" y="2382075"/>
            <a:chExt cx="901500" cy="2010300"/>
          </a:xfrm>
        </p:grpSpPr>
        <p:cxnSp>
          <p:nvCxnSpPr>
            <p:cNvPr id="510" name="Google Shape;510;p42"/>
            <p:cNvCxnSpPr/>
            <p:nvPr/>
          </p:nvCxnSpPr>
          <p:spPr>
            <a:xfrm flipH="1" rot="10800000">
              <a:off x="3941675" y="2382075"/>
              <a:ext cx="336300" cy="2010300"/>
            </a:xfrm>
            <a:prstGeom prst="straightConnector1">
              <a:avLst/>
            </a:prstGeom>
            <a:noFill/>
            <a:ln cap="flat" cmpd="sng" w="9525">
              <a:solidFill>
                <a:schemeClr val="accent2"/>
              </a:solidFill>
              <a:prstDash val="solid"/>
              <a:round/>
              <a:headEnd len="med" w="med" type="none"/>
              <a:tailEnd len="med" w="med" type="triangle"/>
            </a:ln>
          </p:spPr>
        </p:cxnSp>
        <p:sp>
          <p:nvSpPr>
            <p:cNvPr id="511" name="Google Shape;511;p42"/>
            <p:cNvSpPr txBox="1"/>
            <p:nvPr/>
          </p:nvSpPr>
          <p:spPr>
            <a:xfrm>
              <a:off x="3405200" y="2987275"/>
              <a:ext cx="901500" cy="4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{T</a:t>
              </a:r>
              <a:r>
                <a:rPr baseline="-25000" lang="en" sz="1800">
                  <a:solidFill>
                    <a:schemeClr val="dk1"/>
                  </a:solidFill>
                  <a:latin typeface="Roboto"/>
                  <a:ea typeface="Roboto"/>
                  <a:cs typeface="Roboto"/>
                  <a:sym typeface="Roboto"/>
                </a:rPr>
                <a:t>1</a:t>
              </a:r>
              <a:r>
                <a:rPr lang="en" sz="1800">
                  <a:solidFill>
                    <a:schemeClr val="dk1"/>
                  </a:solidFill>
                  <a:latin typeface="Roboto"/>
                  <a:ea typeface="Roboto"/>
                  <a:cs typeface="Roboto"/>
                  <a:sym typeface="Roboto"/>
                </a:rPr>
                <a:t>}c</a:t>
              </a:r>
              <a:r>
                <a:rPr baseline="-25000" lang="en" sz="1800">
                  <a:solidFill>
                    <a:schemeClr val="dk1"/>
                  </a:solidFill>
                  <a:latin typeface="Roboto"/>
                  <a:ea typeface="Roboto"/>
                  <a:cs typeface="Roboto"/>
                  <a:sym typeface="Roboto"/>
                </a:rPr>
                <a:t>1</a:t>
              </a:r>
              <a:endParaRPr baseline="-25000" sz="1800">
                <a:solidFill>
                  <a:schemeClr val="dk1"/>
                </a:solidFill>
                <a:latin typeface="Roboto"/>
                <a:ea typeface="Roboto"/>
                <a:cs typeface="Roboto"/>
                <a:sym typeface="Roboto"/>
              </a:endParaRPr>
            </a:p>
          </p:txBody>
        </p:sp>
      </p:grpSp>
      <p:grpSp>
        <p:nvGrpSpPr>
          <p:cNvPr id="512" name="Google Shape;512;p42"/>
          <p:cNvGrpSpPr/>
          <p:nvPr/>
        </p:nvGrpSpPr>
        <p:grpSpPr>
          <a:xfrm>
            <a:off x="5278014" y="2396424"/>
            <a:ext cx="2151806" cy="1960199"/>
            <a:chOff x="5293825" y="2396425"/>
            <a:chExt cx="2136000" cy="1945800"/>
          </a:xfrm>
        </p:grpSpPr>
        <p:cxnSp>
          <p:nvCxnSpPr>
            <p:cNvPr id="513" name="Google Shape;513;p42"/>
            <p:cNvCxnSpPr/>
            <p:nvPr/>
          </p:nvCxnSpPr>
          <p:spPr>
            <a:xfrm flipH="1" rot="10800000">
              <a:off x="5293825" y="2396425"/>
              <a:ext cx="2136000" cy="1945800"/>
            </a:xfrm>
            <a:prstGeom prst="straightConnector1">
              <a:avLst/>
            </a:prstGeom>
            <a:noFill/>
            <a:ln cap="flat" cmpd="sng" w="9600">
              <a:solidFill>
                <a:schemeClr val="accent2"/>
              </a:solidFill>
              <a:prstDash val="solid"/>
              <a:round/>
              <a:headEnd len="med" w="med" type="none"/>
              <a:tailEnd len="med" w="med" type="triangle"/>
            </a:ln>
          </p:spPr>
        </p:cxnSp>
        <p:sp>
          <p:nvSpPr>
            <p:cNvPr id="514" name="Google Shape;514;p42"/>
            <p:cNvSpPr txBox="1"/>
            <p:nvPr/>
          </p:nvSpPr>
          <p:spPr>
            <a:xfrm>
              <a:off x="6442663" y="3126025"/>
              <a:ext cx="901500" cy="486600"/>
            </a:xfrm>
            <a:prstGeom prst="rect">
              <a:avLst/>
            </a:prstGeom>
            <a:noFill/>
            <a:ln>
              <a:noFill/>
            </a:ln>
          </p:spPr>
          <p:txBody>
            <a:bodyPr anchorCtr="0" anchor="t" bIns="92100" lIns="92100" spcFirstLastPara="1" rIns="92100" wrap="square" tIns="92100">
              <a:noAutofit/>
            </a:bodyPr>
            <a:lstStyle/>
            <a:p>
              <a:pPr indent="0" lvl="0" marL="0" rtl="0" algn="l">
                <a:spcBef>
                  <a:spcPts val="0"/>
                </a:spcBef>
                <a:spcAft>
                  <a:spcPts val="0"/>
                </a:spcAft>
                <a:buNone/>
              </a:pPr>
              <a:r>
                <a:rPr lang="en" sz="1813">
                  <a:solidFill>
                    <a:schemeClr val="dk1"/>
                  </a:solidFill>
                  <a:latin typeface="Roboto"/>
                  <a:ea typeface="Roboto"/>
                  <a:cs typeface="Roboto"/>
                  <a:sym typeface="Roboto"/>
                </a:rPr>
                <a:t>{T</a:t>
              </a:r>
              <a:r>
                <a:rPr baseline="-25000" lang="en" sz="1813">
                  <a:solidFill>
                    <a:schemeClr val="dk1"/>
                  </a:solidFill>
                  <a:latin typeface="Roboto"/>
                  <a:ea typeface="Roboto"/>
                  <a:cs typeface="Roboto"/>
                  <a:sym typeface="Roboto"/>
                </a:rPr>
                <a:t>2</a:t>
              </a:r>
              <a:r>
                <a:rPr lang="en" sz="1813">
                  <a:solidFill>
                    <a:schemeClr val="dk1"/>
                  </a:solidFill>
                  <a:latin typeface="Roboto"/>
                  <a:ea typeface="Roboto"/>
                  <a:cs typeface="Roboto"/>
                  <a:sym typeface="Roboto"/>
                </a:rPr>
                <a:t>}c</a:t>
              </a:r>
              <a:r>
                <a:rPr baseline="-25000" lang="en" sz="1813">
                  <a:solidFill>
                    <a:schemeClr val="dk1"/>
                  </a:solidFill>
                  <a:latin typeface="Roboto"/>
                  <a:ea typeface="Roboto"/>
                  <a:cs typeface="Roboto"/>
                  <a:sym typeface="Roboto"/>
                </a:rPr>
                <a:t>2</a:t>
              </a:r>
              <a:endParaRPr baseline="-25000" sz="1813">
                <a:solidFill>
                  <a:schemeClr val="dk1"/>
                </a:solidFill>
                <a:latin typeface="Roboto"/>
                <a:ea typeface="Roboto"/>
                <a:cs typeface="Roboto"/>
                <a:sym typeface="Roboto"/>
              </a:endParaRPr>
            </a:p>
          </p:txBody>
        </p:sp>
      </p:grpSp>
      <p:sp>
        <p:nvSpPr>
          <p:cNvPr id="515" name="Google Shape;515;p42"/>
          <p:cNvSpPr/>
          <p:nvPr/>
        </p:nvSpPr>
        <p:spPr>
          <a:xfrm>
            <a:off x="219875" y="2512850"/>
            <a:ext cx="1539000" cy="237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 = 7</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nf = 5</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f = 2</a:t>
            </a:r>
            <a:endParaRPr>
              <a:latin typeface="Roboto"/>
              <a:ea typeface="Roboto"/>
              <a:cs typeface="Roboto"/>
              <a:sym typeface="Roboto"/>
            </a:endParaRPr>
          </a:p>
        </p:txBody>
      </p:sp>
      <p:sp>
        <p:nvSpPr>
          <p:cNvPr id="516" name="Google Shape;516;p42"/>
          <p:cNvSpPr/>
          <p:nvPr/>
        </p:nvSpPr>
        <p:spPr>
          <a:xfrm>
            <a:off x="3494450" y="3461880"/>
            <a:ext cx="866375" cy="488000"/>
          </a:xfrm>
          <a:custGeom>
            <a:rect b="b" l="l" r="r" t="t"/>
            <a:pathLst>
              <a:path extrusionOk="0" h="19520" w="34655">
                <a:moveTo>
                  <a:pt x="0" y="19521"/>
                </a:moveTo>
                <a:cubicBezTo>
                  <a:pt x="4712" y="16275"/>
                  <a:pt x="22877" y="779"/>
                  <a:pt x="28269" y="46"/>
                </a:cubicBezTo>
                <a:cubicBezTo>
                  <a:pt x="33661" y="-687"/>
                  <a:pt x="32091" y="13291"/>
                  <a:pt x="32353" y="15123"/>
                </a:cubicBezTo>
                <a:cubicBezTo>
                  <a:pt x="32615" y="16955"/>
                  <a:pt x="29825" y="10903"/>
                  <a:pt x="29840" y="11040"/>
                </a:cubicBezTo>
                <a:cubicBezTo>
                  <a:pt x="29855" y="11177"/>
                  <a:pt x="31640" y="15849"/>
                  <a:pt x="32442" y="15945"/>
                </a:cubicBezTo>
                <a:cubicBezTo>
                  <a:pt x="33245" y="16041"/>
                  <a:pt x="34286" y="12338"/>
                  <a:pt x="34655" y="11616"/>
                </a:cubicBezTo>
              </a:path>
            </a:pathLst>
          </a:custGeom>
          <a:noFill/>
          <a:ln cap="flat" cmpd="sng" w="9525">
            <a:solidFill>
              <a:srgbClr val="93C47D"/>
            </a:solidFill>
            <a:prstDash val="solid"/>
            <a:round/>
            <a:headEnd len="med" w="med" type="none"/>
            <a:tailEnd len="med" w="med" type="none"/>
          </a:ln>
        </p:spPr>
      </p:sp>
      <p:sp>
        <p:nvSpPr>
          <p:cNvPr id="517" name="Google Shape;517;p42"/>
          <p:cNvSpPr/>
          <p:nvPr/>
        </p:nvSpPr>
        <p:spPr>
          <a:xfrm flipH="1">
            <a:off x="4648200" y="3458505"/>
            <a:ext cx="866375" cy="488000"/>
          </a:xfrm>
          <a:custGeom>
            <a:rect b="b" l="l" r="r" t="t"/>
            <a:pathLst>
              <a:path extrusionOk="0" h="19520" w="34655">
                <a:moveTo>
                  <a:pt x="0" y="19521"/>
                </a:moveTo>
                <a:cubicBezTo>
                  <a:pt x="4712" y="16275"/>
                  <a:pt x="22877" y="779"/>
                  <a:pt x="28269" y="46"/>
                </a:cubicBezTo>
                <a:cubicBezTo>
                  <a:pt x="33661" y="-687"/>
                  <a:pt x="32091" y="13291"/>
                  <a:pt x="32353" y="15123"/>
                </a:cubicBezTo>
                <a:cubicBezTo>
                  <a:pt x="32615" y="16955"/>
                  <a:pt x="29825" y="10903"/>
                  <a:pt x="29840" y="11040"/>
                </a:cubicBezTo>
                <a:cubicBezTo>
                  <a:pt x="29855" y="11177"/>
                  <a:pt x="31640" y="15849"/>
                  <a:pt x="32442" y="15945"/>
                </a:cubicBezTo>
                <a:cubicBezTo>
                  <a:pt x="33245" y="16041"/>
                  <a:pt x="34286" y="12338"/>
                  <a:pt x="34655" y="11616"/>
                </a:cubicBezTo>
              </a:path>
            </a:pathLst>
          </a:custGeom>
          <a:noFill/>
          <a:ln cap="flat" cmpd="sng" w="9525">
            <a:solidFill>
              <a:srgbClr val="93C47D"/>
            </a:solidFill>
            <a:prstDash val="solid"/>
            <a:round/>
            <a:headEnd len="med" w="med" type="none"/>
            <a:tailEnd len="med" w="med" type="non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3"/>
          <p:cNvSpPr txBox="1"/>
          <p:nvPr>
            <p:ph type="title"/>
          </p:nvPr>
        </p:nvSpPr>
        <p:spPr>
          <a:xfrm>
            <a:off x="366525" y="50375"/>
            <a:ext cx="5146200" cy="5700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Example (Collusion Attack)</a:t>
            </a:r>
            <a:endParaRPr/>
          </a:p>
        </p:txBody>
      </p:sp>
      <p:sp>
        <p:nvSpPr>
          <p:cNvPr id="523" name="Google Shape;523;p43"/>
          <p:cNvSpPr/>
          <p:nvPr/>
        </p:nvSpPr>
        <p:spPr>
          <a:xfrm>
            <a:off x="815550" y="1337725"/>
            <a:ext cx="1974300" cy="105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Good Replicas</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|A| = 2</a:t>
            </a:r>
            <a:endParaRPr>
              <a:latin typeface="Roboto"/>
              <a:ea typeface="Roboto"/>
              <a:cs typeface="Roboto"/>
              <a:sym typeface="Roboto"/>
            </a:endParaRPr>
          </a:p>
        </p:txBody>
      </p:sp>
      <p:sp>
        <p:nvSpPr>
          <p:cNvPr id="524" name="Google Shape;524;p43"/>
          <p:cNvSpPr/>
          <p:nvPr/>
        </p:nvSpPr>
        <p:spPr>
          <a:xfrm>
            <a:off x="3584838" y="1337725"/>
            <a:ext cx="1974300" cy="105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Good Replica</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|B| = 1</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sp>
        <p:nvSpPr>
          <p:cNvPr id="525" name="Google Shape;525;p43"/>
          <p:cNvSpPr/>
          <p:nvPr/>
        </p:nvSpPr>
        <p:spPr>
          <a:xfrm>
            <a:off x="6354150" y="1337725"/>
            <a:ext cx="1974300" cy="105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Good Replicas</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|C| = 2</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sp>
        <p:nvSpPr>
          <p:cNvPr id="526" name="Google Shape;526;p43"/>
          <p:cNvSpPr/>
          <p:nvPr/>
        </p:nvSpPr>
        <p:spPr>
          <a:xfrm>
            <a:off x="2925850" y="3855825"/>
            <a:ext cx="2925900" cy="1201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P</a:t>
            </a:r>
            <a:r>
              <a:rPr baseline="-25000" lang="en">
                <a:latin typeface="Roboto"/>
                <a:ea typeface="Roboto"/>
                <a:cs typeface="Roboto"/>
                <a:sym typeface="Roboto"/>
              </a:rPr>
              <a:t>1</a:t>
            </a:r>
            <a:r>
              <a:rPr lang="en">
                <a:latin typeface="Roboto"/>
                <a:ea typeface="Roboto"/>
                <a:cs typeface="Roboto"/>
                <a:sym typeface="Roboto"/>
              </a:rPr>
              <a:t>                    P</a:t>
            </a:r>
            <a:r>
              <a:rPr baseline="-25000" lang="en">
                <a:latin typeface="Roboto"/>
                <a:ea typeface="Roboto"/>
                <a:cs typeface="Roboto"/>
                <a:sym typeface="Roboto"/>
              </a:rPr>
              <a:t>2</a:t>
            </a:r>
            <a:endParaRPr baseline="-25000">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Malicious</a:t>
            </a:r>
            <a:endParaRPr>
              <a:latin typeface="Roboto"/>
              <a:ea typeface="Roboto"/>
              <a:cs typeface="Roboto"/>
              <a:sym typeface="Roboto"/>
            </a:endParaRPr>
          </a:p>
        </p:txBody>
      </p:sp>
      <p:grpSp>
        <p:nvGrpSpPr>
          <p:cNvPr id="527" name="Google Shape;527;p43"/>
          <p:cNvGrpSpPr/>
          <p:nvPr/>
        </p:nvGrpSpPr>
        <p:grpSpPr>
          <a:xfrm>
            <a:off x="1802700" y="2396425"/>
            <a:ext cx="1945800" cy="1988700"/>
            <a:chOff x="1802700" y="2396425"/>
            <a:chExt cx="1945800" cy="1988700"/>
          </a:xfrm>
        </p:grpSpPr>
        <p:cxnSp>
          <p:nvCxnSpPr>
            <p:cNvPr id="528" name="Google Shape;528;p43"/>
            <p:cNvCxnSpPr>
              <a:endCxn id="523" idx="4"/>
            </p:cNvCxnSpPr>
            <p:nvPr/>
          </p:nvCxnSpPr>
          <p:spPr>
            <a:xfrm rot="10800000">
              <a:off x="1802700" y="2396425"/>
              <a:ext cx="1945800" cy="1988700"/>
            </a:xfrm>
            <a:prstGeom prst="straightConnector1">
              <a:avLst/>
            </a:prstGeom>
            <a:noFill/>
            <a:ln cap="flat" cmpd="sng" w="9525">
              <a:solidFill>
                <a:schemeClr val="accent2"/>
              </a:solidFill>
              <a:prstDash val="solid"/>
              <a:round/>
              <a:headEnd len="med" w="med" type="none"/>
              <a:tailEnd len="med" w="med" type="triangle"/>
            </a:ln>
          </p:spPr>
        </p:cxnSp>
        <p:sp>
          <p:nvSpPr>
            <p:cNvPr id="529" name="Google Shape;529;p43"/>
            <p:cNvSpPr txBox="1"/>
            <p:nvPr/>
          </p:nvSpPr>
          <p:spPr>
            <a:xfrm>
              <a:off x="2167425" y="3369225"/>
              <a:ext cx="901500" cy="4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{T</a:t>
              </a:r>
              <a:r>
                <a:rPr baseline="-25000" lang="en" sz="1800">
                  <a:solidFill>
                    <a:schemeClr val="dk1"/>
                  </a:solidFill>
                  <a:latin typeface="Roboto"/>
                  <a:ea typeface="Roboto"/>
                  <a:cs typeface="Roboto"/>
                  <a:sym typeface="Roboto"/>
                </a:rPr>
                <a:t>1</a:t>
              </a:r>
              <a:r>
                <a:rPr lang="en" sz="1800">
                  <a:solidFill>
                    <a:schemeClr val="dk1"/>
                  </a:solidFill>
                  <a:latin typeface="Roboto"/>
                  <a:ea typeface="Roboto"/>
                  <a:cs typeface="Roboto"/>
                  <a:sym typeface="Roboto"/>
                </a:rPr>
                <a:t>}c</a:t>
              </a:r>
              <a:r>
                <a:rPr baseline="-25000" lang="en" sz="1800">
                  <a:solidFill>
                    <a:schemeClr val="dk1"/>
                  </a:solidFill>
                  <a:latin typeface="Roboto"/>
                  <a:ea typeface="Roboto"/>
                  <a:cs typeface="Roboto"/>
                  <a:sym typeface="Roboto"/>
                </a:rPr>
                <a:t>1</a:t>
              </a:r>
              <a:endParaRPr baseline="-25000" sz="1800">
                <a:solidFill>
                  <a:schemeClr val="dk1"/>
                </a:solidFill>
                <a:latin typeface="Roboto"/>
                <a:ea typeface="Roboto"/>
                <a:cs typeface="Roboto"/>
                <a:sym typeface="Roboto"/>
              </a:endParaRPr>
            </a:p>
          </p:txBody>
        </p:sp>
      </p:grpSp>
      <p:grpSp>
        <p:nvGrpSpPr>
          <p:cNvPr id="530" name="Google Shape;530;p43"/>
          <p:cNvGrpSpPr/>
          <p:nvPr/>
        </p:nvGrpSpPr>
        <p:grpSpPr>
          <a:xfrm>
            <a:off x="4735800" y="2389250"/>
            <a:ext cx="962213" cy="1960200"/>
            <a:chOff x="4735800" y="2389250"/>
            <a:chExt cx="962213" cy="1960200"/>
          </a:xfrm>
        </p:grpSpPr>
        <p:cxnSp>
          <p:nvCxnSpPr>
            <p:cNvPr id="531" name="Google Shape;531;p43"/>
            <p:cNvCxnSpPr/>
            <p:nvPr/>
          </p:nvCxnSpPr>
          <p:spPr>
            <a:xfrm rot="10800000">
              <a:off x="4735800" y="2389250"/>
              <a:ext cx="221700" cy="1960200"/>
            </a:xfrm>
            <a:prstGeom prst="straightConnector1">
              <a:avLst/>
            </a:prstGeom>
            <a:noFill/>
            <a:ln cap="flat" cmpd="sng" w="9525">
              <a:solidFill>
                <a:schemeClr val="accent2"/>
              </a:solidFill>
              <a:prstDash val="solid"/>
              <a:round/>
              <a:headEnd len="med" w="med" type="none"/>
              <a:tailEnd len="med" w="med" type="triangle"/>
            </a:ln>
          </p:spPr>
        </p:cxnSp>
        <p:sp>
          <p:nvSpPr>
            <p:cNvPr id="532" name="Google Shape;532;p43"/>
            <p:cNvSpPr txBox="1"/>
            <p:nvPr/>
          </p:nvSpPr>
          <p:spPr>
            <a:xfrm>
              <a:off x="4796513" y="3126050"/>
              <a:ext cx="901500" cy="4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{T</a:t>
              </a:r>
              <a:r>
                <a:rPr baseline="-25000" lang="en" sz="1800">
                  <a:solidFill>
                    <a:schemeClr val="dk1"/>
                  </a:solidFill>
                  <a:latin typeface="Roboto"/>
                  <a:ea typeface="Roboto"/>
                  <a:cs typeface="Roboto"/>
                  <a:sym typeface="Roboto"/>
                </a:rPr>
                <a:t>2</a:t>
              </a:r>
              <a:r>
                <a:rPr lang="en" sz="1800">
                  <a:solidFill>
                    <a:schemeClr val="dk1"/>
                  </a:solidFill>
                  <a:latin typeface="Roboto"/>
                  <a:ea typeface="Roboto"/>
                  <a:cs typeface="Roboto"/>
                  <a:sym typeface="Roboto"/>
                </a:rPr>
                <a:t>}c</a:t>
              </a:r>
              <a:r>
                <a:rPr baseline="-25000" lang="en" sz="1800">
                  <a:solidFill>
                    <a:schemeClr val="dk1"/>
                  </a:solidFill>
                  <a:latin typeface="Roboto"/>
                  <a:ea typeface="Roboto"/>
                  <a:cs typeface="Roboto"/>
                  <a:sym typeface="Roboto"/>
                </a:rPr>
                <a:t>2</a:t>
              </a:r>
              <a:endParaRPr baseline="-25000" sz="1800">
                <a:solidFill>
                  <a:schemeClr val="dk1"/>
                </a:solidFill>
                <a:latin typeface="Roboto"/>
                <a:ea typeface="Roboto"/>
                <a:cs typeface="Roboto"/>
                <a:sym typeface="Roboto"/>
              </a:endParaRPr>
            </a:p>
          </p:txBody>
        </p:sp>
      </p:grpSp>
      <p:grpSp>
        <p:nvGrpSpPr>
          <p:cNvPr id="533" name="Google Shape;533;p43"/>
          <p:cNvGrpSpPr/>
          <p:nvPr/>
        </p:nvGrpSpPr>
        <p:grpSpPr>
          <a:xfrm>
            <a:off x="3405200" y="2382075"/>
            <a:ext cx="901500" cy="2010300"/>
            <a:chOff x="3405200" y="2382075"/>
            <a:chExt cx="901500" cy="2010300"/>
          </a:xfrm>
        </p:grpSpPr>
        <p:cxnSp>
          <p:nvCxnSpPr>
            <p:cNvPr id="534" name="Google Shape;534;p43"/>
            <p:cNvCxnSpPr/>
            <p:nvPr/>
          </p:nvCxnSpPr>
          <p:spPr>
            <a:xfrm flipH="1" rot="10800000">
              <a:off x="3941675" y="2382075"/>
              <a:ext cx="336300" cy="2010300"/>
            </a:xfrm>
            <a:prstGeom prst="straightConnector1">
              <a:avLst/>
            </a:prstGeom>
            <a:noFill/>
            <a:ln cap="flat" cmpd="sng" w="9525">
              <a:solidFill>
                <a:schemeClr val="accent2"/>
              </a:solidFill>
              <a:prstDash val="solid"/>
              <a:round/>
              <a:headEnd len="med" w="med" type="none"/>
              <a:tailEnd len="med" w="med" type="triangle"/>
            </a:ln>
          </p:spPr>
        </p:cxnSp>
        <p:sp>
          <p:nvSpPr>
            <p:cNvPr id="535" name="Google Shape;535;p43"/>
            <p:cNvSpPr txBox="1"/>
            <p:nvPr/>
          </p:nvSpPr>
          <p:spPr>
            <a:xfrm>
              <a:off x="3405200" y="2987275"/>
              <a:ext cx="901500" cy="4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{T</a:t>
              </a:r>
              <a:r>
                <a:rPr baseline="-25000" lang="en" sz="1800">
                  <a:solidFill>
                    <a:schemeClr val="dk1"/>
                  </a:solidFill>
                  <a:latin typeface="Roboto"/>
                  <a:ea typeface="Roboto"/>
                  <a:cs typeface="Roboto"/>
                  <a:sym typeface="Roboto"/>
                </a:rPr>
                <a:t>1</a:t>
              </a:r>
              <a:r>
                <a:rPr lang="en" sz="1800">
                  <a:solidFill>
                    <a:schemeClr val="dk1"/>
                  </a:solidFill>
                  <a:latin typeface="Roboto"/>
                  <a:ea typeface="Roboto"/>
                  <a:cs typeface="Roboto"/>
                  <a:sym typeface="Roboto"/>
                </a:rPr>
                <a:t>}c</a:t>
              </a:r>
              <a:r>
                <a:rPr baseline="-25000" lang="en" sz="1800">
                  <a:solidFill>
                    <a:schemeClr val="dk1"/>
                  </a:solidFill>
                  <a:latin typeface="Roboto"/>
                  <a:ea typeface="Roboto"/>
                  <a:cs typeface="Roboto"/>
                  <a:sym typeface="Roboto"/>
                </a:rPr>
                <a:t>1</a:t>
              </a:r>
              <a:endParaRPr baseline="-25000" sz="1800">
                <a:solidFill>
                  <a:schemeClr val="dk1"/>
                </a:solidFill>
                <a:latin typeface="Roboto"/>
                <a:ea typeface="Roboto"/>
                <a:cs typeface="Roboto"/>
                <a:sym typeface="Roboto"/>
              </a:endParaRPr>
            </a:p>
          </p:txBody>
        </p:sp>
      </p:grpSp>
      <p:grpSp>
        <p:nvGrpSpPr>
          <p:cNvPr id="536" name="Google Shape;536;p43"/>
          <p:cNvGrpSpPr/>
          <p:nvPr/>
        </p:nvGrpSpPr>
        <p:grpSpPr>
          <a:xfrm>
            <a:off x="5278014" y="2396424"/>
            <a:ext cx="2151806" cy="1960199"/>
            <a:chOff x="5293825" y="2396425"/>
            <a:chExt cx="2136000" cy="1945800"/>
          </a:xfrm>
        </p:grpSpPr>
        <p:cxnSp>
          <p:nvCxnSpPr>
            <p:cNvPr id="537" name="Google Shape;537;p43"/>
            <p:cNvCxnSpPr/>
            <p:nvPr/>
          </p:nvCxnSpPr>
          <p:spPr>
            <a:xfrm flipH="1" rot="10800000">
              <a:off x="5293825" y="2396425"/>
              <a:ext cx="2136000" cy="1945800"/>
            </a:xfrm>
            <a:prstGeom prst="straightConnector1">
              <a:avLst/>
            </a:prstGeom>
            <a:noFill/>
            <a:ln cap="flat" cmpd="sng" w="9600">
              <a:solidFill>
                <a:schemeClr val="accent2"/>
              </a:solidFill>
              <a:prstDash val="solid"/>
              <a:round/>
              <a:headEnd len="med" w="med" type="none"/>
              <a:tailEnd len="med" w="med" type="triangle"/>
            </a:ln>
          </p:spPr>
        </p:cxnSp>
        <p:sp>
          <p:nvSpPr>
            <p:cNvPr id="538" name="Google Shape;538;p43"/>
            <p:cNvSpPr txBox="1"/>
            <p:nvPr/>
          </p:nvSpPr>
          <p:spPr>
            <a:xfrm>
              <a:off x="6442663" y="3126025"/>
              <a:ext cx="901500" cy="486600"/>
            </a:xfrm>
            <a:prstGeom prst="rect">
              <a:avLst/>
            </a:prstGeom>
            <a:noFill/>
            <a:ln>
              <a:noFill/>
            </a:ln>
          </p:spPr>
          <p:txBody>
            <a:bodyPr anchorCtr="0" anchor="t" bIns="92100" lIns="92100" spcFirstLastPara="1" rIns="92100" wrap="square" tIns="92100">
              <a:noAutofit/>
            </a:bodyPr>
            <a:lstStyle/>
            <a:p>
              <a:pPr indent="0" lvl="0" marL="0" rtl="0" algn="l">
                <a:spcBef>
                  <a:spcPts val="0"/>
                </a:spcBef>
                <a:spcAft>
                  <a:spcPts val="0"/>
                </a:spcAft>
                <a:buNone/>
              </a:pPr>
              <a:r>
                <a:rPr lang="en" sz="1813">
                  <a:solidFill>
                    <a:schemeClr val="dk1"/>
                  </a:solidFill>
                  <a:latin typeface="Roboto"/>
                  <a:ea typeface="Roboto"/>
                  <a:cs typeface="Roboto"/>
                  <a:sym typeface="Roboto"/>
                </a:rPr>
                <a:t>{T</a:t>
              </a:r>
              <a:r>
                <a:rPr baseline="-25000" lang="en" sz="1813">
                  <a:solidFill>
                    <a:schemeClr val="dk1"/>
                  </a:solidFill>
                  <a:latin typeface="Roboto"/>
                  <a:ea typeface="Roboto"/>
                  <a:cs typeface="Roboto"/>
                  <a:sym typeface="Roboto"/>
                </a:rPr>
                <a:t>2</a:t>
              </a:r>
              <a:r>
                <a:rPr lang="en" sz="1813">
                  <a:solidFill>
                    <a:schemeClr val="dk1"/>
                  </a:solidFill>
                  <a:latin typeface="Roboto"/>
                  <a:ea typeface="Roboto"/>
                  <a:cs typeface="Roboto"/>
                  <a:sym typeface="Roboto"/>
                </a:rPr>
                <a:t>}c</a:t>
              </a:r>
              <a:r>
                <a:rPr baseline="-25000" lang="en" sz="1813">
                  <a:solidFill>
                    <a:schemeClr val="dk1"/>
                  </a:solidFill>
                  <a:latin typeface="Roboto"/>
                  <a:ea typeface="Roboto"/>
                  <a:cs typeface="Roboto"/>
                  <a:sym typeface="Roboto"/>
                </a:rPr>
                <a:t>2</a:t>
              </a:r>
              <a:endParaRPr baseline="-25000" sz="1813">
                <a:solidFill>
                  <a:schemeClr val="dk1"/>
                </a:solidFill>
                <a:latin typeface="Roboto"/>
                <a:ea typeface="Roboto"/>
                <a:cs typeface="Roboto"/>
                <a:sym typeface="Roboto"/>
              </a:endParaRPr>
            </a:p>
          </p:txBody>
        </p:sp>
      </p:grpSp>
      <p:sp>
        <p:nvSpPr>
          <p:cNvPr id="539" name="Google Shape;539;p43"/>
          <p:cNvSpPr/>
          <p:nvPr/>
        </p:nvSpPr>
        <p:spPr>
          <a:xfrm>
            <a:off x="219875" y="2903450"/>
            <a:ext cx="1068000" cy="198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 = 7</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nf = 5</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f = 2</a:t>
            </a:r>
            <a:endParaRPr>
              <a:latin typeface="Roboto"/>
              <a:ea typeface="Roboto"/>
              <a:cs typeface="Roboto"/>
              <a:sym typeface="Roboto"/>
            </a:endParaRPr>
          </a:p>
        </p:txBody>
      </p:sp>
      <p:sp>
        <p:nvSpPr>
          <p:cNvPr id="540" name="Google Shape;540;p43"/>
          <p:cNvSpPr txBox="1"/>
          <p:nvPr/>
        </p:nvSpPr>
        <p:spPr>
          <a:xfrm>
            <a:off x="3748500" y="989425"/>
            <a:ext cx="1905300" cy="34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Executes</a:t>
            </a:r>
            <a:r>
              <a:rPr lang="en">
                <a:solidFill>
                  <a:srgbClr val="93C47D"/>
                </a:solidFill>
                <a:latin typeface="Roboto"/>
                <a:ea typeface="Roboto"/>
                <a:cs typeface="Roboto"/>
                <a:sym typeface="Roboto"/>
              </a:rPr>
              <a:t> </a:t>
            </a:r>
            <a:r>
              <a:rPr lang="en">
                <a:solidFill>
                  <a:schemeClr val="dk1"/>
                </a:solidFill>
                <a:latin typeface="Roboto"/>
                <a:ea typeface="Roboto"/>
                <a:cs typeface="Roboto"/>
                <a:sym typeface="Roboto"/>
              </a:rPr>
              <a:t>T</a:t>
            </a:r>
            <a:r>
              <a:rPr baseline="-25000" lang="en">
                <a:solidFill>
                  <a:schemeClr val="dk1"/>
                </a:solidFill>
                <a:latin typeface="Roboto"/>
                <a:ea typeface="Roboto"/>
                <a:cs typeface="Roboto"/>
                <a:sym typeface="Roboto"/>
              </a:rPr>
              <a:t>1</a:t>
            </a:r>
            <a:r>
              <a:rPr lang="en">
                <a:solidFill>
                  <a:schemeClr val="dk1"/>
                </a:solidFill>
                <a:latin typeface="Roboto"/>
                <a:ea typeface="Roboto"/>
                <a:cs typeface="Roboto"/>
                <a:sym typeface="Roboto"/>
              </a:rPr>
              <a:t> &amp; </a:t>
            </a:r>
            <a:r>
              <a:rPr lang="en">
                <a:solidFill>
                  <a:schemeClr val="dk1"/>
                </a:solidFill>
                <a:latin typeface="Roboto"/>
                <a:ea typeface="Roboto"/>
                <a:cs typeface="Roboto"/>
                <a:sym typeface="Roboto"/>
              </a:rPr>
              <a:t>T</a:t>
            </a:r>
            <a:r>
              <a:rPr baseline="-25000" lang="en">
                <a:solidFill>
                  <a:schemeClr val="dk1"/>
                </a:solidFill>
                <a:latin typeface="Roboto"/>
                <a:ea typeface="Roboto"/>
                <a:cs typeface="Roboto"/>
                <a:sym typeface="Roboto"/>
              </a:rPr>
              <a:t>2</a:t>
            </a:r>
            <a:r>
              <a:rPr lang="en">
                <a:solidFill>
                  <a:schemeClr val="dk1"/>
                </a:solidFill>
                <a:latin typeface="Roboto"/>
                <a:ea typeface="Roboto"/>
                <a:cs typeface="Roboto"/>
                <a:sym typeface="Roboto"/>
              </a:rPr>
              <a:t> </a:t>
            </a:r>
            <a:r>
              <a:rPr lang="en">
                <a:solidFill>
                  <a:schemeClr val="dk1"/>
                </a:solidFill>
                <a:latin typeface="Roboto"/>
                <a:ea typeface="Roboto"/>
                <a:cs typeface="Roboto"/>
                <a:sym typeface="Roboto"/>
              </a:rPr>
              <a:t>   ✅</a:t>
            </a:r>
            <a:endParaRPr>
              <a:solidFill>
                <a:schemeClr val="dk1"/>
              </a:solidFill>
              <a:latin typeface="Roboto"/>
              <a:ea typeface="Roboto"/>
              <a:cs typeface="Roboto"/>
              <a:sym typeface="Roboto"/>
            </a:endParaRPr>
          </a:p>
        </p:txBody>
      </p:sp>
      <p:sp>
        <p:nvSpPr>
          <p:cNvPr id="541" name="Google Shape;541;p43"/>
          <p:cNvSpPr txBox="1"/>
          <p:nvPr/>
        </p:nvSpPr>
        <p:spPr>
          <a:xfrm>
            <a:off x="47125" y="1397775"/>
            <a:ext cx="768300" cy="99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T</a:t>
            </a:r>
            <a:r>
              <a:rPr baseline="-25000" lang="en">
                <a:solidFill>
                  <a:schemeClr val="dk1"/>
                </a:solidFill>
                <a:latin typeface="Roboto"/>
                <a:ea typeface="Roboto"/>
                <a:cs typeface="Roboto"/>
                <a:sym typeface="Roboto"/>
              </a:rPr>
              <a:t>1</a:t>
            </a:r>
            <a:r>
              <a:rPr lang="en">
                <a:solidFill>
                  <a:schemeClr val="dk1"/>
                </a:solidFill>
                <a:latin typeface="Roboto"/>
                <a:ea typeface="Roboto"/>
                <a:cs typeface="Roboto"/>
                <a:sym typeface="Roboto"/>
              </a:rPr>
              <a:t>  ✅</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T</a:t>
            </a:r>
            <a:r>
              <a:rPr baseline="-25000" lang="en">
                <a:solidFill>
                  <a:schemeClr val="dk1"/>
                </a:solidFill>
                <a:latin typeface="Roboto"/>
                <a:ea typeface="Roboto"/>
                <a:cs typeface="Roboto"/>
                <a:sym typeface="Roboto"/>
              </a:rPr>
              <a:t>2   </a:t>
            </a:r>
            <a:r>
              <a:rPr lang="en">
                <a:solidFill>
                  <a:schemeClr val="dk1"/>
                </a:solidFill>
                <a:latin typeface="Roboto"/>
                <a:ea typeface="Roboto"/>
                <a:cs typeface="Roboto"/>
                <a:sym typeface="Roboto"/>
              </a:rPr>
              <a:t>❌</a:t>
            </a:r>
            <a:endParaRPr>
              <a:solidFill>
                <a:schemeClr val="dk1"/>
              </a:solidFill>
              <a:latin typeface="Roboto"/>
              <a:ea typeface="Roboto"/>
              <a:cs typeface="Roboto"/>
              <a:sym typeface="Roboto"/>
            </a:endParaRPr>
          </a:p>
        </p:txBody>
      </p:sp>
      <p:sp>
        <p:nvSpPr>
          <p:cNvPr id="542" name="Google Shape;542;p43"/>
          <p:cNvSpPr txBox="1"/>
          <p:nvPr/>
        </p:nvSpPr>
        <p:spPr>
          <a:xfrm>
            <a:off x="8401150" y="1397775"/>
            <a:ext cx="768300" cy="99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T</a:t>
            </a:r>
            <a:r>
              <a:rPr baseline="-25000" lang="en">
                <a:solidFill>
                  <a:schemeClr val="dk1"/>
                </a:solidFill>
                <a:latin typeface="Roboto"/>
                <a:ea typeface="Roboto"/>
                <a:cs typeface="Roboto"/>
                <a:sym typeface="Roboto"/>
              </a:rPr>
              <a:t>1</a:t>
            </a:r>
            <a:r>
              <a:rPr lang="en">
                <a:solidFill>
                  <a:schemeClr val="dk1"/>
                </a:solidFill>
                <a:latin typeface="Roboto"/>
                <a:ea typeface="Roboto"/>
                <a:cs typeface="Roboto"/>
                <a:sym typeface="Roboto"/>
              </a:rPr>
              <a:t>  ❌</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T</a:t>
            </a:r>
            <a:r>
              <a:rPr baseline="-25000" lang="en">
                <a:solidFill>
                  <a:schemeClr val="dk1"/>
                </a:solidFill>
                <a:latin typeface="Roboto"/>
                <a:ea typeface="Roboto"/>
                <a:cs typeface="Roboto"/>
                <a:sym typeface="Roboto"/>
              </a:rPr>
              <a:t>2   </a:t>
            </a:r>
            <a:r>
              <a:rPr lang="en">
                <a:solidFill>
                  <a:schemeClr val="dk1"/>
                </a:solidFill>
                <a:latin typeface="Roboto"/>
                <a:ea typeface="Roboto"/>
                <a:cs typeface="Roboto"/>
                <a:sym typeface="Roboto"/>
              </a:rPr>
              <a:t>✅</a:t>
            </a:r>
            <a:endParaRPr>
              <a:solidFill>
                <a:schemeClr val="dk1"/>
              </a:solidFill>
              <a:latin typeface="Roboto"/>
              <a:ea typeface="Roboto"/>
              <a:cs typeface="Roboto"/>
              <a:sym typeface="Roboto"/>
            </a:endParaRPr>
          </a:p>
        </p:txBody>
      </p:sp>
      <p:sp>
        <p:nvSpPr>
          <p:cNvPr id="543" name="Google Shape;543;p43"/>
          <p:cNvSpPr/>
          <p:nvPr/>
        </p:nvSpPr>
        <p:spPr>
          <a:xfrm>
            <a:off x="3494450" y="3461880"/>
            <a:ext cx="866375" cy="488000"/>
          </a:xfrm>
          <a:custGeom>
            <a:rect b="b" l="l" r="r" t="t"/>
            <a:pathLst>
              <a:path extrusionOk="0" h="19520" w="34655">
                <a:moveTo>
                  <a:pt x="0" y="19521"/>
                </a:moveTo>
                <a:cubicBezTo>
                  <a:pt x="4712" y="16275"/>
                  <a:pt x="22877" y="779"/>
                  <a:pt x="28269" y="46"/>
                </a:cubicBezTo>
                <a:cubicBezTo>
                  <a:pt x="33661" y="-687"/>
                  <a:pt x="32091" y="13291"/>
                  <a:pt x="32353" y="15123"/>
                </a:cubicBezTo>
                <a:cubicBezTo>
                  <a:pt x="32615" y="16955"/>
                  <a:pt x="29825" y="10903"/>
                  <a:pt x="29840" y="11040"/>
                </a:cubicBezTo>
                <a:cubicBezTo>
                  <a:pt x="29855" y="11177"/>
                  <a:pt x="31640" y="15849"/>
                  <a:pt x="32442" y="15945"/>
                </a:cubicBezTo>
                <a:cubicBezTo>
                  <a:pt x="33245" y="16041"/>
                  <a:pt x="34286" y="12338"/>
                  <a:pt x="34655" y="11616"/>
                </a:cubicBezTo>
              </a:path>
            </a:pathLst>
          </a:custGeom>
          <a:noFill/>
          <a:ln cap="flat" cmpd="sng" w="9525">
            <a:solidFill>
              <a:srgbClr val="93C47D"/>
            </a:solidFill>
            <a:prstDash val="solid"/>
            <a:round/>
            <a:headEnd len="med" w="med" type="none"/>
            <a:tailEnd len="med" w="med" type="none"/>
          </a:ln>
        </p:spPr>
      </p:sp>
      <p:sp>
        <p:nvSpPr>
          <p:cNvPr id="544" name="Google Shape;544;p43"/>
          <p:cNvSpPr/>
          <p:nvPr/>
        </p:nvSpPr>
        <p:spPr>
          <a:xfrm flipH="1">
            <a:off x="4648200" y="3458505"/>
            <a:ext cx="866375" cy="488000"/>
          </a:xfrm>
          <a:custGeom>
            <a:rect b="b" l="l" r="r" t="t"/>
            <a:pathLst>
              <a:path extrusionOk="0" h="19520" w="34655">
                <a:moveTo>
                  <a:pt x="0" y="19521"/>
                </a:moveTo>
                <a:cubicBezTo>
                  <a:pt x="4712" y="16275"/>
                  <a:pt x="22877" y="779"/>
                  <a:pt x="28269" y="46"/>
                </a:cubicBezTo>
                <a:cubicBezTo>
                  <a:pt x="33661" y="-687"/>
                  <a:pt x="32091" y="13291"/>
                  <a:pt x="32353" y="15123"/>
                </a:cubicBezTo>
                <a:cubicBezTo>
                  <a:pt x="32615" y="16955"/>
                  <a:pt x="29825" y="10903"/>
                  <a:pt x="29840" y="11040"/>
                </a:cubicBezTo>
                <a:cubicBezTo>
                  <a:pt x="29855" y="11177"/>
                  <a:pt x="31640" y="15849"/>
                  <a:pt x="32442" y="15945"/>
                </a:cubicBezTo>
                <a:cubicBezTo>
                  <a:pt x="33245" y="16041"/>
                  <a:pt x="34286" y="12338"/>
                  <a:pt x="34655" y="11616"/>
                </a:cubicBezTo>
              </a:path>
            </a:pathLst>
          </a:custGeom>
          <a:noFill/>
          <a:ln cap="flat" cmpd="sng" w="9525">
            <a:solidFill>
              <a:srgbClr val="93C47D"/>
            </a:solidFill>
            <a:prstDash val="solid"/>
            <a:round/>
            <a:headEnd len="med" w="med" type="none"/>
            <a:tailEnd len="med" w="med" type="none"/>
          </a:ln>
        </p:spPr>
      </p:sp>
      <p:sp>
        <p:nvSpPr>
          <p:cNvPr id="545" name="Google Shape;545;p43"/>
          <p:cNvSpPr/>
          <p:nvPr/>
        </p:nvSpPr>
        <p:spPr>
          <a:xfrm>
            <a:off x="6776575" y="3868175"/>
            <a:ext cx="2014200" cy="10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Can’t reach a confirmed failure!</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4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Solution</a:t>
            </a:r>
            <a:r>
              <a:rPr lang="en"/>
              <a:t> </a:t>
            </a:r>
            <a:endParaRPr/>
          </a:p>
        </p:txBody>
      </p:sp>
      <p:sp>
        <p:nvSpPr>
          <p:cNvPr id="551" name="Google Shape;551;p44"/>
          <p:cNvSpPr txBox="1"/>
          <p:nvPr/>
        </p:nvSpPr>
        <p:spPr>
          <a:xfrm>
            <a:off x="643825" y="1534225"/>
            <a:ext cx="5351100" cy="47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Quick Revision of A1, A2, A3:</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p:txBody>
      </p:sp>
      <p:sp>
        <p:nvSpPr>
          <p:cNvPr id="552" name="Google Shape;552;p44"/>
          <p:cNvSpPr txBox="1"/>
          <p:nvPr/>
        </p:nvSpPr>
        <p:spPr>
          <a:xfrm>
            <a:off x="152700" y="1970450"/>
            <a:ext cx="8718000" cy="7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dk1"/>
                </a:solidFill>
                <a:latin typeface="Roboto"/>
                <a:ea typeface="Roboto"/>
                <a:cs typeface="Roboto"/>
                <a:sym typeface="Roboto"/>
              </a:rPr>
              <a:t>A1:</a:t>
            </a:r>
            <a:r>
              <a:rPr lang="en" sz="1800">
                <a:solidFill>
                  <a:schemeClr val="dk1"/>
                </a:solidFill>
                <a:latin typeface="Roboto"/>
                <a:ea typeface="Roboto"/>
                <a:cs typeface="Roboto"/>
                <a:sym typeface="Roboto"/>
              </a:rPr>
              <a:t> If no failures are detected in round ρ of BCA (the round is successful), then at least </a:t>
            </a:r>
            <a:r>
              <a:rPr b="1" lang="en" sz="1800">
                <a:solidFill>
                  <a:schemeClr val="dk1"/>
                </a:solidFill>
                <a:latin typeface="Roboto"/>
                <a:ea typeface="Roboto"/>
                <a:cs typeface="Roboto"/>
                <a:sym typeface="Roboto"/>
              </a:rPr>
              <a:t>nf-f</a:t>
            </a:r>
            <a:r>
              <a:rPr lang="en" sz="1800">
                <a:solidFill>
                  <a:schemeClr val="dk1"/>
                </a:solidFill>
                <a:latin typeface="Roboto"/>
                <a:ea typeface="Roboto"/>
                <a:cs typeface="Roboto"/>
                <a:sym typeface="Roboto"/>
              </a:rPr>
              <a:t> non-faulty replicas have accepted a proposed transaction in round </a:t>
            </a:r>
            <a:r>
              <a:rPr b="1" lang="en" sz="1800">
                <a:solidFill>
                  <a:schemeClr val="dk1"/>
                </a:solidFill>
                <a:latin typeface="Roboto"/>
                <a:ea typeface="Roboto"/>
                <a:cs typeface="Roboto"/>
                <a:sym typeface="Roboto"/>
              </a:rPr>
              <a:t>ρ</a:t>
            </a:r>
            <a:r>
              <a:rPr lang="en" sz="1800">
                <a:solidFill>
                  <a:schemeClr val="dk1"/>
                </a:solidFill>
                <a:latin typeface="Roboto"/>
                <a:ea typeface="Roboto"/>
                <a:cs typeface="Roboto"/>
                <a:sym typeface="Roboto"/>
              </a:rPr>
              <a:t>.</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p:txBody>
      </p:sp>
      <p:sp>
        <p:nvSpPr>
          <p:cNvPr id="553" name="Google Shape;553;p44"/>
          <p:cNvSpPr txBox="1"/>
          <p:nvPr/>
        </p:nvSpPr>
        <p:spPr>
          <a:xfrm>
            <a:off x="619500" y="1197625"/>
            <a:ext cx="7905000" cy="33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A Checkpoint Algorithm</a:t>
            </a:r>
            <a:endParaRPr sz="1800">
              <a:solidFill>
                <a:schemeClr val="dk1"/>
              </a:solidFill>
              <a:latin typeface="Roboto"/>
              <a:ea typeface="Roboto"/>
              <a:cs typeface="Roboto"/>
              <a:sym typeface="Roboto"/>
            </a:endParaRPr>
          </a:p>
        </p:txBody>
      </p:sp>
      <p:sp>
        <p:nvSpPr>
          <p:cNvPr id="554" name="Google Shape;554;p44"/>
          <p:cNvSpPr txBox="1"/>
          <p:nvPr/>
        </p:nvSpPr>
        <p:spPr>
          <a:xfrm>
            <a:off x="156400" y="2886575"/>
            <a:ext cx="8599800" cy="8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dk1"/>
                </a:solidFill>
                <a:latin typeface="Roboto"/>
                <a:ea typeface="Roboto"/>
                <a:cs typeface="Roboto"/>
                <a:sym typeface="Roboto"/>
              </a:rPr>
              <a:t>A2:</a:t>
            </a:r>
            <a:r>
              <a:rPr lang="en" sz="1800">
                <a:solidFill>
                  <a:schemeClr val="dk1"/>
                </a:solidFill>
                <a:latin typeface="Roboto"/>
                <a:ea typeface="Roboto"/>
                <a:cs typeface="Roboto"/>
                <a:sym typeface="Roboto"/>
              </a:rPr>
              <a:t> If a non-faulty replica accepts a proposed transaction T in round </a:t>
            </a:r>
            <a:r>
              <a:rPr b="1" lang="en" sz="1800">
                <a:solidFill>
                  <a:schemeClr val="dk1"/>
                </a:solidFill>
                <a:latin typeface="Roboto"/>
                <a:ea typeface="Roboto"/>
                <a:cs typeface="Roboto"/>
                <a:sym typeface="Roboto"/>
              </a:rPr>
              <a:t>ρ</a:t>
            </a:r>
            <a:r>
              <a:rPr lang="en" sz="1800">
                <a:solidFill>
                  <a:schemeClr val="dk1"/>
                </a:solidFill>
                <a:latin typeface="Roboto"/>
                <a:ea typeface="Roboto"/>
                <a:cs typeface="Roboto"/>
                <a:sym typeface="Roboto"/>
              </a:rPr>
              <a:t> of BCA, then all other non-faulty replicas that accepted a proposed transaction, accepted T. </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p:txBody>
      </p:sp>
      <p:sp>
        <p:nvSpPr>
          <p:cNvPr id="555" name="Google Shape;555;p44"/>
          <p:cNvSpPr txBox="1"/>
          <p:nvPr/>
        </p:nvSpPr>
        <p:spPr>
          <a:xfrm>
            <a:off x="118300" y="3897425"/>
            <a:ext cx="8599800" cy="8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dk1"/>
                </a:solidFill>
                <a:latin typeface="Roboto"/>
                <a:ea typeface="Roboto"/>
                <a:cs typeface="Roboto"/>
                <a:sym typeface="Roboto"/>
              </a:rPr>
              <a:t>A3:</a:t>
            </a:r>
            <a:r>
              <a:rPr lang="en" sz="1800">
                <a:solidFill>
                  <a:schemeClr val="dk1"/>
                </a:solidFill>
                <a:latin typeface="Roboto"/>
                <a:ea typeface="Roboto"/>
                <a:cs typeface="Roboto"/>
                <a:sym typeface="Roboto"/>
              </a:rPr>
              <a:t> If a non-faulty replica accepts a transaction T , then T can be recovered from the state of any subset of </a:t>
            </a:r>
            <a:r>
              <a:rPr b="1" lang="en" sz="1800">
                <a:solidFill>
                  <a:schemeClr val="dk1"/>
                </a:solidFill>
                <a:latin typeface="Roboto"/>
                <a:ea typeface="Roboto"/>
                <a:cs typeface="Roboto"/>
                <a:sym typeface="Roboto"/>
              </a:rPr>
              <a:t>nf-f</a:t>
            </a:r>
            <a:r>
              <a:rPr lang="en" sz="1800">
                <a:solidFill>
                  <a:schemeClr val="dk1"/>
                </a:solidFill>
                <a:latin typeface="Roboto"/>
                <a:ea typeface="Roboto"/>
                <a:cs typeface="Roboto"/>
                <a:sym typeface="Roboto"/>
              </a:rPr>
              <a:t> non-faulty replicas</a:t>
            </a:r>
            <a:endParaRPr sz="18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45"/>
          <p:cNvSpPr txBox="1"/>
          <p:nvPr>
            <p:ph type="title"/>
          </p:nvPr>
        </p:nvSpPr>
        <p:spPr>
          <a:xfrm>
            <a:off x="366525" y="50375"/>
            <a:ext cx="5146200" cy="5700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Example (Collusion Attack)</a:t>
            </a:r>
            <a:endParaRPr/>
          </a:p>
        </p:txBody>
      </p:sp>
      <p:sp>
        <p:nvSpPr>
          <p:cNvPr id="561" name="Google Shape;561;p45"/>
          <p:cNvSpPr/>
          <p:nvPr/>
        </p:nvSpPr>
        <p:spPr>
          <a:xfrm>
            <a:off x="815550" y="1337725"/>
            <a:ext cx="1974300" cy="105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Good Replicas</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|A| = 2</a:t>
            </a:r>
            <a:endParaRPr>
              <a:latin typeface="Roboto"/>
              <a:ea typeface="Roboto"/>
              <a:cs typeface="Roboto"/>
              <a:sym typeface="Roboto"/>
            </a:endParaRPr>
          </a:p>
        </p:txBody>
      </p:sp>
      <p:sp>
        <p:nvSpPr>
          <p:cNvPr id="562" name="Google Shape;562;p45"/>
          <p:cNvSpPr/>
          <p:nvPr/>
        </p:nvSpPr>
        <p:spPr>
          <a:xfrm>
            <a:off x="3584838" y="1337725"/>
            <a:ext cx="1974300" cy="105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Good Replica</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|B| = 1</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sp>
        <p:nvSpPr>
          <p:cNvPr id="563" name="Google Shape;563;p45"/>
          <p:cNvSpPr/>
          <p:nvPr/>
        </p:nvSpPr>
        <p:spPr>
          <a:xfrm>
            <a:off x="6354150" y="1337725"/>
            <a:ext cx="1974300" cy="105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Good Replicas</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|C| = 2</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sp>
        <p:nvSpPr>
          <p:cNvPr id="564" name="Google Shape;564;p45"/>
          <p:cNvSpPr/>
          <p:nvPr/>
        </p:nvSpPr>
        <p:spPr>
          <a:xfrm>
            <a:off x="2925850" y="3855825"/>
            <a:ext cx="2925900" cy="1201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P</a:t>
            </a:r>
            <a:r>
              <a:rPr baseline="-25000" lang="en">
                <a:latin typeface="Roboto"/>
                <a:ea typeface="Roboto"/>
                <a:cs typeface="Roboto"/>
                <a:sym typeface="Roboto"/>
              </a:rPr>
              <a:t>1</a:t>
            </a:r>
            <a:r>
              <a:rPr lang="en">
                <a:latin typeface="Roboto"/>
                <a:ea typeface="Roboto"/>
                <a:cs typeface="Roboto"/>
                <a:sym typeface="Roboto"/>
              </a:rPr>
              <a:t>                    P</a:t>
            </a:r>
            <a:r>
              <a:rPr baseline="-25000" lang="en">
                <a:latin typeface="Roboto"/>
                <a:ea typeface="Roboto"/>
                <a:cs typeface="Roboto"/>
                <a:sym typeface="Roboto"/>
              </a:rPr>
              <a:t>2</a:t>
            </a:r>
            <a:endParaRPr baseline="-25000">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Malicious</a:t>
            </a:r>
            <a:endParaRPr>
              <a:latin typeface="Roboto"/>
              <a:ea typeface="Roboto"/>
              <a:cs typeface="Roboto"/>
              <a:sym typeface="Roboto"/>
            </a:endParaRPr>
          </a:p>
        </p:txBody>
      </p:sp>
      <p:grpSp>
        <p:nvGrpSpPr>
          <p:cNvPr id="565" name="Google Shape;565;p45"/>
          <p:cNvGrpSpPr/>
          <p:nvPr/>
        </p:nvGrpSpPr>
        <p:grpSpPr>
          <a:xfrm>
            <a:off x="1802700" y="2396425"/>
            <a:ext cx="1945800" cy="1988700"/>
            <a:chOff x="1802700" y="2396425"/>
            <a:chExt cx="1945800" cy="1988700"/>
          </a:xfrm>
        </p:grpSpPr>
        <p:cxnSp>
          <p:nvCxnSpPr>
            <p:cNvPr id="566" name="Google Shape;566;p45"/>
            <p:cNvCxnSpPr>
              <a:endCxn id="561" idx="4"/>
            </p:cNvCxnSpPr>
            <p:nvPr/>
          </p:nvCxnSpPr>
          <p:spPr>
            <a:xfrm rot="10800000">
              <a:off x="1802700" y="2396425"/>
              <a:ext cx="1945800" cy="1988700"/>
            </a:xfrm>
            <a:prstGeom prst="straightConnector1">
              <a:avLst/>
            </a:prstGeom>
            <a:noFill/>
            <a:ln cap="flat" cmpd="sng" w="9525">
              <a:solidFill>
                <a:schemeClr val="accent2"/>
              </a:solidFill>
              <a:prstDash val="solid"/>
              <a:round/>
              <a:headEnd len="med" w="med" type="none"/>
              <a:tailEnd len="med" w="med" type="triangle"/>
            </a:ln>
          </p:spPr>
        </p:cxnSp>
        <p:sp>
          <p:nvSpPr>
            <p:cNvPr id="567" name="Google Shape;567;p45"/>
            <p:cNvSpPr txBox="1"/>
            <p:nvPr/>
          </p:nvSpPr>
          <p:spPr>
            <a:xfrm>
              <a:off x="2167425" y="3369225"/>
              <a:ext cx="901500" cy="4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{T</a:t>
              </a:r>
              <a:r>
                <a:rPr baseline="-25000" lang="en" sz="1800">
                  <a:solidFill>
                    <a:schemeClr val="dk1"/>
                  </a:solidFill>
                  <a:latin typeface="Roboto"/>
                  <a:ea typeface="Roboto"/>
                  <a:cs typeface="Roboto"/>
                  <a:sym typeface="Roboto"/>
                </a:rPr>
                <a:t>1</a:t>
              </a:r>
              <a:r>
                <a:rPr lang="en" sz="1800">
                  <a:solidFill>
                    <a:schemeClr val="dk1"/>
                  </a:solidFill>
                  <a:latin typeface="Roboto"/>
                  <a:ea typeface="Roboto"/>
                  <a:cs typeface="Roboto"/>
                  <a:sym typeface="Roboto"/>
                </a:rPr>
                <a:t>}c</a:t>
              </a:r>
              <a:r>
                <a:rPr baseline="-25000" lang="en" sz="1800">
                  <a:solidFill>
                    <a:schemeClr val="dk1"/>
                  </a:solidFill>
                  <a:latin typeface="Roboto"/>
                  <a:ea typeface="Roboto"/>
                  <a:cs typeface="Roboto"/>
                  <a:sym typeface="Roboto"/>
                </a:rPr>
                <a:t>1</a:t>
              </a:r>
              <a:endParaRPr baseline="-25000" sz="1800">
                <a:solidFill>
                  <a:schemeClr val="dk1"/>
                </a:solidFill>
                <a:latin typeface="Roboto"/>
                <a:ea typeface="Roboto"/>
                <a:cs typeface="Roboto"/>
                <a:sym typeface="Roboto"/>
              </a:endParaRPr>
            </a:p>
          </p:txBody>
        </p:sp>
      </p:grpSp>
      <p:grpSp>
        <p:nvGrpSpPr>
          <p:cNvPr id="568" name="Google Shape;568;p45"/>
          <p:cNvGrpSpPr/>
          <p:nvPr/>
        </p:nvGrpSpPr>
        <p:grpSpPr>
          <a:xfrm>
            <a:off x="4735800" y="2389250"/>
            <a:ext cx="962213" cy="1960200"/>
            <a:chOff x="4735800" y="2389250"/>
            <a:chExt cx="962213" cy="1960200"/>
          </a:xfrm>
        </p:grpSpPr>
        <p:cxnSp>
          <p:nvCxnSpPr>
            <p:cNvPr id="569" name="Google Shape;569;p45"/>
            <p:cNvCxnSpPr/>
            <p:nvPr/>
          </p:nvCxnSpPr>
          <p:spPr>
            <a:xfrm rot="10800000">
              <a:off x="4735800" y="2389250"/>
              <a:ext cx="221700" cy="1960200"/>
            </a:xfrm>
            <a:prstGeom prst="straightConnector1">
              <a:avLst/>
            </a:prstGeom>
            <a:noFill/>
            <a:ln cap="flat" cmpd="sng" w="9525">
              <a:solidFill>
                <a:schemeClr val="accent2"/>
              </a:solidFill>
              <a:prstDash val="solid"/>
              <a:round/>
              <a:headEnd len="med" w="med" type="none"/>
              <a:tailEnd len="med" w="med" type="triangle"/>
            </a:ln>
          </p:spPr>
        </p:cxnSp>
        <p:sp>
          <p:nvSpPr>
            <p:cNvPr id="570" name="Google Shape;570;p45"/>
            <p:cNvSpPr txBox="1"/>
            <p:nvPr/>
          </p:nvSpPr>
          <p:spPr>
            <a:xfrm>
              <a:off x="4796513" y="3126050"/>
              <a:ext cx="901500" cy="4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{T</a:t>
              </a:r>
              <a:r>
                <a:rPr baseline="-25000" lang="en" sz="1800">
                  <a:solidFill>
                    <a:schemeClr val="dk1"/>
                  </a:solidFill>
                  <a:latin typeface="Roboto"/>
                  <a:ea typeface="Roboto"/>
                  <a:cs typeface="Roboto"/>
                  <a:sym typeface="Roboto"/>
                </a:rPr>
                <a:t>2</a:t>
              </a:r>
              <a:r>
                <a:rPr lang="en" sz="1800">
                  <a:solidFill>
                    <a:schemeClr val="dk1"/>
                  </a:solidFill>
                  <a:latin typeface="Roboto"/>
                  <a:ea typeface="Roboto"/>
                  <a:cs typeface="Roboto"/>
                  <a:sym typeface="Roboto"/>
                </a:rPr>
                <a:t>}c</a:t>
              </a:r>
              <a:r>
                <a:rPr baseline="-25000" lang="en" sz="1800">
                  <a:solidFill>
                    <a:schemeClr val="dk1"/>
                  </a:solidFill>
                  <a:latin typeface="Roboto"/>
                  <a:ea typeface="Roboto"/>
                  <a:cs typeface="Roboto"/>
                  <a:sym typeface="Roboto"/>
                </a:rPr>
                <a:t>2</a:t>
              </a:r>
              <a:endParaRPr baseline="-25000" sz="1800">
                <a:solidFill>
                  <a:schemeClr val="dk1"/>
                </a:solidFill>
                <a:latin typeface="Roboto"/>
                <a:ea typeface="Roboto"/>
                <a:cs typeface="Roboto"/>
                <a:sym typeface="Roboto"/>
              </a:endParaRPr>
            </a:p>
          </p:txBody>
        </p:sp>
      </p:grpSp>
      <p:grpSp>
        <p:nvGrpSpPr>
          <p:cNvPr id="571" name="Google Shape;571;p45"/>
          <p:cNvGrpSpPr/>
          <p:nvPr/>
        </p:nvGrpSpPr>
        <p:grpSpPr>
          <a:xfrm>
            <a:off x="3405200" y="2382075"/>
            <a:ext cx="901500" cy="2010300"/>
            <a:chOff x="3405200" y="2382075"/>
            <a:chExt cx="901500" cy="2010300"/>
          </a:xfrm>
        </p:grpSpPr>
        <p:cxnSp>
          <p:nvCxnSpPr>
            <p:cNvPr id="572" name="Google Shape;572;p45"/>
            <p:cNvCxnSpPr/>
            <p:nvPr/>
          </p:nvCxnSpPr>
          <p:spPr>
            <a:xfrm flipH="1" rot="10800000">
              <a:off x="3941675" y="2382075"/>
              <a:ext cx="336300" cy="2010300"/>
            </a:xfrm>
            <a:prstGeom prst="straightConnector1">
              <a:avLst/>
            </a:prstGeom>
            <a:noFill/>
            <a:ln cap="flat" cmpd="sng" w="9525">
              <a:solidFill>
                <a:schemeClr val="accent2"/>
              </a:solidFill>
              <a:prstDash val="solid"/>
              <a:round/>
              <a:headEnd len="med" w="med" type="none"/>
              <a:tailEnd len="med" w="med" type="triangle"/>
            </a:ln>
          </p:spPr>
        </p:cxnSp>
        <p:sp>
          <p:nvSpPr>
            <p:cNvPr id="573" name="Google Shape;573;p45"/>
            <p:cNvSpPr txBox="1"/>
            <p:nvPr/>
          </p:nvSpPr>
          <p:spPr>
            <a:xfrm>
              <a:off x="3405200" y="2987275"/>
              <a:ext cx="901500" cy="4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{T</a:t>
              </a:r>
              <a:r>
                <a:rPr baseline="-25000" lang="en" sz="1800">
                  <a:solidFill>
                    <a:schemeClr val="dk1"/>
                  </a:solidFill>
                  <a:latin typeface="Roboto"/>
                  <a:ea typeface="Roboto"/>
                  <a:cs typeface="Roboto"/>
                  <a:sym typeface="Roboto"/>
                </a:rPr>
                <a:t>1</a:t>
              </a:r>
              <a:r>
                <a:rPr lang="en" sz="1800">
                  <a:solidFill>
                    <a:schemeClr val="dk1"/>
                  </a:solidFill>
                  <a:latin typeface="Roboto"/>
                  <a:ea typeface="Roboto"/>
                  <a:cs typeface="Roboto"/>
                  <a:sym typeface="Roboto"/>
                </a:rPr>
                <a:t>}c</a:t>
              </a:r>
              <a:r>
                <a:rPr baseline="-25000" lang="en" sz="1800">
                  <a:solidFill>
                    <a:schemeClr val="dk1"/>
                  </a:solidFill>
                  <a:latin typeface="Roboto"/>
                  <a:ea typeface="Roboto"/>
                  <a:cs typeface="Roboto"/>
                  <a:sym typeface="Roboto"/>
                </a:rPr>
                <a:t>1</a:t>
              </a:r>
              <a:endParaRPr baseline="-25000" sz="1800">
                <a:solidFill>
                  <a:schemeClr val="dk1"/>
                </a:solidFill>
                <a:latin typeface="Roboto"/>
                <a:ea typeface="Roboto"/>
                <a:cs typeface="Roboto"/>
                <a:sym typeface="Roboto"/>
              </a:endParaRPr>
            </a:p>
          </p:txBody>
        </p:sp>
      </p:grpSp>
      <p:grpSp>
        <p:nvGrpSpPr>
          <p:cNvPr id="574" name="Google Shape;574;p45"/>
          <p:cNvGrpSpPr/>
          <p:nvPr/>
        </p:nvGrpSpPr>
        <p:grpSpPr>
          <a:xfrm>
            <a:off x="5278014" y="2396424"/>
            <a:ext cx="2151806" cy="1960199"/>
            <a:chOff x="5293825" y="2396425"/>
            <a:chExt cx="2136000" cy="1945800"/>
          </a:xfrm>
        </p:grpSpPr>
        <p:cxnSp>
          <p:nvCxnSpPr>
            <p:cNvPr id="575" name="Google Shape;575;p45"/>
            <p:cNvCxnSpPr/>
            <p:nvPr/>
          </p:nvCxnSpPr>
          <p:spPr>
            <a:xfrm flipH="1" rot="10800000">
              <a:off x="5293825" y="2396425"/>
              <a:ext cx="2136000" cy="1945800"/>
            </a:xfrm>
            <a:prstGeom prst="straightConnector1">
              <a:avLst/>
            </a:prstGeom>
            <a:noFill/>
            <a:ln cap="flat" cmpd="sng" w="9600">
              <a:solidFill>
                <a:schemeClr val="accent2"/>
              </a:solidFill>
              <a:prstDash val="solid"/>
              <a:round/>
              <a:headEnd len="med" w="med" type="none"/>
              <a:tailEnd len="med" w="med" type="triangle"/>
            </a:ln>
          </p:spPr>
        </p:cxnSp>
        <p:sp>
          <p:nvSpPr>
            <p:cNvPr id="576" name="Google Shape;576;p45"/>
            <p:cNvSpPr txBox="1"/>
            <p:nvPr/>
          </p:nvSpPr>
          <p:spPr>
            <a:xfrm>
              <a:off x="6442663" y="3126025"/>
              <a:ext cx="901500" cy="486600"/>
            </a:xfrm>
            <a:prstGeom prst="rect">
              <a:avLst/>
            </a:prstGeom>
            <a:noFill/>
            <a:ln>
              <a:noFill/>
            </a:ln>
          </p:spPr>
          <p:txBody>
            <a:bodyPr anchorCtr="0" anchor="t" bIns="92100" lIns="92100" spcFirstLastPara="1" rIns="92100" wrap="square" tIns="92100">
              <a:noAutofit/>
            </a:bodyPr>
            <a:lstStyle/>
            <a:p>
              <a:pPr indent="0" lvl="0" marL="0" rtl="0" algn="l">
                <a:spcBef>
                  <a:spcPts val="0"/>
                </a:spcBef>
                <a:spcAft>
                  <a:spcPts val="0"/>
                </a:spcAft>
                <a:buNone/>
              </a:pPr>
              <a:r>
                <a:rPr lang="en" sz="1813">
                  <a:solidFill>
                    <a:schemeClr val="dk1"/>
                  </a:solidFill>
                  <a:latin typeface="Roboto"/>
                  <a:ea typeface="Roboto"/>
                  <a:cs typeface="Roboto"/>
                  <a:sym typeface="Roboto"/>
                </a:rPr>
                <a:t>{T</a:t>
              </a:r>
              <a:r>
                <a:rPr baseline="-25000" lang="en" sz="1813">
                  <a:solidFill>
                    <a:schemeClr val="dk1"/>
                  </a:solidFill>
                  <a:latin typeface="Roboto"/>
                  <a:ea typeface="Roboto"/>
                  <a:cs typeface="Roboto"/>
                  <a:sym typeface="Roboto"/>
                </a:rPr>
                <a:t>2</a:t>
              </a:r>
              <a:r>
                <a:rPr lang="en" sz="1813">
                  <a:solidFill>
                    <a:schemeClr val="dk1"/>
                  </a:solidFill>
                  <a:latin typeface="Roboto"/>
                  <a:ea typeface="Roboto"/>
                  <a:cs typeface="Roboto"/>
                  <a:sym typeface="Roboto"/>
                </a:rPr>
                <a:t>}c</a:t>
              </a:r>
              <a:r>
                <a:rPr baseline="-25000" lang="en" sz="1813">
                  <a:solidFill>
                    <a:schemeClr val="dk1"/>
                  </a:solidFill>
                  <a:latin typeface="Roboto"/>
                  <a:ea typeface="Roboto"/>
                  <a:cs typeface="Roboto"/>
                  <a:sym typeface="Roboto"/>
                </a:rPr>
                <a:t>2</a:t>
              </a:r>
              <a:endParaRPr baseline="-25000" sz="1813">
                <a:solidFill>
                  <a:schemeClr val="dk1"/>
                </a:solidFill>
                <a:latin typeface="Roboto"/>
                <a:ea typeface="Roboto"/>
                <a:cs typeface="Roboto"/>
                <a:sym typeface="Roboto"/>
              </a:endParaRPr>
            </a:p>
          </p:txBody>
        </p:sp>
      </p:grpSp>
      <p:sp>
        <p:nvSpPr>
          <p:cNvPr id="577" name="Google Shape;577;p45"/>
          <p:cNvSpPr/>
          <p:nvPr/>
        </p:nvSpPr>
        <p:spPr>
          <a:xfrm>
            <a:off x="219875" y="2903450"/>
            <a:ext cx="1068000" cy="198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 = 7</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nf = 5</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f = 2</a:t>
            </a:r>
            <a:endParaRPr>
              <a:latin typeface="Roboto"/>
              <a:ea typeface="Roboto"/>
              <a:cs typeface="Roboto"/>
              <a:sym typeface="Roboto"/>
            </a:endParaRPr>
          </a:p>
        </p:txBody>
      </p:sp>
      <p:sp>
        <p:nvSpPr>
          <p:cNvPr id="578" name="Google Shape;578;p45"/>
          <p:cNvSpPr txBox="1"/>
          <p:nvPr/>
        </p:nvSpPr>
        <p:spPr>
          <a:xfrm>
            <a:off x="3748500" y="989425"/>
            <a:ext cx="1905300" cy="34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Executes</a:t>
            </a:r>
            <a:r>
              <a:rPr lang="en">
                <a:solidFill>
                  <a:srgbClr val="93C47D"/>
                </a:solidFill>
                <a:latin typeface="Roboto"/>
                <a:ea typeface="Roboto"/>
                <a:cs typeface="Roboto"/>
                <a:sym typeface="Roboto"/>
              </a:rPr>
              <a:t> </a:t>
            </a:r>
            <a:r>
              <a:rPr lang="en">
                <a:solidFill>
                  <a:schemeClr val="dk1"/>
                </a:solidFill>
                <a:latin typeface="Roboto"/>
                <a:ea typeface="Roboto"/>
                <a:cs typeface="Roboto"/>
                <a:sym typeface="Roboto"/>
              </a:rPr>
              <a:t>T</a:t>
            </a:r>
            <a:r>
              <a:rPr baseline="-25000" lang="en">
                <a:solidFill>
                  <a:schemeClr val="dk1"/>
                </a:solidFill>
                <a:latin typeface="Roboto"/>
                <a:ea typeface="Roboto"/>
                <a:cs typeface="Roboto"/>
                <a:sym typeface="Roboto"/>
              </a:rPr>
              <a:t>1</a:t>
            </a:r>
            <a:r>
              <a:rPr lang="en">
                <a:solidFill>
                  <a:schemeClr val="dk1"/>
                </a:solidFill>
                <a:latin typeface="Roboto"/>
                <a:ea typeface="Roboto"/>
                <a:cs typeface="Roboto"/>
                <a:sym typeface="Roboto"/>
              </a:rPr>
              <a:t> &amp; T</a:t>
            </a:r>
            <a:r>
              <a:rPr baseline="-25000" lang="en">
                <a:solidFill>
                  <a:schemeClr val="dk1"/>
                </a:solidFill>
                <a:latin typeface="Roboto"/>
                <a:ea typeface="Roboto"/>
                <a:cs typeface="Roboto"/>
                <a:sym typeface="Roboto"/>
              </a:rPr>
              <a:t>2</a:t>
            </a:r>
            <a:r>
              <a:rPr lang="en">
                <a:solidFill>
                  <a:schemeClr val="dk1"/>
                </a:solidFill>
                <a:latin typeface="Roboto"/>
                <a:ea typeface="Roboto"/>
                <a:cs typeface="Roboto"/>
                <a:sym typeface="Roboto"/>
              </a:rPr>
              <a:t>    ✅</a:t>
            </a:r>
            <a:endParaRPr>
              <a:solidFill>
                <a:schemeClr val="dk1"/>
              </a:solidFill>
              <a:latin typeface="Roboto"/>
              <a:ea typeface="Roboto"/>
              <a:cs typeface="Roboto"/>
              <a:sym typeface="Roboto"/>
            </a:endParaRPr>
          </a:p>
        </p:txBody>
      </p:sp>
      <p:sp>
        <p:nvSpPr>
          <p:cNvPr id="579" name="Google Shape;579;p45"/>
          <p:cNvSpPr txBox="1"/>
          <p:nvPr/>
        </p:nvSpPr>
        <p:spPr>
          <a:xfrm>
            <a:off x="47125" y="1397775"/>
            <a:ext cx="768300" cy="99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T</a:t>
            </a:r>
            <a:r>
              <a:rPr baseline="-25000" lang="en">
                <a:solidFill>
                  <a:schemeClr val="dk1"/>
                </a:solidFill>
                <a:latin typeface="Roboto"/>
                <a:ea typeface="Roboto"/>
                <a:cs typeface="Roboto"/>
                <a:sym typeface="Roboto"/>
              </a:rPr>
              <a:t>1</a:t>
            </a:r>
            <a:r>
              <a:rPr lang="en">
                <a:solidFill>
                  <a:schemeClr val="dk1"/>
                </a:solidFill>
                <a:latin typeface="Roboto"/>
                <a:ea typeface="Roboto"/>
                <a:cs typeface="Roboto"/>
                <a:sym typeface="Roboto"/>
              </a:rPr>
              <a:t>  ✅</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T</a:t>
            </a:r>
            <a:r>
              <a:rPr baseline="-25000" lang="en">
                <a:solidFill>
                  <a:schemeClr val="dk1"/>
                </a:solidFill>
                <a:latin typeface="Roboto"/>
                <a:ea typeface="Roboto"/>
                <a:cs typeface="Roboto"/>
                <a:sym typeface="Roboto"/>
              </a:rPr>
              <a:t>2   </a:t>
            </a:r>
            <a:r>
              <a:rPr lang="en">
                <a:solidFill>
                  <a:schemeClr val="dk1"/>
                </a:solidFill>
                <a:latin typeface="Roboto"/>
                <a:ea typeface="Roboto"/>
                <a:cs typeface="Roboto"/>
                <a:sym typeface="Roboto"/>
              </a:rPr>
              <a:t>✅</a:t>
            </a:r>
            <a:endParaRPr>
              <a:solidFill>
                <a:schemeClr val="dk1"/>
              </a:solidFill>
              <a:latin typeface="Roboto"/>
              <a:ea typeface="Roboto"/>
              <a:cs typeface="Roboto"/>
              <a:sym typeface="Roboto"/>
            </a:endParaRPr>
          </a:p>
        </p:txBody>
      </p:sp>
      <p:sp>
        <p:nvSpPr>
          <p:cNvPr id="580" name="Google Shape;580;p45"/>
          <p:cNvSpPr txBox="1"/>
          <p:nvPr/>
        </p:nvSpPr>
        <p:spPr>
          <a:xfrm>
            <a:off x="8401150" y="1397775"/>
            <a:ext cx="768300" cy="99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T</a:t>
            </a:r>
            <a:r>
              <a:rPr baseline="-25000" lang="en">
                <a:solidFill>
                  <a:schemeClr val="dk1"/>
                </a:solidFill>
                <a:latin typeface="Roboto"/>
                <a:ea typeface="Roboto"/>
                <a:cs typeface="Roboto"/>
                <a:sym typeface="Roboto"/>
              </a:rPr>
              <a:t>1</a:t>
            </a:r>
            <a:r>
              <a:rPr lang="en">
                <a:solidFill>
                  <a:schemeClr val="dk1"/>
                </a:solidFill>
                <a:latin typeface="Roboto"/>
                <a:ea typeface="Roboto"/>
                <a:cs typeface="Roboto"/>
                <a:sym typeface="Roboto"/>
              </a:rPr>
              <a:t>  ✅</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T</a:t>
            </a:r>
            <a:r>
              <a:rPr baseline="-25000" lang="en">
                <a:solidFill>
                  <a:schemeClr val="dk1"/>
                </a:solidFill>
                <a:latin typeface="Roboto"/>
                <a:ea typeface="Roboto"/>
                <a:cs typeface="Roboto"/>
                <a:sym typeface="Roboto"/>
              </a:rPr>
              <a:t>2   </a:t>
            </a:r>
            <a:r>
              <a:rPr lang="en">
                <a:solidFill>
                  <a:schemeClr val="dk1"/>
                </a:solidFill>
                <a:latin typeface="Roboto"/>
                <a:ea typeface="Roboto"/>
                <a:cs typeface="Roboto"/>
                <a:sym typeface="Roboto"/>
              </a:rPr>
              <a:t>✅</a:t>
            </a:r>
            <a:endParaRPr>
              <a:solidFill>
                <a:schemeClr val="dk1"/>
              </a:solidFill>
              <a:latin typeface="Roboto"/>
              <a:ea typeface="Roboto"/>
              <a:cs typeface="Roboto"/>
              <a:sym typeface="Roboto"/>
            </a:endParaRPr>
          </a:p>
        </p:txBody>
      </p:sp>
      <p:sp>
        <p:nvSpPr>
          <p:cNvPr id="581" name="Google Shape;581;p45"/>
          <p:cNvSpPr/>
          <p:nvPr/>
        </p:nvSpPr>
        <p:spPr>
          <a:xfrm>
            <a:off x="3494450" y="3461880"/>
            <a:ext cx="866375" cy="488000"/>
          </a:xfrm>
          <a:custGeom>
            <a:rect b="b" l="l" r="r" t="t"/>
            <a:pathLst>
              <a:path extrusionOk="0" h="19520" w="34655">
                <a:moveTo>
                  <a:pt x="0" y="19521"/>
                </a:moveTo>
                <a:cubicBezTo>
                  <a:pt x="4712" y="16275"/>
                  <a:pt x="22877" y="779"/>
                  <a:pt x="28269" y="46"/>
                </a:cubicBezTo>
                <a:cubicBezTo>
                  <a:pt x="33661" y="-687"/>
                  <a:pt x="32091" y="13291"/>
                  <a:pt x="32353" y="15123"/>
                </a:cubicBezTo>
                <a:cubicBezTo>
                  <a:pt x="32615" y="16955"/>
                  <a:pt x="29825" y="10903"/>
                  <a:pt x="29840" y="11040"/>
                </a:cubicBezTo>
                <a:cubicBezTo>
                  <a:pt x="29855" y="11177"/>
                  <a:pt x="31640" y="15849"/>
                  <a:pt x="32442" y="15945"/>
                </a:cubicBezTo>
                <a:cubicBezTo>
                  <a:pt x="33245" y="16041"/>
                  <a:pt x="34286" y="12338"/>
                  <a:pt x="34655" y="11616"/>
                </a:cubicBezTo>
              </a:path>
            </a:pathLst>
          </a:custGeom>
          <a:noFill/>
          <a:ln cap="flat" cmpd="sng" w="9525">
            <a:solidFill>
              <a:srgbClr val="93C47D"/>
            </a:solidFill>
            <a:prstDash val="solid"/>
            <a:round/>
            <a:headEnd len="med" w="med" type="none"/>
            <a:tailEnd len="med" w="med" type="none"/>
          </a:ln>
        </p:spPr>
      </p:sp>
      <p:sp>
        <p:nvSpPr>
          <p:cNvPr id="582" name="Google Shape;582;p45"/>
          <p:cNvSpPr/>
          <p:nvPr/>
        </p:nvSpPr>
        <p:spPr>
          <a:xfrm flipH="1">
            <a:off x="4648200" y="3458505"/>
            <a:ext cx="866375" cy="488000"/>
          </a:xfrm>
          <a:custGeom>
            <a:rect b="b" l="l" r="r" t="t"/>
            <a:pathLst>
              <a:path extrusionOk="0" h="19520" w="34655">
                <a:moveTo>
                  <a:pt x="0" y="19521"/>
                </a:moveTo>
                <a:cubicBezTo>
                  <a:pt x="4712" y="16275"/>
                  <a:pt x="22877" y="779"/>
                  <a:pt x="28269" y="46"/>
                </a:cubicBezTo>
                <a:cubicBezTo>
                  <a:pt x="33661" y="-687"/>
                  <a:pt x="32091" y="13291"/>
                  <a:pt x="32353" y="15123"/>
                </a:cubicBezTo>
                <a:cubicBezTo>
                  <a:pt x="32615" y="16955"/>
                  <a:pt x="29825" y="10903"/>
                  <a:pt x="29840" y="11040"/>
                </a:cubicBezTo>
                <a:cubicBezTo>
                  <a:pt x="29855" y="11177"/>
                  <a:pt x="31640" y="15849"/>
                  <a:pt x="32442" y="15945"/>
                </a:cubicBezTo>
                <a:cubicBezTo>
                  <a:pt x="33245" y="16041"/>
                  <a:pt x="34286" y="12338"/>
                  <a:pt x="34655" y="11616"/>
                </a:cubicBezTo>
              </a:path>
            </a:pathLst>
          </a:custGeom>
          <a:noFill/>
          <a:ln cap="flat" cmpd="sng" w="9525">
            <a:solidFill>
              <a:srgbClr val="93C47D"/>
            </a:solidFill>
            <a:prstDash val="solid"/>
            <a:round/>
            <a:headEnd len="med" w="med" type="none"/>
            <a:tailEnd len="med" w="med" type="none"/>
          </a:ln>
        </p:spPr>
      </p:sp>
      <p:sp>
        <p:nvSpPr>
          <p:cNvPr id="583" name="Google Shape;583;p45"/>
          <p:cNvSpPr/>
          <p:nvPr/>
        </p:nvSpPr>
        <p:spPr>
          <a:xfrm>
            <a:off x="2699975" y="1397775"/>
            <a:ext cx="901500" cy="3909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Recovers T2</a:t>
            </a:r>
            <a:endParaRPr sz="800">
              <a:latin typeface="Roboto"/>
              <a:ea typeface="Roboto"/>
              <a:cs typeface="Roboto"/>
              <a:sym typeface="Roboto"/>
            </a:endParaRPr>
          </a:p>
        </p:txBody>
      </p:sp>
      <p:sp>
        <p:nvSpPr>
          <p:cNvPr id="584" name="Google Shape;584;p45"/>
          <p:cNvSpPr/>
          <p:nvPr/>
        </p:nvSpPr>
        <p:spPr>
          <a:xfrm>
            <a:off x="5506375" y="1419075"/>
            <a:ext cx="866400" cy="348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Recovers T1</a:t>
            </a:r>
            <a:endParaRPr sz="5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4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Key Points</a:t>
            </a:r>
            <a:endParaRPr/>
          </a:p>
        </p:txBody>
      </p:sp>
      <p:sp>
        <p:nvSpPr>
          <p:cNvPr id="590" name="Google Shape;590;p46"/>
          <p:cNvSpPr txBox="1"/>
          <p:nvPr/>
        </p:nvSpPr>
        <p:spPr>
          <a:xfrm>
            <a:off x="152700" y="1538550"/>
            <a:ext cx="8718000" cy="9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In RCC, checkpointing done on a need-basis: </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 sz="1800">
                <a:solidFill>
                  <a:schemeClr val="dk1"/>
                </a:solidFill>
                <a:latin typeface="Roboto"/>
                <a:ea typeface="Roboto"/>
                <a:cs typeface="Roboto"/>
                <a:sym typeface="Roboto"/>
              </a:rPr>
              <a:t>We do it only: ➔ When Replica R receives nf - f claims of failure of primaries (via the FAILURE messages of the recovery protocol) in round ρ</a:t>
            </a:r>
            <a:endParaRPr sz="1800">
              <a:solidFill>
                <a:schemeClr val="dk1"/>
              </a:solidFill>
              <a:latin typeface="Roboto"/>
              <a:ea typeface="Roboto"/>
              <a:cs typeface="Roboto"/>
              <a:sym typeface="Roboto"/>
            </a:endParaRPr>
          </a:p>
        </p:txBody>
      </p:sp>
      <p:sp>
        <p:nvSpPr>
          <p:cNvPr id="591" name="Google Shape;591;p46"/>
          <p:cNvSpPr txBox="1"/>
          <p:nvPr/>
        </p:nvSpPr>
        <p:spPr>
          <a:xfrm>
            <a:off x="152700" y="2798825"/>
            <a:ext cx="8599800" cy="8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and</a:t>
            </a:r>
            <a:endParaRPr sz="1800">
              <a:solidFill>
                <a:schemeClr val="dk1"/>
              </a:solidFill>
              <a:latin typeface="Roboto"/>
              <a:ea typeface="Roboto"/>
              <a:cs typeface="Roboto"/>
              <a:sym typeface="Roboto"/>
            </a:endParaRPr>
          </a:p>
        </p:txBody>
      </p:sp>
      <p:sp>
        <p:nvSpPr>
          <p:cNvPr id="592" name="Google Shape;592;p46"/>
          <p:cNvSpPr txBox="1"/>
          <p:nvPr/>
        </p:nvSpPr>
        <p:spPr>
          <a:xfrm>
            <a:off x="118300" y="3779650"/>
            <a:ext cx="8599800" cy="8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R itself finished round ρ for all its instances; only then it will participate in any attempt for a checkpoint for round ρ.</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u="sng">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Client Interaction Model</a:t>
            </a:r>
            <a:endParaRPr/>
          </a:p>
        </p:txBody>
      </p:sp>
      <p:sp>
        <p:nvSpPr>
          <p:cNvPr id="598" name="Google Shape;598;p47"/>
          <p:cNvSpPr txBox="1"/>
          <p:nvPr>
            <p:ph idx="1" type="body"/>
          </p:nvPr>
        </p:nvSpPr>
        <p:spPr>
          <a:xfrm>
            <a:off x="387900" y="1489825"/>
            <a:ext cx="8368200" cy="325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Model</a:t>
            </a:r>
            <a:r>
              <a:rPr lang="en"/>
              <a:t>:</a:t>
            </a:r>
            <a:endParaRPr/>
          </a:p>
          <a:p>
            <a:pPr indent="-342900" lvl="0" marL="457200" rtl="0" algn="l">
              <a:lnSpc>
                <a:spcPct val="150000"/>
              </a:lnSpc>
              <a:spcBef>
                <a:spcPts val="1200"/>
              </a:spcBef>
              <a:spcAft>
                <a:spcPts val="0"/>
              </a:spcAft>
              <a:buSzPts val="1800"/>
              <a:buChar char="-"/>
            </a:pPr>
            <a:r>
              <a:rPr lang="en"/>
              <a:t>Every client assigned a single primary</a:t>
            </a:r>
            <a:endParaRPr/>
          </a:p>
          <a:p>
            <a:pPr indent="-342900" lvl="0" marL="457200" rtl="0" algn="l">
              <a:lnSpc>
                <a:spcPct val="150000"/>
              </a:lnSpc>
              <a:spcBef>
                <a:spcPts val="0"/>
              </a:spcBef>
              <a:spcAft>
                <a:spcPts val="0"/>
              </a:spcAft>
              <a:buSzPts val="1800"/>
              <a:buChar char="-"/>
            </a:pPr>
            <a:r>
              <a:rPr lang="en"/>
              <a:t>Only the assigned primary can propose for a given client</a:t>
            </a:r>
            <a:endParaRPr/>
          </a:p>
          <a:p>
            <a:pPr indent="-342900" lvl="0" marL="457200" rtl="0" algn="l">
              <a:lnSpc>
                <a:spcPct val="150000"/>
              </a:lnSpc>
              <a:spcBef>
                <a:spcPts val="0"/>
              </a:spcBef>
              <a:spcAft>
                <a:spcPts val="0"/>
              </a:spcAft>
              <a:buSzPts val="1800"/>
              <a:buChar char="-"/>
            </a:pPr>
            <a:r>
              <a:rPr lang="en"/>
              <a:t>Optimized for many clients per primary with faults in mind</a:t>
            </a:r>
            <a:endParaRPr/>
          </a:p>
          <a:p>
            <a:pPr indent="0" lvl="0" marL="0" rtl="0" algn="l">
              <a:lnSpc>
                <a:spcPct val="115000"/>
              </a:lnSpc>
              <a:spcBef>
                <a:spcPts val="1200"/>
              </a:spcBef>
              <a:spcAft>
                <a:spcPts val="0"/>
              </a:spcAft>
              <a:buNone/>
            </a:pPr>
            <a:r>
              <a:rPr b="1" lang="en"/>
              <a:t>Key Issues:</a:t>
            </a:r>
            <a:endParaRPr b="1"/>
          </a:p>
          <a:p>
            <a:pPr indent="-342900" lvl="0" marL="457200" rtl="0" algn="l">
              <a:lnSpc>
                <a:spcPct val="115000"/>
              </a:lnSpc>
              <a:spcBef>
                <a:spcPts val="1200"/>
              </a:spcBef>
              <a:spcAft>
                <a:spcPts val="0"/>
              </a:spcAft>
              <a:buSzPts val="1800"/>
              <a:buChar char="-"/>
            </a:pPr>
            <a:r>
              <a:rPr lang="en"/>
              <a:t>Must handle idle primaries</a:t>
            </a:r>
            <a:endParaRPr/>
          </a:p>
          <a:p>
            <a:pPr indent="-342900" lvl="0" marL="457200" rtl="0" algn="l">
              <a:lnSpc>
                <a:spcPct val="115000"/>
              </a:lnSpc>
              <a:spcBef>
                <a:spcPts val="0"/>
              </a:spcBef>
              <a:spcAft>
                <a:spcPts val="0"/>
              </a:spcAft>
              <a:buSzPts val="1800"/>
              <a:buChar char="-"/>
            </a:pPr>
            <a:r>
              <a:rPr lang="en"/>
              <a:t>Must deal with faulty primaries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4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Client Interaction Model</a:t>
            </a:r>
            <a:endParaRPr/>
          </a:p>
        </p:txBody>
      </p:sp>
      <p:sp>
        <p:nvSpPr>
          <p:cNvPr id="604" name="Google Shape;604;p48"/>
          <p:cNvSpPr txBox="1"/>
          <p:nvPr>
            <p:ph idx="1" type="body"/>
          </p:nvPr>
        </p:nvSpPr>
        <p:spPr>
          <a:xfrm>
            <a:off x="387900" y="1489824"/>
            <a:ext cx="8368200" cy="3078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To deal with idle primaries, RCC employs </a:t>
            </a:r>
            <a:r>
              <a:rPr b="1" lang="en"/>
              <a:t>no-op proposals.</a:t>
            </a:r>
            <a:endParaRPr b="1"/>
          </a:p>
          <a:p>
            <a:pPr indent="0" lvl="0" marL="0" rtl="0" algn="l">
              <a:spcBef>
                <a:spcPts val="1200"/>
              </a:spcBef>
              <a:spcAft>
                <a:spcPts val="0"/>
              </a:spcAft>
              <a:buNone/>
            </a:pPr>
            <a:r>
              <a:rPr b="1" lang="en"/>
              <a:t>No-Op Proposals</a:t>
            </a:r>
            <a:r>
              <a:rPr lang="en"/>
              <a:t>:</a:t>
            </a:r>
            <a:endParaRPr/>
          </a:p>
          <a:p>
            <a:pPr indent="-342900" lvl="0" marL="457200" rtl="0" algn="l">
              <a:lnSpc>
                <a:spcPct val="150000"/>
              </a:lnSpc>
              <a:spcBef>
                <a:spcPts val="1200"/>
              </a:spcBef>
              <a:spcAft>
                <a:spcPts val="0"/>
              </a:spcAft>
              <a:buSzPts val="1800"/>
              <a:buChar char="-"/>
            </a:pPr>
            <a:r>
              <a:rPr lang="en"/>
              <a:t>Lightweight and arbitrary</a:t>
            </a:r>
            <a:endParaRPr/>
          </a:p>
          <a:p>
            <a:pPr indent="-342900" lvl="0" marL="457200" rtl="0" algn="l">
              <a:lnSpc>
                <a:spcPct val="150000"/>
              </a:lnSpc>
              <a:spcBef>
                <a:spcPts val="0"/>
              </a:spcBef>
              <a:spcAft>
                <a:spcPts val="0"/>
              </a:spcAft>
              <a:buSzPts val="1800"/>
              <a:buChar char="-"/>
            </a:pPr>
            <a:r>
              <a:rPr lang="en"/>
              <a:t>O</a:t>
            </a:r>
            <a:r>
              <a:rPr lang="en"/>
              <a:t>ccur when demand for service is low</a:t>
            </a:r>
            <a:endParaRPr/>
          </a:p>
          <a:p>
            <a:pPr indent="-342900" lvl="0" marL="457200" rtl="0" algn="l">
              <a:lnSpc>
                <a:spcPct val="150000"/>
              </a:lnSpc>
              <a:spcBef>
                <a:spcPts val="0"/>
              </a:spcBef>
              <a:spcAft>
                <a:spcPts val="0"/>
              </a:spcAft>
              <a:buSzPts val="1800"/>
              <a:buChar char="-"/>
            </a:pPr>
            <a:r>
              <a:rPr lang="en"/>
              <a:t>No-op only if others propose; silent if all idle</a:t>
            </a:r>
            <a:endParaRPr/>
          </a:p>
          <a:p>
            <a:pPr indent="-342900" lvl="0" marL="457200" rtl="0" algn="l">
              <a:lnSpc>
                <a:spcPct val="150000"/>
              </a:lnSpc>
              <a:spcBef>
                <a:spcPts val="0"/>
              </a:spcBef>
              <a:spcAft>
                <a:spcPts val="0"/>
              </a:spcAft>
              <a:buSzPts val="1800"/>
              <a:buChar char="-"/>
            </a:pPr>
            <a:r>
              <a:rPr lang="en"/>
              <a:t>Checkpoint protocol requires liveness for all primaries</a:t>
            </a:r>
            <a:endParaRPr/>
          </a:p>
          <a:p>
            <a:pPr indent="0" lvl="0" marL="0" rtl="0" algn="l">
              <a:spcBef>
                <a:spcPts val="1200"/>
              </a:spcBef>
              <a:spcAft>
                <a:spcPts val="12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49"/>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Client Interaction Model</a:t>
            </a:r>
            <a:endParaRPr/>
          </a:p>
        </p:txBody>
      </p:sp>
      <p:sp>
        <p:nvSpPr>
          <p:cNvPr id="610" name="Google Shape;610;p49"/>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Dealing with </a:t>
            </a:r>
            <a:r>
              <a:rPr b="1" lang="en"/>
              <a:t>Faulty Primaries:</a:t>
            </a:r>
            <a:endParaRPr b="1"/>
          </a:p>
          <a:p>
            <a:pPr indent="-342900" lvl="0" marL="457200" rtl="0" algn="l">
              <a:lnSpc>
                <a:spcPct val="150000"/>
              </a:lnSpc>
              <a:spcBef>
                <a:spcPts val="1200"/>
              </a:spcBef>
              <a:spcAft>
                <a:spcPts val="0"/>
              </a:spcAft>
              <a:buSzPts val="1800"/>
              <a:buAutoNum type="arabicPeriod"/>
            </a:pPr>
            <a:r>
              <a:rPr lang="en"/>
              <a:t>Broadcast requests to other primaries</a:t>
            </a:r>
            <a:endParaRPr/>
          </a:p>
          <a:p>
            <a:pPr indent="-317500" lvl="1" marL="914400" rtl="0" algn="l">
              <a:lnSpc>
                <a:spcPct val="150000"/>
              </a:lnSpc>
              <a:spcBef>
                <a:spcPts val="0"/>
              </a:spcBef>
              <a:spcAft>
                <a:spcPts val="0"/>
              </a:spcAft>
              <a:buSzPts val="1400"/>
              <a:buChar char="○"/>
            </a:pPr>
            <a:r>
              <a:rPr lang="en"/>
              <a:t>Incentivises</a:t>
            </a:r>
            <a:r>
              <a:rPr lang="en"/>
              <a:t> malicious primaries</a:t>
            </a:r>
            <a:endParaRPr/>
          </a:p>
          <a:p>
            <a:pPr indent="-317500" lvl="1" marL="914400" rtl="0" algn="l">
              <a:lnSpc>
                <a:spcPct val="150000"/>
              </a:lnSpc>
              <a:spcBef>
                <a:spcPts val="0"/>
              </a:spcBef>
              <a:spcAft>
                <a:spcPts val="0"/>
              </a:spcAft>
              <a:buSzPts val="1400"/>
              <a:buChar char="○"/>
            </a:pPr>
            <a:r>
              <a:rPr lang="en"/>
              <a:t>BCA ensures only one primary can commit</a:t>
            </a:r>
            <a:endParaRPr/>
          </a:p>
          <a:p>
            <a:pPr indent="-342900" lvl="0" marL="457200" rtl="0" algn="l">
              <a:lnSpc>
                <a:spcPct val="150000"/>
              </a:lnSpc>
              <a:spcBef>
                <a:spcPts val="0"/>
              </a:spcBef>
              <a:spcAft>
                <a:spcPts val="0"/>
              </a:spcAft>
              <a:buSzPts val="1800"/>
              <a:buAutoNum type="arabicPeriod"/>
            </a:pPr>
            <a:r>
              <a:rPr lang="en"/>
              <a:t>Request for reassignment</a:t>
            </a:r>
            <a:endParaRPr/>
          </a:p>
          <a:p>
            <a:pPr indent="-317500" lvl="1" marL="914400" rtl="0" algn="l">
              <a:lnSpc>
                <a:spcPct val="150000"/>
              </a:lnSpc>
              <a:spcBef>
                <a:spcPts val="0"/>
              </a:spcBef>
              <a:spcAft>
                <a:spcPts val="0"/>
              </a:spcAft>
              <a:buSzPts val="1400"/>
              <a:buChar char="○"/>
            </a:pPr>
            <a:r>
              <a:rPr lang="en"/>
              <a:t>Request enters consensus</a:t>
            </a:r>
            <a:endParaRPr/>
          </a:p>
          <a:p>
            <a:pPr indent="-317500" lvl="1" marL="914400" rtl="0" algn="l">
              <a:lnSpc>
                <a:spcPct val="150000"/>
              </a:lnSpc>
              <a:spcBef>
                <a:spcPts val="0"/>
              </a:spcBef>
              <a:spcAft>
                <a:spcPts val="0"/>
              </a:spcAft>
              <a:buSzPts val="1400"/>
              <a:buChar char="○"/>
            </a:pPr>
            <a:r>
              <a:rPr lang="en"/>
              <a:t>Insures liveness and resilience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5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Client Design</a:t>
            </a:r>
            <a:endParaRPr/>
          </a:p>
        </p:txBody>
      </p:sp>
      <p:grpSp>
        <p:nvGrpSpPr>
          <p:cNvPr id="616" name="Google Shape;616;p50"/>
          <p:cNvGrpSpPr/>
          <p:nvPr/>
        </p:nvGrpSpPr>
        <p:grpSpPr>
          <a:xfrm>
            <a:off x="4245950" y="1463017"/>
            <a:ext cx="3592200" cy="2501700"/>
            <a:chOff x="3175975" y="472100"/>
            <a:chExt cx="3592200" cy="2501700"/>
          </a:xfrm>
        </p:grpSpPr>
        <p:sp>
          <p:nvSpPr>
            <p:cNvPr id="617" name="Google Shape;617;p50"/>
            <p:cNvSpPr/>
            <p:nvPr/>
          </p:nvSpPr>
          <p:spPr>
            <a:xfrm>
              <a:off x="3175975" y="1789100"/>
              <a:ext cx="728400" cy="52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C3</a:t>
              </a:r>
              <a:endParaRPr>
                <a:latin typeface="Roboto"/>
                <a:ea typeface="Roboto"/>
                <a:cs typeface="Roboto"/>
                <a:sym typeface="Roboto"/>
              </a:endParaRPr>
            </a:p>
          </p:txBody>
        </p:sp>
        <p:sp>
          <p:nvSpPr>
            <p:cNvPr id="618" name="Google Shape;618;p50"/>
            <p:cNvSpPr/>
            <p:nvPr/>
          </p:nvSpPr>
          <p:spPr>
            <a:xfrm>
              <a:off x="3175975" y="472100"/>
              <a:ext cx="728400" cy="52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C1</a:t>
              </a:r>
              <a:endParaRPr>
                <a:latin typeface="Roboto"/>
                <a:ea typeface="Roboto"/>
                <a:cs typeface="Roboto"/>
                <a:sym typeface="Roboto"/>
              </a:endParaRPr>
            </a:p>
          </p:txBody>
        </p:sp>
        <p:sp>
          <p:nvSpPr>
            <p:cNvPr id="619" name="Google Shape;619;p50"/>
            <p:cNvSpPr/>
            <p:nvPr/>
          </p:nvSpPr>
          <p:spPr>
            <a:xfrm>
              <a:off x="3175975" y="1130600"/>
              <a:ext cx="728400" cy="52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C2</a:t>
              </a:r>
              <a:endParaRPr>
                <a:latin typeface="Roboto"/>
                <a:ea typeface="Roboto"/>
                <a:cs typeface="Roboto"/>
                <a:sym typeface="Roboto"/>
              </a:endParaRPr>
            </a:p>
          </p:txBody>
        </p:sp>
        <p:sp>
          <p:nvSpPr>
            <p:cNvPr id="620" name="Google Shape;620;p50"/>
            <p:cNvSpPr/>
            <p:nvPr/>
          </p:nvSpPr>
          <p:spPr>
            <a:xfrm>
              <a:off x="6241375" y="510200"/>
              <a:ext cx="526800" cy="526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R1</a:t>
              </a:r>
              <a:endParaRPr sz="1200">
                <a:latin typeface="Roboto"/>
                <a:ea typeface="Roboto"/>
                <a:cs typeface="Roboto"/>
                <a:sym typeface="Roboto"/>
              </a:endParaRPr>
            </a:p>
          </p:txBody>
        </p:sp>
        <p:sp>
          <p:nvSpPr>
            <p:cNvPr id="621" name="Google Shape;621;p50"/>
            <p:cNvSpPr/>
            <p:nvPr/>
          </p:nvSpPr>
          <p:spPr>
            <a:xfrm>
              <a:off x="6241375" y="1478600"/>
              <a:ext cx="526800" cy="526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R2</a:t>
              </a:r>
              <a:endParaRPr sz="1200">
                <a:latin typeface="Roboto"/>
                <a:ea typeface="Roboto"/>
                <a:cs typeface="Roboto"/>
                <a:sym typeface="Roboto"/>
              </a:endParaRPr>
            </a:p>
          </p:txBody>
        </p:sp>
        <p:sp>
          <p:nvSpPr>
            <p:cNvPr id="622" name="Google Shape;622;p50"/>
            <p:cNvSpPr/>
            <p:nvPr/>
          </p:nvSpPr>
          <p:spPr>
            <a:xfrm>
              <a:off x="6241375" y="2447000"/>
              <a:ext cx="526800" cy="526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R3</a:t>
              </a:r>
              <a:endParaRPr sz="1200">
                <a:latin typeface="Roboto"/>
                <a:ea typeface="Roboto"/>
                <a:cs typeface="Roboto"/>
                <a:sym typeface="Roboto"/>
              </a:endParaRPr>
            </a:p>
          </p:txBody>
        </p:sp>
        <p:cxnSp>
          <p:nvCxnSpPr>
            <p:cNvPr id="623" name="Google Shape;623;p50"/>
            <p:cNvCxnSpPr>
              <a:stCxn id="618" idx="3"/>
              <a:endCxn id="620" idx="2"/>
            </p:cNvCxnSpPr>
            <p:nvPr/>
          </p:nvCxnSpPr>
          <p:spPr>
            <a:xfrm>
              <a:off x="3904375" y="735500"/>
              <a:ext cx="2337000" cy="38100"/>
            </a:xfrm>
            <a:prstGeom prst="straightConnector1">
              <a:avLst/>
            </a:prstGeom>
            <a:noFill/>
            <a:ln cap="flat" cmpd="sng" w="9525">
              <a:solidFill>
                <a:schemeClr val="accent2"/>
              </a:solidFill>
              <a:prstDash val="solid"/>
              <a:round/>
              <a:headEnd len="med" w="med" type="none"/>
              <a:tailEnd len="med" w="med" type="triangle"/>
            </a:ln>
          </p:spPr>
        </p:cxnSp>
        <p:cxnSp>
          <p:nvCxnSpPr>
            <p:cNvPr id="624" name="Google Shape;624;p50"/>
            <p:cNvCxnSpPr>
              <a:stCxn id="617" idx="3"/>
              <a:endCxn id="622" idx="2"/>
            </p:cNvCxnSpPr>
            <p:nvPr/>
          </p:nvCxnSpPr>
          <p:spPr>
            <a:xfrm>
              <a:off x="3904375" y="2052500"/>
              <a:ext cx="2337000" cy="657900"/>
            </a:xfrm>
            <a:prstGeom prst="straightConnector1">
              <a:avLst/>
            </a:prstGeom>
            <a:noFill/>
            <a:ln cap="flat" cmpd="sng" w="9525">
              <a:solidFill>
                <a:schemeClr val="accent2"/>
              </a:solidFill>
              <a:prstDash val="solid"/>
              <a:round/>
              <a:headEnd len="med" w="med" type="none"/>
              <a:tailEnd len="med" w="med" type="triangle"/>
            </a:ln>
          </p:spPr>
        </p:cxnSp>
      </p:grpSp>
      <p:grpSp>
        <p:nvGrpSpPr>
          <p:cNvPr id="625" name="Google Shape;625;p50"/>
          <p:cNvGrpSpPr/>
          <p:nvPr/>
        </p:nvGrpSpPr>
        <p:grpSpPr>
          <a:xfrm>
            <a:off x="87375" y="3227050"/>
            <a:ext cx="2668120" cy="1580400"/>
            <a:chOff x="87375" y="3227050"/>
            <a:chExt cx="2668120" cy="1580400"/>
          </a:xfrm>
        </p:grpSpPr>
        <p:grpSp>
          <p:nvGrpSpPr>
            <p:cNvPr id="626" name="Google Shape;626;p50"/>
            <p:cNvGrpSpPr/>
            <p:nvPr/>
          </p:nvGrpSpPr>
          <p:grpSpPr>
            <a:xfrm>
              <a:off x="1139613" y="3227050"/>
              <a:ext cx="526800" cy="1580400"/>
              <a:chOff x="4150650" y="340400"/>
              <a:chExt cx="526800" cy="1580400"/>
            </a:xfrm>
          </p:grpSpPr>
          <p:sp>
            <p:nvSpPr>
              <p:cNvPr id="627" name="Google Shape;627;p50"/>
              <p:cNvSpPr/>
              <p:nvPr/>
            </p:nvSpPr>
            <p:spPr>
              <a:xfrm>
                <a:off x="4150650" y="340400"/>
                <a:ext cx="526800" cy="526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R1</a:t>
                </a:r>
                <a:endParaRPr sz="1200">
                  <a:latin typeface="Roboto"/>
                  <a:ea typeface="Roboto"/>
                  <a:cs typeface="Roboto"/>
                  <a:sym typeface="Roboto"/>
                </a:endParaRPr>
              </a:p>
            </p:txBody>
          </p:sp>
          <p:sp>
            <p:nvSpPr>
              <p:cNvPr id="628" name="Google Shape;628;p50"/>
              <p:cNvSpPr/>
              <p:nvPr/>
            </p:nvSpPr>
            <p:spPr>
              <a:xfrm>
                <a:off x="4150650" y="867200"/>
                <a:ext cx="526800" cy="526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R2</a:t>
                </a:r>
                <a:endParaRPr sz="1200">
                  <a:latin typeface="Roboto"/>
                  <a:ea typeface="Roboto"/>
                  <a:cs typeface="Roboto"/>
                  <a:sym typeface="Roboto"/>
                </a:endParaRPr>
              </a:p>
            </p:txBody>
          </p:sp>
          <p:sp>
            <p:nvSpPr>
              <p:cNvPr id="629" name="Google Shape;629;p50"/>
              <p:cNvSpPr/>
              <p:nvPr/>
            </p:nvSpPr>
            <p:spPr>
              <a:xfrm>
                <a:off x="4150650" y="1394000"/>
                <a:ext cx="526800" cy="526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R3</a:t>
                </a:r>
                <a:endParaRPr sz="1200">
                  <a:latin typeface="Roboto"/>
                  <a:ea typeface="Roboto"/>
                  <a:cs typeface="Roboto"/>
                  <a:sym typeface="Roboto"/>
                </a:endParaRPr>
              </a:p>
            </p:txBody>
          </p:sp>
        </p:grpSp>
        <p:sp>
          <p:nvSpPr>
            <p:cNvPr id="630" name="Google Shape;630;p50"/>
            <p:cNvSpPr/>
            <p:nvPr/>
          </p:nvSpPr>
          <p:spPr>
            <a:xfrm>
              <a:off x="1678650" y="3491855"/>
              <a:ext cx="795600" cy="546725"/>
            </a:xfrm>
            <a:custGeom>
              <a:rect b="b" l="l" r="r" t="t"/>
              <a:pathLst>
                <a:path extrusionOk="0" h="21869" w="31824">
                  <a:moveTo>
                    <a:pt x="0" y="355"/>
                  </a:moveTo>
                  <a:cubicBezTo>
                    <a:pt x="5304" y="654"/>
                    <a:pt x="31824" y="-1438"/>
                    <a:pt x="31824" y="2148"/>
                  </a:cubicBezTo>
                  <a:cubicBezTo>
                    <a:pt x="31824" y="5734"/>
                    <a:pt x="5304" y="18583"/>
                    <a:pt x="0" y="21870"/>
                  </a:cubicBezTo>
                </a:path>
              </a:pathLst>
            </a:custGeom>
            <a:noFill/>
            <a:ln cap="flat" cmpd="sng" w="38100">
              <a:solidFill>
                <a:schemeClr val="accent2"/>
              </a:solidFill>
              <a:prstDash val="solid"/>
              <a:round/>
              <a:headEnd len="med" w="med" type="none"/>
              <a:tailEnd len="med" w="med" type="stealth"/>
            </a:ln>
          </p:spPr>
        </p:sp>
        <p:grpSp>
          <p:nvGrpSpPr>
            <p:cNvPr id="631" name="Google Shape;631;p50"/>
            <p:cNvGrpSpPr/>
            <p:nvPr/>
          </p:nvGrpSpPr>
          <p:grpSpPr>
            <a:xfrm>
              <a:off x="87375" y="3753850"/>
              <a:ext cx="728400" cy="1053600"/>
              <a:chOff x="3039025" y="867200"/>
              <a:chExt cx="728400" cy="1053600"/>
            </a:xfrm>
          </p:grpSpPr>
          <p:sp>
            <p:nvSpPr>
              <p:cNvPr id="632" name="Google Shape;632;p50"/>
              <p:cNvSpPr/>
              <p:nvPr/>
            </p:nvSpPr>
            <p:spPr>
              <a:xfrm>
                <a:off x="3039025" y="1394000"/>
                <a:ext cx="728400" cy="52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C3</a:t>
                </a:r>
                <a:endParaRPr>
                  <a:latin typeface="Roboto"/>
                  <a:ea typeface="Roboto"/>
                  <a:cs typeface="Roboto"/>
                  <a:sym typeface="Roboto"/>
                </a:endParaRPr>
              </a:p>
            </p:txBody>
          </p:sp>
          <p:sp>
            <p:nvSpPr>
              <p:cNvPr id="633" name="Google Shape;633;p50"/>
              <p:cNvSpPr/>
              <p:nvPr/>
            </p:nvSpPr>
            <p:spPr>
              <a:xfrm>
                <a:off x="3039025" y="867200"/>
                <a:ext cx="728400" cy="52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C2</a:t>
                </a:r>
                <a:endParaRPr>
                  <a:latin typeface="Roboto"/>
                  <a:ea typeface="Roboto"/>
                  <a:cs typeface="Roboto"/>
                  <a:sym typeface="Roboto"/>
                </a:endParaRPr>
              </a:p>
            </p:txBody>
          </p:sp>
        </p:grpSp>
        <p:grpSp>
          <p:nvGrpSpPr>
            <p:cNvPr id="634" name="Google Shape;634;p50"/>
            <p:cNvGrpSpPr/>
            <p:nvPr/>
          </p:nvGrpSpPr>
          <p:grpSpPr>
            <a:xfrm>
              <a:off x="793356" y="3979905"/>
              <a:ext cx="348774" cy="576456"/>
              <a:chOff x="3767425" y="1130600"/>
              <a:chExt cx="383100" cy="377212"/>
            </a:xfrm>
          </p:grpSpPr>
          <p:cxnSp>
            <p:nvCxnSpPr>
              <p:cNvPr id="635" name="Google Shape;635;p50"/>
              <p:cNvCxnSpPr/>
              <p:nvPr/>
            </p:nvCxnSpPr>
            <p:spPr>
              <a:xfrm>
                <a:off x="3767425" y="1130600"/>
                <a:ext cx="383100" cy="0"/>
              </a:xfrm>
              <a:prstGeom prst="straightConnector1">
                <a:avLst/>
              </a:prstGeom>
              <a:noFill/>
              <a:ln cap="flat" cmpd="sng" w="8675">
                <a:solidFill>
                  <a:schemeClr val="accent2"/>
                </a:solidFill>
                <a:prstDash val="solid"/>
                <a:round/>
                <a:headEnd len="med" w="med" type="none"/>
                <a:tailEnd len="med" w="med" type="triangle"/>
              </a:ln>
            </p:spPr>
          </p:cxnSp>
          <p:cxnSp>
            <p:nvCxnSpPr>
              <p:cNvPr id="636" name="Google Shape;636;p50"/>
              <p:cNvCxnSpPr/>
              <p:nvPr/>
            </p:nvCxnSpPr>
            <p:spPr>
              <a:xfrm>
                <a:off x="3767425" y="1507812"/>
                <a:ext cx="383100" cy="0"/>
              </a:xfrm>
              <a:prstGeom prst="straightConnector1">
                <a:avLst/>
              </a:prstGeom>
              <a:noFill/>
              <a:ln cap="flat" cmpd="sng" w="8675">
                <a:solidFill>
                  <a:schemeClr val="accent2"/>
                </a:solidFill>
                <a:prstDash val="solid"/>
                <a:round/>
                <a:headEnd len="med" w="med" type="none"/>
                <a:tailEnd len="med" w="med" type="triangle"/>
              </a:ln>
            </p:spPr>
          </p:cxnSp>
        </p:grpSp>
        <p:sp>
          <p:nvSpPr>
            <p:cNvPr id="637" name="Google Shape;637;p50"/>
            <p:cNvSpPr/>
            <p:nvPr/>
          </p:nvSpPr>
          <p:spPr>
            <a:xfrm>
              <a:off x="1678650" y="3436094"/>
              <a:ext cx="948025" cy="1079425"/>
            </a:xfrm>
            <a:custGeom>
              <a:rect b="b" l="l" r="r" t="t"/>
              <a:pathLst>
                <a:path extrusionOk="0" h="43177" w="37921">
                  <a:moveTo>
                    <a:pt x="0" y="1344"/>
                  </a:moveTo>
                  <a:cubicBezTo>
                    <a:pt x="6320" y="1745"/>
                    <a:pt x="37881" y="-3224"/>
                    <a:pt x="37921" y="3748"/>
                  </a:cubicBezTo>
                  <a:cubicBezTo>
                    <a:pt x="37961" y="10720"/>
                    <a:pt x="6519" y="36606"/>
                    <a:pt x="238" y="43177"/>
                  </a:cubicBezTo>
                </a:path>
              </a:pathLst>
            </a:custGeom>
            <a:noFill/>
            <a:ln cap="flat" cmpd="sng" w="38100">
              <a:solidFill>
                <a:schemeClr val="accent2"/>
              </a:solidFill>
              <a:prstDash val="solid"/>
              <a:round/>
              <a:headEnd len="med" w="med" type="none"/>
              <a:tailEnd len="med" w="med" type="stealth"/>
            </a:ln>
          </p:spPr>
        </p:sp>
        <p:sp>
          <p:nvSpPr>
            <p:cNvPr id="638" name="Google Shape;638;p50"/>
            <p:cNvSpPr txBox="1"/>
            <p:nvPr/>
          </p:nvSpPr>
          <p:spPr>
            <a:xfrm>
              <a:off x="1679695" y="3231574"/>
              <a:ext cx="1075800" cy="3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No-Op</a:t>
              </a:r>
              <a:endParaRPr sz="1800">
                <a:solidFill>
                  <a:schemeClr val="dk1"/>
                </a:solidFill>
                <a:latin typeface="Roboto"/>
                <a:ea typeface="Roboto"/>
                <a:cs typeface="Roboto"/>
                <a:sym typeface="Roboto"/>
              </a:endParaRPr>
            </a:p>
          </p:txBody>
        </p:sp>
      </p:grpSp>
      <p:sp>
        <p:nvSpPr>
          <p:cNvPr id="639" name="Google Shape;639;p50"/>
          <p:cNvSpPr/>
          <p:nvPr/>
        </p:nvSpPr>
        <p:spPr>
          <a:xfrm>
            <a:off x="4245950" y="3437917"/>
            <a:ext cx="728400" cy="52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C4</a:t>
            </a:r>
            <a:endParaRPr>
              <a:latin typeface="Roboto"/>
              <a:ea typeface="Roboto"/>
              <a:cs typeface="Roboto"/>
              <a:sym typeface="Roboto"/>
            </a:endParaRPr>
          </a:p>
        </p:txBody>
      </p:sp>
      <p:cxnSp>
        <p:nvCxnSpPr>
          <p:cNvPr id="640" name="Google Shape;640;p50"/>
          <p:cNvCxnSpPr>
            <a:stCxn id="639" idx="3"/>
            <a:endCxn id="622" idx="2"/>
          </p:cNvCxnSpPr>
          <p:nvPr/>
        </p:nvCxnSpPr>
        <p:spPr>
          <a:xfrm>
            <a:off x="4974350" y="3701317"/>
            <a:ext cx="2337000" cy="0"/>
          </a:xfrm>
          <a:prstGeom prst="straightConnector1">
            <a:avLst/>
          </a:prstGeom>
          <a:noFill/>
          <a:ln cap="flat" cmpd="sng" w="9525">
            <a:solidFill>
              <a:schemeClr val="accent2"/>
            </a:solidFill>
            <a:prstDash val="solid"/>
            <a:round/>
            <a:headEnd len="med" w="med" type="none"/>
            <a:tailEnd len="med" w="med" type="triangle"/>
          </a:ln>
        </p:spPr>
      </p:cxnSp>
      <p:cxnSp>
        <p:nvCxnSpPr>
          <p:cNvPr id="641" name="Google Shape;641;p50"/>
          <p:cNvCxnSpPr>
            <a:endCxn id="621" idx="2"/>
          </p:cNvCxnSpPr>
          <p:nvPr/>
        </p:nvCxnSpPr>
        <p:spPr>
          <a:xfrm>
            <a:off x="5013050" y="2384617"/>
            <a:ext cx="2298300" cy="348300"/>
          </a:xfrm>
          <a:prstGeom prst="straightConnector1">
            <a:avLst/>
          </a:prstGeom>
          <a:noFill/>
          <a:ln cap="flat" cmpd="sng" w="9525">
            <a:solidFill>
              <a:schemeClr val="accent2"/>
            </a:solidFill>
            <a:prstDash val="solid"/>
            <a:round/>
            <a:headEnd len="med" w="med" type="none"/>
            <a:tailEnd len="med" w="med" type="triangle"/>
          </a:ln>
        </p:spPr>
      </p:cxnSp>
      <p:cxnSp>
        <p:nvCxnSpPr>
          <p:cNvPr id="642" name="Google Shape;642;p50"/>
          <p:cNvCxnSpPr>
            <a:endCxn id="621" idx="2"/>
          </p:cNvCxnSpPr>
          <p:nvPr/>
        </p:nvCxnSpPr>
        <p:spPr>
          <a:xfrm>
            <a:off x="5013050" y="2384617"/>
            <a:ext cx="2298300" cy="348300"/>
          </a:xfrm>
          <a:prstGeom prst="straightConnector1">
            <a:avLst/>
          </a:prstGeom>
          <a:noFill/>
          <a:ln cap="flat" cmpd="sng" w="9525">
            <a:solidFill>
              <a:srgbClr val="FF0000"/>
            </a:solidFill>
            <a:prstDash val="solid"/>
            <a:round/>
            <a:headEnd len="med" w="med" type="none"/>
            <a:tailEnd len="med" w="med" type="triangle"/>
          </a:ln>
        </p:spPr>
      </p:cxnSp>
      <p:cxnSp>
        <p:nvCxnSpPr>
          <p:cNvPr id="643" name="Google Shape;643;p50"/>
          <p:cNvCxnSpPr>
            <a:stCxn id="619" idx="3"/>
            <a:endCxn id="620" idx="3"/>
          </p:cNvCxnSpPr>
          <p:nvPr/>
        </p:nvCxnSpPr>
        <p:spPr>
          <a:xfrm flipH="1" rot="10800000">
            <a:off x="4974350" y="1950817"/>
            <a:ext cx="2414100" cy="434100"/>
          </a:xfrm>
          <a:prstGeom prst="straightConnector1">
            <a:avLst/>
          </a:prstGeom>
          <a:noFill/>
          <a:ln cap="flat" cmpd="sng" w="9525">
            <a:solidFill>
              <a:srgbClr val="FFD966"/>
            </a:solidFill>
            <a:prstDash val="solid"/>
            <a:round/>
            <a:headEnd len="med" w="med" type="none"/>
            <a:tailEnd len="med" w="med" type="triangle"/>
          </a:ln>
        </p:spPr>
      </p:cxnSp>
      <p:cxnSp>
        <p:nvCxnSpPr>
          <p:cNvPr id="644" name="Google Shape;644;p50"/>
          <p:cNvCxnSpPr>
            <a:stCxn id="619" idx="3"/>
            <a:endCxn id="622" idx="1"/>
          </p:cNvCxnSpPr>
          <p:nvPr/>
        </p:nvCxnSpPr>
        <p:spPr>
          <a:xfrm>
            <a:off x="4974350" y="2384917"/>
            <a:ext cx="2414100" cy="1130100"/>
          </a:xfrm>
          <a:prstGeom prst="straightConnector1">
            <a:avLst/>
          </a:prstGeom>
          <a:noFill/>
          <a:ln cap="flat" cmpd="sng" w="9525">
            <a:solidFill>
              <a:srgbClr val="FFD966"/>
            </a:solidFill>
            <a:prstDash val="solid"/>
            <a:round/>
            <a:headEnd len="med" w="med" type="none"/>
            <a:tailEnd len="med" w="med" type="triangle"/>
          </a:ln>
        </p:spPr>
      </p:cxnSp>
      <p:cxnSp>
        <p:nvCxnSpPr>
          <p:cNvPr id="645" name="Google Shape;645;p50"/>
          <p:cNvCxnSpPr>
            <a:stCxn id="622" idx="0"/>
            <a:endCxn id="621" idx="4"/>
          </p:cNvCxnSpPr>
          <p:nvPr/>
        </p:nvCxnSpPr>
        <p:spPr>
          <a:xfrm rot="10800000">
            <a:off x="7574750" y="2996317"/>
            <a:ext cx="0" cy="441600"/>
          </a:xfrm>
          <a:prstGeom prst="straightConnector1">
            <a:avLst/>
          </a:prstGeom>
          <a:noFill/>
          <a:ln cap="flat" cmpd="sng" w="9525">
            <a:solidFill>
              <a:srgbClr val="FF9900"/>
            </a:solidFill>
            <a:prstDash val="solid"/>
            <a:round/>
            <a:headEnd len="med" w="med" type="none"/>
            <a:tailEnd len="med" w="med" type="triangle"/>
          </a:ln>
        </p:spPr>
      </p:cxnSp>
      <p:cxnSp>
        <p:nvCxnSpPr>
          <p:cNvPr id="646" name="Google Shape;646;p50"/>
          <p:cNvCxnSpPr>
            <a:stCxn id="620" idx="4"/>
            <a:endCxn id="621" idx="0"/>
          </p:cNvCxnSpPr>
          <p:nvPr/>
        </p:nvCxnSpPr>
        <p:spPr>
          <a:xfrm>
            <a:off x="7574750" y="2027917"/>
            <a:ext cx="0" cy="441600"/>
          </a:xfrm>
          <a:prstGeom prst="straightConnector1">
            <a:avLst/>
          </a:prstGeom>
          <a:noFill/>
          <a:ln cap="flat" cmpd="sng" w="9525">
            <a:solidFill>
              <a:srgbClr val="FF9900"/>
            </a:solidFill>
            <a:prstDash val="solid"/>
            <a:round/>
            <a:headEnd len="med" w="med" type="none"/>
            <a:tailEnd len="med" w="med" type="triangle"/>
          </a:ln>
        </p:spPr>
      </p:cxnSp>
      <p:sp>
        <p:nvSpPr>
          <p:cNvPr id="647" name="Google Shape;647;p50"/>
          <p:cNvSpPr txBox="1"/>
          <p:nvPr/>
        </p:nvSpPr>
        <p:spPr>
          <a:xfrm>
            <a:off x="4965450" y="1850325"/>
            <a:ext cx="1268400" cy="34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Timer started</a:t>
            </a:r>
            <a:endParaRPr sz="1000">
              <a:solidFill>
                <a:schemeClr val="dk1"/>
              </a:solidFill>
              <a:latin typeface="Roboto"/>
              <a:ea typeface="Roboto"/>
              <a:cs typeface="Roboto"/>
              <a:sym typeface="Roboto"/>
            </a:endParaRPr>
          </a:p>
        </p:txBody>
      </p:sp>
      <p:cxnSp>
        <p:nvCxnSpPr>
          <p:cNvPr id="648" name="Google Shape;648;p50"/>
          <p:cNvCxnSpPr>
            <a:stCxn id="619" idx="3"/>
            <a:endCxn id="620" idx="3"/>
          </p:cNvCxnSpPr>
          <p:nvPr/>
        </p:nvCxnSpPr>
        <p:spPr>
          <a:xfrm flipH="1" rot="10800000">
            <a:off x="4974350" y="1950817"/>
            <a:ext cx="2414100" cy="434100"/>
          </a:xfrm>
          <a:prstGeom prst="straightConnector1">
            <a:avLst/>
          </a:prstGeom>
          <a:noFill/>
          <a:ln cap="flat" cmpd="sng" w="9525">
            <a:solidFill>
              <a:srgbClr val="FF00FF"/>
            </a:solidFill>
            <a:prstDash val="solid"/>
            <a:round/>
            <a:headEnd len="med" w="med" type="none"/>
            <a:tailEnd len="med" w="med" type="triangle"/>
          </a:ln>
        </p:spPr>
      </p:cxnSp>
      <p:cxnSp>
        <p:nvCxnSpPr>
          <p:cNvPr id="649" name="Google Shape;649;p50"/>
          <p:cNvCxnSpPr>
            <a:stCxn id="619" idx="3"/>
            <a:endCxn id="622" idx="1"/>
          </p:cNvCxnSpPr>
          <p:nvPr/>
        </p:nvCxnSpPr>
        <p:spPr>
          <a:xfrm>
            <a:off x="4974350" y="2384917"/>
            <a:ext cx="2414100" cy="1130100"/>
          </a:xfrm>
          <a:prstGeom prst="straightConnector1">
            <a:avLst/>
          </a:prstGeom>
          <a:noFill/>
          <a:ln cap="flat" cmpd="sng" w="9525">
            <a:solidFill>
              <a:srgbClr val="FF00FF"/>
            </a:solidFill>
            <a:prstDash val="solid"/>
            <a:round/>
            <a:headEnd len="med" w="med" type="none"/>
            <a:tailEnd len="med" w="med" type="triangle"/>
          </a:ln>
        </p:spPr>
      </p:cxnSp>
      <p:sp>
        <p:nvSpPr>
          <p:cNvPr id="650" name="Google Shape;650;p50"/>
          <p:cNvSpPr txBox="1"/>
          <p:nvPr/>
        </p:nvSpPr>
        <p:spPr>
          <a:xfrm>
            <a:off x="5801550" y="1850325"/>
            <a:ext cx="1129500" cy="34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Reassign Request</a:t>
            </a:r>
            <a:endParaRPr sz="900">
              <a:solidFill>
                <a:schemeClr val="dk1"/>
              </a:solidFill>
              <a:latin typeface="Roboto"/>
              <a:ea typeface="Roboto"/>
              <a:cs typeface="Roboto"/>
              <a:sym typeface="Roboto"/>
            </a:endParaRPr>
          </a:p>
        </p:txBody>
      </p:sp>
      <p:sp>
        <p:nvSpPr>
          <p:cNvPr id="651" name="Google Shape;651;p50"/>
          <p:cNvSpPr txBox="1"/>
          <p:nvPr/>
        </p:nvSpPr>
        <p:spPr>
          <a:xfrm>
            <a:off x="5847975" y="2775825"/>
            <a:ext cx="1129500" cy="34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Reassign Request</a:t>
            </a:r>
            <a:endParaRPr sz="900">
              <a:solidFill>
                <a:schemeClr val="dk1"/>
              </a:solidFill>
              <a:latin typeface="Roboto"/>
              <a:ea typeface="Roboto"/>
              <a:cs typeface="Roboto"/>
              <a:sym typeface="Roboto"/>
            </a:endParaRPr>
          </a:p>
        </p:txBody>
      </p:sp>
      <p:sp>
        <p:nvSpPr>
          <p:cNvPr id="652" name="Google Shape;652;p50"/>
          <p:cNvSpPr txBox="1"/>
          <p:nvPr/>
        </p:nvSpPr>
        <p:spPr>
          <a:xfrm>
            <a:off x="456750" y="1359500"/>
            <a:ext cx="26163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Client to single primary</a:t>
            </a:r>
            <a:endParaRPr sz="1600">
              <a:solidFill>
                <a:schemeClr val="dk1"/>
              </a:solidFill>
              <a:latin typeface="Roboto"/>
              <a:ea typeface="Roboto"/>
              <a:cs typeface="Roboto"/>
              <a:sym typeface="Roboto"/>
            </a:endParaRPr>
          </a:p>
        </p:txBody>
      </p:sp>
      <p:sp>
        <p:nvSpPr>
          <p:cNvPr id="653" name="Google Shape;653;p50"/>
          <p:cNvSpPr txBox="1"/>
          <p:nvPr/>
        </p:nvSpPr>
        <p:spPr>
          <a:xfrm>
            <a:off x="473700" y="1793625"/>
            <a:ext cx="2244600" cy="52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Broadcast request </a:t>
            </a:r>
            <a:endParaRPr sz="1600">
              <a:solidFill>
                <a:schemeClr val="dk1"/>
              </a:solidFill>
              <a:latin typeface="Roboto"/>
              <a:ea typeface="Roboto"/>
              <a:cs typeface="Roboto"/>
              <a:sym typeface="Roboto"/>
            </a:endParaRPr>
          </a:p>
        </p:txBody>
      </p:sp>
      <p:sp>
        <p:nvSpPr>
          <p:cNvPr id="654" name="Google Shape;654;p50"/>
          <p:cNvSpPr txBox="1"/>
          <p:nvPr/>
        </p:nvSpPr>
        <p:spPr>
          <a:xfrm>
            <a:off x="456750" y="2248450"/>
            <a:ext cx="2061900" cy="43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Request Reassign</a:t>
            </a:r>
            <a:endParaRPr sz="1600">
              <a:solidFill>
                <a:schemeClr val="dk1"/>
              </a:solidFill>
              <a:latin typeface="Roboto"/>
              <a:ea typeface="Roboto"/>
              <a:cs typeface="Roboto"/>
              <a:sym typeface="Roboto"/>
            </a:endParaRPr>
          </a:p>
          <a:p>
            <a:pPr indent="0" lvl="0" marL="0" rtl="0" algn="l">
              <a:spcBef>
                <a:spcPts val="1200"/>
              </a:spcBef>
              <a:spcAft>
                <a:spcPts val="0"/>
              </a:spcAft>
              <a:buNone/>
            </a:pPr>
            <a:r>
              <a:t/>
            </a:r>
            <a:endParaRPr sz="1800">
              <a:solidFill>
                <a:schemeClr val="dk1"/>
              </a:solidFill>
              <a:latin typeface="Roboto"/>
              <a:ea typeface="Roboto"/>
              <a:cs typeface="Roboto"/>
              <a:sym typeface="Roboto"/>
            </a:endParaRPr>
          </a:p>
        </p:txBody>
      </p:sp>
      <p:sp>
        <p:nvSpPr>
          <p:cNvPr id="655" name="Google Shape;655;p50"/>
          <p:cNvSpPr txBox="1"/>
          <p:nvPr/>
        </p:nvSpPr>
        <p:spPr>
          <a:xfrm>
            <a:off x="456750" y="2732925"/>
            <a:ext cx="2170200" cy="52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No-Op Submissions</a:t>
            </a:r>
            <a:endParaRPr sz="1600">
              <a:solidFill>
                <a:schemeClr val="dk1"/>
              </a:solidFill>
              <a:latin typeface="Roboto"/>
              <a:ea typeface="Roboto"/>
              <a:cs typeface="Roboto"/>
              <a:sym typeface="Roboto"/>
            </a:endParaRPr>
          </a:p>
          <a:p>
            <a:pPr indent="0" lvl="0" marL="0" rtl="0" algn="l">
              <a:spcBef>
                <a:spcPts val="1200"/>
              </a:spcBef>
              <a:spcAft>
                <a:spcPts val="0"/>
              </a:spcAft>
              <a:buNone/>
            </a:pPr>
            <a:r>
              <a:t/>
            </a:r>
            <a:endParaRPr sz="1800">
              <a:solidFill>
                <a:schemeClr val="dk1"/>
              </a:solidFill>
              <a:latin typeface="Roboto"/>
              <a:ea typeface="Roboto"/>
              <a:cs typeface="Roboto"/>
              <a:sym typeface="Roboto"/>
            </a:endParaRPr>
          </a:p>
        </p:txBody>
      </p:sp>
      <p:sp>
        <p:nvSpPr>
          <p:cNvPr id="656" name="Google Shape;656;p50"/>
          <p:cNvSpPr txBox="1"/>
          <p:nvPr/>
        </p:nvSpPr>
        <p:spPr>
          <a:xfrm>
            <a:off x="5140350" y="1915425"/>
            <a:ext cx="661200" cy="283200"/>
          </a:xfrm>
          <a:prstGeom prst="rect">
            <a:avLst/>
          </a:prstGeom>
          <a:solidFill>
            <a:srgbClr val="FF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Timeout</a:t>
            </a:r>
            <a:endParaRPr sz="10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64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64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4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4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4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4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51"/>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Resilience Against Attacks</a:t>
            </a:r>
            <a:endParaRPr/>
          </a:p>
        </p:txBody>
      </p:sp>
      <p:sp>
        <p:nvSpPr>
          <p:cNvPr id="662" name="Google Shape;662;p51"/>
          <p:cNvSpPr txBox="1"/>
          <p:nvPr>
            <p:ph idx="1" type="body"/>
          </p:nvPr>
        </p:nvSpPr>
        <p:spPr>
          <a:xfrm>
            <a:off x="387900" y="1405398"/>
            <a:ext cx="8368200" cy="30789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b="1" lang="en"/>
              <a:t>Types of Attacks</a:t>
            </a:r>
            <a:r>
              <a:rPr lang="en"/>
              <a:t>:</a:t>
            </a:r>
            <a:endParaRPr/>
          </a:p>
          <a:p>
            <a:pPr indent="-342900" lvl="0" marL="457200" rtl="0" algn="l">
              <a:lnSpc>
                <a:spcPct val="150000"/>
              </a:lnSpc>
              <a:spcBef>
                <a:spcPts val="1200"/>
              </a:spcBef>
              <a:spcAft>
                <a:spcPts val="0"/>
              </a:spcAft>
              <a:buSzPts val="1800"/>
              <a:buChar char="●"/>
            </a:pPr>
            <a:r>
              <a:rPr i="1" lang="en"/>
              <a:t>Ordering Attack:</a:t>
            </a:r>
            <a:r>
              <a:rPr lang="en"/>
              <a:t> Bad primaries try to reorder transactions to cheat.</a:t>
            </a:r>
            <a:endParaRPr/>
          </a:p>
          <a:p>
            <a:pPr indent="-342900" lvl="0" marL="457200" rtl="0" algn="l">
              <a:lnSpc>
                <a:spcPct val="150000"/>
              </a:lnSpc>
              <a:spcBef>
                <a:spcPts val="0"/>
              </a:spcBef>
              <a:spcAft>
                <a:spcPts val="0"/>
              </a:spcAft>
              <a:buSzPts val="1800"/>
              <a:buChar char="●"/>
            </a:pPr>
            <a:r>
              <a:rPr i="1" lang="en"/>
              <a:t>Throttling Attack:</a:t>
            </a:r>
            <a:r>
              <a:rPr lang="en"/>
              <a:t> A primary slows down its work to block progress.</a:t>
            </a:r>
            <a:endParaRPr/>
          </a:p>
          <a:p>
            <a:pPr indent="-342900" lvl="0" marL="457200" rtl="0" algn="l">
              <a:lnSpc>
                <a:spcPct val="150000"/>
              </a:lnSpc>
              <a:spcBef>
                <a:spcPts val="0"/>
              </a:spcBef>
              <a:spcAft>
                <a:spcPts val="0"/>
              </a:spcAft>
              <a:buSzPts val="1800"/>
              <a:buChar char="●"/>
            </a:pPr>
            <a:r>
              <a:rPr i="1" lang="en"/>
              <a:t>Targeted Attack:</a:t>
            </a:r>
            <a:r>
              <a:rPr lang="en"/>
              <a:t> Attackers overload or crash a specific primary to cause disruption.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5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How RCC mitigates attacks</a:t>
            </a:r>
            <a:endParaRPr/>
          </a:p>
        </p:txBody>
      </p:sp>
      <p:sp>
        <p:nvSpPr>
          <p:cNvPr id="668" name="Google Shape;668;p52"/>
          <p:cNvSpPr txBox="1"/>
          <p:nvPr>
            <p:ph idx="1" type="body"/>
          </p:nvPr>
        </p:nvSpPr>
        <p:spPr>
          <a:xfrm>
            <a:off x="387900" y="1437058"/>
            <a:ext cx="8368200" cy="3078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How RCC handles the three types of attacks</a:t>
            </a:r>
            <a:endParaRPr/>
          </a:p>
          <a:p>
            <a:pPr indent="0" lvl="0" marL="0" rtl="0" algn="l">
              <a:spcBef>
                <a:spcPts val="1200"/>
              </a:spcBef>
              <a:spcAft>
                <a:spcPts val="0"/>
              </a:spcAft>
              <a:buNone/>
            </a:pPr>
            <a:r>
              <a:rPr b="1" lang="en"/>
              <a:t>Ordering</a:t>
            </a:r>
            <a:r>
              <a:rPr lang="en"/>
              <a:t>: </a:t>
            </a:r>
            <a:endParaRPr/>
          </a:p>
          <a:p>
            <a:pPr indent="-334327" lvl="0" marL="457200" rtl="0" algn="l">
              <a:spcBef>
                <a:spcPts val="1200"/>
              </a:spcBef>
              <a:spcAft>
                <a:spcPts val="0"/>
              </a:spcAft>
              <a:buSzPct val="100000"/>
              <a:buChar char="-"/>
            </a:pPr>
            <a:r>
              <a:rPr lang="en"/>
              <a:t>Uses a hash to shuffle </a:t>
            </a:r>
            <a:r>
              <a:rPr lang="en"/>
              <a:t>Ordering deterministically</a:t>
            </a:r>
            <a:endParaRPr/>
          </a:p>
          <a:p>
            <a:pPr indent="0" lvl="0" marL="0" rtl="0" algn="l">
              <a:spcBef>
                <a:spcPts val="1200"/>
              </a:spcBef>
              <a:spcAft>
                <a:spcPts val="0"/>
              </a:spcAft>
              <a:buNone/>
            </a:pPr>
            <a:r>
              <a:rPr b="1" lang="en"/>
              <a:t>Throttling</a:t>
            </a:r>
            <a:r>
              <a:rPr lang="en"/>
              <a:t>: </a:t>
            </a:r>
            <a:endParaRPr/>
          </a:p>
          <a:p>
            <a:pPr indent="-334327" lvl="0" marL="457200" rtl="0" algn="l">
              <a:spcBef>
                <a:spcPts val="1200"/>
              </a:spcBef>
              <a:spcAft>
                <a:spcPts val="0"/>
              </a:spcAft>
              <a:buSzPct val="100000"/>
              <a:buChar char="-"/>
            </a:pPr>
            <a:r>
              <a:rPr lang="en"/>
              <a:t>Tracks each instances progress. If it lags for certain number of times it enters independent recovery</a:t>
            </a:r>
            <a:endParaRPr/>
          </a:p>
          <a:p>
            <a:pPr indent="0" lvl="0" marL="0" rtl="0" algn="l">
              <a:spcBef>
                <a:spcPts val="1200"/>
              </a:spcBef>
              <a:spcAft>
                <a:spcPts val="0"/>
              </a:spcAft>
              <a:buNone/>
            </a:pPr>
            <a:r>
              <a:rPr b="1" lang="en"/>
              <a:t>Targeted</a:t>
            </a:r>
            <a:r>
              <a:rPr lang="en"/>
              <a:t>: </a:t>
            </a:r>
            <a:endParaRPr/>
          </a:p>
          <a:p>
            <a:pPr indent="-334327" lvl="0" marL="457200" rtl="0" algn="l">
              <a:spcBef>
                <a:spcPts val="1200"/>
              </a:spcBef>
              <a:spcAft>
                <a:spcPts val="0"/>
              </a:spcAft>
              <a:buSzPct val="100000"/>
              <a:buChar char="-"/>
            </a:pPr>
            <a:r>
              <a:rPr lang="en"/>
              <a:t>The load is evenly distributed even if a set of instance under attack</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53"/>
          <p:cNvSpPr txBox="1"/>
          <p:nvPr>
            <p:ph idx="1" type="body"/>
          </p:nvPr>
        </p:nvSpPr>
        <p:spPr>
          <a:xfrm>
            <a:off x="387900" y="1489825"/>
            <a:ext cx="8368200" cy="343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5 Main Questions for RCC</a:t>
            </a:r>
            <a:endParaRPr/>
          </a:p>
          <a:p>
            <a:pPr indent="-342900" lvl="0" marL="457200" rtl="0" algn="l">
              <a:spcBef>
                <a:spcPts val="1200"/>
              </a:spcBef>
              <a:spcAft>
                <a:spcPts val="0"/>
              </a:spcAft>
              <a:buSzPts val="1800"/>
              <a:buChar char="-"/>
            </a:pPr>
            <a:r>
              <a:rPr lang="en"/>
              <a:t>Q1: Throughput: Can RCC deliver higher throughput than</a:t>
            </a:r>
            <a:r>
              <a:rPr lang="en"/>
              <a:t> other primary-backup consensus protocols?</a:t>
            </a:r>
            <a:endParaRPr/>
          </a:p>
          <a:p>
            <a:pPr indent="-342900" lvl="0" marL="457200" rtl="0" algn="l">
              <a:spcBef>
                <a:spcPts val="0"/>
              </a:spcBef>
              <a:spcAft>
                <a:spcPts val="0"/>
              </a:spcAft>
              <a:buSzPts val="1800"/>
              <a:buChar char="-"/>
            </a:pPr>
            <a:r>
              <a:rPr lang="en"/>
              <a:t>Q2: Scalability: Does RCC's performance scale better as we increase the number of replicas</a:t>
            </a:r>
            <a:endParaRPr/>
          </a:p>
          <a:p>
            <a:pPr indent="-342900" lvl="0" marL="457200" rtl="0" algn="l">
              <a:spcBef>
                <a:spcPts val="0"/>
              </a:spcBef>
              <a:spcAft>
                <a:spcPts val="0"/>
              </a:spcAft>
              <a:buSzPts val="1800"/>
              <a:buChar char="-"/>
            </a:pPr>
            <a:r>
              <a:rPr lang="en"/>
              <a:t>Q3: Load Balancing: Does spreading the primary's workload across all replicas provide a measurable performance gain?</a:t>
            </a:r>
            <a:endParaRPr/>
          </a:p>
          <a:p>
            <a:pPr indent="-342900" lvl="0" marL="457200" rtl="0" algn="l">
              <a:spcBef>
                <a:spcPts val="0"/>
              </a:spcBef>
              <a:spcAft>
                <a:spcPts val="0"/>
              </a:spcAft>
              <a:buSzPts val="1800"/>
              <a:buChar char="-"/>
            </a:pPr>
            <a:r>
              <a:rPr lang="en"/>
              <a:t>Q4: Resilience: How does RCC fare under failures?</a:t>
            </a:r>
            <a:endParaRPr/>
          </a:p>
          <a:p>
            <a:pPr indent="-342900" lvl="0" marL="457200" rtl="0" algn="l">
              <a:spcBef>
                <a:spcPts val="0"/>
              </a:spcBef>
              <a:spcAft>
                <a:spcPts val="0"/>
              </a:spcAft>
              <a:buSzPts val="1800"/>
              <a:buChar char="-"/>
            </a:pPr>
            <a:r>
              <a:rPr lang="en"/>
              <a:t>Q5: Batching: How does transaction batch size impact RCC's performance?</a:t>
            </a:r>
            <a:endParaRPr/>
          </a:p>
        </p:txBody>
      </p:sp>
      <p:sp>
        <p:nvSpPr>
          <p:cNvPr id="674" name="Google Shape;674;p53"/>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Performance </a:t>
            </a:r>
            <a:r>
              <a:rPr lang="en"/>
              <a:t>Evaluation Overview</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5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Experimental Setup + Compared Protocols</a:t>
            </a:r>
            <a:endParaRPr/>
          </a:p>
        </p:txBody>
      </p:sp>
      <p:sp>
        <p:nvSpPr>
          <p:cNvPr id="680" name="Google Shape;680;p54"/>
          <p:cNvSpPr txBox="1"/>
          <p:nvPr>
            <p:ph idx="1" type="body"/>
          </p:nvPr>
        </p:nvSpPr>
        <p:spPr>
          <a:xfrm>
            <a:off x="387900" y="1309950"/>
            <a:ext cx="8368200" cy="1425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System: </a:t>
            </a:r>
            <a:r>
              <a:rPr lang="en"/>
              <a:t>ResilientDB</a:t>
            </a:r>
            <a:endParaRPr/>
          </a:p>
          <a:p>
            <a:pPr indent="-342900" lvl="0" marL="457200" rtl="0" algn="l">
              <a:spcBef>
                <a:spcPts val="1200"/>
              </a:spcBef>
              <a:spcAft>
                <a:spcPts val="0"/>
              </a:spcAft>
              <a:buSzPts val="1800"/>
              <a:buChar char="●"/>
            </a:pPr>
            <a:r>
              <a:rPr lang="en"/>
              <a:t>Key Features: Multi-threading, Pipelining, and Out-of-Order Processing to maximize throughput.</a:t>
            </a:r>
            <a:endParaRPr/>
          </a:p>
          <a:p>
            <a:pPr indent="-342900" lvl="0" marL="457200" rtl="0" algn="l">
              <a:spcBef>
                <a:spcPts val="0"/>
              </a:spcBef>
              <a:spcAft>
                <a:spcPts val="0"/>
              </a:spcAft>
              <a:buSzPts val="1800"/>
              <a:buChar char="●"/>
            </a:pPr>
            <a:r>
              <a:rPr lang="en"/>
              <a:t>Generated workload: 90% of transactions write and modify records</a:t>
            </a:r>
            <a:endParaRPr/>
          </a:p>
        </p:txBody>
      </p:sp>
      <p:sp>
        <p:nvSpPr>
          <p:cNvPr id="681" name="Google Shape;681;p54"/>
          <p:cNvSpPr txBox="1"/>
          <p:nvPr/>
        </p:nvSpPr>
        <p:spPr>
          <a:xfrm>
            <a:off x="387900" y="3081125"/>
            <a:ext cx="8368200" cy="199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Roboto"/>
                <a:ea typeface="Roboto"/>
                <a:cs typeface="Roboto"/>
                <a:sym typeface="Roboto"/>
              </a:rPr>
              <a:t>Compared Protocols</a:t>
            </a:r>
            <a:endParaRPr sz="1800">
              <a:solidFill>
                <a:schemeClr val="dk1"/>
              </a:solidFill>
              <a:latin typeface="Roboto"/>
              <a:ea typeface="Roboto"/>
              <a:cs typeface="Roboto"/>
              <a:sym typeface="Roboto"/>
            </a:endParaRPr>
          </a:p>
          <a:p>
            <a:pPr indent="-342900" lvl="0" marL="457200" rtl="0" algn="l">
              <a:lnSpc>
                <a:spcPct val="115000"/>
              </a:lnSpc>
              <a:spcBef>
                <a:spcPts val="1200"/>
              </a:spcBef>
              <a:spcAft>
                <a:spcPts val="0"/>
              </a:spcAft>
              <a:buClr>
                <a:schemeClr val="dk1"/>
              </a:buClr>
              <a:buSzPts val="1800"/>
              <a:buFont typeface="Roboto"/>
              <a:buChar char="●"/>
            </a:pPr>
            <a:r>
              <a:rPr lang="en" sz="1800">
                <a:solidFill>
                  <a:schemeClr val="dk1"/>
                </a:solidFill>
                <a:latin typeface="Roboto"/>
                <a:ea typeface="Roboto"/>
                <a:cs typeface="Roboto"/>
                <a:sym typeface="Roboto"/>
              </a:rPr>
              <a:t>RCC</a:t>
            </a:r>
            <a:endParaRPr sz="1800">
              <a:solidFill>
                <a:schemeClr val="dk1"/>
              </a:solidFill>
              <a:latin typeface="Roboto"/>
              <a:ea typeface="Roboto"/>
              <a:cs typeface="Roboto"/>
              <a:sym typeface="Roboto"/>
            </a:endParaRPr>
          </a:p>
          <a:p>
            <a:pPr indent="-317500" lvl="1" marL="9144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Running “n” concurrent instances</a:t>
            </a:r>
            <a:endParaRPr>
              <a:solidFill>
                <a:schemeClr val="dk1"/>
              </a:solidFill>
              <a:latin typeface="Roboto"/>
              <a:ea typeface="Roboto"/>
              <a:cs typeface="Roboto"/>
              <a:sym typeface="Roboto"/>
            </a:endParaRPr>
          </a:p>
          <a:p>
            <a:pPr indent="-317500" lvl="1" marL="9144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Running “f+1” concurrent instances</a:t>
            </a:r>
            <a:endParaRPr>
              <a:solidFill>
                <a:schemeClr val="dk1"/>
              </a:solidFill>
              <a:latin typeface="Roboto"/>
              <a:ea typeface="Roboto"/>
              <a:cs typeface="Roboto"/>
              <a:sym typeface="Roboto"/>
            </a:endParaRPr>
          </a:p>
          <a:p>
            <a:pPr indent="-317500" lvl="1" marL="9144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Running “3” concurrent instances</a:t>
            </a:r>
            <a:endParaRPr>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PBFT, ZYZZYVA, SBFT, HOTSTUFF</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55"/>
          <p:cNvSpPr txBox="1"/>
          <p:nvPr>
            <p:ph type="title"/>
          </p:nvPr>
        </p:nvSpPr>
        <p:spPr>
          <a:xfrm>
            <a:off x="387900" y="458025"/>
            <a:ext cx="8368200" cy="686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Experimental Results: Scalability (No Failures)</a:t>
            </a:r>
            <a:endParaRPr/>
          </a:p>
        </p:txBody>
      </p:sp>
      <p:sp>
        <p:nvSpPr>
          <p:cNvPr id="687" name="Google Shape;687;p55"/>
          <p:cNvSpPr txBox="1"/>
          <p:nvPr>
            <p:ph idx="1" type="body"/>
          </p:nvPr>
        </p:nvSpPr>
        <p:spPr>
          <a:xfrm>
            <a:off x="387900" y="1278625"/>
            <a:ext cx="8368200" cy="7638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Q1: Throughput: Can RCC deliver higher throughput? </a:t>
            </a:r>
            <a:endParaRPr/>
          </a:p>
          <a:p>
            <a:pPr indent="0" lvl="0" marL="0" rtl="0" algn="l">
              <a:spcBef>
                <a:spcPts val="1200"/>
              </a:spcBef>
              <a:spcAft>
                <a:spcPts val="1200"/>
              </a:spcAft>
              <a:buNone/>
            </a:pPr>
            <a:r>
              <a:rPr lang="en"/>
              <a:t>Q2: Scalability: Does RCC's performance scale better?</a:t>
            </a:r>
            <a:endParaRPr/>
          </a:p>
        </p:txBody>
      </p:sp>
      <p:pic>
        <p:nvPicPr>
          <p:cNvPr id="688" name="Google Shape;688;p55"/>
          <p:cNvPicPr preferRelativeResize="0"/>
          <p:nvPr/>
        </p:nvPicPr>
        <p:blipFill>
          <a:blip r:embed="rId3">
            <a:alphaModFix/>
          </a:blip>
          <a:stretch>
            <a:fillRect/>
          </a:stretch>
        </p:blipFill>
        <p:spPr>
          <a:xfrm>
            <a:off x="2043113" y="4822141"/>
            <a:ext cx="5057775" cy="238125"/>
          </a:xfrm>
          <a:prstGeom prst="rect">
            <a:avLst/>
          </a:prstGeom>
          <a:noFill/>
          <a:ln>
            <a:noFill/>
          </a:ln>
        </p:spPr>
      </p:pic>
      <p:pic>
        <p:nvPicPr>
          <p:cNvPr id="689" name="Google Shape;689;p55"/>
          <p:cNvPicPr preferRelativeResize="0"/>
          <p:nvPr/>
        </p:nvPicPr>
        <p:blipFill>
          <a:blip r:embed="rId4">
            <a:alphaModFix/>
          </a:blip>
          <a:stretch>
            <a:fillRect/>
          </a:stretch>
        </p:blipFill>
        <p:spPr>
          <a:xfrm>
            <a:off x="1239576" y="2177425"/>
            <a:ext cx="6664851" cy="25869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56"/>
          <p:cNvSpPr txBox="1"/>
          <p:nvPr>
            <p:ph type="title"/>
          </p:nvPr>
        </p:nvSpPr>
        <p:spPr>
          <a:xfrm>
            <a:off x="387900" y="458025"/>
            <a:ext cx="8368200" cy="686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Experimental Results: Scalability (Single Failure)</a:t>
            </a:r>
            <a:endParaRPr/>
          </a:p>
        </p:txBody>
      </p:sp>
      <p:sp>
        <p:nvSpPr>
          <p:cNvPr id="695" name="Google Shape;695;p56"/>
          <p:cNvSpPr txBox="1"/>
          <p:nvPr>
            <p:ph idx="1" type="body"/>
          </p:nvPr>
        </p:nvSpPr>
        <p:spPr>
          <a:xfrm>
            <a:off x="387900" y="1489824"/>
            <a:ext cx="8368200" cy="3918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1200"/>
              </a:spcAft>
              <a:buNone/>
            </a:pPr>
            <a:r>
              <a:rPr lang="en"/>
              <a:t>Q4: Resilience: Can RCC handle failures effectively?</a:t>
            </a:r>
            <a:endParaRPr/>
          </a:p>
        </p:txBody>
      </p:sp>
      <p:pic>
        <p:nvPicPr>
          <p:cNvPr id="696" name="Google Shape;696;p56"/>
          <p:cNvPicPr preferRelativeResize="0"/>
          <p:nvPr/>
        </p:nvPicPr>
        <p:blipFill>
          <a:blip r:embed="rId3">
            <a:alphaModFix/>
          </a:blip>
          <a:stretch>
            <a:fillRect/>
          </a:stretch>
        </p:blipFill>
        <p:spPr>
          <a:xfrm>
            <a:off x="2043113" y="4713399"/>
            <a:ext cx="5057775" cy="238125"/>
          </a:xfrm>
          <a:prstGeom prst="rect">
            <a:avLst/>
          </a:prstGeom>
          <a:noFill/>
          <a:ln>
            <a:noFill/>
          </a:ln>
        </p:spPr>
      </p:pic>
      <p:pic>
        <p:nvPicPr>
          <p:cNvPr id="697" name="Google Shape;697;p56"/>
          <p:cNvPicPr preferRelativeResize="0"/>
          <p:nvPr/>
        </p:nvPicPr>
        <p:blipFill>
          <a:blip r:embed="rId4">
            <a:alphaModFix/>
          </a:blip>
          <a:stretch>
            <a:fillRect/>
          </a:stretch>
        </p:blipFill>
        <p:spPr>
          <a:xfrm>
            <a:off x="1239567" y="2026517"/>
            <a:ext cx="6664850" cy="2542002"/>
          </a:xfrm>
          <a:prstGeom prst="rect">
            <a:avLst/>
          </a:prstGeom>
          <a:noFill/>
          <a:ln>
            <a:noFill/>
          </a:ln>
        </p:spPr>
      </p:pic>
      <p:pic>
        <p:nvPicPr>
          <p:cNvPr id="698" name="Google Shape;698;p56"/>
          <p:cNvPicPr preferRelativeResize="0"/>
          <p:nvPr/>
        </p:nvPicPr>
        <p:blipFill rotWithShape="1">
          <a:blip r:embed="rId5">
            <a:alphaModFix/>
          </a:blip>
          <a:srcRect b="0" l="0" r="50000" t="0"/>
          <a:stretch/>
        </p:blipFill>
        <p:spPr>
          <a:xfrm>
            <a:off x="4572000" y="2026500"/>
            <a:ext cx="3332425" cy="2542000"/>
          </a:xfrm>
          <a:prstGeom prst="rect">
            <a:avLst/>
          </a:prstGeom>
          <a:noFill/>
          <a:ln>
            <a:noFill/>
          </a:ln>
        </p:spPr>
      </p:pic>
      <p:sp>
        <p:nvSpPr>
          <p:cNvPr id="699" name="Google Shape;699;p56"/>
          <p:cNvSpPr txBox="1"/>
          <p:nvPr/>
        </p:nvSpPr>
        <p:spPr>
          <a:xfrm>
            <a:off x="5074450" y="1564825"/>
            <a:ext cx="3003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800">
                <a:solidFill>
                  <a:schemeClr val="accent5"/>
                </a:solidFill>
                <a:latin typeface="Roboto"/>
                <a:ea typeface="Roboto"/>
                <a:cs typeface="Roboto"/>
                <a:sym typeface="Roboto"/>
              </a:rPr>
              <a:t>Previous Slide (No Failures)</a:t>
            </a:r>
            <a:endParaRPr i="1" sz="1800">
              <a:solidFill>
                <a:schemeClr val="accent5"/>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69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69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57"/>
          <p:cNvSpPr txBox="1"/>
          <p:nvPr>
            <p:ph type="title"/>
          </p:nvPr>
        </p:nvSpPr>
        <p:spPr>
          <a:xfrm>
            <a:off x="387900" y="458025"/>
            <a:ext cx="8368200" cy="686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Experimental Results: </a:t>
            </a:r>
            <a:r>
              <a:rPr lang="en"/>
              <a:t>Batching (Single Failure)</a:t>
            </a:r>
            <a:endParaRPr/>
          </a:p>
        </p:txBody>
      </p:sp>
      <p:sp>
        <p:nvSpPr>
          <p:cNvPr id="705" name="Google Shape;705;p57"/>
          <p:cNvSpPr txBox="1"/>
          <p:nvPr>
            <p:ph idx="1" type="body"/>
          </p:nvPr>
        </p:nvSpPr>
        <p:spPr>
          <a:xfrm>
            <a:off x="387900" y="1489824"/>
            <a:ext cx="8368200" cy="3918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1200"/>
              </a:spcAft>
              <a:buNone/>
            </a:pPr>
            <a:r>
              <a:rPr lang="en"/>
              <a:t>Q5: Batching: How does transaction batch size impact RCC's performance?</a:t>
            </a:r>
            <a:endParaRPr/>
          </a:p>
        </p:txBody>
      </p:sp>
      <p:pic>
        <p:nvPicPr>
          <p:cNvPr id="706" name="Google Shape;706;p57"/>
          <p:cNvPicPr preferRelativeResize="0"/>
          <p:nvPr/>
        </p:nvPicPr>
        <p:blipFill>
          <a:blip r:embed="rId3">
            <a:alphaModFix/>
          </a:blip>
          <a:stretch>
            <a:fillRect/>
          </a:stretch>
        </p:blipFill>
        <p:spPr>
          <a:xfrm>
            <a:off x="2043113" y="4713399"/>
            <a:ext cx="5057775" cy="238125"/>
          </a:xfrm>
          <a:prstGeom prst="rect">
            <a:avLst/>
          </a:prstGeom>
          <a:noFill/>
          <a:ln>
            <a:noFill/>
          </a:ln>
        </p:spPr>
      </p:pic>
      <p:pic>
        <p:nvPicPr>
          <p:cNvPr id="707" name="Google Shape;707;p57"/>
          <p:cNvPicPr preferRelativeResize="0"/>
          <p:nvPr/>
        </p:nvPicPr>
        <p:blipFill>
          <a:blip r:embed="rId4">
            <a:alphaModFix/>
          </a:blip>
          <a:stretch>
            <a:fillRect/>
          </a:stretch>
        </p:blipFill>
        <p:spPr>
          <a:xfrm>
            <a:off x="1239563" y="2054267"/>
            <a:ext cx="6664850" cy="248650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58"/>
          <p:cNvSpPr txBox="1"/>
          <p:nvPr>
            <p:ph type="title"/>
          </p:nvPr>
        </p:nvSpPr>
        <p:spPr>
          <a:xfrm>
            <a:off x="387900" y="458025"/>
            <a:ext cx="8368200" cy="686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Experimental Results: </a:t>
            </a:r>
            <a:r>
              <a:rPr lang="en"/>
              <a:t>Out-of-ordering disabled</a:t>
            </a:r>
            <a:endParaRPr/>
          </a:p>
        </p:txBody>
      </p:sp>
      <p:sp>
        <p:nvSpPr>
          <p:cNvPr id="713" name="Google Shape;713;p58"/>
          <p:cNvSpPr txBox="1"/>
          <p:nvPr>
            <p:ph idx="1" type="body"/>
          </p:nvPr>
        </p:nvSpPr>
        <p:spPr>
          <a:xfrm>
            <a:off x="387900" y="1489824"/>
            <a:ext cx="8368200" cy="3918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1200"/>
              </a:spcAft>
              <a:buNone/>
            </a:pPr>
            <a:r>
              <a:rPr lang="en"/>
              <a:t>Q3: Load Balancing: Does spreading the primary's workload provide a measurable gain?</a:t>
            </a:r>
            <a:endParaRPr/>
          </a:p>
        </p:txBody>
      </p:sp>
      <p:pic>
        <p:nvPicPr>
          <p:cNvPr id="714" name="Google Shape;714;p58"/>
          <p:cNvPicPr preferRelativeResize="0"/>
          <p:nvPr/>
        </p:nvPicPr>
        <p:blipFill>
          <a:blip r:embed="rId3">
            <a:alphaModFix/>
          </a:blip>
          <a:stretch>
            <a:fillRect/>
          </a:stretch>
        </p:blipFill>
        <p:spPr>
          <a:xfrm>
            <a:off x="2043113" y="4713399"/>
            <a:ext cx="5057775" cy="238125"/>
          </a:xfrm>
          <a:prstGeom prst="rect">
            <a:avLst/>
          </a:prstGeom>
          <a:noFill/>
          <a:ln>
            <a:noFill/>
          </a:ln>
        </p:spPr>
      </p:pic>
      <p:pic>
        <p:nvPicPr>
          <p:cNvPr id="715" name="Google Shape;715;p58"/>
          <p:cNvPicPr preferRelativeResize="0"/>
          <p:nvPr/>
        </p:nvPicPr>
        <p:blipFill>
          <a:blip r:embed="rId4">
            <a:alphaModFix/>
          </a:blip>
          <a:stretch>
            <a:fillRect/>
          </a:stretch>
        </p:blipFill>
        <p:spPr>
          <a:xfrm>
            <a:off x="1239580" y="2029255"/>
            <a:ext cx="6664851" cy="253652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59"/>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Key Takeaways</a:t>
            </a:r>
            <a:endParaRPr/>
          </a:p>
        </p:txBody>
      </p:sp>
      <p:sp>
        <p:nvSpPr>
          <p:cNvPr id="721" name="Google Shape;721;p59"/>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RCC achieves throughput improvement, higher resilience, better load balance.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graphicFrame>
        <p:nvGraphicFramePr>
          <p:cNvPr id="722" name="Google Shape;722;p59"/>
          <p:cNvGraphicFramePr/>
          <p:nvPr/>
        </p:nvGraphicFramePr>
        <p:xfrm>
          <a:off x="424250" y="2159750"/>
          <a:ext cx="3000000" cy="3000000"/>
        </p:xfrm>
        <a:graphic>
          <a:graphicData uri="http://schemas.openxmlformats.org/drawingml/2006/table">
            <a:tbl>
              <a:tblPr>
                <a:noFill/>
                <a:tableStyleId>{E50B8033-110F-470B-9C70-293B9FA0C6B0}</a:tableStyleId>
              </a:tblPr>
              <a:tblGrid>
                <a:gridCol w="1659100"/>
                <a:gridCol w="1659100"/>
                <a:gridCol w="1659100"/>
                <a:gridCol w="1659100"/>
                <a:gridCol w="1659100"/>
              </a:tblGrid>
              <a:tr h="582975">
                <a:tc gridSpan="5">
                  <a:txBody>
                    <a:bodyPr/>
                    <a:lstStyle/>
                    <a:p>
                      <a:pPr indent="0" lvl="0" marL="0" rtl="0" algn="l">
                        <a:spcBef>
                          <a:spcPts val="0"/>
                        </a:spcBef>
                        <a:spcAft>
                          <a:spcPts val="0"/>
                        </a:spcAft>
                        <a:buNone/>
                      </a:pPr>
                      <a:r>
                        <a:rPr lang="en">
                          <a:solidFill>
                            <a:schemeClr val="dk1"/>
                          </a:solidFill>
                        </a:rPr>
                        <a:t>Performance Gains (RCC’s Throughput Improvement Against Other Protocols)</a:t>
                      </a:r>
                      <a:endParaRPr>
                        <a:solidFill>
                          <a:schemeClr val="dk1"/>
                        </a:solidFill>
                      </a:endParaRPr>
                    </a:p>
                  </a:txBody>
                  <a:tcPr marT="91425" marB="91425" marR="91425" marL="91425"/>
                </a:tc>
                <a:tc hMerge="1"/>
                <a:tc hMerge="1"/>
                <a:tc hMerge="1"/>
                <a:tc hMerge="1"/>
              </a:tr>
              <a:tr h="582975">
                <a:tc>
                  <a:txBody>
                    <a:bodyPr/>
                    <a:lstStyle/>
                    <a:p>
                      <a:pPr indent="0" lvl="0" marL="0" rtl="0" algn="l">
                        <a:spcBef>
                          <a:spcPts val="0"/>
                        </a:spcBef>
                        <a:spcAft>
                          <a:spcPts val="0"/>
                        </a:spcAft>
                        <a:buNone/>
                      </a:pPr>
                      <a:r>
                        <a:rPr lang="en">
                          <a:solidFill>
                            <a:schemeClr val="dk1"/>
                          </a:solidFill>
                        </a:rPr>
                        <a:t>Scenario</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SBFT</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PBFT</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HOTSTUFF</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ZYZZYVA</a:t>
                      </a:r>
                      <a:endParaRPr>
                        <a:solidFill>
                          <a:schemeClr val="dk1"/>
                        </a:solidFill>
                      </a:endParaRPr>
                    </a:p>
                  </a:txBody>
                  <a:tcPr marT="91425" marB="91425" marR="91425" marL="91425"/>
                </a:tc>
              </a:tr>
              <a:tr h="582975">
                <a:tc>
                  <a:txBody>
                    <a:bodyPr/>
                    <a:lstStyle/>
                    <a:p>
                      <a:pPr indent="0" lvl="0" marL="0" rtl="0" algn="l">
                        <a:spcBef>
                          <a:spcPts val="0"/>
                        </a:spcBef>
                        <a:spcAft>
                          <a:spcPts val="0"/>
                        </a:spcAft>
                        <a:buNone/>
                      </a:pPr>
                      <a:r>
                        <a:rPr lang="en">
                          <a:solidFill>
                            <a:schemeClr val="dk1"/>
                          </a:solidFill>
                        </a:rPr>
                        <a:t>Single Failure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x2.77</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x1.53</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x38</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x82</a:t>
                      </a:r>
                      <a:endParaRPr>
                        <a:solidFill>
                          <a:schemeClr val="dk1"/>
                        </a:solidFill>
                      </a:endParaRPr>
                    </a:p>
                  </a:txBody>
                  <a:tcPr marT="91425" marB="91425" marR="91425" marL="91425"/>
                </a:tc>
              </a:tr>
              <a:tr h="582975">
                <a:tc>
                  <a:txBody>
                    <a:bodyPr/>
                    <a:lstStyle/>
                    <a:p>
                      <a:pPr indent="0" lvl="0" marL="0" rtl="0" algn="l">
                        <a:spcBef>
                          <a:spcPts val="0"/>
                        </a:spcBef>
                        <a:spcAft>
                          <a:spcPts val="0"/>
                        </a:spcAft>
                        <a:buNone/>
                      </a:pPr>
                      <a:r>
                        <a:rPr lang="en">
                          <a:solidFill>
                            <a:schemeClr val="dk1"/>
                          </a:solidFill>
                        </a:rPr>
                        <a:t>No Failure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x2</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x1.83</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x33</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x1.45</a:t>
                      </a:r>
                      <a:endParaRPr>
                        <a:solidFill>
                          <a:schemeClr val="dk1"/>
                        </a:solidFill>
                      </a:endParaRPr>
                    </a:p>
                  </a:txBody>
                  <a:tcPr marT="91425" marB="91425" marR="91425" marL="91425"/>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6" name="Shape 726"/>
        <p:cNvGrpSpPr/>
        <p:nvPr/>
      </p:nvGrpSpPr>
      <p:grpSpPr>
        <a:xfrm>
          <a:off x="0" y="0"/>
          <a:ext cx="0" cy="0"/>
          <a:chOff x="0" y="0"/>
          <a:chExt cx="0" cy="0"/>
        </a:xfrm>
      </p:grpSpPr>
      <p:sp>
        <p:nvSpPr>
          <p:cNvPr id="727" name="Google Shape;727;p6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RCC as a Paradigm</a:t>
            </a:r>
            <a:endParaRPr/>
          </a:p>
        </p:txBody>
      </p:sp>
      <p:sp>
        <p:nvSpPr>
          <p:cNvPr id="728" name="Google Shape;728;p60"/>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Can RCC act as a Paradigm or a conceptual model that can be applied across other protocols? </a:t>
            </a:r>
            <a:endParaRPr/>
          </a:p>
          <a:p>
            <a:pPr indent="-317500" lvl="1" marL="914400" rtl="0" algn="l">
              <a:spcBef>
                <a:spcPts val="0"/>
              </a:spcBef>
              <a:spcAft>
                <a:spcPts val="0"/>
              </a:spcAft>
              <a:buSzPts val="1400"/>
              <a:buChar char="○"/>
            </a:pPr>
            <a:r>
              <a:rPr lang="en"/>
              <a:t>RCC applied to PBFT, SBFT, ZYZZYVA → RCC-P, RCC-S, RCC-Z.</a:t>
            </a:r>
            <a:endParaRPr/>
          </a:p>
          <a:p>
            <a:pPr indent="-342900" lvl="0" marL="457200" rtl="0" algn="l">
              <a:spcBef>
                <a:spcPts val="0"/>
              </a:spcBef>
              <a:spcAft>
                <a:spcPts val="0"/>
              </a:spcAft>
              <a:buSzPts val="1800"/>
              <a:buChar char="●"/>
            </a:pPr>
            <a:r>
              <a:rPr lang="en"/>
              <a:t>Shared Characteristics: Multiple concurrent instances of Byzantine Commit, Deterministic ordering of all accepted transactions, wait-free recovery from failures. </a:t>
            </a:r>
            <a:endParaRPr/>
          </a:p>
          <a:p>
            <a:pPr indent="-342900" lvl="0" marL="457200" rtl="0" algn="l">
              <a:spcBef>
                <a:spcPts val="0"/>
              </a:spcBef>
              <a:spcAft>
                <a:spcPts val="0"/>
              </a:spcAft>
              <a:buSzPts val="1800"/>
              <a:buChar char="●"/>
            </a:pPr>
            <a:r>
              <a:rPr lang="en"/>
              <a:t>Result:  All RCC variants are able to deliver 1.5-3x higher throughput while maintaining the original safety properties.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8">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2" name="Shape 732"/>
        <p:cNvGrpSpPr/>
        <p:nvPr/>
      </p:nvGrpSpPr>
      <p:grpSpPr>
        <a:xfrm>
          <a:off x="0" y="0"/>
          <a:ext cx="0" cy="0"/>
          <a:chOff x="0" y="0"/>
          <a:chExt cx="0" cy="0"/>
        </a:xfrm>
      </p:grpSpPr>
      <p:sp>
        <p:nvSpPr>
          <p:cNvPr id="733" name="Google Shape;733;p61"/>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Comparison with MIRBFT</a:t>
            </a:r>
            <a:endParaRPr/>
          </a:p>
        </p:txBody>
      </p:sp>
      <p:sp>
        <p:nvSpPr>
          <p:cNvPr id="734" name="Google Shape;734;p61"/>
          <p:cNvSpPr txBox="1"/>
          <p:nvPr>
            <p:ph idx="1" type="body"/>
          </p:nvPr>
        </p:nvSpPr>
        <p:spPr>
          <a:xfrm>
            <a:off x="387900" y="1489825"/>
            <a:ext cx="8368200" cy="1804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MIRBFT also runs concurrent PBFT instances. During any failure, MIRBFT halts all instances to </a:t>
            </a:r>
            <a:r>
              <a:rPr lang="en"/>
              <a:t>perform</a:t>
            </a:r>
            <a:r>
              <a:rPr lang="en"/>
              <a:t> a synchronized view change (throughput drops to zero).</a:t>
            </a:r>
            <a:endParaRPr/>
          </a:p>
          <a:p>
            <a:pPr indent="-342900" lvl="0" marL="457200" rtl="0" algn="l">
              <a:spcBef>
                <a:spcPts val="0"/>
              </a:spcBef>
              <a:spcAft>
                <a:spcPts val="0"/>
              </a:spcAft>
              <a:buSzPts val="1800"/>
              <a:buChar char="●"/>
            </a:pPr>
            <a:r>
              <a:rPr lang="en"/>
              <a:t>RCC performs per-instance recovery where only failed instances are paused and others continue. </a:t>
            </a:r>
            <a:endParaRPr/>
          </a:p>
        </p:txBody>
      </p:sp>
      <p:pic>
        <p:nvPicPr>
          <p:cNvPr id="735" name="Google Shape;735;p61"/>
          <p:cNvPicPr preferRelativeResize="0"/>
          <p:nvPr/>
        </p:nvPicPr>
        <p:blipFill>
          <a:blip r:embed="rId3">
            <a:alphaModFix/>
          </a:blip>
          <a:stretch>
            <a:fillRect/>
          </a:stretch>
        </p:blipFill>
        <p:spPr>
          <a:xfrm>
            <a:off x="1800850" y="3038425"/>
            <a:ext cx="5542305" cy="2050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6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741" name="Google Shape;741;p62"/>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RCC expands on traditional protocols by implementing multiple primaries to achieve higher throughputs. </a:t>
            </a:r>
            <a:endParaRPr/>
          </a:p>
          <a:p>
            <a:pPr indent="-342900" lvl="0" marL="457200" rtl="0" algn="l">
              <a:spcBef>
                <a:spcPts val="0"/>
              </a:spcBef>
              <a:spcAft>
                <a:spcPts val="0"/>
              </a:spcAft>
              <a:buSzPts val="1800"/>
              <a:buChar char="●"/>
            </a:pPr>
            <a:r>
              <a:rPr lang="en"/>
              <a:t>RCC is a paradigm</a:t>
            </a:r>
            <a:endParaRPr/>
          </a:p>
          <a:p>
            <a:pPr indent="-342900" lvl="0" marL="457200" rtl="0" algn="l">
              <a:spcBef>
                <a:spcPts val="0"/>
              </a:spcBef>
              <a:spcAft>
                <a:spcPts val="0"/>
              </a:spcAft>
              <a:buSzPts val="1800"/>
              <a:buChar char="●"/>
            </a:pPr>
            <a:r>
              <a:rPr lang="en"/>
              <a:t>Experimental results validate its scalability, </a:t>
            </a:r>
            <a:r>
              <a:rPr lang="en"/>
              <a:t>resilience, and application</a:t>
            </a:r>
            <a:endParaRPr/>
          </a:p>
          <a:p>
            <a:pPr indent="-342900" lvl="0" marL="457200" rtl="0" algn="l">
              <a:spcBef>
                <a:spcPts val="0"/>
              </a:spcBef>
              <a:spcAft>
                <a:spcPts val="0"/>
              </a:spcAft>
              <a:buSzPts val="1800"/>
              <a:buChar char="●"/>
            </a:pPr>
            <a:r>
              <a:rPr lang="en"/>
              <a:t>RCC opens the door to the development of new high-throughput resilient databases. </a:t>
            </a:r>
            <a:endParaRPr/>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