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Raleway"/>
      <p:regular r:id="rId34"/>
      <p:bold r:id="rId35"/>
      <p:italic r:id="rId36"/>
      <p:boldItalic r:id="rId37"/>
    </p:embeddedFont>
    <p:embeddedFont>
      <p:font typeface="La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002E1A-6EDD-4089-AD31-D1527B6F7107}">
  <a:tblStyle styleId="{23002E1A-6EDD-4089-AD31-D1527B6F710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20" Type="http://schemas.openxmlformats.org/officeDocument/2006/relationships/slide" Target="slides/slide14.xml"/><Relationship Id="rId41" Type="http://schemas.openxmlformats.org/officeDocument/2006/relationships/font" Target="fonts/Lat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aleway-bold.fntdata"/><Relationship Id="rId12" Type="http://schemas.openxmlformats.org/officeDocument/2006/relationships/slide" Target="slides/slide6.xml"/><Relationship Id="rId34" Type="http://schemas.openxmlformats.org/officeDocument/2006/relationships/font" Target="fonts/Raleway-regular.fntdata"/><Relationship Id="rId15" Type="http://schemas.openxmlformats.org/officeDocument/2006/relationships/slide" Target="slides/slide9.xml"/><Relationship Id="rId37" Type="http://schemas.openxmlformats.org/officeDocument/2006/relationships/font" Target="fonts/Raleway-boldItalic.fntdata"/><Relationship Id="rId14" Type="http://schemas.openxmlformats.org/officeDocument/2006/relationships/slide" Target="slides/slide8.xml"/><Relationship Id="rId36" Type="http://schemas.openxmlformats.org/officeDocument/2006/relationships/font" Target="fonts/Raleway-italic.fntdata"/><Relationship Id="rId17" Type="http://schemas.openxmlformats.org/officeDocument/2006/relationships/slide" Target="slides/slide11.xml"/><Relationship Id="rId39" Type="http://schemas.openxmlformats.org/officeDocument/2006/relationships/font" Target="fonts/Lato-bold.fntdata"/><Relationship Id="rId16" Type="http://schemas.openxmlformats.org/officeDocument/2006/relationships/slide" Target="slides/slide10.xml"/><Relationship Id="rId38" Type="http://schemas.openxmlformats.org/officeDocument/2006/relationships/font" Target="fonts/Lat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cf05a00f7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cf05a00f7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paper comes out of ExpoLab at UC Davis.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cf05a00f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cf05a00f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AutoNum type="arabicPeriod"/>
            </a:pPr>
            <a:r>
              <a:rPr lang="en">
                <a:solidFill>
                  <a:schemeClr val="dk1"/>
                </a:solidFill>
              </a:rPr>
              <a:t>In federated data management, a single </a:t>
            </a:r>
            <a:r>
              <a:rPr lang="en">
                <a:solidFill>
                  <a:schemeClr val="dk1"/>
                </a:solidFill>
              </a:rPr>
              <a:t>database is managed by stakeholders </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One can achieve federated data management by replicating the common database among all stakeholders and the sequence of transactions that update its contents. </a:t>
            </a:r>
            <a:r>
              <a:rPr lang="en">
                <a:solidFill>
                  <a:schemeClr val="dk1"/>
                </a:solidFill>
              </a:rPr>
              <a:t>This is achieved by consensus protocols. </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BFT consensus aims to order client requests among replicas such that all non-faulty replicas reach agreement on an ordering of the requests.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ec7919b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ec7919b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This paper explores design principles enabling a scalable and reliable agreement </a:t>
            </a:r>
            <a:r>
              <a:rPr lang="en"/>
              <a:t>protocol</a:t>
            </a:r>
            <a:endParaRPr/>
          </a:p>
          <a:p>
            <a:pPr indent="-298450" lvl="1" marL="914400" rtl="0" algn="l">
              <a:spcBef>
                <a:spcPts val="0"/>
              </a:spcBef>
              <a:spcAft>
                <a:spcPts val="0"/>
              </a:spcAft>
              <a:buSzPts val="1100"/>
              <a:buAutoNum type="alphaLcPeriod"/>
            </a:pPr>
            <a:r>
              <a:rPr lang="en"/>
              <a:t>As opposed to PBFTs 2 quadratic phases</a:t>
            </a:r>
            <a:endParaRPr/>
          </a:p>
          <a:p>
            <a:pPr indent="-298450" lvl="1" marL="914400" rtl="0" algn="l">
              <a:spcBef>
                <a:spcPts val="0"/>
              </a:spcBef>
              <a:spcAft>
                <a:spcPts val="0"/>
              </a:spcAft>
              <a:buSzPts val="1100"/>
              <a:buAutoNum type="alphaLcPeriod"/>
            </a:pPr>
            <a:r>
              <a:rPr lang="en"/>
              <a:t>If majority of non faulty replicas did not respond</a:t>
            </a:r>
            <a:endParaRPr/>
          </a:p>
          <a:p>
            <a:pPr indent="-298450" lvl="1" marL="914400" rtl="0" algn="l">
              <a:spcBef>
                <a:spcPts val="0"/>
              </a:spcBef>
              <a:spcAft>
                <a:spcPts val="0"/>
              </a:spcAft>
              <a:buSzPts val="1100"/>
              <a:buAutoNum type="alphaLcPeriod"/>
            </a:pPr>
            <a:r>
              <a:rPr lang="en"/>
              <a:t>Message Authentication Codes or Threshold Signatures</a:t>
            </a:r>
            <a:endParaRPr/>
          </a:p>
          <a:p>
            <a:pPr indent="-298450" lvl="1" marL="914400" rtl="0" algn="l">
              <a:spcBef>
                <a:spcPts val="0"/>
              </a:spcBef>
              <a:spcAft>
                <a:spcPts val="0"/>
              </a:spcAft>
              <a:buSzPts val="1100"/>
              <a:buAutoNum type="alphaLcPeriod"/>
            </a:pPr>
            <a:r>
              <a:rPr lang="en"/>
              <a:t>By enabling all replicas to respond to the client, instead of just one (SBFT)</a:t>
            </a:r>
            <a:endParaRPr/>
          </a:p>
          <a:p>
            <a:pPr indent="-298450" lvl="0" marL="457200" rtl="0" algn="l">
              <a:spcBef>
                <a:spcPts val="0"/>
              </a:spcBef>
              <a:spcAft>
                <a:spcPts val="0"/>
              </a:spcAft>
              <a:buSzPts val="1100"/>
              <a:buAutoNum type="arabicPeriod"/>
            </a:pPr>
            <a:r>
              <a:rPr lang="en"/>
              <a:t>Authors assume a partially synchronous networking model - guarantee liveness during periods of synchrony, where messages sent by non faulty replicas are received within some maximum delay. </a:t>
            </a:r>
            <a:endParaRPr/>
          </a:p>
          <a:p>
            <a:pPr indent="-298450" lvl="0" marL="457200" rtl="0" algn="l">
              <a:spcBef>
                <a:spcPts val="0"/>
              </a:spcBef>
              <a:spcAft>
                <a:spcPts val="0"/>
              </a:spcAft>
              <a:buSzPts val="1100"/>
              <a:buAutoNum type="arabicPeriod"/>
            </a:pPr>
            <a:r>
              <a:rPr lang="en"/>
              <a:t>Liveness - messages are eventually received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ec7919b7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ec7919b7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After replicas get prepared, they do not broadcast a commit message</a:t>
            </a:r>
            <a:endParaRPr/>
          </a:p>
          <a:p>
            <a:pPr indent="-298450" lvl="0" marL="457200" rtl="0" algn="l">
              <a:spcBef>
                <a:spcPts val="0"/>
              </a:spcBef>
              <a:spcAft>
                <a:spcPts val="0"/>
              </a:spcAft>
              <a:buSzPts val="1100"/>
              <a:buAutoNum type="arabicPeriod"/>
            </a:pPr>
            <a:r>
              <a:rPr lang="en"/>
              <a:t>As you can see, the client receives responses from all the non faulty replicas, so the request will persist.</a:t>
            </a:r>
            <a:endParaRPr/>
          </a:p>
          <a:p>
            <a:pPr indent="-298450" lvl="0" marL="457200" rtl="0" algn="l">
              <a:spcBef>
                <a:spcPts val="0"/>
              </a:spcBef>
              <a:spcAft>
                <a:spcPts val="0"/>
              </a:spcAft>
              <a:buSzPts val="1100"/>
              <a:buAutoNum type="arabicPeriod"/>
            </a:pPr>
            <a:r>
              <a:rPr lang="en"/>
              <a:t>However, if the primary is malicious, it may not send requests to R1 and R3, so the </a:t>
            </a:r>
            <a:r>
              <a:rPr lang="en">
                <a:solidFill>
                  <a:schemeClr val="dk1"/>
                </a:solidFill>
              </a:rPr>
              <a:t>client does not receive a sufficient amount of responses.</a:t>
            </a:r>
            <a:endParaRPr/>
          </a:p>
          <a:p>
            <a:pPr indent="-298450" lvl="0" marL="457200" rtl="0" algn="l">
              <a:spcBef>
                <a:spcPts val="0"/>
              </a:spcBef>
              <a:spcAft>
                <a:spcPts val="0"/>
              </a:spcAft>
              <a:buSzPts val="1100"/>
              <a:buAutoNum type="arabicPeriod"/>
            </a:pPr>
            <a:r>
              <a:rPr lang="en"/>
              <a:t>Then, replicas would rollback their state using a novel view-change algorithm.</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ec7919b7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ec7919b7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PoE uses out-of-order processing</a:t>
            </a:r>
            <a:endParaRPr/>
          </a:p>
          <a:p>
            <a:pPr indent="-298450" lvl="1" marL="914400" rtl="0" algn="l">
              <a:spcBef>
                <a:spcPts val="0"/>
              </a:spcBef>
              <a:spcAft>
                <a:spcPts val="0"/>
              </a:spcAft>
              <a:buSzPts val="1100"/>
              <a:buAutoNum type="alphaLcPeriod"/>
            </a:pPr>
            <a:r>
              <a:rPr lang="en"/>
              <a:t>Primary continuously proposes requests even when previous proposals are still being processed by the system</a:t>
            </a:r>
            <a:endParaRPr/>
          </a:p>
          <a:p>
            <a:pPr indent="-298450" lvl="1" marL="914400" rtl="0" algn="l">
              <a:spcBef>
                <a:spcPts val="0"/>
              </a:spcBef>
              <a:spcAft>
                <a:spcPts val="0"/>
              </a:spcAft>
              <a:buSzPts val="1100"/>
              <a:buAutoNum type="alphaLcPeriod"/>
            </a:pPr>
            <a:r>
              <a:rPr lang="en"/>
              <a:t>Eliminates impact of high message delays</a:t>
            </a:r>
            <a:endParaRPr/>
          </a:p>
          <a:p>
            <a:pPr indent="-298450" lvl="0" marL="457200" rtl="0" algn="l">
              <a:spcBef>
                <a:spcPts val="0"/>
              </a:spcBef>
              <a:spcAft>
                <a:spcPts val="0"/>
              </a:spcAft>
              <a:buSzPts val="1100"/>
              <a:buAutoNum type="arabicPeriod"/>
            </a:pPr>
            <a:r>
              <a:rPr lang="en">
                <a:solidFill>
                  <a:schemeClr val="dk1"/>
                </a:solidFill>
              </a:rPr>
              <a:t>Diagram: All requests before request 3 were processed. The system is still processing requests 3-7. </a:t>
            </a:r>
            <a:endParaRPr>
              <a:solidFill>
                <a:schemeClr val="dk1"/>
              </a:solidFill>
            </a:endParaRPr>
          </a:p>
          <a:p>
            <a:pPr indent="-298450" lvl="0" marL="457200" rtl="0" algn="l">
              <a:spcBef>
                <a:spcPts val="0"/>
              </a:spcBef>
              <a:spcAft>
                <a:spcPts val="0"/>
              </a:spcAft>
              <a:buSzPts val="1100"/>
              <a:buAutoNum type="arabicPeriod"/>
            </a:pPr>
            <a:r>
              <a:rPr lang="en">
                <a:solidFill>
                  <a:schemeClr val="dk1"/>
                </a:solidFill>
              </a:rPr>
              <a:t>The active window size is only limited by the memory of replicas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Responses to Prof. Questions</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1. Out-of-order processing: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1. Requests in the active window can be proposed, supported, or certified by replicas in different orders.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2. Replicas can process any request k if it falls within the active window.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2. Concurrent execution: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1. A few BFT systems execute prior to ordering, which incurs verification of results prior to committing changes.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3. PoE lies in between total ordering and concurrent execution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4. Out-of-order execution = speculative execution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1. Replicas can execute transactions before they agree on their ordering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1. Traditional BFT protocols require consensus on ordering before execution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2. Replicas might rollback the transaction during recovery from primary failure</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3. Partial ordering: Each replica executes transaction k once its logged executions for prior k-1 transactions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5. Requests within the active window are processed as a batch to maximize primary throughput</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ec7919b7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9ec7919b7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PoE has a resilience of f, which means that it can tolerate f faulty replicas</a:t>
            </a:r>
            <a:endParaRPr/>
          </a:p>
          <a:p>
            <a:pPr indent="-298450" lvl="0" marL="457200" rtl="0" algn="l">
              <a:spcBef>
                <a:spcPts val="0"/>
              </a:spcBef>
              <a:spcAft>
                <a:spcPts val="0"/>
              </a:spcAft>
              <a:buSzPts val="1100"/>
              <a:buAutoNum type="arabicPeriod"/>
            </a:pPr>
            <a:r>
              <a:rPr lang="en"/>
              <a:t>Among the protocols with resilience f, it has the lowest number of phases and messages</a:t>
            </a:r>
            <a:endParaRPr/>
          </a:p>
          <a:p>
            <a:pPr indent="-298450" lvl="0" marL="457200" rtl="0" algn="l">
              <a:spcBef>
                <a:spcPts val="0"/>
              </a:spcBef>
              <a:spcAft>
                <a:spcPts val="0"/>
              </a:spcAft>
              <a:buSzPts val="1100"/>
              <a:buAutoNum type="arabicPeriod"/>
            </a:pPr>
            <a:r>
              <a:rPr lang="en"/>
              <a:t>Further, it has the bonus of being signature agnostic, while the other protocols have specific requirements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9f1ea7c7c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9f1ea7c7c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I am Josh. Before getting into the details of the algorithm, I would like to start by specifying the differences between PBFT and PoE from the perspective of the client, and the guarantees of preservation. </a:t>
            </a:r>
            <a:r>
              <a:rPr b="1"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PBFT, once 2f + 1 replicas have prepared a transaction, it is guaranteed to be preserved.</a:t>
            </a:r>
            <a:endParaRPr/>
          </a:p>
          <a:p>
            <a:pPr indent="0" lvl="0" marL="0" rtl="0" algn="l">
              <a:spcBef>
                <a:spcPts val="0"/>
              </a:spcBef>
              <a:spcAft>
                <a:spcPts val="0"/>
              </a:spcAft>
              <a:buNone/>
            </a:pPr>
            <a:r>
              <a:rPr lang="en"/>
              <a:t>PBFT requires prepare and commit quorums of 2f+1, and the client is guaranteed execution of its transaction once it receives f+1 responses.</a:t>
            </a:r>
            <a:r>
              <a:rPr lang="en">
                <a:solidFill>
                  <a:schemeClr val="dk1"/>
                </a:solidFill>
              </a:rPr>
              <a:t> </a:t>
            </a:r>
            <a:r>
              <a:rPr b="1" lang="en">
                <a:solidFill>
                  <a:schemeClr val="dk1"/>
                </a:solidFill>
              </a:rPr>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other hand, PoE only guarantees preservation of a transaction once 2f+1 inform messages have been sent to the client. </a:t>
            </a:r>
            <a:r>
              <a:rPr b="1" lang="en"/>
              <a:t>Click</a:t>
            </a:r>
            <a:endParaRPr b="1"/>
          </a:p>
          <a:p>
            <a:pPr indent="0" lvl="0" marL="0" rtl="0" algn="l">
              <a:spcBef>
                <a:spcPts val="0"/>
              </a:spcBef>
              <a:spcAft>
                <a:spcPts val="0"/>
              </a:spcAft>
              <a:buNone/>
            </a:pPr>
            <a:r>
              <a:t/>
            </a:r>
            <a:endParaRPr b="1"/>
          </a:p>
          <a:p>
            <a:pPr indent="0" lvl="0" marL="0" rtl="0" algn="l">
              <a:spcBef>
                <a:spcPts val="0"/>
              </a:spcBef>
              <a:spcAft>
                <a:spcPts val="0"/>
              </a:spcAft>
              <a:buNone/>
            </a:pPr>
            <a:r>
              <a:rPr lang="en"/>
              <a:t>Safety is guaranteed, and liveness is guaranteed during periods of bounded message delay (that is, after Global Stabilization Time when the partially synchronous network is in its </a:t>
            </a:r>
            <a:r>
              <a:rPr lang="en"/>
              <a:t>synchronous</a:t>
            </a:r>
            <a:r>
              <a:rPr lang="en"/>
              <a:t> state)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Safety is guaranteed due to speculative non-divergence. Once 2f+1 non-faulty replicas speculatively execute a transaction T, all non-faulty replicas will eventually execute it (after rolling back other transactions).</a:t>
            </a:r>
            <a:endParaRPr/>
          </a:p>
          <a:p>
            <a:pPr indent="0" lvl="0" marL="0" rtl="0" algn="l">
              <a:spcBef>
                <a:spcPts val="0"/>
              </a:spcBef>
              <a:spcAft>
                <a:spcPts val="0"/>
              </a:spcAft>
              <a:buNone/>
            </a:pPr>
            <a:r>
              <a:rPr lang="en"/>
              <a:t>Liveness is only guaranteed after GST, when the partially synchronous network is in its synchronous state.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ec7919b7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ec7919b7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In order to understand the algorithm, we need to understand the authentication techniques used in the paper. </a:t>
            </a:r>
            <a:r>
              <a:rPr lang="en">
                <a:solidFill>
                  <a:schemeClr val="dk1"/>
                </a:solidFill>
              </a:rPr>
              <a:t>Messages are authenticated, so non-faulty replicas cannot be impersonated. This algorithm considers two forms of authentication, Message Authentication Codes and Threshold Signatures. </a:t>
            </a:r>
            <a:r>
              <a:rPr b="1" lang="en">
                <a:solidFill>
                  <a:schemeClr val="dk1"/>
                </a:solidFill>
              </a:rPr>
              <a:t>Click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Message Authentication Codes involve using secret keys for every pair of nodes that are communicating with each other. Communication is still quadratic (all-to-all)., but this can still be useful if we have a small number of replicas (16 or under).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main interesting authentication technique used in this paper is </a:t>
            </a:r>
            <a:r>
              <a:rPr b="1" lang="en">
                <a:solidFill>
                  <a:schemeClr val="dk1"/>
                </a:solidFill>
              </a:rPr>
              <a:t>Click</a:t>
            </a:r>
            <a:r>
              <a:rPr lang="en">
                <a:solidFill>
                  <a:schemeClr val="dk1"/>
                </a:solidFill>
              </a:rPr>
              <a:t> Threshold Signatures. In order to illustrate this, imagine that the primary has a box. </a:t>
            </a:r>
            <a:r>
              <a:rPr b="1" lang="en">
                <a:solidFill>
                  <a:schemeClr val="dk1"/>
                </a:solidFill>
              </a:rPr>
              <a:t>Click</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fa1e46d3c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9fa1e46d3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SLOW DOWN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Threshold signatures work by requiring a </a:t>
            </a:r>
            <a:r>
              <a:rPr b="1" lang="en">
                <a:solidFill>
                  <a:schemeClr val="dk1"/>
                </a:solidFill>
              </a:rPr>
              <a:t>Click</a:t>
            </a:r>
            <a:r>
              <a:rPr lang="en">
                <a:solidFill>
                  <a:schemeClr val="dk1"/>
                </a:solidFill>
              </a:rPr>
              <a:t> specified number of signature shares from other replicas. If a replica is agreeing to a certain transaction, it will </a:t>
            </a:r>
            <a:r>
              <a:rPr b="1" lang="en">
                <a:solidFill>
                  <a:schemeClr val="dk1"/>
                </a:solidFill>
              </a:rPr>
              <a:t>Click</a:t>
            </a:r>
            <a:r>
              <a:rPr lang="en">
                <a:solidFill>
                  <a:schemeClr val="dk1"/>
                </a:solidFill>
              </a:rPr>
              <a:t> compute its signature share, and </a:t>
            </a:r>
            <a:r>
              <a:rPr b="1" lang="en">
                <a:solidFill>
                  <a:schemeClr val="dk1"/>
                </a:solidFill>
              </a:rPr>
              <a:t>Click</a:t>
            </a:r>
            <a:r>
              <a:rPr lang="en">
                <a:solidFill>
                  <a:schemeClr val="dk1"/>
                </a:solidFill>
              </a:rPr>
              <a:t> send it to the primary.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(do 5 clicks)</a:t>
            </a:r>
            <a:r>
              <a:rPr lang="en">
                <a:solidFill>
                  <a:schemeClr val="dk1"/>
                </a:solidFill>
              </a:rPr>
              <a:t> This continues until the primary receives enough signature shares (2f+1) from distinct replicas, to fill up the box. Once it has, it can then </a:t>
            </a:r>
            <a:r>
              <a:rPr b="1" lang="en">
                <a:solidFill>
                  <a:schemeClr val="dk1"/>
                </a:solidFill>
              </a:rPr>
              <a:t>Click </a:t>
            </a:r>
            <a:r>
              <a:rPr lang="en">
                <a:solidFill>
                  <a:schemeClr val="dk1"/>
                </a:solidFill>
              </a:rPr>
              <a:t>send out the completed threshold signature to all replicas, which can be verified using a public key.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(make sense?)</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ec7919b7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9ec7919b7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SLOW DOWN</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Let’s go over a normal case with no byzantine replicas, or network faults. Here we have the client, the primary, and 3 non-faulty replicas. </a:t>
            </a:r>
            <a:r>
              <a:rPr b="1"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the client sends a signed transaction to the primary, </a:t>
            </a:r>
            <a:r>
              <a:rPr b="1" lang="en"/>
              <a:t>Click</a:t>
            </a:r>
            <a:r>
              <a:rPr lang="en"/>
              <a:t> and the p</a:t>
            </a:r>
            <a:r>
              <a:rPr lang="en"/>
              <a:t>rimary proposes it, just like in PBFT.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Unlike PBFT,  PoE does not </a:t>
            </a:r>
            <a:r>
              <a:rPr b="1" lang="en">
                <a:solidFill>
                  <a:schemeClr val="dk1"/>
                </a:solidFill>
              </a:rPr>
              <a:t>Click </a:t>
            </a:r>
            <a:r>
              <a:rPr lang="en"/>
              <a:t>have a prepare phase with an all-to-all communication saying what each replica received from the primary. Instead </a:t>
            </a:r>
            <a:r>
              <a:rPr b="1" lang="en"/>
              <a:t>Click</a:t>
            </a:r>
            <a:r>
              <a:rPr lang="en"/>
              <a:t> PoE has a support phase in which each replica computes a signature share and sends a support message to the primary.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the primary receives 2f+1 distinct signature shares, </a:t>
            </a:r>
            <a:r>
              <a:rPr b="1" lang="en"/>
              <a:t>Click</a:t>
            </a:r>
            <a:r>
              <a:rPr lang="en"/>
              <a:t> it can compute a single signature, and </a:t>
            </a:r>
            <a:r>
              <a:rPr b="1" lang="en"/>
              <a:t>Click</a:t>
            </a:r>
            <a:r>
              <a:rPr lang="en"/>
              <a:t> send a certify message containing the signature to all replicas.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SLOW 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replica receives the valid certify message, that it verifies using a public key. At this point, the support and certify phases are equivalent to the prepare phase in PBFT. Receiving a certify message gives a replica the same information as receiving 2f+1 prepare messages in PBFT. You know that 2f+1 replicas have contributed to the threshold signature supporting this transaction for this round. Once the certify message is received. </a:t>
            </a:r>
            <a:r>
              <a:rPr b="1" lang="en"/>
              <a:t>Click</a:t>
            </a:r>
            <a:r>
              <a:rPr lang="en"/>
              <a:t> view-commits the transaction as the k-th transaction. The view-commit contains </a:t>
            </a:r>
            <a:r>
              <a:rPr b="1" lang="en"/>
              <a:t>Click</a:t>
            </a:r>
            <a:r>
              <a:rPr lang="en"/>
              <a:t> the signed transaction from the client, </a:t>
            </a:r>
            <a:r>
              <a:rPr b="1" lang="en"/>
              <a:t>Click</a:t>
            </a:r>
            <a:r>
              <a:rPr lang="en"/>
              <a:t> the current view, and </a:t>
            </a:r>
            <a:r>
              <a:rPr b="1" lang="en"/>
              <a:t>Click</a:t>
            </a:r>
            <a:r>
              <a:rPr lang="en"/>
              <a:t> which number transaction this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With no network issues, out-of-order processing is unnecessary, as a replica should always receive transactions in the order they are to be executed.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With network issues, due to out-of-order processing, the transactions may be view committed out of order. But, view-committed transactions must be executed in order. In order to execute transaction number k, all transactions before k must already be executed.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 up, does that make sense)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Once the transaction is executed, </a:t>
            </a:r>
            <a:r>
              <a:rPr lang="en">
                <a:solidFill>
                  <a:schemeClr val="dk1"/>
                </a:solidFill>
              </a:rPr>
              <a:t>speculative execution allows the replicas to directly inform the client at this point (I will go into detail on this in a moment) We do not need an equivalent of the commit phase, with another set of back and forth communication with the replicas and the primary. </a:t>
            </a:r>
            <a:r>
              <a:rPr b="1" lang="en"/>
              <a:t>Click</a:t>
            </a:r>
            <a:r>
              <a:rPr lang="en"/>
              <a:t>. Once the client receives 2f+1 inform messages, it has its proof of execution that all non-faulty replicas have (or will) execute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Are there any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Like PBFT guaranteeing quorum can be reached for at most one transaction in a round, if a single replica view-commits a transaction in a round, it is guaranteed that no other transaction can be view-committed (by a non-faulty replica).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would like to emphasize this, because this point is really important for understanding why we are allowed to have speculative execution and roll back transactions.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9f947cf80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9f947cf80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quickly recap the intuition behind it. </a:t>
            </a:r>
            <a:r>
              <a:rPr b="1" lang="en"/>
              <a:t>Click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a:t>
            </a:r>
            <a:r>
              <a:rPr lang="en"/>
              <a:t>e have 3f+1 total replicas, but </a:t>
            </a:r>
            <a:r>
              <a:rPr b="1" lang="en"/>
              <a:t>Click</a:t>
            </a:r>
            <a:r>
              <a:rPr lang="en"/>
              <a:t> f of them can be faulty, leaving 2f+1 non-faulty replicas. In order to try and reach quorum on two transactions, A and B, we can assume that the f faulty replicas would double vote. </a:t>
            </a:r>
            <a:r>
              <a:rPr b="1" lang="en"/>
              <a:t>Click</a:t>
            </a:r>
            <a:r>
              <a:rPr lang="en"/>
              <a:t> But, no matter how you split it, you will not reach 2f+1 replicas on both transactions. </a:t>
            </a:r>
            <a:r>
              <a:rPr b="1" lang="en"/>
              <a:t>Click</a:t>
            </a:r>
            <a:r>
              <a:rPr lang="en"/>
              <a:t> If B has the bare minimum to reach 2f+1, </a:t>
            </a:r>
            <a:r>
              <a:rPr b="1" lang="en"/>
              <a:t>Click</a:t>
            </a:r>
            <a:r>
              <a:rPr lang="en"/>
              <a:t> A is just short of reaching 2f+1.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for a single value of k</a:t>
            </a:r>
            <a:r>
              <a:rPr lang="en"/>
              <a:t>, a replica will either speculatively execute the majority transaction, or do nothing.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Is it clear why this is the case?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9fe39778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9fe39778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SLOW DOWN</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Let’s take a look at why speculative execution allows the replicas to inform the client directly after only 3 phases of linear communication. Think about what needs to happen for R2 </a:t>
            </a:r>
            <a:r>
              <a:rPr lang="en">
                <a:solidFill>
                  <a:schemeClr val="dk1"/>
                </a:solidFill>
              </a:rPr>
              <a:t>to receive a valid certify message. </a:t>
            </a:r>
            <a:r>
              <a:rPr b="1" lang="en">
                <a:solidFill>
                  <a:schemeClr val="dk1"/>
                </a:solidFill>
              </a:rPr>
              <a:t>Click</a:t>
            </a:r>
            <a:r>
              <a:rPr lang="en">
                <a:solidFill>
                  <a:schemeClr val="dk1"/>
                </a:solidFill>
              </a:rPr>
              <a:t>, </a:t>
            </a:r>
            <a:r>
              <a:rPr b="1" lang="en">
                <a:solidFill>
                  <a:schemeClr val="dk1"/>
                </a:solidFill>
              </a:rPr>
              <a:t>Click</a:t>
            </a:r>
            <a:r>
              <a:rPr lang="en">
                <a:solidFill>
                  <a:schemeClr val="dk1"/>
                </a:solidFill>
              </a:rPr>
              <a:t> The primary proposes a transaction, and we know that at least </a:t>
            </a:r>
            <a:r>
              <a:rPr b="1" lang="en">
                <a:solidFill>
                  <a:schemeClr val="dk1"/>
                </a:solidFill>
              </a:rPr>
              <a:t>Click</a:t>
            </a:r>
            <a:r>
              <a:rPr lang="en">
                <a:solidFill>
                  <a:schemeClr val="dk1"/>
                </a:solidFill>
              </a:rPr>
              <a:t> 2f+1 replicas have received that same proposal, because of the threshold signature. </a:t>
            </a:r>
            <a:r>
              <a:rPr b="1" lang="en">
                <a:solidFill>
                  <a:schemeClr val="dk1"/>
                </a:solidFill>
              </a:rPr>
              <a:t>Click</a:t>
            </a:r>
            <a:r>
              <a:rPr lang="en">
                <a:solidFill>
                  <a:schemeClr val="dk1"/>
                </a:solidFill>
              </a:rPr>
              <a:t> At this point, R2 has received a certify message, but it does not know if any other replicas have received this certify message. However, </a:t>
            </a:r>
            <a:r>
              <a:rPr b="1" lang="en">
                <a:solidFill>
                  <a:schemeClr val="dk1"/>
                </a:solidFill>
              </a:rPr>
              <a:t>Click</a:t>
            </a:r>
            <a:r>
              <a:rPr lang="en">
                <a:solidFill>
                  <a:schemeClr val="dk1"/>
                </a:solidFill>
              </a:rPr>
              <a:t> speculative execution allows the replica to communicate directly with the client at this point, instead of doing another round of threshold signature communication with the primary. Because, at this point, the transaction is still not guaranteed to be executed until the client has received </a:t>
            </a:r>
            <a:r>
              <a:rPr b="1" lang="en">
                <a:solidFill>
                  <a:schemeClr val="dk1"/>
                </a:solidFill>
              </a:rPr>
              <a:t>Click</a:t>
            </a:r>
            <a:r>
              <a:rPr lang="en">
                <a:solidFill>
                  <a:schemeClr val="dk1"/>
                </a:solidFill>
              </a:rPr>
              <a:t> 2f+1 inform messages.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By pushing back the point at which execution of a transaction is guaranteed, along with the ability to rollback transactions, we can inform the client directly at this point.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Once 2f+1 inform messages have been sent, we know that at least </a:t>
            </a:r>
            <a:r>
              <a:rPr b="1" lang="en">
                <a:solidFill>
                  <a:schemeClr val="dk1"/>
                </a:solidFill>
              </a:rPr>
              <a:t>Click</a:t>
            </a:r>
            <a:r>
              <a:rPr lang="en">
                <a:solidFill>
                  <a:schemeClr val="dk1"/>
                </a:solidFill>
              </a:rPr>
              <a:t> f+1 non-faulty replicas have sent an inform message. This means that during the recovery or view-change algorithm you cannot </a:t>
            </a:r>
            <a:r>
              <a:rPr b="1" lang="en">
                <a:solidFill>
                  <a:schemeClr val="dk1"/>
                </a:solidFill>
              </a:rPr>
              <a:t>Click</a:t>
            </a:r>
            <a:r>
              <a:rPr lang="en">
                <a:solidFill>
                  <a:schemeClr val="dk1"/>
                </a:solidFill>
              </a:rPr>
              <a:t> form a 2f+1 quorum without at least 1 of these f+1 replicas (again, basically the same intuition as before). We have 3f+1 replicas, and at least f+1 non-faulty replicas have executed this transaction. This leaves only 2f total replicas that may not recover it (whether they were in the dark, or malicious). It is at this point, that the execution of the transaction is guaranteed.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Is this clear?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t>Going back </a:t>
            </a:r>
            <a:r>
              <a:rPr b="1" lang="en"/>
              <a:t>Backwards Click a few times</a:t>
            </a:r>
            <a:r>
              <a:rPr lang="en"/>
              <a:t> to this stage, at this point, R2 will have executed the transaction, but it may still be rolled back. If the other Replicas did not receive the certify message, they may time out, and R2, as the only one that informed the client, is not guaranteed to have its view-change request processed. </a:t>
            </a:r>
            <a:r>
              <a:rPr b="1" lang="en"/>
              <a:t>Click Click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9f947cf80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9f947cf80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Now, if one of the non-primary replicas is byzantine, but we have no network faults, the byzantine replica does not stop the client from receiving 2f+1 inform messages saying their transaction has been executed.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If you would like to use message authentication codes instead of threshold signatures, you can replace the </a:t>
            </a:r>
            <a:r>
              <a:rPr b="1" lang="en">
                <a:solidFill>
                  <a:schemeClr val="dk1"/>
                </a:solidFill>
              </a:rPr>
              <a:t>Click</a:t>
            </a:r>
            <a:r>
              <a:rPr lang="en">
                <a:solidFill>
                  <a:schemeClr val="dk1"/>
                </a:solidFill>
              </a:rPr>
              <a:t> all-to-one Support and one-to-all Certify phases with a single all-to-all Support phase.</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9fa1e46d3c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9fa1e46d3c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some other changes that have to be made to support MACs. This is because, with MACs, you cannot forward messages without the possibility of tampering with them, so client requests and other forwarded messages need to be reworked, but making these changes is the same as allowing MACs to be used with PBFT, so they are not described in detail in the paper.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9fe397782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9fe397782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SLOW DOWN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view-change algorithm is pretty similar to what we went over last week, up until the point where the replicas process the proposal.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Let’s take a look from the perspective of R2</a:t>
            </a:r>
            <a:r>
              <a:rPr b="1" lang="en">
                <a:solidFill>
                  <a:schemeClr val="dk1"/>
                </a:solidFill>
              </a:rPr>
              <a:t> Click Click </a:t>
            </a:r>
            <a:r>
              <a:rPr lang="en">
                <a:solidFill>
                  <a:schemeClr val="dk1"/>
                </a:solidFill>
              </a:rPr>
              <a:t>In the event of failure, a replica cannot distinguish between a bad network, and a malicious primary </a:t>
            </a:r>
            <a:r>
              <a:rPr b="1" lang="en">
                <a:solidFill>
                  <a:schemeClr val="dk1"/>
                </a:solidFill>
              </a:rPr>
              <a:t>Click </a:t>
            </a:r>
            <a:r>
              <a:rPr lang="en">
                <a:solidFill>
                  <a:schemeClr val="dk1"/>
                </a:solidFill>
              </a:rPr>
              <a:t>so it will default to sending a view-change request. This can occur if it does not receive a message or heartbeat within an established timeframe. This includes if a client notices it is not getting a response to its transaction. In that case, it will broadcast its request to all replicas. Those replicas will forward that request to the primary, and if that times out, they will also begin a view-change request.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Once f+1 replicas have sent out a view-change request, it is impossible to reach a quorum, so the non-faulty replicas will join in.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this point, </a:t>
            </a:r>
            <a:r>
              <a:rPr b="1" lang="en">
                <a:solidFill>
                  <a:schemeClr val="dk1"/>
                </a:solidFill>
              </a:rPr>
              <a:t>Click</a:t>
            </a:r>
            <a:r>
              <a:rPr lang="en">
                <a:solidFill>
                  <a:schemeClr val="dk1"/>
                </a:solidFill>
              </a:rPr>
              <a:t> R2 starts receiving view-change requests from others, and eventually (after the new primary R1 has received 2f+1 view-change requests), it sends out a New View proposal. </a:t>
            </a:r>
            <a:r>
              <a:rPr b="1" lang="en">
                <a:solidFill>
                  <a:schemeClr val="dk1"/>
                </a:solidFill>
              </a:rPr>
              <a:t>Click</a:t>
            </a: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The new primary will consolidate the lists of transactions, and sends out the new proposal to all replicas. </a:t>
            </a:r>
            <a:r>
              <a:rPr b="1" lang="en">
                <a:solidFill>
                  <a:schemeClr val="dk1"/>
                </a:solidFill>
              </a:rPr>
              <a:t>Click </a:t>
            </a:r>
            <a:r>
              <a:rPr lang="en">
                <a:solidFill>
                  <a:schemeClr val="dk1"/>
                </a:solidFill>
              </a:rPr>
              <a:t>Each view change request contains the current faulty view, and a list of transactions it has executed in that view. Each view change request needs to have a consecutive sequence of certify messages received from the previous primary, and their corresponding transactions. The messages from non-faulty replicas will be guaranteed to be consecutive if the network is reliable.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Click</a:t>
            </a:r>
            <a:r>
              <a:rPr lang="en">
                <a:solidFill>
                  <a:schemeClr val="dk1"/>
                </a:solidFill>
              </a:rPr>
              <a:t> Here’s what it might look like from an outside perspective, but I wanted to illustrate it just from the perspective of one replica.</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9fe397782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9fe397782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Once the New View proposal is received, each replica goes through all transactions in order, comparing it to the transactions it has executed. If there is a discrepancy, it will roll back transactions to synchronize its logs.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Click </a:t>
            </a:r>
            <a:r>
              <a:rPr lang="en">
                <a:solidFill>
                  <a:schemeClr val="dk1"/>
                </a:solidFill>
              </a:rPr>
              <a:t>Out-of-Order execution may leave a replica with transactions that it has processed, but cannot execute because it is missing a previous transaction.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Click </a:t>
            </a:r>
            <a:r>
              <a:rPr lang="en">
                <a:solidFill>
                  <a:schemeClr val="dk1"/>
                </a:solidFill>
              </a:rPr>
              <a:t>Speculative execution may leave a replica with an extra transaction that is not included in the new view proposal, and needs to be rolled back</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mentioned previously, up to 2f replicas may inform the client that it has speculatively executed a transaction, but it is not guaranteed at that point and may still be rolled back.</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9ec7919b7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9ec7919b7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595959"/>
                </a:solidFill>
              </a:rPr>
              <a:t>Intro: </a:t>
            </a:r>
            <a:r>
              <a:rPr lang="en" sz="1300">
                <a:solidFill>
                  <a:srgbClr val="595959"/>
                </a:solidFill>
              </a:rPr>
              <a:t>This paper bridges the gap between theory and practice by evaluating PoE against other modern &amp; baseline BFT protocols. </a:t>
            </a:r>
            <a:endParaRPr sz="1300">
              <a:solidFill>
                <a:srgbClr val="595959"/>
              </a:solidFill>
            </a:endParaRPr>
          </a:p>
          <a:p>
            <a:pPr indent="0" lvl="0" marL="0" rtl="0" algn="l">
              <a:spcBef>
                <a:spcPts val="0"/>
              </a:spcBef>
              <a:spcAft>
                <a:spcPts val="0"/>
              </a:spcAft>
              <a:buNone/>
            </a:pPr>
            <a:r>
              <a:t/>
            </a:r>
            <a:endParaRPr sz="1300">
              <a:solidFill>
                <a:srgbClr val="595959"/>
              </a:solidFill>
            </a:endParaRPr>
          </a:p>
          <a:p>
            <a:pPr indent="-311150" lvl="0" marL="457200" rtl="0" algn="l">
              <a:spcBef>
                <a:spcPts val="0"/>
              </a:spcBef>
              <a:spcAft>
                <a:spcPts val="0"/>
              </a:spcAft>
              <a:buClr>
                <a:srgbClr val="595959"/>
              </a:buClr>
              <a:buSzPts val="1300"/>
              <a:buChar char="-"/>
            </a:pPr>
            <a:r>
              <a:rPr lang="en" sz="1300">
                <a:solidFill>
                  <a:srgbClr val="595959"/>
                </a:solidFill>
              </a:rPr>
              <a:t>Additional goal is showcasing that ResilientDB can be used as a testing environment to implement and compare modern, high-throughput BFT protocols</a:t>
            </a:r>
            <a:endParaRPr sz="1300">
              <a:solidFill>
                <a:srgbClr val="595959"/>
              </a:solidFill>
            </a:endParaRPr>
          </a:p>
          <a:p>
            <a:pPr indent="-311150" lvl="0" marL="457200" rtl="0" algn="l">
              <a:spcBef>
                <a:spcPts val="0"/>
              </a:spcBef>
              <a:spcAft>
                <a:spcPts val="0"/>
              </a:spcAft>
              <a:buClr>
                <a:srgbClr val="595959"/>
              </a:buClr>
              <a:buSzPts val="1300"/>
              <a:buChar char="-"/>
            </a:pPr>
            <a:r>
              <a:rPr lang="en" sz="1300">
                <a:solidFill>
                  <a:srgbClr val="595959"/>
                </a:solidFill>
              </a:rPr>
              <a:t>See the paper for results on batching and Zero Payload experiments</a:t>
            </a:r>
            <a:endParaRPr sz="1300">
              <a:solidFill>
                <a:srgbClr val="595959"/>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9f961c5bf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9f961c5bf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595959"/>
                </a:solidFill>
                <a:latin typeface="Lato"/>
                <a:ea typeface="Lato"/>
                <a:cs typeface="Lato"/>
                <a:sym typeface="Lato"/>
              </a:rPr>
              <a:t>Environment</a:t>
            </a:r>
            <a:endParaRPr b="1" sz="1300">
              <a:solidFill>
                <a:srgbClr val="595959"/>
              </a:solidFill>
              <a:latin typeface="Lato"/>
              <a:ea typeface="Lato"/>
              <a:cs typeface="Lato"/>
              <a:sym typeface="Lato"/>
            </a:endParaRPr>
          </a:p>
          <a:p>
            <a:pPr indent="-311150" lvl="0" marL="457200" rtl="0" algn="l">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batching of client and replica messages</a:t>
            </a:r>
            <a:endParaRPr sz="1300">
              <a:solidFill>
                <a:srgbClr val="595959"/>
              </a:solidFill>
              <a:latin typeface="Lato"/>
              <a:ea typeface="Lato"/>
              <a:cs typeface="Lato"/>
              <a:sym typeface="Lato"/>
            </a:endParaRPr>
          </a:p>
          <a:p>
            <a:pPr indent="-311150" lvl="0" marL="457200" rtl="0" algn="l">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parallel pipeline to balance replica workflows</a:t>
            </a:r>
            <a:endParaRPr sz="1300">
              <a:solidFill>
                <a:srgbClr val="595959"/>
              </a:solidFill>
              <a:latin typeface="Lato"/>
              <a:ea typeface="Lato"/>
              <a:cs typeface="Lato"/>
              <a:sym typeface="Lato"/>
            </a:endParaRPr>
          </a:p>
          <a:p>
            <a:pPr indent="-311150" lvl="0" marL="457200" rtl="0" algn="l">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Implemented</a:t>
            </a:r>
            <a:r>
              <a:rPr lang="en" sz="1300">
                <a:solidFill>
                  <a:srgbClr val="595959"/>
                </a:solidFill>
                <a:latin typeface="Lato"/>
                <a:ea typeface="Lato"/>
                <a:cs typeface="Lato"/>
                <a:sym typeface="Lato"/>
              </a:rPr>
              <a:t> in a Cloud environment</a:t>
            </a:r>
            <a:endParaRPr sz="1300">
              <a:solidFill>
                <a:srgbClr val="595959"/>
              </a:solidFill>
              <a:latin typeface="Lato"/>
              <a:ea typeface="Lato"/>
              <a:cs typeface="Lato"/>
              <a:sym typeface="La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9f710094f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9f710094f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434343"/>
              </a:buClr>
              <a:buSzPts val="1300"/>
              <a:buFont typeface="Lato"/>
              <a:buChar char="-"/>
            </a:pPr>
            <a:r>
              <a:rPr b="1" lang="en" sz="1300">
                <a:solidFill>
                  <a:srgbClr val="434343"/>
                </a:solidFill>
                <a:latin typeface="Lato"/>
                <a:ea typeface="Lato"/>
                <a:cs typeface="Lato"/>
                <a:sym typeface="Lato"/>
              </a:rPr>
              <a:t>Zyzzyva</a:t>
            </a:r>
            <a:endParaRPr b="1" sz="1300">
              <a:solidFill>
                <a:srgbClr val="434343"/>
              </a:solidFill>
              <a:latin typeface="Lato"/>
              <a:ea typeface="Lato"/>
              <a:cs typeface="Lato"/>
              <a:sym typeface="Lato"/>
            </a:endParaRPr>
          </a:p>
          <a:p>
            <a:pPr indent="-311150" lvl="1" marL="9144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twin path protocol</a:t>
            </a:r>
            <a:endParaRPr sz="1300">
              <a:solidFill>
                <a:srgbClr val="434343"/>
              </a:solidFill>
              <a:latin typeface="Lato"/>
              <a:ea typeface="Lato"/>
              <a:cs typeface="Lato"/>
              <a:sym typeface="Lato"/>
            </a:endParaRPr>
          </a:p>
          <a:p>
            <a:pPr indent="-311150" lvl="1" marL="9144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Default fast path that is optimized for no failures </a:t>
            </a:r>
            <a:endParaRPr sz="1300">
              <a:solidFill>
                <a:srgbClr val="434343"/>
              </a:solidFill>
              <a:latin typeface="Lato"/>
              <a:ea typeface="Lato"/>
              <a:cs typeface="Lato"/>
              <a:sym typeface="Lato"/>
            </a:endParaRPr>
          </a:p>
          <a:p>
            <a:pPr indent="-311150" lvl="2" marL="13716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no commit step, speculative execution as long as 3f+1 matching replies received by client the transaction is executed</a:t>
            </a:r>
            <a:endParaRPr sz="1300">
              <a:solidFill>
                <a:srgbClr val="434343"/>
              </a:solidFill>
              <a:latin typeface="Lato"/>
              <a:ea typeface="Lato"/>
              <a:cs typeface="Lato"/>
              <a:sym typeface="Lato"/>
            </a:endParaRPr>
          </a:p>
          <a:p>
            <a:pPr indent="-311150" lvl="1" marL="9144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As soon as a client timeouts (backup failure), replicas switch to the slow path (similar to PBFT)</a:t>
            </a:r>
            <a:endParaRPr sz="1300">
              <a:solidFill>
                <a:srgbClr val="434343"/>
              </a:solidFill>
              <a:latin typeface="Lato"/>
              <a:ea typeface="Lato"/>
              <a:cs typeface="Lato"/>
              <a:sym typeface="Lato"/>
            </a:endParaRPr>
          </a:p>
          <a:p>
            <a:pPr indent="-311150" lvl="1" marL="9144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With a new view, back to fast path. </a:t>
            </a:r>
            <a:endParaRPr sz="1300">
              <a:solidFill>
                <a:srgbClr val="434343"/>
              </a:solidFill>
              <a:latin typeface="Lato"/>
              <a:ea typeface="Lato"/>
              <a:cs typeface="Lato"/>
              <a:sym typeface="Lato"/>
            </a:endParaRPr>
          </a:p>
          <a:p>
            <a:pPr indent="-311150" lvl="0" marL="457200" rtl="0" algn="l">
              <a:spcBef>
                <a:spcPts val="0"/>
              </a:spcBef>
              <a:spcAft>
                <a:spcPts val="0"/>
              </a:spcAft>
              <a:buClr>
                <a:srgbClr val="434343"/>
              </a:buClr>
              <a:buSzPts val="1300"/>
              <a:buFont typeface="Lato"/>
              <a:buChar char="-"/>
            </a:pPr>
            <a:r>
              <a:rPr b="1" lang="en" sz="1300">
                <a:solidFill>
                  <a:srgbClr val="434343"/>
                </a:solidFill>
                <a:latin typeface="Lato"/>
                <a:ea typeface="Lato"/>
                <a:cs typeface="Lato"/>
                <a:sym typeface="Lato"/>
              </a:rPr>
              <a:t>SBFT (Scalable Byzantine Fault Tolerant)</a:t>
            </a:r>
            <a:endParaRPr b="1" sz="1300">
              <a:solidFill>
                <a:srgbClr val="434343"/>
              </a:solidFill>
              <a:latin typeface="Lato"/>
              <a:ea typeface="Lato"/>
              <a:cs typeface="Lato"/>
              <a:sym typeface="Lato"/>
            </a:endParaRPr>
          </a:p>
          <a:p>
            <a:pPr indent="-311150" lvl="1" marL="9144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A safer version of Zyzzyva; doesn’t rely on </a:t>
            </a:r>
            <a:r>
              <a:rPr lang="en" sz="1300">
                <a:solidFill>
                  <a:srgbClr val="434343"/>
                </a:solidFill>
                <a:latin typeface="Lato"/>
                <a:ea typeface="Lato"/>
                <a:cs typeface="Lato"/>
                <a:sym typeface="Lato"/>
              </a:rPr>
              <a:t>clients</a:t>
            </a:r>
            <a:r>
              <a:rPr lang="en" sz="1300">
                <a:solidFill>
                  <a:srgbClr val="434343"/>
                </a:solidFill>
                <a:latin typeface="Lato"/>
                <a:ea typeface="Lato"/>
                <a:cs typeface="Lato"/>
                <a:sym typeface="Lato"/>
              </a:rPr>
              <a:t> initiate slow path</a:t>
            </a:r>
            <a:endParaRPr sz="1300">
              <a:solidFill>
                <a:srgbClr val="434343"/>
              </a:solidFill>
              <a:latin typeface="Lato"/>
              <a:ea typeface="Lato"/>
              <a:cs typeface="Lato"/>
              <a:sym typeface="Lato"/>
            </a:endParaRPr>
          </a:p>
          <a:p>
            <a:pPr indent="-311150" lvl="1" marL="9144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The fast path allows up the f faulty replicas</a:t>
            </a:r>
            <a:endParaRPr sz="1300">
              <a:solidFill>
                <a:srgbClr val="434343"/>
              </a:solidFill>
              <a:latin typeface="Lato"/>
              <a:ea typeface="Lato"/>
              <a:cs typeface="Lato"/>
              <a:sym typeface="Lato"/>
            </a:endParaRPr>
          </a:p>
          <a:p>
            <a:pPr indent="-311150" lvl="0" marL="457200" rtl="0" algn="l">
              <a:spcBef>
                <a:spcPts val="0"/>
              </a:spcBef>
              <a:spcAft>
                <a:spcPts val="0"/>
              </a:spcAft>
              <a:buClr>
                <a:srgbClr val="434343"/>
              </a:buClr>
              <a:buSzPts val="1300"/>
              <a:buFont typeface="Lato"/>
              <a:buChar char="-"/>
            </a:pPr>
            <a:r>
              <a:rPr b="1" lang="en" sz="1300">
                <a:solidFill>
                  <a:srgbClr val="434343"/>
                </a:solidFill>
                <a:latin typeface="Lato"/>
                <a:ea typeface="Lato"/>
                <a:cs typeface="Lato"/>
                <a:sym typeface="Lato"/>
              </a:rPr>
              <a:t>Hotstuff</a:t>
            </a:r>
            <a:endParaRPr b="1" sz="1300">
              <a:solidFill>
                <a:srgbClr val="434343"/>
              </a:solidFill>
              <a:latin typeface="Lato"/>
              <a:ea typeface="Lato"/>
              <a:cs typeface="Lato"/>
              <a:sym typeface="Lato"/>
            </a:endParaRPr>
          </a:p>
          <a:p>
            <a:pPr indent="-311150" lvl="1" marL="9144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Rotates </a:t>
            </a:r>
            <a:r>
              <a:rPr lang="en" sz="1300">
                <a:solidFill>
                  <a:srgbClr val="434343"/>
                </a:solidFill>
                <a:latin typeface="Lato"/>
                <a:ea typeface="Lato"/>
                <a:cs typeface="Lato"/>
                <a:sym typeface="Lato"/>
              </a:rPr>
              <a:t>primary after each consensus decision to minimize the influence of a single replica</a:t>
            </a:r>
            <a:endParaRPr sz="1300">
              <a:solidFill>
                <a:srgbClr val="434343"/>
              </a:solidFill>
              <a:latin typeface="Lato"/>
              <a:ea typeface="Lato"/>
              <a:cs typeface="Lato"/>
              <a:sym typeface="Lato"/>
            </a:endParaRPr>
          </a:p>
          <a:p>
            <a:pPr indent="-311150" lvl="1" marL="914400" rtl="0" algn="l">
              <a:spcBef>
                <a:spcPts val="0"/>
              </a:spcBef>
              <a:spcAft>
                <a:spcPts val="0"/>
              </a:spcAft>
              <a:buClr>
                <a:srgbClr val="434343"/>
              </a:buClr>
              <a:buSzPts val="1300"/>
              <a:buFont typeface="Lato"/>
              <a:buChar char="-"/>
            </a:pPr>
            <a:r>
              <a:rPr lang="en" sz="1300">
                <a:solidFill>
                  <a:srgbClr val="434343"/>
                </a:solidFill>
                <a:latin typeface="Lato"/>
                <a:ea typeface="Lato"/>
                <a:cs typeface="Lato"/>
                <a:sym typeface="Lato"/>
              </a:rPr>
              <a:t>Requires sequential processing, not compatible with out-of-order processing</a:t>
            </a:r>
            <a:endParaRPr sz="1300">
              <a:solidFill>
                <a:srgbClr val="434343"/>
              </a:solidFill>
              <a:latin typeface="Lato"/>
              <a:ea typeface="Lato"/>
              <a:cs typeface="Lato"/>
              <a:sym typeface="La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9f710094fd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9f710094fd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Zyzzyva uses speculative execution, but is optimized for the failure-free case - fewer communication rounds</a:t>
            </a:r>
            <a:endParaRPr sz="1300">
              <a:solidFill>
                <a:srgbClr val="595959"/>
              </a:solidFill>
              <a:latin typeface="Lato"/>
              <a:ea typeface="Lato"/>
              <a:cs typeface="Lato"/>
              <a:sym typeface="Lato"/>
            </a:endParaRPr>
          </a:p>
          <a:p>
            <a:pPr indent="-311150" lvl="0" marL="457200" rtl="0" algn="l">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Hotstuff doesn’t use out-of-order processing so it has the </a:t>
            </a:r>
            <a:r>
              <a:rPr lang="en" sz="1300">
                <a:solidFill>
                  <a:srgbClr val="595959"/>
                </a:solidFill>
                <a:latin typeface="Lato"/>
                <a:ea typeface="Lato"/>
                <a:cs typeface="Lato"/>
                <a:sym typeface="Lato"/>
              </a:rPr>
              <a:t>lowest performance</a:t>
            </a:r>
            <a:endParaRPr sz="1300">
              <a:solidFill>
                <a:srgbClr val="595959"/>
              </a:solidFill>
              <a:latin typeface="Lato"/>
              <a:ea typeface="Lato"/>
              <a:cs typeface="Lato"/>
              <a:sym typeface="Lato"/>
            </a:endParaRPr>
          </a:p>
          <a:p>
            <a:pPr indent="0" lvl="0" marL="0" rtl="0" algn="l">
              <a:spcBef>
                <a:spcPts val="0"/>
              </a:spcBef>
              <a:spcAft>
                <a:spcPts val="0"/>
              </a:spcAft>
              <a:buNone/>
            </a:pPr>
            <a:r>
              <a:t/>
            </a:r>
            <a:endParaRPr sz="1300">
              <a:solidFill>
                <a:srgbClr val="595959"/>
              </a:solidFill>
              <a:latin typeface="Lato"/>
              <a:ea typeface="Lato"/>
              <a:cs typeface="Lato"/>
              <a:sym typeface="La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9f961c5bf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9f961c5bf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3 phase linear protocol + out-of-order processing allows PoE to have higher through and lower latency that PBFT and SBFT</a:t>
            </a:r>
            <a:endParaRPr sz="1300">
              <a:solidFill>
                <a:srgbClr val="595959"/>
              </a:solidFill>
              <a:latin typeface="Lato"/>
              <a:ea typeface="Lato"/>
              <a:cs typeface="Lato"/>
              <a:sym typeface="Lato"/>
            </a:endParaRPr>
          </a:p>
          <a:p>
            <a:pPr indent="-311150" lvl="0" marL="457200" rtl="0" algn="l">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Zyzzyva performance is as low as HotStuff, which doesn’t use out-of-order processing, in the case of a failure because it reverts to the slow path</a:t>
            </a:r>
            <a:endParaRPr sz="1300">
              <a:solidFill>
                <a:srgbClr val="595959"/>
              </a:solidFill>
              <a:latin typeface="Lato"/>
              <a:ea typeface="Lato"/>
              <a:cs typeface="Lato"/>
              <a:sym typeface="La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9f961c5bf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9f961c5bf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Overall, when looking at the throughput &amp; latency of HotStuff, which doesn’t rely on out-of-order processing, the performance is significantly dropped when compared to previous slides. </a:t>
            </a:r>
            <a:endParaRPr sz="1300">
              <a:solidFill>
                <a:srgbClr val="595959"/>
              </a:solidFill>
              <a:latin typeface="Lato"/>
              <a:ea typeface="Lato"/>
              <a:cs typeface="Lato"/>
              <a:sym typeface="Lato"/>
            </a:endParaRPr>
          </a:p>
          <a:p>
            <a:pPr indent="-311150" lvl="0" marL="457200" rtl="0" algn="l">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Thus, out-of-order processing is an essential feature of modern, high throughput BFT protocols. </a:t>
            </a:r>
            <a:endParaRPr sz="1300">
              <a:solidFill>
                <a:srgbClr val="595959"/>
              </a:solidFill>
              <a:latin typeface="Lato"/>
              <a:ea typeface="Lato"/>
              <a:cs typeface="Lato"/>
              <a:sym typeface="Lato"/>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9f961c5bf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9f961c5bf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Study the impact of of a benign primary failure on PoE vs. PBFT; primary failure requires backup replicas run the view-change protocol</a:t>
            </a:r>
            <a:endParaRPr sz="1300">
              <a:solidFill>
                <a:srgbClr val="595959"/>
              </a:solidFill>
              <a:latin typeface="Lato"/>
              <a:ea typeface="Lato"/>
              <a:cs typeface="Lato"/>
              <a:sym typeface="Lato"/>
            </a:endParaRPr>
          </a:p>
          <a:p>
            <a:pPr indent="-311150" lvl="0" marL="457200" rtl="0" algn="l">
              <a:lnSpc>
                <a:spcPct val="115000"/>
              </a:lnSpc>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Zyzzyva has an unsafe view-change algorithm and SBFT’s view-change algorithm is no less expensive than Pbft (Zyzzyva and SBFT also have significant reduction in throughput) </a:t>
            </a:r>
            <a:endParaRPr sz="1300">
              <a:solidFill>
                <a:srgbClr val="595959"/>
              </a:solidFill>
              <a:latin typeface="Lato"/>
              <a:ea typeface="Lato"/>
              <a:cs typeface="Lato"/>
              <a:sym typeface="Lato"/>
            </a:endParaRPr>
          </a:p>
          <a:p>
            <a:pPr indent="-311150" lvl="0" marL="457200" rtl="0" algn="l">
              <a:lnSpc>
                <a:spcPct val="115000"/>
              </a:lnSpc>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For HotStuff, we do not show results as it changes primary at the end of every consensus. </a:t>
            </a:r>
            <a:endParaRPr sz="1300">
              <a:solidFill>
                <a:srgbClr val="595959"/>
              </a:solidFill>
              <a:latin typeface="Lato"/>
              <a:ea typeface="Lato"/>
              <a:cs typeface="Lato"/>
              <a:sym typeface="Lato"/>
            </a:endParaRPr>
          </a:p>
          <a:p>
            <a:pPr indent="-311150" lvl="0" marL="457200" rtl="0" algn="l">
              <a:lnSpc>
                <a:spcPct val="115000"/>
              </a:lnSpc>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PoE takes longer to execute due to the “rollback” stage in step (d): state recovery</a:t>
            </a:r>
            <a:endParaRPr sz="1300">
              <a:solidFill>
                <a:srgbClr val="595959"/>
              </a:solidFill>
              <a:latin typeface="Lato"/>
              <a:ea typeface="Lato"/>
              <a:cs typeface="Lato"/>
              <a:sym typeface="Lato"/>
            </a:endParaRPr>
          </a:p>
          <a:p>
            <a:pPr indent="-311150" lvl="0" marL="457200" rtl="0" algn="l">
              <a:lnSpc>
                <a:spcPct val="115000"/>
              </a:lnSpc>
              <a:spcBef>
                <a:spcPts val="0"/>
              </a:spcBef>
              <a:spcAft>
                <a:spcPts val="0"/>
              </a:spcAft>
              <a:buClr>
                <a:srgbClr val="595959"/>
              </a:buClr>
              <a:buSzPts val="1300"/>
              <a:buFont typeface="Lato"/>
              <a:buChar char="-"/>
            </a:pPr>
            <a:r>
              <a:rPr lang="en" sz="1300">
                <a:solidFill>
                  <a:srgbClr val="595959"/>
                </a:solidFill>
                <a:latin typeface="Lato"/>
                <a:ea typeface="Lato"/>
                <a:cs typeface="Lato"/>
                <a:sym typeface="Lato"/>
              </a:rPr>
              <a:t>PoE has higher throughput during PBFT because of the reduced messages (communication between replicas) due to 3 linear phases rather than 2 quadratic phases</a:t>
            </a:r>
            <a:endParaRPr sz="1300">
              <a:solidFill>
                <a:srgbClr val="595959"/>
              </a:solidFill>
              <a:latin typeface="Lato"/>
              <a:ea typeface="Lato"/>
              <a:cs typeface="Lato"/>
              <a:sym typeface="La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9f961c5bfc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9f961c5bf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9ec7919b7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9ec7919b7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9f961c5bf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9f961c5bf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9ec7919b7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9ec7919b7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Proof-of-Execution: Reaching Consensus through Fault-Tolerant Speculation</a:t>
            </a:r>
            <a:endParaRPr/>
          </a:p>
        </p:txBody>
      </p:sp>
      <p:sp>
        <p:nvSpPr>
          <p:cNvPr id="87" name="Google Shape;87;p13"/>
          <p:cNvSpPr txBox="1"/>
          <p:nvPr>
            <p:ph idx="1" type="body"/>
          </p:nvPr>
        </p:nvSpPr>
        <p:spPr>
          <a:xfrm>
            <a:off x="729450" y="2283775"/>
            <a:ext cx="7688700" cy="2056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rPr b="1" lang="en"/>
              <a:t>Authors</a:t>
            </a:r>
            <a:endParaRPr b="1"/>
          </a:p>
          <a:p>
            <a:pPr indent="0" lvl="0" marL="0" rtl="0" algn="ctr">
              <a:lnSpc>
                <a:spcPct val="100000"/>
              </a:lnSpc>
              <a:spcBef>
                <a:spcPts val="0"/>
              </a:spcBef>
              <a:spcAft>
                <a:spcPts val="0"/>
              </a:spcAft>
              <a:buNone/>
            </a:pPr>
            <a:r>
              <a:rPr lang="en"/>
              <a:t>Suyash Gupta, Jelle Hellings, Sajjad Rahnama, Mohammad Sadoghi (ExpoLab, UC Davis)</a:t>
            </a:r>
            <a:endParaRPr/>
          </a:p>
          <a:p>
            <a:pPr indent="0" lvl="0" marL="0" rtl="0" algn="ctr">
              <a:lnSpc>
                <a:spcPct val="100000"/>
              </a:lnSpc>
              <a:spcBef>
                <a:spcPts val="0"/>
              </a:spcBef>
              <a:spcAft>
                <a:spcPts val="0"/>
              </a:spcAft>
              <a:buNone/>
            </a:pPr>
            <a:r>
              <a:t/>
            </a:r>
            <a:endParaRPr/>
          </a:p>
          <a:p>
            <a:pPr indent="0" lvl="0" marL="0" rtl="0" algn="ctr">
              <a:lnSpc>
                <a:spcPct val="100000"/>
              </a:lnSpc>
              <a:spcBef>
                <a:spcPts val="0"/>
              </a:spcBef>
              <a:spcAft>
                <a:spcPts val="0"/>
              </a:spcAft>
              <a:buNone/>
            </a:pPr>
            <a:r>
              <a:rPr b="1" lang="en"/>
              <a:t>Presenters</a:t>
            </a:r>
            <a:endParaRPr b="1"/>
          </a:p>
          <a:p>
            <a:pPr indent="0" lvl="0" marL="0" rtl="0" algn="ctr">
              <a:lnSpc>
                <a:spcPct val="100000"/>
              </a:lnSpc>
              <a:spcBef>
                <a:spcPts val="0"/>
              </a:spcBef>
              <a:spcAft>
                <a:spcPts val="0"/>
              </a:spcAft>
              <a:buNone/>
            </a:pPr>
            <a:r>
              <a:rPr lang="en"/>
              <a:t>Sophie Quynn, Nachiket Subbaraman, Josh Hutton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7650" y="1177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
        <p:nvSpPr>
          <p:cNvPr id="93" name="Google Shape;93;p14"/>
          <p:cNvSpPr txBox="1"/>
          <p:nvPr>
            <p:ph idx="1" type="body"/>
          </p:nvPr>
        </p:nvSpPr>
        <p:spPr>
          <a:xfrm>
            <a:off x="257175" y="1593800"/>
            <a:ext cx="7688700" cy="22611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Clr>
                <a:schemeClr val="accent1"/>
              </a:buClr>
              <a:buSzPts val="1300"/>
              <a:buFont typeface="Lato"/>
              <a:buChar char="●"/>
            </a:pPr>
            <a:r>
              <a:rPr lang="en"/>
              <a:t>Federated data management - reaching agreement on updates to common database</a:t>
            </a:r>
            <a:endParaRPr/>
          </a:p>
          <a:p>
            <a:pPr indent="-311150" lvl="0" marL="457200" rtl="0" algn="l">
              <a:lnSpc>
                <a:spcPct val="100000"/>
              </a:lnSpc>
              <a:spcBef>
                <a:spcPts val="0"/>
              </a:spcBef>
              <a:spcAft>
                <a:spcPts val="0"/>
              </a:spcAft>
              <a:buClr>
                <a:schemeClr val="accent1"/>
              </a:buClr>
              <a:buSzPts val="1300"/>
              <a:buFont typeface="Lato"/>
              <a:buChar char="●"/>
            </a:pPr>
            <a:r>
              <a:rPr lang="en"/>
              <a:t>Federated decentralized environment - each stakeholder manages their own replicas</a:t>
            </a:r>
            <a:endParaRPr/>
          </a:p>
          <a:p>
            <a:pPr indent="-311150" lvl="1" marL="914400" rtl="0" algn="l">
              <a:lnSpc>
                <a:spcPct val="100000"/>
              </a:lnSpc>
              <a:spcBef>
                <a:spcPts val="0"/>
              </a:spcBef>
              <a:spcAft>
                <a:spcPts val="0"/>
              </a:spcAft>
              <a:buClr>
                <a:schemeClr val="accent1"/>
              </a:buClr>
              <a:buSzPts val="1300"/>
              <a:buFont typeface="Lato"/>
              <a:buChar char="○"/>
            </a:pPr>
            <a:r>
              <a:rPr lang="en" sz="1300"/>
              <a:t>Replicas of each stakeholder can fail -&gt; Byzantine Fault Tolerant (BFT) protocols</a:t>
            </a:r>
            <a:endParaRPr sz="1300"/>
          </a:p>
          <a:p>
            <a:pPr indent="0" lvl="0" marL="0" rtl="0" algn="l">
              <a:spcBef>
                <a:spcPts val="0"/>
              </a:spcBef>
              <a:spcAft>
                <a:spcPts val="1200"/>
              </a:spcAft>
              <a:buNone/>
            </a:pPr>
            <a:r>
              <a:t/>
            </a:r>
            <a:endParaRPr/>
          </a:p>
        </p:txBody>
      </p:sp>
      <p:sp>
        <p:nvSpPr>
          <p:cNvPr id="94" name="Google Shape;94;p14"/>
          <p:cNvSpPr/>
          <p:nvPr/>
        </p:nvSpPr>
        <p:spPr>
          <a:xfrm>
            <a:off x="879700" y="4270450"/>
            <a:ext cx="1560000" cy="68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Replica R2</a:t>
            </a:r>
            <a:endParaRPr>
              <a:latin typeface="Lato"/>
              <a:ea typeface="Lato"/>
              <a:cs typeface="Lato"/>
              <a:sym typeface="Lato"/>
            </a:endParaRPr>
          </a:p>
        </p:txBody>
      </p:sp>
      <p:sp>
        <p:nvSpPr>
          <p:cNvPr id="95" name="Google Shape;95;p14"/>
          <p:cNvSpPr/>
          <p:nvPr/>
        </p:nvSpPr>
        <p:spPr>
          <a:xfrm>
            <a:off x="3011775" y="2453075"/>
            <a:ext cx="1560000" cy="68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Replica R1</a:t>
            </a:r>
            <a:endParaRPr>
              <a:latin typeface="Lato"/>
              <a:ea typeface="Lato"/>
              <a:cs typeface="Lato"/>
              <a:sym typeface="Lato"/>
            </a:endParaRPr>
          </a:p>
        </p:txBody>
      </p:sp>
      <p:sp>
        <p:nvSpPr>
          <p:cNvPr id="96" name="Google Shape;96;p14"/>
          <p:cNvSpPr/>
          <p:nvPr/>
        </p:nvSpPr>
        <p:spPr>
          <a:xfrm>
            <a:off x="5324500" y="4270450"/>
            <a:ext cx="1468200" cy="686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Replica R3</a:t>
            </a:r>
            <a:endParaRPr>
              <a:latin typeface="Lato"/>
              <a:ea typeface="Lato"/>
              <a:cs typeface="Lato"/>
              <a:sym typeface="Lato"/>
            </a:endParaRPr>
          </a:p>
        </p:txBody>
      </p:sp>
      <p:cxnSp>
        <p:nvCxnSpPr>
          <p:cNvPr id="97" name="Google Shape;97;p14"/>
          <p:cNvCxnSpPr>
            <a:stCxn id="94" idx="0"/>
            <a:endCxn id="95" idx="1"/>
          </p:cNvCxnSpPr>
          <p:nvPr/>
        </p:nvCxnSpPr>
        <p:spPr>
          <a:xfrm flipH="1" rot="10800000">
            <a:off x="1659700" y="2796250"/>
            <a:ext cx="1352100" cy="1474200"/>
          </a:xfrm>
          <a:prstGeom prst="straightConnector1">
            <a:avLst/>
          </a:prstGeom>
          <a:noFill/>
          <a:ln cap="flat" cmpd="sng" w="9525">
            <a:solidFill>
              <a:schemeClr val="dk2"/>
            </a:solidFill>
            <a:prstDash val="solid"/>
            <a:round/>
            <a:headEnd len="med" w="med" type="none"/>
            <a:tailEnd len="med" w="med" type="triangle"/>
          </a:ln>
        </p:spPr>
      </p:cxnSp>
      <p:cxnSp>
        <p:nvCxnSpPr>
          <p:cNvPr id="98" name="Google Shape;98;p14"/>
          <p:cNvCxnSpPr>
            <a:stCxn id="95" idx="1"/>
            <a:endCxn id="94" idx="0"/>
          </p:cNvCxnSpPr>
          <p:nvPr/>
        </p:nvCxnSpPr>
        <p:spPr>
          <a:xfrm flipH="1">
            <a:off x="1659675" y="2796275"/>
            <a:ext cx="1352100" cy="1474200"/>
          </a:xfrm>
          <a:prstGeom prst="straightConnector1">
            <a:avLst/>
          </a:prstGeom>
          <a:noFill/>
          <a:ln cap="flat" cmpd="sng" w="9525">
            <a:solidFill>
              <a:schemeClr val="dk2"/>
            </a:solidFill>
            <a:prstDash val="solid"/>
            <a:round/>
            <a:headEnd len="med" w="med" type="none"/>
            <a:tailEnd len="med" w="med" type="triangle"/>
          </a:ln>
        </p:spPr>
      </p:cxnSp>
      <p:cxnSp>
        <p:nvCxnSpPr>
          <p:cNvPr id="99" name="Google Shape;99;p14"/>
          <p:cNvCxnSpPr>
            <a:stCxn id="96" idx="1"/>
            <a:endCxn id="94" idx="3"/>
          </p:cNvCxnSpPr>
          <p:nvPr/>
        </p:nvCxnSpPr>
        <p:spPr>
          <a:xfrm rot="10800000">
            <a:off x="2439700" y="4613650"/>
            <a:ext cx="2884800" cy="0"/>
          </a:xfrm>
          <a:prstGeom prst="straightConnector1">
            <a:avLst/>
          </a:prstGeom>
          <a:noFill/>
          <a:ln cap="flat" cmpd="sng" w="9525">
            <a:solidFill>
              <a:schemeClr val="dk2"/>
            </a:solidFill>
            <a:prstDash val="solid"/>
            <a:round/>
            <a:headEnd len="med" w="med" type="none"/>
            <a:tailEnd len="med" w="med" type="triangle"/>
          </a:ln>
        </p:spPr>
      </p:cxnSp>
      <p:cxnSp>
        <p:nvCxnSpPr>
          <p:cNvPr id="100" name="Google Shape;100;p14"/>
          <p:cNvCxnSpPr>
            <a:stCxn id="96" idx="0"/>
            <a:endCxn id="95" idx="3"/>
          </p:cNvCxnSpPr>
          <p:nvPr/>
        </p:nvCxnSpPr>
        <p:spPr>
          <a:xfrm rot="10800000">
            <a:off x="4571800" y="2796250"/>
            <a:ext cx="1486800" cy="1474200"/>
          </a:xfrm>
          <a:prstGeom prst="straightConnector1">
            <a:avLst/>
          </a:prstGeom>
          <a:noFill/>
          <a:ln cap="flat" cmpd="sng" w="9525">
            <a:solidFill>
              <a:schemeClr val="dk2"/>
            </a:solidFill>
            <a:prstDash val="solid"/>
            <a:round/>
            <a:headEnd len="med" w="med" type="none"/>
            <a:tailEnd len="med" w="med" type="triangle"/>
          </a:ln>
        </p:spPr>
      </p:cxnSp>
      <p:cxnSp>
        <p:nvCxnSpPr>
          <p:cNvPr id="101" name="Google Shape;101;p14"/>
          <p:cNvCxnSpPr>
            <a:stCxn id="94" idx="3"/>
            <a:endCxn id="96" idx="1"/>
          </p:cNvCxnSpPr>
          <p:nvPr/>
        </p:nvCxnSpPr>
        <p:spPr>
          <a:xfrm>
            <a:off x="2439700" y="4613650"/>
            <a:ext cx="2884800" cy="0"/>
          </a:xfrm>
          <a:prstGeom prst="straightConnector1">
            <a:avLst/>
          </a:prstGeom>
          <a:noFill/>
          <a:ln cap="flat" cmpd="sng" w="9525">
            <a:solidFill>
              <a:schemeClr val="dk2"/>
            </a:solidFill>
            <a:prstDash val="solid"/>
            <a:round/>
            <a:headEnd len="med" w="med" type="none"/>
            <a:tailEnd len="med" w="med" type="triangle"/>
          </a:ln>
        </p:spPr>
      </p:cxnSp>
      <p:cxnSp>
        <p:nvCxnSpPr>
          <p:cNvPr id="102" name="Google Shape;102;p14"/>
          <p:cNvCxnSpPr>
            <a:stCxn id="95" idx="3"/>
            <a:endCxn id="96" idx="0"/>
          </p:cNvCxnSpPr>
          <p:nvPr/>
        </p:nvCxnSpPr>
        <p:spPr>
          <a:xfrm>
            <a:off x="4571775" y="2796275"/>
            <a:ext cx="1486800" cy="1474200"/>
          </a:xfrm>
          <a:prstGeom prst="straightConnector1">
            <a:avLst/>
          </a:prstGeom>
          <a:noFill/>
          <a:ln cap="flat" cmpd="sng" w="9525">
            <a:solidFill>
              <a:schemeClr val="dk2"/>
            </a:solidFill>
            <a:prstDash val="solid"/>
            <a:round/>
            <a:headEnd len="med" w="med" type="none"/>
            <a:tailEnd len="med" w="med" type="triangle"/>
          </a:ln>
        </p:spPr>
      </p:cxnSp>
      <p:sp>
        <p:nvSpPr>
          <p:cNvPr id="103" name="Google Shape;103;p14"/>
          <p:cNvSpPr/>
          <p:nvPr/>
        </p:nvSpPr>
        <p:spPr>
          <a:xfrm>
            <a:off x="3012000" y="3339925"/>
            <a:ext cx="1642356" cy="87296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Consensus Protocol</a:t>
            </a:r>
            <a:endParaRPr>
              <a:latin typeface="Lato"/>
              <a:ea typeface="Lato"/>
              <a:cs typeface="Lato"/>
              <a:sym typeface="Lato"/>
            </a:endParaRPr>
          </a:p>
        </p:txBody>
      </p:sp>
      <p:pic>
        <p:nvPicPr>
          <p:cNvPr id="104" name="Google Shape;104;p14"/>
          <p:cNvPicPr preferRelativeResize="0"/>
          <p:nvPr/>
        </p:nvPicPr>
        <p:blipFill rotWithShape="1">
          <a:blip r:embed="rId3">
            <a:alphaModFix/>
          </a:blip>
          <a:srcRect b="20923" l="18401" r="18299" t="11100"/>
          <a:stretch/>
        </p:blipFill>
        <p:spPr>
          <a:xfrm>
            <a:off x="6591150" y="2366700"/>
            <a:ext cx="1468201" cy="1684711"/>
          </a:xfrm>
          <a:prstGeom prst="rect">
            <a:avLst/>
          </a:prstGeom>
          <a:noFill/>
          <a:ln>
            <a:noFill/>
          </a:ln>
        </p:spPr>
      </p:pic>
      <p:cxnSp>
        <p:nvCxnSpPr>
          <p:cNvPr id="105" name="Google Shape;105;p14"/>
          <p:cNvCxnSpPr>
            <a:stCxn id="106" idx="3"/>
            <a:endCxn id="104" idx="1"/>
          </p:cNvCxnSpPr>
          <p:nvPr/>
        </p:nvCxnSpPr>
        <p:spPr>
          <a:xfrm>
            <a:off x="4470513" y="2796274"/>
            <a:ext cx="2120700" cy="412800"/>
          </a:xfrm>
          <a:prstGeom prst="straightConnector1">
            <a:avLst/>
          </a:prstGeom>
          <a:noFill/>
          <a:ln cap="flat" cmpd="sng" w="9525">
            <a:solidFill>
              <a:schemeClr val="dk2"/>
            </a:solidFill>
            <a:prstDash val="solid"/>
            <a:round/>
            <a:headEnd len="med" w="med" type="none"/>
            <a:tailEnd len="med" w="med" type="triangle"/>
          </a:ln>
        </p:spPr>
      </p:cxnSp>
      <p:cxnSp>
        <p:nvCxnSpPr>
          <p:cNvPr id="107" name="Google Shape;107;p14"/>
          <p:cNvCxnSpPr>
            <a:stCxn id="108" idx="0"/>
            <a:endCxn id="104" idx="1"/>
          </p:cNvCxnSpPr>
          <p:nvPr/>
        </p:nvCxnSpPr>
        <p:spPr>
          <a:xfrm flipH="1" rot="10800000">
            <a:off x="6487850" y="3209200"/>
            <a:ext cx="103200" cy="1166700"/>
          </a:xfrm>
          <a:prstGeom prst="straightConnector1">
            <a:avLst/>
          </a:prstGeom>
          <a:noFill/>
          <a:ln cap="flat" cmpd="sng" w="9525">
            <a:solidFill>
              <a:schemeClr val="dk2"/>
            </a:solidFill>
            <a:prstDash val="solid"/>
            <a:round/>
            <a:headEnd len="med" w="med" type="none"/>
            <a:tailEnd len="med" w="med" type="triangle"/>
          </a:ln>
        </p:spPr>
      </p:cxnSp>
      <p:cxnSp>
        <p:nvCxnSpPr>
          <p:cNvPr id="109" name="Google Shape;109;p14"/>
          <p:cNvCxnSpPr>
            <a:stCxn id="110" idx="3"/>
            <a:endCxn id="104" idx="1"/>
          </p:cNvCxnSpPr>
          <p:nvPr/>
        </p:nvCxnSpPr>
        <p:spPr>
          <a:xfrm flipH="1" rot="10800000">
            <a:off x="2377413" y="3209049"/>
            <a:ext cx="4213800" cy="1371000"/>
          </a:xfrm>
          <a:prstGeom prst="straightConnector1">
            <a:avLst/>
          </a:prstGeom>
          <a:noFill/>
          <a:ln cap="flat" cmpd="sng" w="9525">
            <a:solidFill>
              <a:schemeClr val="dk2"/>
            </a:solidFill>
            <a:prstDash val="solid"/>
            <a:round/>
            <a:headEnd len="med" w="med" type="none"/>
            <a:tailEnd len="med" w="med" type="triangle"/>
          </a:ln>
        </p:spPr>
      </p:cxnSp>
      <p:pic>
        <p:nvPicPr>
          <p:cNvPr id="106" name="Google Shape;106;p14"/>
          <p:cNvPicPr preferRelativeResize="0"/>
          <p:nvPr/>
        </p:nvPicPr>
        <p:blipFill rotWithShape="1">
          <a:blip r:embed="rId3">
            <a:alphaModFix/>
          </a:blip>
          <a:srcRect b="20923" l="18401" r="18299" t="11100"/>
          <a:stretch/>
        </p:blipFill>
        <p:spPr>
          <a:xfrm>
            <a:off x="4004086" y="2528675"/>
            <a:ext cx="466427" cy="535199"/>
          </a:xfrm>
          <a:prstGeom prst="rect">
            <a:avLst/>
          </a:prstGeom>
          <a:noFill/>
          <a:ln>
            <a:noFill/>
          </a:ln>
        </p:spPr>
      </p:pic>
      <p:pic>
        <p:nvPicPr>
          <p:cNvPr id="108" name="Google Shape;108;p14"/>
          <p:cNvPicPr preferRelativeResize="0"/>
          <p:nvPr/>
        </p:nvPicPr>
        <p:blipFill rotWithShape="1">
          <a:blip r:embed="rId3">
            <a:alphaModFix/>
          </a:blip>
          <a:srcRect b="20923" l="18401" r="18299" t="11100"/>
          <a:stretch/>
        </p:blipFill>
        <p:spPr>
          <a:xfrm>
            <a:off x="6254636" y="4375900"/>
            <a:ext cx="466427" cy="535199"/>
          </a:xfrm>
          <a:prstGeom prst="rect">
            <a:avLst/>
          </a:prstGeom>
          <a:noFill/>
          <a:ln>
            <a:noFill/>
          </a:ln>
        </p:spPr>
      </p:pic>
      <p:pic>
        <p:nvPicPr>
          <p:cNvPr id="110" name="Google Shape;110;p14"/>
          <p:cNvPicPr preferRelativeResize="0"/>
          <p:nvPr/>
        </p:nvPicPr>
        <p:blipFill rotWithShape="1">
          <a:blip r:embed="rId3">
            <a:alphaModFix/>
          </a:blip>
          <a:srcRect b="20923" l="18401" r="18299" t="11100"/>
          <a:stretch/>
        </p:blipFill>
        <p:spPr>
          <a:xfrm>
            <a:off x="1910986" y="4312450"/>
            <a:ext cx="466427" cy="5351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5"/>
          <p:cNvSpPr txBox="1"/>
          <p:nvPr>
            <p:ph type="title"/>
          </p:nvPr>
        </p:nvSpPr>
        <p:spPr>
          <a:xfrm>
            <a:off x="657600" y="6001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116" name="Google Shape;116;p15"/>
          <p:cNvSpPr txBox="1"/>
          <p:nvPr>
            <p:ph idx="1" type="body"/>
          </p:nvPr>
        </p:nvSpPr>
        <p:spPr>
          <a:xfrm>
            <a:off x="72600" y="1269063"/>
            <a:ext cx="7688700" cy="1341600"/>
          </a:xfrm>
          <a:prstGeom prst="rect">
            <a:avLst/>
          </a:prstGeom>
        </p:spPr>
        <p:txBody>
          <a:bodyPr anchorCtr="0" anchor="t" bIns="91425" lIns="91425" spcFirstLastPara="1" rIns="91425" wrap="square" tIns="91425">
            <a:normAutofit lnSpcReduction="20000"/>
          </a:bodyPr>
          <a:lstStyle/>
          <a:p>
            <a:pPr indent="-311150" lvl="0" marL="457200" rtl="0" algn="l">
              <a:lnSpc>
                <a:spcPct val="100000"/>
              </a:lnSpc>
              <a:spcBef>
                <a:spcPts val="0"/>
              </a:spcBef>
              <a:spcAft>
                <a:spcPts val="0"/>
              </a:spcAft>
              <a:buClr>
                <a:schemeClr val="accent1"/>
              </a:buClr>
              <a:buSzPts val="1300"/>
              <a:buFont typeface="Lato"/>
              <a:buChar char="●"/>
            </a:pPr>
            <a:r>
              <a:rPr lang="en"/>
              <a:t>Majority of these systems still use PBFT </a:t>
            </a:r>
            <a:endParaRPr/>
          </a:p>
          <a:p>
            <a:pPr indent="-311150" lvl="0" marL="457200" rtl="0" algn="l">
              <a:lnSpc>
                <a:spcPct val="100000"/>
              </a:lnSpc>
              <a:spcBef>
                <a:spcPts val="0"/>
              </a:spcBef>
              <a:spcAft>
                <a:spcPts val="0"/>
              </a:spcAft>
              <a:buClr>
                <a:schemeClr val="accent1"/>
              </a:buClr>
              <a:buSzPts val="1300"/>
              <a:buFont typeface="Lato"/>
              <a:buChar char="●"/>
            </a:pPr>
            <a:r>
              <a:rPr lang="en"/>
              <a:t>Proof-of-Execution (PoE) is a scalable and reliable consensus protocol that can replace PBFT</a:t>
            </a:r>
            <a:endParaRPr/>
          </a:p>
          <a:p>
            <a:pPr indent="-311150" lvl="1" marL="914400" rtl="0" algn="l">
              <a:lnSpc>
                <a:spcPct val="100000"/>
              </a:lnSpc>
              <a:spcBef>
                <a:spcPts val="0"/>
              </a:spcBef>
              <a:spcAft>
                <a:spcPts val="0"/>
              </a:spcAft>
              <a:buClr>
                <a:schemeClr val="accent1"/>
              </a:buClr>
              <a:buSzPts val="1300"/>
              <a:buFont typeface="Lato"/>
              <a:buAutoNum type="alphaLcPeriod"/>
            </a:pPr>
            <a:r>
              <a:rPr lang="en" sz="1300"/>
              <a:t>Only requires 3 linear phases (as opposed to PBFT’s 2 quadratic phases)</a:t>
            </a:r>
            <a:endParaRPr sz="1300"/>
          </a:p>
          <a:p>
            <a:pPr indent="-311150" lvl="1" marL="914400" rtl="0" algn="l">
              <a:lnSpc>
                <a:spcPct val="100000"/>
              </a:lnSpc>
              <a:spcBef>
                <a:spcPts val="0"/>
              </a:spcBef>
              <a:spcAft>
                <a:spcPts val="0"/>
              </a:spcAft>
              <a:buClr>
                <a:schemeClr val="accent1"/>
              </a:buClr>
              <a:buSzPts val="1300"/>
              <a:buFont typeface="Lato"/>
              <a:buAutoNum type="alphaLcPeriod"/>
            </a:pPr>
            <a:r>
              <a:rPr lang="en" sz="1300"/>
              <a:t>Signature-scheme agnostic</a:t>
            </a:r>
            <a:endParaRPr sz="1300"/>
          </a:p>
          <a:p>
            <a:pPr indent="-311150" lvl="1" marL="914400" rtl="0" algn="l">
              <a:lnSpc>
                <a:spcPct val="100000"/>
              </a:lnSpc>
              <a:spcBef>
                <a:spcPts val="0"/>
              </a:spcBef>
              <a:spcAft>
                <a:spcPts val="0"/>
              </a:spcAft>
              <a:buClr>
                <a:schemeClr val="accent1"/>
              </a:buClr>
              <a:buSzPts val="1300"/>
              <a:buFont typeface="Lato"/>
              <a:buAutoNum type="alphaLcPeriod"/>
            </a:pPr>
            <a:r>
              <a:rPr lang="en" sz="1300"/>
              <a:t>Avoids response aggregation</a:t>
            </a:r>
            <a:endParaRPr sz="1300"/>
          </a:p>
          <a:p>
            <a:pPr indent="-311150" lvl="0" marL="457200" rtl="0" algn="l">
              <a:lnSpc>
                <a:spcPct val="100000"/>
              </a:lnSpc>
              <a:spcBef>
                <a:spcPts val="0"/>
              </a:spcBef>
              <a:spcAft>
                <a:spcPts val="0"/>
              </a:spcAft>
              <a:buClr>
                <a:srgbClr val="000000"/>
              </a:buClr>
              <a:buSzPts val="1300"/>
              <a:buFont typeface="Arial"/>
              <a:buChar char="●"/>
            </a:pPr>
            <a:r>
              <a:rPr lang="en"/>
              <a:t>Partially synchronous networking model</a:t>
            </a:r>
            <a:endParaRPr sz="1300"/>
          </a:p>
          <a:p>
            <a:pPr indent="0" lvl="0" marL="0" rtl="0" algn="l">
              <a:spcBef>
                <a:spcPts val="0"/>
              </a:spcBef>
              <a:spcAft>
                <a:spcPts val="1200"/>
              </a:spcAft>
              <a:buNone/>
            </a:pPr>
            <a:r>
              <a:t/>
            </a:r>
            <a:endParaRPr/>
          </a:p>
        </p:txBody>
      </p:sp>
      <p:sp>
        <p:nvSpPr>
          <p:cNvPr id="117" name="Google Shape;117;p15"/>
          <p:cNvSpPr/>
          <p:nvPr/>
        </p:nvSpPr>
        <p:spPr>
          <a:xfrm>
            <a:off x="72600" y="384187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Client</a:t>
            </a:r>
            <a:endParaRPr>
              <a:latin typeface="Lato"/>
              <a:ea typeface="Lato"/>
              <a:cs typeface="Lato"/>
              <a:sym typeface="Lato"/>
            </a:endParaRPr>
          </a:p>
        </p:txBody>
      </p:sp>
      <p:sp>
        <p:nvSpPr>
          <p:cNvPr id="118" name="Google Shape;118;p15"/>
          <p:cNvSpPr/>
          <p:nvPr/>
        </p:nvSpPr>
        <p:spPr>
          <a:xfrm>
            <a:off x="1674288" y="383367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Primary</a:t>
            </a:r>
            <a:endParaRPr>
              <a:latin typeface="Lato"/>
              <a:ea typeface="Lato"/>
              <a:cs typeface="Lato"/>
              <a:sym typeface="Lato"/>
            </a:endParaRPr>
          </a:p>
        </p:txBody>
      </p:sp>
      <p:sp>
        <p:nvSpPr>
          <p:cNvPr id="119" name="Google Shape;119;p15"/>
          <p:cNvSpPr/>
          <p:nvPr/>
        </p:nvSpPr>
        <p:spPr>
          <a:xfrm>
            <a:off x="3164125" y="261150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R1</a:t>
            </a:r>
            <a:endParaRPr>
              <a:latin typeface="Lato"/>
              <a:ea typeface="Lato"/>
              <a:cs typeface="Lato"/>
              <a:sym typeface="Lato"/>
            </a:endParaRPr>
          </a:p>
        </p:txBody>
      </p:sp>
      <p:sp>
        <p:nvSpPr>
          <p:cNvPr id="120" name="Google Shape;120;p15"/>
          <p:cNvSpPr/>
          <p:nvPr/>
        </p:nvSpPr>
        <p:spPr>
          <a:xfrm>
            <a:off x="3164113" y="394710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R3</a:t>
            </a:r>
            <a:endParaRPr>
              <a:latin typeface="Lato"/>
              <a:ea typeface="Lato"/>
              <a:cs typeface="Lato"/>
              <a:sym typeface="Lato"/>
            </a:endParaRPr>
          </a:p>
        </p:txBody>
      </p:sp>
      <p:sp>
        <p:nvSpPr>
          <p:cNvPr id="121" name="Google Shape;121;p15"/>
          <p:cNvSpPr/>
          <p:nvPr/>
        </p:nvSpPr>
        <p:spPr>
          <a:xfrm>
            <a:off x="3164725" y="453785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R4</a:t>
            </a:r>
            <a:endParaRPr>
              <a:latin typeface="Lato"/>
              <a:ea typeface="Lato"/>
              <a:cs typeface="Lato"/>
              <a:sym typeface="Lato"/>
            </a:endParaRPr>
          </a:p>
        </p:txBody>
      </p:sp>
      <p:cxnSp>
        <p:nvCxnSpPr>
          <p:cNvPr id="122" name="Google Shape;122;p15"/>
          <p:cNvCxnSpPr>
            <a:stCxn id="117" idx="3"/>
            <a:endCxn id="118" idx="1"/>
          </p:cNvCxnSpPr>
          <p:nvPr/>
        </p:nvCxnSpPr>
        <p:spPr>
          <a:xfrm flipH="1" rot="10800000">
            <a:off x="931500" y="4101375"/>
            <a:ext cx="742800" cy="8100"/>
          </a:xfrm>
          <a:prstGeom prst="straightConnector1">
            <a:avLst/>
          </a:prstGeom>
          <a:noFill/>
          <a:ln cap="flat" cmpd="sng" w="9525">
            <a:solidFill>
              <a:schemeClr val="dk2"/>
            </a:solidFill>
            <a:prstDash val="solid"/>
            <a:round/>
            <a:headEnd len="med" w="med" type="none"/>
            <a:tailEnd len="med" w="med" type="triangle"/>
          </a:ln>
        </p:spPr>
      </p:cxnSp>
      <p:cxnSp>
        <p:nvCxnSpPr>
          <p:cNvPr id="123" name="Google Shape;123;p15"/>
          <p:cNvCxnSpPr>
            <a:stCxn id="118" idx="3"/>
            <a:endCxn id="119" idx="1"/>
          </p:cNvCxnSpPr>
          <p:nvPr/>
        </p:nvCxnSpPr>
        <p:spPr>
          <a:xfrm flipH="1" rot="10800000">
            <a:off x="2533188" y="2879075"/>
            <a:ext cx="630900" cy="1222200"/>
          </a:xfrm>
          <a:prstGeom prst="straightConnector1">
            <a:avLst/>
          </a:prstGeom>
          <a:noFill/>
          <a:ln cap="flat" cmpd="sng" w="9525">
            <a:solidFill>
              <a:schemeClr val="dk2"/>
            </a:solidFill>
            <a:prstDash val="solid"/>
            <a:round/>
            <a:headEnd len="med" w="med" type="none"/>
            <a:tailEnd len="med" w="med" type="triangle"/>
          </a:ln>
        </p:spPr>
      </p:cxnSp>
      <p:cxnSp>
        <p:nvCxnSpPr>
          <p:cNvPr id="124" name="Google Shape;124;p15"/>
          <p:cNvCxnSpPr>
            <a:stCxn id="118" idx="3"/>
            <a:endCxn id="120" idx="1"/>
          </p:cNvCxnSpPr>
          <p:nvPr/>
        </p:nvCxnSpPr>
        <p:spPr>
          <a:xfrm>
            <a:off x="2533188" y="4101275"/>
            <a:ext cx="630900" cy="113400"/>
          </a:xfrm>
          <a:prstGeom prst="straightConnector1">
            <a:avLst/>
          </a:prstGeom>
          <a:noFill/>
          <a:ln cap="flat" cmpd="sng" w="9525">
            <a:solidFill>
              <a:schemeClr val="dk2"/>
            </a:solidFill>
            <a:prstDash val="solid"/>
            <a:round/>
            <a:headEnd len="med" w="med" type="none"/>
            <a:tailEnd len="med" w="med" type="triangle"/>
          </a:ln>
        </p:spPr>
      </p:cxnSp>
      <p:cxnSp>
        <p:nvCxnSpPr>
          <p:cNvPr id="125" name="Google Shape;125;p15"/>
          <p:cNvCxnSpPr>
            <a:stCxn id="118" idx="3"/>
            <a:endCxn id="121" idx="1"/>
          </p:cNvCxnSpPr>
          <p:nvPr/>
        </p:nvCxnSpPr>
        <p:spPr>
          <a:xfrm>
            <a:off x="2533188" y="4101275"/>
            <a:ext cx="631500" cy="704100"/>
          </a:xfrm>
          <a:prstGeom prst="straightConnector1">
            <a:avLst/>
          </a:prstGeom>
          <a:noFill/>
          <a:ln cap="flat" cmpd="sng" w="9525">
            <a:solidFill>
              <a:schemeClr val="dk2"/>
            </a:solidFill>
            <a:prstDash val="solid"/>
            <a:round/>
            <a:headEnd len="med" w="med" type="none"/>
            <a:tailEnd len="med" w="med" type="triangle"/>
          </a:ln>
        </p:spPr>
      </p:cxnSp>
      <p:sp>
        <p:nvSpPr>
          <p:cNvPr id="126" name="Google Shape;126;p15"/>
          <p:cNvSpPr/>
          <p:nvPr/>
        </p:nvSpPr>
        <p:spPr>
          <a:xfrm>
            <a:off x="4809450" y="3625575"/>
            <a:ext cx="9891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Primary</a:t>
            </a:r>
            <a:endParaRPr>
              <a:latin typeface="Lato"/>
              <a:ea typeface="Lato"/>
              <a:cs typeface="Lato"/>
              <a:sym typeface="Lato"/>
            </a:endParaRPr>
          </a:p>
        </p:txBody>
      </p:sp>
      <p:cxnSp>
        <p:nvCxnSpPr>
          <p:cNvPr id="127" name="Google Shape;127;p15"/>
          <p:cNvCxnSpPr>
            <a:stCxn id="119" idx="3"/>
            <a:endCxn id="126" idx="1"/>
          </p:cNvCxnSpPr>
          <p:nvPr/>
        </p:nvCxnSpPr>
        <p:spPr>
          <a:xfrm>
            <a:off x="4023025" y="2879100"/>
            <a:ext cx="786300" cy="1014000"/>
          </a:xfrm>
          <a:prstGeom prst="straightConnector1">
            <a:avLst/>
          </a:prstGeom>
          <a:noFill/>
          <a:ln cap="flat" cmpd="sng" w="9525">
            <a:solidFill>
              <a:schemeClr val="dk2"/>
            </a:solidFill>
            <a:prstDash val="solid"/>
            <a:round/>
            <a:headEnd len="med" w="med" type="none"/>
            <a:tailEnd len="med" w="med" type="triangle"/>
          </a:ln>
        </p:spPr>
      </p:cxnSp>
      <p:cxnSp>
        <p:nvCxnSpPr>
          <p:cNvPr id="128" name="Google Shape;128;p15"/>
          <p:cNvCxnSpPr>
            <a:stCxn id="120" idx="3"/>
            <a:endCxn id="126" idx="1"/>
          </p:cNvCxnSpPr>
          <p:nvPr/>
        </p:nvCxnSpPr>
        <p:spPr>
          <a:xfrm flipH="1" rot="10800000">
            <a:off x="4023013" y="3893100"/>
            <a:ext cx="786300" cy="321600"/>
          </a:xfrm>
          <a:prstGeom prst="straightConnector1">
            <a:avLst/>
          </a:prstGeom>
          <a:noFill/>
          <a:ln cap="flat" cmpd="sng" w="9525">
            <a:solidFill>
              <a:schemeClr val="dk2"/>
            </a:solidFill>
            <a:prstDash val="solid"/>
            <a:round/>
            <a:headEnd len="med" w="med" type="none"/>
            <a:tailEnd len="med" w="med" type="triangle"/>
          </a:ln>
        </p:spPr>
      </p:cxnSp>
      <p:cxnSp>
        <p:nvCxnSpPr>
          <p:cNvPr id="129" name="Google Shape;129;p15"/>
          <p:cNvCxnSpPr>
            <a:stCxn id="121" idx="3"/>
            <a:endCxn id="126" idx="1"/>
          </p:cNvCxnSpPr>
          <p:nvPr/>
        </p:nvCxnSpPr>
        <p:spPr>
          <a:xfrm flipH="1" rot="10800000">
            <a:off x="4023625" y="3893150"/>
            <a:ext cx="785700" cy="912300"/>
          </a:xfrm>
          <a:prstGeom prst="straightConnector1">
            <a:avLst/>
          </a:prstGeom>
          <a:noFill/>
          <a:ln cap="flat" cmpd="sng" w="9525">
            <a:solidFill>
              <a:schemeClr val="dk2"/>
            </a:solidFill>
            <a:prstDash val="solid"/>
            <a:round/>
            <a:headEnd len="med" w="med" type="none"/>
            <a:tailEnd len="med" w="med" type="triangle"/>
          </a:ln>
        </p:spPr>
      </p:cxnSp>
      <p:sp>
        <p:nvSpPr>
          <p:cNvPr id="130" name="Google Shape;130;p15"/>
          <p:cNvSpPr txBox="1"/>
          <p:nvPr/>
        </p:nvSpPr>
        <p:spPr>
          <a:xfrm>
            <a:off x="1158075" y="3928150"/>
            <a:ext cx="516300" cy="1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131" name="Google Shape;131;p15"/>
          <p:cNvSpPr txBox="1"/>
          <p:nvPr/>
        </p:nvSpPr>
        <p:spPr>
          <a:xfrm>
            <a:off x="902488" y="3991375"/>
            <a:ext cx="858900" cy="3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Request</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132" name="Google Shape;132;p15"/>
          <p:cNvSpPr/>
          <p:nvPr/>
        </p:nvSpPr>
        <p:spPr>
          <a:xfrm>
            <a:off x="3164713" y="327930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R2</a:t>
            </a:r>
            <a:endParaRPr>
              <a:latin typeface="Lato"/>
              <a:ea typeface="Lato"/>
              <a:cs typeface="Lato"/>
              <a:sym typeface="Lato"/>
            </a:endParaRPr>
          </a:p>
        </p:txBody>
      </p:sp>
      <p:cxnSp>
        <p:nvCxnSpPr>
          <p:cNvPr id="133" name="Google Shape;133;p15"/>
          <p:cNvCxnSpPr>
            <a:stCxn id="118" idx="3"/>
            <a:endCxn id="132" idx="1"/>
          </p:cNvCxnSpPr>
          <p:nvPr/>
        </p:nvCxnSpPr>
        <p:spPr>
          <a:xfrm flipH="1" rot="10800000">
            <a:off x="2533188" y="3546875"/>
            <a:ext cx="631500" cy="554400"/>
          </a:xfrm>
          <a:prstGeom prst="straightConnector1">
            <a:avLst/>
          </a:prstGeom>
          <a:noFill/>
          <a:ln cap="flat" cmpd="sng" w="9525">
            <a:solidFill>
              <a:schemeClr val="dk2"/>
            </a:solidFill>
            <a:prstDash val="solid"/>
            <a:round/>
            <a:headEnd len="med" w="med" type="none"/>
            <a:tailEnd len="med" w="med" type="triangle"/>
          </a:ln>
        </p:spPr>
      </p:cxnSp>
      <p:cxnSp>
        <p:nvCxnSpPr>
          <p:cNvPr id="134" name="Google Shape;134;p15"/>
          <p:cNvCxnSpPr>
            <a:stCxn id="132" idx="3"/>
            <a:endCxn id="126" idx="1"/>
          </p:cNvCxnSpPr>
          <p:nvPr/>
        </p:nvCxnSpPr>
        <p:spPr>
          <a:xfrm>
            <a:off x="4023613" y="3546900"/>
            <a:ext cx="785700" cy="346200"/>
          </a:xfrm>
          <a:prstGeom prst="straightConnector1">
            <a:avLst/>
          </a:prstGeom>
          <a:noFill/>
          <a:ln cap="flat" cmpd="sng" w="9525">
            <a:solidFill>
              <a:schemeClr val="dk2"/>
            </a:solidFill>
            <a:prstDash val="solid"/>
            <a:round/>
            <a:headEnd len="med" w="med" type="none"/>
            <a:tailEnd len="med" w="med" type="triangle"/>
          </a:ln>
        </p:spPr>
      </p:cxnSp>
      <p:sp>
        <p:nvSpPr>
          <p:cNvPr id="135" name="Google Shape;135;p15"/>
          <p:cNvSpPr/>
          <p:nvPr/>
        </p:nvSpPr>
        <p:spPr>
          <a:xfrm>
            <a:off x="6477675" y="247672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R1</a:t>
            </a:r>
            <a:endParaRPr>
              <a:latin typeface="Lato"/>
              <a:ea typeface="Lato"/>
              <a:cs typeface="Lato"/>
              <a:sym typeface="Lato"/>
            </a:endParaRPr>
          </a:p>
        </p:txBody>
      </p:sp>
      <p:sp>
        <p:nvSpPr>
          <p:cNvPr id="136" name="Google Shape;136;p15"/>
          <p:cNvSpPr/>
          <p:nvPr/>
        </p:nvSpPr>
        <p:spPr>
          <a:xfrm>
            <a:off x="6477750" y="390092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R3</a:t>
            </a:r>
            <a:endParaRPr>
              <a:latin typeface="Lato"/>
              <a:ea typeface="Lato"/>
              <a:cs typeface="Lato"/>
              <a:sym typeface="Lato"/>
            </a:endParaRPr>
          </a:p>
        </p:txBody>
      </p:sp>
      <p:sp>
        <p:nvSpPr>
          <p:cNvPr id="137" name="Google Shape;137;p15"/>
          <p:cNvSpPr/>
          <p:nvPr/>
        </p:nvSpPr>
        <p:spPr>
          <a:xfrm>
            <a:off x="6477750" y="4537838"/>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R4</a:t>
            </a:r>
            <a:endParaRPr>
              <a:latin typeface="Lato"/>
              <a:ea typeface="Lato"/>
              <a:cs typeface="Lato"/>
              <a:sym typeface="Lato"/>
            </a:endParaRPr>
          </a:p>
        </p:txBody>
      </p:sp>
      <p:cxnSp>
        <p:nvCxnSpPr>
          <p:cNvPr id="138" name="Google Shape;138;p15"/>
          <p:cNvCxnSpPr>
            <a:stCxn id="126" idx="3"/>
            <a:endCxn id="135" idx="1"/>
          </p:cNvCxnSpPr>
          <p:nvPr/>
        </p:nvCxnSpPr>
        <p:spPr>
          <a:xfrm flipH="1" rot="10800000">
            <a:off x="5798550" y="2744475"/>
            <a:ext cx="679200" cy="1148700"/>
          </a:xfrm>
          <a:prstGeom prst="straightConnector1">
            <a:avLst/>
          </a:prstGeom>
          <a:noFill/>
          <a:ln cap="flat" cmpd="sng" w="9525">
            <a:solidFill>
              <a:schemeClr val="dk2"/>
            </a:solidFill>
            <a:prstDash val="solid"/>
            <a:round/>
            <a:headEnd len="med" w="med" type="none"/>
            <a:tailEnd len="med" w="med" type="triangle"/>
          </a:ln>
        </p:spPr>
      </p:cxnSp>
      <p:cxnSp>
        <p:nvCxnSpPr>
          <p:cNvPr id="139" name="Google Shape;139;p15"/>
          <p:cNvCxnSpPr>
            <a:stCxn id="126" idx="3"/>
            <a:endCxn id="136" idx="1"/>
          </p:cNvCxnSpPr>
          <p:nvPr/>
        </p:nvCxnSpPr>
        <p:spPr>
          <a:xfrm>
            <a:off x="5798550" y="3893175"/>
            <a:ext cx="679200" cy="275400"/>
          </a:xfrm>
          <a:prstGeom prst="straightConnector1">
            <a:avLst/>
          </a:prstGeom>
          <a:noFill/>
          <a:ln cap="flat" cmpd="sng" w="9525">
            <a:solidFill>
              <a:schemeClr val="dk2"/>
            </a:solidFill>
            <a:prstDash val="solid"/>
            <a:round/>
            <a:headEnd len="med" w="med" type="none"/>
            <a:tailEnd len="med" w="med" type="triangle"/>
          </a:ln>
        </p:spPr>
      </p:cxnSp>
      <p:cxnSp>
        <p:nvCxnSpPr>
          <p:cNvPr id="140" name="Google Shape;140;p15"/>
          <p:cNvCxnSpPr>
            <a:stCxn id="126" idx="3"/>
            <a:endCxn id="137" idx="1"/>
          </p:cNvCxnSpPr>
          <p:nvPr/>
        </p:nvCxnSpPr>
        <p:spPr>
          <a:xfrm>
            <a:off x="5798550" y="3893175"/>
            <a:ext cx="679200" cy="912300"/>
          </a:xfrm>
          <a:prstGeom prst="straightConnector1">
            <a:avLst/>
          </a:prstGeom>
          <a:noFill/>
          <a:ln cap="flat" cmpd="sng" w="9525">
            <a:solidFill>
              <a:schemeClr val="dk2"/>
            </a:solidFill>
            <a:prstDash val="solid"/>
            <a:round/>
            <a:headEnd len="med" w="med" type="none"/>
            <a:tailEnd len="med" w="med" type="triangle"/>
          </a:ln>
        </p:spPr>
      </p:cxnSp>
      <p:sp>
        <p:nvSpPr>
          <p:cNvPr id="141" name="Google Shape;141;p15"/>
          <p:cNvSpPr/>
          <p:nvPr/>
        </p:nvSpPr>
        <p:spPr>
          <a:xfrm>
            <a:off x="6477663" y="318495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R2</a:t>
            </a:r>
            <a:endParaRPr>
              <a:latin typeface="Lato"/>
              <a:ea typeface="Lato"/>
              <a:cs typeface="Lato"/>
              <a:sym typeface="Lato"/>
            </a:endParaRPr>
          </a:p>
        </p:txBody>
      </p:sp>
      <p:cxnSp>
        <p:nvCxnSpPr>
          <p:cNvPr id="142" name="Google Shape;142;p15"/>
          <p:cNvCxnSpPr>
            <a:stCxn id="126" idx="3"/>
            <a:endCxn id="141" idx="1"/>
          </p:cNvCxnSpPr>
          <p:nvPr/>
        </p:nvCxnSpPr>
        <p:spPr>
          <a:xfrm flipH="1" rot="10800000">
            <a:off x="5798550" y="3452475"/>
            <a:ext cx="679200" cy="440700"/>
          </a:xfrm>
          <a:prstGeom prst="straightConnector1">
            <a:avLst/>
          </a:prstGeom>
          <a:noFill/>
          <a:ln cap="flat" cmpd="sng" w="9525">
            <a:solidFill>
              <a:schemeClr val="dk2"/>
            </a:solidFill>
            <a:prstDash val="solid"/>
            <a:round/>
            <a:headEnd len="med" w="med" type="none"/>
            <a:tailEnd len="med" w="med" type="triangle"/>
          </a:ln>
        </p:spPr>
      </p:cxnSp>
      <p:sp>
        <p:nvSpPr>
          <p:cNvPr id="143" name="Google Shape;143;p15"/>
          <p:cNvSpPr/>
          <p:nvPr/>
        </p:nvSpPr>
        <p:spPr>
          <a:xfrm>
            <a:off x="8074800" y="355647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Client</a:t>
            </a:r>
            <a:endParaRPr>
              <a:latin typeface="Lato"/>
              <a:ea typeface="Lato"/>
              <a:cs typeface="Lato"/>
              <a:sym typeface="Lato"/>
            </a:endParaRPr>
          </a:p>
        </p:txBody>
      </p:sp>
      <p:cxnSp>
        <p:nvCxnSpPr>
          <p:cNvPr id="144" name="Google Shape;144;p15"/>
          <p:cNvCxnSpPr>
            <a:endCxn id="143" idx="1"/>
          </p:cNvCxnSpPr>
          <p:nvPr/>
        </p:nvCxnSpPr>
        <p:spPr>
          <a:xfrm>
            <a:off x="7336500" y="2744375"/>
            <a:ext cx="738300" cy="1079700"/>
          </a:xfrm>
          <a:prstGeom prst="straightConnector1">
            <a:avLst/>
          </a:prstGeom>
          <a:noFill/>
          <a:ln cap="flat" cmpd="sng" w="9525">
            <a:solidFill>
              <a:schemeClr val="dk2"/>
            </a:solidFill>
            <a:prstDash val="solid"/>
            <a:round/>
            <a:headEnd len="med" w="med" type="none"/>
            <a:tailEnd len="med" w="med" type="triangle"/>
          </a:ln>
        </p:spPr>
      </p:cxnSp>
      <p:cxnSp>
        <p:nvCxnSpPr>
          <p:cNvPr id="145" name="Google Shape;145;p15"/>
          <p:cNvCxnSpPr>
            <a:stCxn id="141" idx="3"/>
            <a:endCxn id="143" idx="1"/>
          </p:cNvCxnSpPr>
          <p:nvPr/>
        </p:nvCxnSpPr>
        <p:spPr>
          <a:xfrm>
            <a:off x="7336563" y="3452550"/>
            <a:ext cx="738300" cy="371400"/>
          </a:xfrm>
          <a:prstGeom prst="straightConnector1">
            <a:avLst/>
          </a:prstGeom>
          <a:noFill/>
          <a:ln cap="flat" cmpd="sng" w="9525">
            <a:solidFill>
              <a:schemeClr val="dk2"/>
            </a:solidFill>
            <a:prstDash val="solid"/>
            <a:round/>
            <a:headEnd len="med" w="med" type="none"/>
            <a:tailEnd len="med" w="med" type="triangle"/>
          </a:ln>
        </p:spPr>
      </p:cxnSp>
      <p:cxnSp>
        <p:nvCxnSpPr>
          <p:cNvPr id="146" name="Google Shape;146;p15"/>
          <p:cNvCxnSpPr>
            <a:stCxn id="136" idx="3"/>
            <a:endCxn id="143" idx="1"/>
          </p:cNvCxnSpPr>
          <p:nvPr/>
        </p:nvCxnSpPr>
        <p:spPr>
          <a:xfrm flipH="1" rot="10800000">
            <a:off x="7336650" y="3824125"/>
            <a:ext cx="738300" cy="344400"/>
          </a:xfrm>
          <a:prstGeom prst="straightConnector1">
            <a:avLst/>
          </a:prstGeom>
          <a:noFill/>
          <a:ln cap="flat" cmpd="sng" w="9525">
            <a:solidFill>
              <a:schemeClr val="dk2"/>
            </a:solidFill>
            <a:prstDash val="solid"/>
            <a:round/>
            <a:headEnd len="med" w="med" type="none"/>
            <a:tailEnd len="med" w="med" type="triangle"/>
          </a:ln>
        </p:spPr>
      </p:cxnSp>
      <p:cxnSp>
        <p:nvCxnSpPr>
          <p:cNvPr id="147" name="Google Shape;147;p15"/>
          <p:cNvCxnSpPr>
            <a:stCxn id="137" idx="3"/>
            <a:endCxn id="143" idx="1"/>
          </p:cNvCxnSpPr>
          <p:nvPr/>
        </p:nvCxnSpPr>
        <p:spPr>
          <a:xfrm flipH="1" rot="10800000">
            <a:off x="7336650" y="3824138"/>
            <a:ext cx="738300" cy="981300"/>
          </a:xfrm>
          <a:prstGeom prst="straightConnector1">
            <a:avLst/>
          </a:prstGeom>
          <a:noFill/>
          <a:ln cap="flat" cmpd="sng" w="9525">
            <a:solidFill>
              <a:schemeClr val="dk2"/>
            </a:solidFill>
            <a:prstDash val="solid"/>
            <a:round/>
            <a:headEnd len="med" w="med" type="none"/>
            <a:tailEnd len="med" w="med" type="triangle"/>
          </a:ln>
        </p:spPr>
      </p:cxnSp>
      <p:sp>
        <p:nvSpPr>
          <p:cNvPr id="148" name="Google Shape;148;p15"/>
          <p:cNvSpPr txBox="1"/>
          <p:nvPr/>
        </p:nvSpPr>
        <p:spPr>
          <a:xfrm>
            <a:off x="2305825" y="2583525"/>
            <a:ext cx="8589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Propose</a:t>
            </a:r>
            <a:endParaRPr sz="1300">
              <a:solidFill>
                <a:schemeClr val="accent1"/>
              </a:solidFill>
              <a:latin typeface="Lato"/>
              <a:ea typeface="Lato"/>
              <a:cs typeface="Lato"/>
              <a:sym typeface="Lato"/>
            </a:endParaRPr>
          </a:p>
        </p:txBody>
      </p:sp>
      <p:sp>
        <p:nvSpPr>
          <p:cNvPr id="149" name="Google Shape;149;p15"/>
          <p:cNvSpPr txBox="1"/>
          <p:nvPr/>
        </p:nvSpPr>
        <p:spPr>
          <a:xfrm>
            <a:off x="4051875" y="2611500"/>
            <a:ext cx="8589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Support</a:t>
            </a:r>
            <a:endParaRPr sz="1300">
              <a:solidFill>
                <a:schemeClr val="accent1"/>
              </a:solidFill>
              <a:latin typeface="Lato"/>
              <a:ea typeface="Lato"/>
              <a:cs typeface="Lato"/>
              <a:sym typeface="Lato"/>
            </a:endParaRPr>
          </a:p>
        </p:txBody>
      </p:sp>
      <p:sp>
        <p:nvSpPr>
          <p:cNvPr id="150" name="Google Shape;150;p15"/>
          <p:cNvSpPr txBox="1"/>
          <p:nvPr/>
        </p:nvSpPr>
        <p:spPr>
          <a:xfrm>
            <a:off x="5694175" y="2486200"/>
            <a:ext cx="8589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Certify</a:t>
            </a:r>
            <a:endParaRPr sz="1300">
              <a:solidFill>
                <a:schemeClr val="accent1"/>
              </a:solidFill>
              <a:latin typeface="Lato"/>
              <a:ea typeface="Lato"/>
              <a:cs typeface="Lato"/>
              <a:sym typeface="Lato"/>
            </a:endParaRPr>
          </a:p>
        </p:txBody>
      </p:sp>
      <p:sp>
        <p:nvSpPr>
          <p:cNvPr id="151" name="Google Shape;151;p15"/>
          <p:cNvSpPr txBox="1"/>
          <p:nvPr/>
        </p:nvSpPr>
        <p:spPr>
          <a:xfrm>
            <a:off x="7365513" y="2476725"/>
            <a:ext cx="8589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Inform</a:t>
            </a:r>
            <a:endParaRPr sz="13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521575" y="610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Speculative Execution</a:t>
            </a:r>
            <a:endParaRPr/>
          </a:p>
        </p:txBody>
      </p:sp>
      <p:sp>
        <p:nvSpPr>
          <p:cNvPr id="157" name="Google Shape;157;p16"/>
          <p:cNvSpPr txBox="1"/>
          <p:nvPr>
            <p:ph idx="1" type="body"/>
          </p:nvPr>
        </p:nvSpPr>
        <p:spPr>
          <a:xfrm>
            <a:off x="288075" y="1331769"/>
            <a:ext cx="7688700" cy="1239600"/>
          </a:xfrm>
          <a:prstGeom prst="rect">
            <a:avLst/>
          </a:prstGeom>
        </p:spPr>
        <p:txBody>
          <a:bodyPr anchorCtr="0" anchor="t" bIns="91425" lIns="91425" spcFirstLastPara="1" rIns="91425" wrap="square" tIns="91425">
            <a:normAutofit lnSpcReduction="20000"/>
          </a:bodyPr>
          <a:lstStyle/>
          <a:p>
            <a:pPr indent="-311150" lvl="0" marL="457200" rtl="0" algn="l">
              <a:lnSpc>
                <a:spcPct val="100000"/>
              </a:lnSpc>
              <a:spcBef>
                <a:spcPts val="0"/>
              </a:spcBef>
              <a:spcAft>
                <a:spcPts val="0"/>
              </a:spcAft>
              <a:buClr>
                <a:schemeClr val="accent1"/>
              </a:buClr>
              <a:buSzPts val="1300"/>
              <a:buFont typeface="Lato"/>
              <a:buAutoNum type="arabicPeriod"/>
            </a:pPr>
            <a:r>
              <a:rPr lang="en"/>
              <a:t>Replicas execute requests after they get prepared (no commit phase)</a:t>
            </a:r>
            <a:endParaRPr/>
          </a:p>
          <a:p>
            <a:pPr indent="-298450" lvl="0" marL="457200" rtl="0" algn="l">
              <a:lnSpc>
                <a:spcPct val="100000"/>
              </a:lnSpc>
              <a:spcBef>
                <a:spcPts val="0"/>
              </a:spcBef>
              <a:spcAft>
                <a:spcPts val="0"/>
              </a:spcAft>
              <a:buClr>
                <a:srgbClr val="000000"/>
              </a:buClr>
              <a:buSzPts val="1100"/>
              <a:buFont typeface="Arial"/>
              <a:buAutoNum type="arabicPeriod"/>
            </a:pPr>
            <a:r>
              <a:rPr lang="en"/>
              <a:t>Malicious primary can send request to  only a subset of replicas</a:t>
            </a:r>
            <a:endParaRPr/>
          </a:p>
          <a:p>
            <a:pPr indent="-311150" lvl="0" marL="457200" rtl="0" algn="l">
              <a:lnSpc>
                <a:spcPct val="100000"/>
              </a:lnSpc>
              <a:spcBef>
                <a:spcPts val="0"/>
              </a:spcBef>
              <a:spcAft>
                <a:spcPts val="0"/>
              </a:spcAft>
              <a:buClr>
                <a:schemeClr val="accent1"/>
              </a:buClr>
              <a:buSzPts val="1300"/>
              <a:buFont typeface="Lato"/>
              <a:buAutoNum type="arabicPeriod"/>
            </a:pPr>
            <a:r>
              <a:rPr lang="en"/>
              <a:t>Full PoE - client receives responses from majority of non-faulty replicas</a:t>
            </a:r>
            <a:endParaRPr/>
          </a:p>
          <a:p>
            <a:pPr indent="-311150" lvl="1" marL="914400" rtl="0" algn="l">
              <a:lnSpc>
                <a:spcPct val="100000"/>
              </a:lnSpc>
              <a:spcBef>
                <a:spcPts val="0"/>
              </a:spcBef>
              <a:spcAft>
                <a:spcPts val="0"/>
              </a:spcAft>
              <a:buClr>
                <a:schemeClr val="accent1"/>
              </a:buClr>
              <a:buSzPts val="1300"/>
              <a:buFont typeface="Lato"/>
              <a:buAutoNum type="alphaLcPeriod"/>
            </a:pPr>
            <a:r>
              <a:rPr lang="en"/>
              <a:t>Requests persist in time </a:t>
            </a:r>
            <a:endParaRPr/>
          </a:p>
          <a:p>
            <a:pPr indent="-311150" lvl="0" marL="457200" rtl="0" algn="l">
              <a:lnSpc>
                <a:spcPct val="100000"/>
              </a:lnSpc>
              <a:spcBef>
                <a:spcPts val="0"/>
              </a:spcBef>
              <a:spcAft>
                <a:spcPts val="0"/>
              </a:spcAft>
              <a:buClr>
                <a:schemeClr val="accent1"/>
              </a:buClr>
              <a:buSzPts val="1300"/>
              <a:buFont typeface="Lato"/>
              <a:buAutoNum type="arabicPeriod"/>
            </a:pPr>
            <a:r>
              <a:rPr lang="en"/>
              <a:t>Otherwise -&gt; safe rollback via novel view-change algorithm</a:t>
            </a:r>
            <a:endParaRPr/>
          </a:p>
          <a:p>
            <a:pPr indent="0" lvl="0" marL="0" rtl="0" algn="l">
              <a:spcBef>
                <a:spcPts val="0"/>
              </a:spcBef>
              <a:spcAft>
                <a:spcPts val="1200"/>
              </a:spcAft>
              <a:buNone/>
            </a:pPr>
            <a:r>
              <a:t/>
            </a:r>
            <a:endParaRPr/>
          </a:p>
        </p:txBody>
      </p:sp>
      <p:sp>
        <p:nvSpPr>
          <p:cNvPr id="158" name="Google Shape;158;p16"/>
          <p:cNvSpPr/>
          <p:nvPr/>
        </p:nvSpPr>
        <p:spPr>
          <a:xfrm>
            <a:off x="72600" y="384187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Client</a:t>
            </a:r>
            <a:endParaRPr>
              <a:latin typeface="Lato"/>
              <a:ea typeface="Lato"/>
              <a:cs typeface="Lato"/>
              <a:sym typeface="Lato"/>
            </a:endParaRPr>
          </a:p>
        </p:txBody>
      </p:sp>
      <p:sp>
        <p:nvSpPr>
          <p:cNvPr id="159" name="Google Shape;159;p16"/>
          <p:cNvSpPr/>
          <p:nvPr/>
        </p:nvSpPr>
        <p:spPr>
          <a:xfrm>
            <a:off x="1674288" y="383367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Primary</a:t>
            </a:r>
            <a:endParaRPr>
              <a:latin typeface="Lato"/>
              <a:ea typeface="Lato"/>
              <a:cs typeface="Lato"/>
              <a:sym typeface="Lato"/>
            </a:endParaRPr>
          </a:p>
        </p:txBody>
      </p:sp>
      <p:sp>
        <p:nvSpPr>
          <p:cNvPr id="160" name="Google Shape;160;p16"/>
          <p:cNvSpPr/>
          <p:nvPr/>
        </p:nvSpPr>
        <p:spPr>
          <a:xfrm>
            <a:off x="3164125" y="261150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  </a:t>
            </a:r>
            <a:r>
              <a:rPr lang="en">
                <a:latin typeface="Lato"/>
                <a:ea typeface="Lato"/>
                <a:cs typeface="Lato"/>
                <a:sym typeface="Lato"/>
              </a:rPr>
              <a:t>R1</a:t>
            </a:r>
            <a:endParaRPr>
              <a:latin typeface="Lato"/>
              <a:ea typeface="Lato"/>
              <a:cs typeface="Lato"/>
              <a:sym typeface="Lato"/>
            </a:endParaRPr>
          </a:p>
        </p:txBody>
      </p:sp>
      <p:sp>
        <p:nvSpPr>
          <p:cNvPr id="161" name="Google Shape;161;p16"/>
          <p:cNvSpPr/>
          <p:nvPr/>
        </p:nvSpPr>
        <p:spPr>
          <a:xfrm>
            <a:off x="3164113" y="394710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   </a:t>
            </a:r>
            <a:r>
              <a:rPr lang="en">
                <a:latin typeface="Lato"/>
                <a:ea typeface="Lato"/>
                <a:cs typeface="Lato"/>
                <a:sym typeface="Lato"/>
              </a:rPr>
              <a:t>R3</a:t>
            </a:r>
            <a:endParaRPr>
              <a:latin typeface="Lato"/>
              <a:ea typeface="Lato"/>
              <a:cs typeface="Lato"/>
              <a:sym typeface="Lato"/>
            </a:endParaRPr>
          </a:p>
        </p:txBody>
      </p:sp>
      <p:sp>
        <p:nvSpPr>
          <p:cNvPr id="162" name="Google Shape;162;p16"/>
          <p:cNvSpPr/>
          <p:nvPr/>
        </p:nvSpPr>
        <p:spPr>
          <a:xfrm>
            <a:off x="3164725" y="453785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  </a:t>
            </a:r>
            <a:r>
              <a:rPr lang="en">
                <a:latin typeface="Lato"/>
                <a:ea typeface="Lato"/>
                <a:cs typeface="Lato"/>
                <a:sym typeface="Lato"/>
              </a:rPr>
              <a:t>R4</a:t>
            </a:r>
            <a:endParaRPr>
              <a:latin typeface="Lato"/>
              <a:ea typeface="Lato"/>
              <a:cs typeface="Lato"/>
              <a:sym typeface="Lato"/>
            </a:endParaRPr>
          </a:p>
        </p:txBody>
      </p:sp>
      <p:cxnSp>
        <p:nvCxnSpPr>
          <p:cNvPr id="163" name="Google Shape;163;p16"/>
          <p:cNvCxnSpPr>
            <a:stCxn id="158" idx="3"/>
            <a:endCxn id="159" idx="1"/>
          </p:cNvCxnSpPr>
          <p:nvPr/>
        </p:nvCxnSpPr>
        <p:spPr>
          <a:xfrm flipH="1" rot="10800000">
            <a:off x="931500" y="4101375"/>
            <a:ext cx="742800" cy="8100"/>
          </a:xfrm>
          <a:prstGeom prst="straightConnector1">
            <a:avLst/>
          </a:prstGeom>
          <a:noFill/>
          <a:ln cap="flat" cmpd="sng" w="9525">
            <a:solidFill>
              <a:schemeClr val="dk2"/>
            </a:solidFill>
            <a:prstDash val="solid"/>
            <a:round/>
            <a:headEnd len="med" w="med" type="none"/>
            <a:tailEnd len="med" w="med" type="triangle"/>
          </a:ln>
        </p:spPr>
      </p:cxnSp>
      <p:cxnSp>
        <p:nvCxnSpPr>
          <p:cNvPr id="164" name="Google Shape;164;p16"/>
          <p:cNvCxnSpPr>
            <a:stCxn id="159" idx="3"/>
            <a:endCxn id="160" idx="1"/>
          </p:cNvCxnSpPr>
          <p:nvPr/>
        </p:nvCxnSpPr>
        <p:spPr>
          <a:xfrm flipH="1" rot="10800000">
            <a:off x="2533188" y="2879075"/>
            <a:ext cx="630900" cy="1222200"/>
          </a:xfrm>
          <a:prstGeom prst="straightConnector1">
            <a:avLst/>
          </a:prstGeom>
          <a:noFill/>
          <a:ln cap="flat" cmpd="sng" w="9525">
            <a:solidFill>
              <a:schemeClr val="dk2"/>
            </a:solidFill>
            <a:prstDash val="solid"/>
            <a:round/>
            <a:headEnd len="med" w="med" type="none"/>
            <a:tailEnd len="med" w="med" type="triangle"/>
          </a:ln>
        </p:spPr>
      </p:cxnSp>
      <p:cxnSp>
        <p:nvCxnSpPr>
          <p:cNvPr id="165" name="Google Shape;165;p16"/>
          <p:cNvCxnSpPr>
            <a:stCxn id="159" idx="3"/>
            <a:endCxn id="161" idx="1"/>
          </p:cNvCxnSpPr>
          <p:nvPr/>
        </p:nvCxnSpPr>
        <p:spPr>
          <a:xfrm>
            <a:off x="2533188" y="4101275"/>
            <a:ext cx="630900" cy="113400"/>
          </a:xfrm>
          <a:prstGeom prst="straightConnector1">
            <a:avLst/>
          </a:prstGeom>
          <a:noFill/>
          <a:ln cap="flat" cmpd="sng" w="9525">
            <a:solidFill>
              <a:schemeClr val="dk2"/>
            </a:solidFill>
            <a:prstDash val="solid"/>
            <a:round/>
            <a:headEnd len="med" w="med" type="none"/>
            <a:tailEnd len="med" w="med" type="triangle"/>
          </a:ln>
        </p:spPr>
      </p:cxnSp>
      <p:cxnSp>
        <p:nvCxnSpPr>
          <p:cNvPr id="166" name="Google Shape;166;p16"/>
          <p:cNvCxnSpPr>
            <a:stCxn id="159" idx="3"/>
            <a:endCxn id="162" idx="1"/>
          </p:cNvCxnSpPr>
          <p:nvPr/>
        </p:nvCxnSpPr>
        <p:spPr>
          <a:xfrm>
            <a:off x="2533188" y="4101275"/>
            <a:ext cx="631500" cy="704100"/>
          </a:xfrm>
          <a:prstGeom prst="straightConnector1">
            <a:avLst/>
          </a:prstGeom>
          <a:noFill/>
          <a:ln cap="flat" cmpd="sng" w="9525">
            <a:solidFill>
              <a:schemeClr val="dk2"/>
            </a:solidFill>
            <a:prstDash val="solid"/>
            <a:round/>
            <a:headEnd len="med" w="med" type="none"/>
            <a:tailEnd len="med" w="med" type="triangle"/>
          </a:ln>
        </p:spPr>
      </p:cxnSp>
      <p:sp>
        <p:nvSpPr>
          <p:cNvPr id="167" name="Google Shape;167;p16"/>
          <p:cNvSpPr/>
          <p:nvPr/>
        </p:nvSpPr>
        <p:spPr>
          <a:xfrm>
            <a:off x="4809450" y="3625575"/>
            <a:ext cx="9891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Primary</a:t>
            </a:r>
            <a:endParaRPr>
              <a:latin typeface="Lato"/>
              <a:ea typeface="Lato"/>
              <a:cs typeface="Lato"/>
              <a:sym typeface="Lato"/>
            </a:endParaRPr>
          </a:p>
        </p:txBody>
      </p:sp>
      <p:cxnSp>
        <p:nvCxnSpPr>
          <p:cNvPr id="168" name="Google Shape;168;p16"/>
          <p:cNvCxnSpPr>
            <a:stCxn id="160" idx="3"/>
            <a:endCxn id="167" idx="1"/>
          </p:cNvCxnSpPr>
          <p:nvPr/>
        </p:nvCxnSpPr>
        <p:spPr>
          <a:xfrm>
            <a:off x="4023025" y="2879100"/>
            <a:ext cx="786300" cy="10140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16"/>
          <p:cNvCxnSpPr>
            <a:stCxn id="161" idx="3"/>
            <a:endCxn id="167" idx="1"/>
          </p:cNvCxnSpPr>
          <p:nvPr/>
        </p:nvCxnSpPr>
        <p:spPr>
          <a:xfrm flipH="1" rot="10800000">
            <a:off x="4023013" y="3893100"/>
            <a:ext cx="786300" cy="321600"/>
          </a:xfrm>
          <a:prstGeom prst="straightConnector1">
            <a:avLst/>
          </a:prstGeom>
          <a:noFill/>
          <a:ln cap="flat" cmpd="sng" w="9525">
            <a:solidFill>
              <a:schemeClr val="dk2"/>
            </a:solidFill>
            <a:prstDash val="solid"/>
            <a:round/>
            <a:headEnd len="med" w="med" type="none"/>
            <a:tailEnd len="med" w="med" type="triangle"/>
          </a:ln>
        </p:spPr>
      </p:cxnSp>
      <p:cxnSp>
        <p:nvCxnSpPr>
          <p:cNvPr id="170" name="Google Shape;170;p16"/>
          <p:cNvCxnSpPr>
            <a:stCxn id="162" idx="3"/>
            <a:endCxn id="167" idx="1"/>
          </p:cNvCxnSpPr>
          <p:nvPr/>
        </p:nvCxnSpPr>
        <p:spPr>
          <a:xfrm flipH="1" rot="10800000">
            <a:off x="4023625" y="3893150"/>
            <a:ext cx="785700" cy="912300"/>
          </a:xfrm>
          <a:prstGeom prst="straightConnector1">
            <a:avLst/>
          </a:prstGeom>
          <a:noFill/>
          <a:ln cap="flat" cmpd="sng" w="9525">
            <a:solidFill>
              <a:schemeClr val="dk2"/>
            </a:solidFill>
            <a:prstDash val="solid"/>
            <a:round/>
            <a:headEnd len="med" w="med" type="none"/>
            <a:tailEnd len="med" w="med" type="triangle"/>
          </a:ln>
        </p:spPr>
      </p:cxnSp>
      <p:sp>
        <p:nvSpPr>
          <p:cNvPr id="171" name="Google Shape;171;p16"/>
          <p:cNvSpPr txBox="1"/>
          <p:nvPr/>
        </p:nvSpPr>
        <p:spPr>
          <a:xfrm>
            <a:off x="1158075" y="3928150"/>
            <a:ext cx="516300" cy="1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172" name="Google Shape;172;p16"/>
          <p:cNvSpPr txBox="1"/>
          <p:nvPr/>
        </p:nvSpPr>
        <p:spPr>
          <a:xfrm>
            <a:off x="902488" y="3991375"/>
            <a:ext cx="858900" cy="3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Request</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173" name="Google Shape;173;p16"/>
          <p:cNvSpPr/>
          <p:nvPr/>
        </p:nvSpPr>
        <p:spPr>
          <a:xfrm>
            <a:off x="3164713" y="327930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R2</a:t>
            </a:r>
            <a:endParaRPr>
              <a:latin typeface="Lato"/>
              <a:ea typeface="Lato"/>
              <a:cs typeface="Lato"/>
              <a:sym typeface="Lato"/>
            </a:endParaRPr>
          </a:p>
        </p:txBody>
      </p:sp>
      <p:cxnSp>
        <p:nvCxnSpPr>
          <p:cNvPr id="174" name="Google Shape;174;p16"/>
          <p:cNvCxnSpPr>
            <a:stCxn id="159" idx="3"/>
            <a:endCxn id="173" idx="1"/>
          </p:cNvCxnSpPr>
          <p:nvPr/>
        </p:nvCxnSpPr>
        <p:spPr>
          <a:xfrm flipH="1" rot="10800000">
            <a:off x="2533188" y="3546875"/>
            <a:ext cx="631500" cy="554400"/>
          </a:xfrm>
          <a:prstGeom prst="straightConnector1">
            <a:avLst/>
          </a:prstGeom>
          <a:noFill/>
          <a:ln cap="flat" cmpd="sng" w="9525">
            <a:solidFill>
              <a:schemeClr val="dk2"/>
            </a:solidFill>
            <a:prstDash val="solid"/>
            <a:round/>
            <a:headEnd len="med" w="med" type="none"/>
            <a:tailEnd len="med" w="med" type="triangle"/>
          </a:ln>
        </p:spPr>
      </p:cxnSp>
      <p:sp>
        <p:nvSpPr>
          <p:cNvPr id="175" name="Google Shape;175;p16"/>
          <p:cNvSpPr/>
          <p:nvPr/>
        </p:nvSpPr>
        <p:spPr>
          <a:xfrm>
            <a:off x="6477675" y="247672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R1</a:t>
            </a:r>
            <a:endParaRPr>
              <a:latin typeface="Lato"/>
              <a:ea typeface="Lato"/>
              <a:cs typeface="Lato"/>
              <a:sym typeface="Lato"/>
            </a:endParaRPr>
          </a:p>
        </p:txBody>
      </p:sp>
      <p:sp>
        <p:nvSpPr>
          <p:cNvPr id="176" name="Google Shape;176;p16"/>
          <p:cNvSpPr/>
          <p:nvPr/>
        </p:nvSpPr>
        <p:spPr>
          <a:xfrm>
            <a:off x="6477750" y="390092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R3</a:t>
            </a:r>
            <a:endParaRPr>
              <a:latin typeface="Lato"/>
              <a:ea typeface="Lato"/>
              <a:cs typeface="Lato"/>
              <a:sym typeface="Lato"/>
            </a:endParaRPr>
          </a:p>
        </p:txBody>
      </p:sp>
      <p:sp>
        <p:nvSpPr>
          <p:cNvPr id="177" name="Google Shape;177;p16"/>
          <p:cNvSpPr/>
          <p:nvPr/>
        </p:nvSpPr>
        <p:spPr>
          <a:xfrm>
            <a:off x="6477750" y="4537838"/>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R4</a:t>
            </a:r>
            <a:endParaRPr>
              <a:latin typeface="Lato"/>
              <a:ea typeface="Lato"/>
              <a:cs typeface="Lato"/>
              <a:sym typeface="Lato"/>
            </a:endParaRPr>
          </a:p>
        </p:txBody>
      </p:sp>
      <p:cxnSp>
        <p:nvCxnSpPr>
          <p:cNvPr id="178" name="Google Shape;178;p16"/>
          <p:cNvCxnSpPr>
            <a:stCxn id="167" idx="3"/>
            <a:endCxn id="175" idx="1"/>
          </p:cNvCxnSpPr>
          <p:nvPr/>
        </p:nvCxnSpPr>
        <p:spPr>
          <a:xfrm flipH="1" rot="10800000">
            <a:off x="5798550" y="2744475"/>
            <a:ext cx="679200" cy="1148700"/>
          </a:xfrm>
          <a:prstGeom prst="straightConnector1">
            <a:avLst/>
          </a:prstGeom>
          <a:noFill/>
          <a:ln cap="flat" cmpd="sng" w="9525">
            <a:solidFill>
              <a:schemeClr val="dk2"/>
            </a:solidFill>
            <a:prstDash val="solid"/>
            <a:round/>
            <a:headEnd len="med" w="med" type="none"/>
            <a:tailEnd len="med" w="med" type="triangle"/>
          </a:ln>
        </p:spPr>
      </p:cxnSp>
      <p:cxnSp>
        <p:nvCxnSpPr>
          <p:cNvPr id="179" name="Google Shape;179;p16"/>
          <p:cNvCxnSpPr>
            <a:stCxn id="167" idx="3"/>
            <a:endCxn id="176" idx="1"/>
          </p:cNvCxnSpPr>
          <p:nvPr/>
        </p:nvCxnSpPr>
        <p:spPr>
          <a:xfrm>
            <a:off x="5798550" y="3893175"/>
            <a:ext cx="679200" cy="275400"/>
          </a:xfrm>
          <a:prstGeom prst="straightConnector1">
            <a:avLst/>
          </a:prstGeom>
          <a:noFill/>
          <a:ln cap="flat" cmpd="sng" w="9525">
            <a:solidFill>
              <a:schemeClr val="dk2"/>
            </a:solidFill>
            <a:prstDash val="solid"/>
            <a:round/>
            <a:headEnd len="med" w="med" type="none"/>
            <a:tailEnd len="med" w="med" type="triangle"/>
          </a:ln>
        </p:spPr>
      </p:cxnSp>
      <p:cxnSp>
        <p:nvCxnSpPr>
          <p:cNvPr id="180" name="Google Shape;180;p16"/>
          <p:cNvCxnSpPr>
            <a:stCxn id="167" idx="3"/>
            <a:endCxn id="177" idx="1"/>
          </p:cNvCxnSpPr>
          <p:nvPr/>
        </p:nvCxnSpPr>
        <p:spPr>
          <a:xfrm>
            <a:off x="5798550" y="3893175"/>
            <a:ext cx="679200" cy="912300"/>
          </a:xfrm>
          <a:prstGeom prst="straightConnector1">
            <a:avLst/>
          </a:prstGeom>
          <a:noFill/>
          <a:ln cap="flat" cmpd="sng" w="9525">
            <a:solidFill>
              <a:schemeClr val="dk2"/>
            </a:solidFill>
            <a:prstDash val="solid"/>
            <a:round/>
            <a:headEnd len="med" w="med" type="none"/>
            <a:tailEnd len="med" w="med" type="triangle"/>
          </a:ln>
        </p:spPr>
      </p:cxnSp>
      <p:sp>
        <p:nvSpPr>
          <p:cNvPr id="181" name="Google Shape;181;p16"/>
          <p:cNvSpPr/>
          <p:nvPr/>
        </p:nvSpPr>
        <p:spPr>
          <a:xfrm>
            <a:off x="6477663" y="3184950"/>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R2</a:t>
            </a:r>
            <a:endParaRPr>
              <a:latin typeface="Lato"/>
              <a:ea typeface="Lato"/>
              <a:cs typeface="Lato"/>
              <a:sym typeface="Lato"/>
            </a:endParaRPr>
          </a:p>
        </p:txBody>
      </p:sp>
      <p:sp>
        <p:nvSpPr>
          <p:cNvPr id="182" name="Google Shape;182;p16"/>
          <p:cNvSpPr/>
          <p:nvPr/>
        </p:nvSpPr>
        <p:spPr>
          <a:xfrm>
            <a:off x="8074800" y="3556475"/>
            <a:ext cx="858900" cy="535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Client</a:t>
            </a:r>
            <a:endParaRPr>
              <a:latin typeface="Lato"/>
              <a:ea typeface="Lato"/>
              <a:cs typeface="Lato"/>
              <a:sym typeface="Lato"/>
            </a:endParaRPr>
          </a:p>
        </p:txBody>
      </p:sp>
      <p:cxnSp>
        <p:nvCxnSpPr>
          <p:cNvPr id="183" name="Google Shape;183;p16"/>
          <p:cNvCxnSpPr>
            <a:endCxn id="182" idx="1"/>
          </p:cNvCxnSpPr>
          <p:nvPr/>
        </p:nvCxnSpPr>
        <p:spPr>
          <a:xfrm>
            <a:off x="7336500" y="2744375"/>
            <a:ext cx="738300" cy="1079700"/>
          </a:xfrm>
          <a:prstGeom prst="straightConnector1">
            <a:avLst/>
          </a:prstGeom>
          <a:noFill/>
          <a:ln cap="flat" cmpd="sng" w="9525">
            <a:solidFill>
              <a:schemeClr val="dk2"/>
            </a:solidFill>
            <a:prstDash val="solid"/>
            <a:round/>
            <a:headEnd len="med" w="med" type="none"/>
            <a:tailEnd len="med" w="med" type="triangle"/>
          </a:ln>
        </p:spPr>
      </p:cxnSp>
      <p:cxnSp>
        <p:nvCxnSpPr>
          <p:cNvPr id="184" name="Google Shape;184;p16"/>
          <p:cNvCxnSpPr>
            <a:stCxn id="176" idx="3"/>
            <a:endCxn id="182" idx="1"/>
          </p:cNvCxnSpPr>
          <p:nvPr/>
        </p:nvCxnSpPr>
        <p:spPr>
          <a:xfrm flipH="1" rot="10800000">
            <a:off x="7336650" y="3824125"/>
            <a:ext cx="738300" cy="344400"/>
          </a:xfrm>
          <a:prstGeom prst="straightConnector1">
            <a:avLst/>
          </a:prstGeom>
          <a:noFill/>
          <a:ln cap="flat" cmpd="sng" w="9525">
            <a:solidFill>
              <a:schemeClr val="dk2"/>
            </a:solidFill>
            <a:prstDash val="solid"/>
            <a:round/>
            <a:headEnd len="med" w="med" type="none"/>
            <a:tailEnd len="med" w="med" type="triangle"/>
          </a:ln>
        </p:spPr>
      </p:cxnSp>
      <p:cxnSp>
        <p:nvCxnSpPr>
          <p:cNvPr id="185" name="Google Shape;185;p16"/>
          <p:cNvCxnSpPr>
            <a:stCxn id="177" idx="3"/>
            <a:endCxn id="182" idx="1"/>
          </p:cNvCxnSpPr>
          <p:nvPr/>
        </p:nvCxnSpPr>
        <p:spPr>
          <a:xfrm flipH="1" rot="10800000">
            <a:off x="7336650" y="3824138"/>
            <a:ext cx="738300" cy="981300"/>
          </a:xfrm>
          <a:prstGeom prst="straightConnector1">
            <a:avLst/>
          </a:prstGeom>
          <a:noFill/>
          <a:ln cap="flat" cmpd="sng" w="9525">
            <a:solidFill>
              <a:schemeClr val="dk2"/>
            </a:solidFill>
            <a:prstDash val="solid"/>
            <a:round/>
            <a:headEnd len="med" w="med" type="none"/>
            <a:tailEnd len="med" w="med" type="triangle"/>
          </a:ln>
        </p:spPr>
      </p:cxnSp>
      <p:sp>
        <p:nvSpPr>
          <p:cNvPr id="186" name="Google Shape;186;p16"/>
          <p:cNvSpPr txBox="1"/>
          <p:nvPr/>
        </p:nvSpPr>
        <p:spPr>
          <a:xfrm>
            <a:off x="2305825" y="2583525"/>
            <a:ext cx="8589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Propose</a:t>
            </a:r>
            <a:endParaRPr sz="1300">
              <a:solidFill>
                <a:schemeClr val="accent1"/>
              </a:solidFill>
              <a:latin typeface="Lato"/>
              <a:ea typeface="Lato"/>
              <a:cs typeface="Lato"/>
              <a:sym typeface="Lato"/>
            </a:endParaRPr>
          </a:p>
        </p:txBody>
      </p:sp>
      <p:sp>
        <p:nvSpPr>
          <p:cNvPr id="187" name="Google Shape;187;p16"/>
          <p:cNvSpPr txBox="1"/>
          <p:nvPr/>
        </p:nvSpPr>
        <p:spPr>
          <a:xfrm>
            <a:off x="4051875" y="2611500"/>
            <a:ext cx="8589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Support</a:t>
            </a:r>
            <a:endParaRPr sz="1300">
              <a:solidFill>
                <a:schemeClr val="accent1"/>
              </a:solidFill>
              <a:latin typeface="Lato"/>
              <a:ea typeface="Lato"/>
              <a:cs typeface="Lato"/>
              <a:sym typeface="Lato"/>
            </a:endParaRPr>
          </a:p>
        </p:txBody>
      </p:sp>
      <p:sp>
        <p:nvSpPr>
          <p:cNvPr id="188" name="Google Shape;188;p16"/>
          <p:cNvSpPr txBox="1"/>
          <p:nvPr/>
        </p:nvSpPr>
        <p:spPr>
          <a:xfrm>
            <a:off x="5694175" y="2486200"/>
            <a:ext cx="8589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Certify</a:t>
            </a:r>
            <a:endParaRPr sz="1300">
              <a:solidFill>
                <a:schemeClr val="accent1"/>
              </a:solidFill>
              <a:latin typeface="Lato"/>
              <a:ea typeface="Lato"/>
              <a:cs typeface="Lato"/>
              <a:sym typeface="Lato"/>
            </a:endParaRPr>
          </a:p>
        </p:txBody>
      </p:sp>
      <p:sp>
        <p:nvSpPr>
          <p:cNvPr id="189" name="Google Shape;189;p16"/>
          <p:cNvSpPr txBox="1"/>
          <p:nvPr/>
        </p:nvSpPr>
        <p:spPr>
          <a:xfrm>
            <a:off x="7365513" y="2476725"/>
            <a:ext cx="8589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Inform</a:t>
            </a:r>
            <a:endParaRPr sz="1300">
              <a:solidFill>
                <a:schemeClr val="accent1"/>
              </a:solidFill>
              <a:latin typeface="Lato"/>
              <a:ea typeface="Lato"/>
              <a:cs typeface="Lato"/>
              <a:sym typeface="Lato"/>
            </a:endParaRPr>
          </a:p>
        </p:txBody>
      </p:sp>
      <p:pic>
        <p:nvPicPr>
          <p:cNvPr id="190" name="Google Shape;190;p16"/>
          <p:cNvPicPr preferRelativeResize="0"/>
          <p:nvPr/>
        </p:nvPicPr>
        <p:blipFill>
          <a:blip r:embed="rId3">
            <a:alphaModFix/>
          </a:blip>
          <a:stretch>
            <a:fillRect/>
          </a:stretch>
        </p:blipFill>
        <p:spPr>
          <a:xfrm>
            <a:off x="3227150" y="4644275"/>
            <a:ext cx="275750" cy="275750"/>
          </a:xfrm>
          <a:prstGeom prst="rect">
            <a:avLst/>
          </a:prstGeom>
          <a:noFill/>
          <a:ln>
            <a:noFill/>
          </a:ln>
        </p:spPr>
      </p:pic>
      <p:pic>
        <p:nvPicPr>
          <p:cNvPr id="191" name="Google Shape;191;p16"/>
          <p:cNvPicPr preferRelativeResize="0"/>
          <p:nvPr/>
        </p:nvPicPr>
        <p:blipFill>
          <a:blip r:embed="rId3">
            <a:alphaModFix/>
          </a:blip>
          <a:stretch>
            <a:fillRect/>
          </a:stretch>
        </p:blipFill>
        <p:spPr>
          <a:xfrm>
            <a:off x="3227150" y="2757225"/>
            <a:ext cx="275750" cy="275750"/>
          </a:xfrm>
          <a:prstGeom prst="rect">
            <a:avLst/>
          </a:prstGeom>
          <a:noFill/>
          <a:ln>
            <a:noFill/>
          </a:ln>
        </p:spPr>
      </p:pic>
      <p:pic>
        <p:nvPicPr>
          <p:cNvPr id="192" name="Google Shape;192;p16"/>
          <p:cNvPicPr preferRelativeResize="0"/>
          <p:nvPr/>
        </p:nvPicPr>
        <p:blipFill>
          <a:blip r:embed="rId3">
            <a:alphaModFix/>
          </a:blip>
          <a:stretch>
            <a:fillRect/>
          </a:stretch>
        </p:blipFill>
        <p:spPr>
          <a:xfrm>
            <a:off x="3227162" y="4038300"/>
            <a:ext cx="275750" cy="275750"/>
          </a:xfrm>
          <a:prstGeom prst="rect">
            <a:avLst/>
          </a:prstGeom>
          <a:noFill/>
          <a:ln>
            <a:noFill/>
          </a:ln>
        </p:spPr>
      </p:pic>
      <p:pic>
        <p:nvPicPr>
          <p:cNvPr id="193" name="Google Shape;193;p16"/>
          <p:cNvPicPr preferRelativeResize="0"/>
          <p:nvPr/>
        </p:nvPicPr>
        <p:blipFill>
          <a:blip r:embed="rId4">
            <a:alphaModFix/>
          </a:blip>
          <a:stretch>
            <a:fillRect/>
          </a:stretch>
        </p:blipFill>
        <p:spPr>
          <a:xfrm>
            <a:off x="3164725" y="3409026"/>
            <a:ext cx="275748" cy="275748"/>
          </a:xfrm>
          <a:prstGeom prst="rect">
            <a:avLst/>
          </a:prstGeom>
          <a:noFill/>
          <a:ln>
            <a:noFill/>
          </a:ln>
        </p:spPr>
      </p:pic>
      <p:pic>
        <p:nvPicPr>
          <p:cNvPr id="194" name="Google Shape;194;p16"/>
          <p:cNvPicPr preferRelativeResize="0"/>
          <p:nvPr/>
        </p:nvPicPr>
        <p:blipFill>
          <a:blip r:embed="rId4">
            <a:alphaModFix/>
          </a:blip>
          <a:stretch>
            <a:fillRect/>
          </a:stretch>
        </p:blipFill>
        <p:spPr>
          <a:xfrm>
            <a:off x="6477675" y="3318551"/>
            <a:ext cx="275748" cy="275748"/>
          </a:xfrm>
          <a:prstGeom prst="rect">
            <a:avLst/>
          </a:prstGeom>
          <a:noFill/>
          <a:ln>
            <a:noFill/>
          </a:ln>
        </p:spPr>
      </p:pic>
      <p:pic>
        <p:nvPicPr>
          <p:cNvPr id="195" name="Google Shape;195;p16"/>
          <p:cNvPicPr preferRelativeResize="0"/>
          <p:nvPr/>
        </p:nvPicPr>
        <p:blipFill>
          <a:blip r:embed="rId3">
            <a:alphaModFix/>
          </a:blip>
          <a:stretch>
            <a:fillRect/>
          </a:stretch>
        </p:blipFill>
        <p:spPr>
          <a:xfrm>
            <a:off x="6477675" y="2634425"/>
            <a:ext cx="275750" cy="275750"/>
          </a:xfrm>
          <a:prstGeom prst="rect">
            <a:avLst/>
          </a:prstGeom>
          <a:noFill/>
          <a:ln>
            <a:noFill/>
          </a:ln>
        </p:spPr>
      </p:pic>
      <p:pic>
        <p:nvPicPr>
          <p:cNvPr id="196" name="Google Shape;196;p16"/>
          <p:cNvPicPr preferRelativeResize="0"/>
          <p:nvPr/>
        </p:nvPicPr>
        <p:blipFill>
          <a:blip r:embed="rId3">
            <a:alphaModFix/>
          </a:blip>
          <a:stretch>
            <a:fillRect/>
          </a:stretch>
        </p:blipFill>
        <p:spPr>
          <a:xfrm>
            <a:off x="6477687" y="4097300"/>
            <a:ext cx="275750" cy="275750"/>
          </a:xfrm>
          <a:prstGeom prst="rect">
            <a:avLst/>
          </a:prstGeom>
          <a:noFill/>
          <a:ln>
            <a:noFill/>
          </a:ln>
        </p:spPr>
      </p:pic>
      <p:pic>
        <p:nvPicPr>
          <p:cNvPr id="197" name="Google Shape;197;p16"/>
          <p:cNvPicPr preferRelativeResize="0"/>
          <p:nvPr/>
        </p:nvPicPr>
        <p:blipFill>
          <a:blip r:embed="rId3">
            <a:alphaModFix/>
          </a:blip>
          <a:stretch>
            <a:fillRect/>
          </a:stretch>
        </p:blipFill>
        <p:spPr>
          <a:xfrm>
            <a:off x="6477687" y="4667575"/>
            <a:ext cx="275750" cy="275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Out-of-order processing</a:t>
            </a:r>
            <a:endParaRPr/>
          </a:p>
        </p:txBody>
      </p:sp>
      <p:sp>
        <p:nvSpPr>
          <p:cNvPr id="203" name="Google Shape;203;p17"/>
          <p:cNvSpPr txBox="1"/>
          <p:nvPr>
            <p:ph idx="1" type="body"/>
          </p:nvPr>
        </p:nvSpPr>
        <p:spPr>
          <a:xfrm>
            <a:off x="644150" y="1874538"/>
            <a:ext cx="7688700" cy="2261100"/>
          </a:xfrm>
          <a:prstGeom prst="rect">
            <a:avLst/>
          </a:prstGeom>
        </p:spPr>
        <p:txBody>
          <a:bodyPr anchorCtr="0" anchor="t" bIns="91425" lIns="91425" spcFirstLastPara="1" rIns="91425" wrap="square" tIns="91425">
            <a:normAutofit/>
          </a:bodyPr>
          <a:lstStyle/>
          <a:p>
            <a:pPr indent="-311150" lvl="0" marL="457200" rtl="0" algn="l">
              <a:lnSpc>
                <a:spcPct val="100000"/>
              </a:lnSpc>
              <a:spcBef>
                <a:spcPts val="0"/>
              </a:spcBef>
              <a:spcAft>
                <a:spcPts val="0"/>
              </a:spcAft>
              <a:buClr>
                <a:schemeClr val="accent1"/>
              </a:buClr>
              <a:buSzPts val="1300"/>
              <a:buFont typeface="Lato"/>
              <a:buAutoNum type="arabicPeriod"/>
            </a:pPr>
            <a:r>
              <a:rPr lang="en"/>
              <a:t>BFT systems generally agree on request ordering before execution</a:t>
            </a:r>
            <a:endParaRPr/>
          </a:p>
          <a:p>
            <a:pPr indent="-311150" lvl="1" marL="914400" rtl="0" algn="l">
              <a:lnSpc>
                <a:spcPct val="100000"/>
              </a:lnSpc>
              <a:spcBef>
                <a:spcPts val="0"/>
              </a:spcBef>
              <a:spcAft>
                <a:spcPts val="0"/>
              </a:spcAft>
              <a:buClr>
                <a:schemeClr val="accent1"/>
              </a:buClr>
              <a:buSzPts val="1300"/>
              <a:buFont typeface="Lato"/>
              <a:buAutoNum type="alphaLcPeriod"/>
            </a:pPr>
            <a:r>
              <a:rPr lang="en" sz="1300"/>
              <a:t>Prevents concurrent execution</a:t>
            </a:r>
            <a:endParaRPr sz="1300"/>
          </a:p>
          <a:p>
            <a:pPr indent="-311150" lvl="0" marL="457200" rtl="0" algn="l">
              <a:lnSpc>
                <a:spcPct val="100000"/>
              </a:lnSpc>
              <a:spcBef>
                <a:spcPts val="0"/>
              </a:spcBef>
              <a:spcAft>
                <a:spcPts val="0"/>
              </a:spcAft>
              <a:buClr>
                <a:schemeClr val="accent1"/>
              </a:buClr>
              <a:buSzPts val="1300"/>
              <a:buFont typeface="Lato"/>
              <a:buAutoNum type="arabicPeriod"/>
            </a:pPr>
            <a:r>
              <a:rPr lang="en"/>
              <a:t>PoE uses out-of-order processing</a:t>
            </a:r>
            <a:endParaRPr/>
          </a:p>
          <a:p>
            <a:pPr indent="-311150" lvl="1" marL="914400" rtl="0" algn="l">
              <a:lnSpc>
                <a:spcPct val="100000"/>
              </a:lnSpc>
              <a:spcBef>
                <a:spcPts val="0"/>
              </a:spcBef>
              <a:spcAft>
                <a:spcPts val="0"/>
              </a:spcAft>
              <a:buClr>
                <a:schemeClr val="accent1"/>
              </a:buClr>
              <a:buSzPts val="1300"/>
              <a:buFont typeface="Lato"/>
              <a:buAutoNum type="alphaLcPeriod"/>
            </a:pPr>
            <a:r>
              <a:rPr lang="en" sz="1300"/>
              <a:t>Primary continuously proposes requests</a:t>
            </a:r>
            <a:endParaRPr sz="1300"/>
          </a:p>
          <a:p>
            <a:pPr indent="-311150" lvl="1" marL="914400" rtl="0" algn="l">
              <a:lnSpc>
                <a:spcPct val="100000"/>
              </a:lnSpc>
              <a:spcBef>
                <a:spcPts val="0"/>
              </a:spcBef>
              <a:spcAft>
                <a:spcPts val="0"/>
              </a:spcAft>
              <a:buClr>
                <a:schemeClr val="accent1"/>
              </a:buClr>
              <a:buSzPts val="1300"/>
              <a:buFont typeface="Lato"/>
              <a:buAutoNum type="alphaLcPeriod"/>
            </a:pPr>
            <a:r>
              <a:rPr lang="en" sz="1300"/>
              <a:t>Maximizes throughput in high-message delay environment</a:t>
            </a:r>
            <a:endParaRPr sz="1300"/>
          </a:p>
          <a:p>
            <a:pPr indent="-311150" lvl="0" marL="457200" rtl="0" algn="l">
              <a:lnSpc>
                <a:spcPct val="100000"/>
              </a:lnSpc>
              <a:spcBef>
                <a:spcPts val="0"/>
              </a:spcBef>
              <a:spcAft>
                <a:spcPts val="0"/>
              </a:spcAft>
              <a:buClr>
                <a:schemeClr val="accent1"/>
              </a:buClr>
              <a:buSzPts val="1300"/>
              <a:buFont typeface="Lato"/>
              <a:buAutoNum type="arabicPeriod"/>
            </a:pPr>
            <a:r>
              <a:rPr lang="en"/>
              <a:t>Active Window: Replicas process any request k within a lower and upper bound</a:t>
            </a:r>
            <a:endParaRPr/>
          </a:p>
          <a:p>
            <a:pPr indent="0" lvl="0" marL="0" rtl="0" algn="l">
              <a:lnSpc>
                <a:spcPct val="100000"/>
              </a:lnSpc>
              <a:spcBef>
                <a:spcPts val="0"/>
              </a:spcBef>
              <a:spcAft>
                <a:spcPts val="0"/>
              </a:spcAft>
              <a:buNone/>
            </a:pPr>
            <a:r>
              <a:t/>
            </a:r>
            <a:endParaRPr/>
          </a:p>
        </p:txBody>
      </p:sp>
      <p:cxnSp>
        <p:nvCxnSpPr>
          <p:cNvPr id="204" name="Google Shape;204;p17"/>
          <p:cNvCxnSpPr/>
          <p:nvPr/>
        </p:nvCxnSpPr>
        <p:spPr>
          <a:xfrm>
            <a:off x="394400" y="4225500"/>
            <a:ext cx="8188200" cy="1170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p17"/>
          <p:cNvCxnSpPr/>
          <p:nvPr/>
        </p:nvCxnSpPr>
        <p:spPr>
          <a:xfrm>
            <a:off x="1317025" y="4156325"/>
            <a:ext cx="0" cy="18450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17"/>
          <p:cNvCxnSpPr/>
          <p:nvPr/>
        </p:nvCxnSpPr>
        <p:spPr>
          <a:xfrm>
            <a:off x="2484275" y="4156325"/>
            <a:ext cx="0" cy="18450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17"/>
          <p:cNvCxnSpPr/>
          <p:nvPr/>
        </p:nvCxnSpPr>
        <p:spPr>
          <a:xfrm>
            <a:off x="3761325" y="4156325"/>
            <a:ext cx="0" cy="184500"/>
          </a:xfrm>
          <a:prstGeom prst="straightConnector1">
            <a:avLst/>
          </a:prstGeom>
          <a:noFill/>
          <a:ln cap="flat" cmpd="sng" w="9525">
            <a:solidFill>
              <a:schemeClr val="dk2"/>
            </a:solidFill>
            <a:prstDash val="solid"/>
            <a:round/>
            <a:headEnd len="med" w="med" type="none"/>
            <a:tailEnd len="med" w="med" type="none"/>
          </a:ln>
        </p:spPr>
      </p:cxnSp>
      <p:cxnSp>
        <p:nvCxnSpPr>
          <p:cNvPr id="208" name="Google Shape;208;p17"/>
          <p:cNvCxnSpPr/>
          <p:nvPr/>
        </p:nvCxnSpPr>
        <p:spPr>
          <a:xfrm>
            <a:off x="5734850" y="4104450"/>
            <a:ext cx="0" cy="18450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17"/>
          <p:cNvCxnSpPr/>
          <p:nvPr/>
        </p:nvCxnSpPr>
        <p:spPr>
          <a:xfrm>
            <a:off x="5132675" y="4104450"/>
            <a:ext cx="0" cy="1845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17"/>
          <p:cNvCxnSpPr/>
          <p:nvPr/>
        </p:nvCxnSpPr>
        <p:spPr>
          <a:xfrm>
            <a:off x="4471100" y="4104450"/>
            <a:ext cx="0" cy="18450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17"/>
          <p:cNvCxnSpPr/>
          <p:nvPr/>
        </p:nvCxnSpPr>
        <p:spPr>
          <a:xfrm>
            <a:off x="6925175" y="4104450"/>
            <a:ext cx="0" cy="18450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17"/>
          <p:cNvCxnSpPr/>
          <p:nvPr/>
        </p:nvCxnSpPr>
        <p:spPr>
          <a:xfrm>
            <a:off x="8115500" y="4104450"/>
            <a:ext cx="0" cy="184500"/>
          </a:xfrm>
          <a:prstGeom prst="straightConnector1">
            <a:avLst/>
          </a:prstGeom>
          <a:noFill/>
          <a:ln cap="flat" cmpd="sng" w="9525">
            <a:solidFill>
              <a:schemeClr val="dk2"/>
            </a:solidFill>
            <a:prstDash val="solid"/>
            <a:round/>
            <a:headEnd len="med" w="med" type="none"/>
            <a:tailEnd len="med" w="med" type="none"/>
          </a:ln>
        </p:spPr>
      </p:cxnSp>
      <p:sp>
        <p:nvSpPr>
          <p:cNvPr id="213" name="Google Shape;213;p17"/>
          <p:cNvSpPr txBox="1"/>
          <p:nvPr/>
        </p:nvSpPr>
        <p:spPr>
          <a:xfrm>
            <a:off x="3473600" y="4617625"/>
            <a:ext cx="17298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Requests Timeline</a:t>
            </a:r>
            <a:endParaRPr sz="1300">
              <a:solidFill>
                <a:schemeClr val="accent1"/>
              </a:solidFill>
              <a:latin typeface="Lato"/>
              <a:ea typeface="Lato"/>
              <a:cs typeface="Lato"/>
              <a:sym typeface="Lato"/>
            </a:endParaRPr>
          </a:p>
        </p:txBody>
      </p:sp>
      <p:sp>
        <p:nvSpPr>
          <p:cNvPr id="214" name="Google Shape;214;p17"/>
          <p:cNvSpPr txBox="1"/>
          <p:nvPr/>
        </p:nvSpPr>
        <p:spPr>
          <a:xfrm>
            <a:off x="1173175" y="4288950"/>
            <a:ext cx="2877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1</a:t>
            </a:r>
            <a:endParaRPr sz="1300">
              <a:solidFill>
                <a:schemeClr val="accent1"/>
              </a:solidFill>
              <a:latin typeface="Lato"/>
              <a:ea typeface="Lato"/>
              <a:cs typeface="Lato"/>
              <a:sym typeface="Lato"/>
            </a:endParaRPr>
          </a:p>
        </p:txBody>
      </p:sp>
      <p:sp>
        <p:nvSpPr>
          <p:cNvPr id="215" name="Google Shape;215;p17"/>
          <p:cNvSpPr txBox="1"/>
          <p:nvPr/>
        </p:nvSpPr>
        <p:spPr>
          <a:xfrm>
            <a:off x="2323388" y="4288950"/>
            <a:ext cx="2877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2</a:t>
            </a:r>
            <a:endParaRPr sz="1300">
              <a:solidFill>
                <a:schemeClr val="accent1"/>
              </a:solidFill>
              <a:latin typeface="Lato"/>
              <a:ea typeface="Lato"/>
              <a:cs typeface="Lato"/>
              <a:sym typeface="Lato"/>
            </a:endParaRPr>
          </a:p>
        </p:txBody>
      </p:sp>
      <p:sp>
        <p:nvSpPr>
          <p:cNvPr id="216" name="Google Shape;216;p17"/>
          <p:cNvSpPr txBox="1"/>
          <p:nvPr/>
        </p:nvSpPr>
        <p:spPr>
          <a:xfrm>
            <a:off x="3617463" y="4288950"/>
            <a:ext cx="2877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3</a:t>
            </a:r>
            <a:endParaRPr sz="1300">
              <a:solidFill>
                <a:schemeClr val="accent1"/>
              </a:solidFill>
              <a:latin typeface="Lato"/>
              <a:ea typeface="Lato"/>
              <a:cs typeface="Lato"/>
              <a:sym typeface="Lato"/>
            </a:endParaRPr>
          </a:p>
        </p:txBody>
      </p:sp>
      <p:sp>
        <p:nvSpPr>
          <p:cNvPr id="217" name="Google Shape;217;p17"/>
          <p:cNvSpPr txBox="1"/>
          <p:nvPr/>
        </p:nvSpPr>
        <p:spPr>
          <a:xfrm>
            <a:off x="4327238" y="4288950"/>
            <a:ext cx="2877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4</a:t>
            </a:r>
            <a:endParaRPr sz="1300">
              <a:solidFill>
                <a:schemeClr val="accent1"/>
              </a:solidFill>
              <a:latin typeface="Lato"/>
              <a:ea typeface="Lato"/>
              <a:cs typeface="Lato"/>
              <a:sym typeface="Lato"/>
            </a:endParaRPr>
          </a:p>
        </p:txBody>
      </p:sp>
      <p:sp>
        <p:nvSpPr>
          <p:cNvPr id="218" name="Google Shape;218;p17"/>
          <p:cNvSpPr txBox="1"/>
          <p:nvPr/>
        </p:nvSpPr>
        <p:spPr>
          <a:xfrm>
            <a:off x="4959113" y="4288950"/>
            <a:ext cx="2877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5</a:t>
            </a:r>
            <a:endParaRPr sz="1300">
              <a:solidFill>
                <a:schemeClr val="accent1"/>
              </a:solidFill>
              <a:latin typeface="Lato"/>
              <a:ea typeface="Lato"/>
              <a:cs typeface="Lato"/>
              <a:sym typeface="Lato"/>
            </a:endParaRPr>
          </a:p>
        </p:txBody>
      </p:sp>
      <p:sp>
        <p:nvSpPr>
          <p:cNvPr id="219" name="Google Shape;219;p17"/>
          <p:cNvSpPr txBox="1"/>
          <p:nvPr/>
        </p:nvSpPr>
        <p:spPr>
          <a:xfrm>
            <a:off x="5590988" y="4288950"/>
            <a:ext cx="2877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7</a:t>
            </a:r>
            <a:endParaRPr sz="1300">
              <a:solidFill>
                <a:schemeClr val="accent1"/>
              </a:solidFill>
              <a:latin typeface="Lato"/>
              <a:ea typeface="Lato"/>
              <a:cs typeface="Lato"/>
              <a:sym typeface="Lato"/>
            </a:endParaRPr>
          </a:p>
        </p:txBody>
      </p:sp>
      <p:sp>
        <p:nvSpPr>
          <p:cNvPr id="220" name="Google Shape;220;p17"/>
          <p:cNvSpPr txBox="1"/>
          <p:nvPr/>
        </p:nvSpPr>
        <p:spPr>
          <a:xfrm>
            <a:off x="6781313" y="4288950"/>
            <a:ext cx="2877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8</a:t>
            </a:r>
            <a:endParaRPr sz="1300">
              <a:solidFill>
                <a:schemeClr val="accent1"/>
              </a:solidFill>
              <a:latin typeface="Lato"/>
              <a:ea typeface="Lato"/>
              <a:cs typeface="Lato"/>
              <a:sym typeface="Lato"/>
            </a:endParaRPr>
          </a:p>
        </p:txBody>
      </p:sp>
      <p:sp>
        <p:nvSpPr>
          <p:cNvPr id="221" name="Google Shape;221;p17"/>
          <p:cNvSpPr txBox="1"/>
          <p:nvPr/>
        </p:nvSpPr>
        <p:spPr>
          <a:xfrm>
            <a:off x="7971638" y="4225500"/>
            <a:ext cx="2877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9</a:t>
            </a:r>
            <a:endParaRPr sz="1300">
              <a:solidFill>
                <a:schemeClr val="accent1"/>
              </a:solidFill>
              <a:latin typeface="Lato"/>
              <a:ea typeface="Lato"/>
              <a:cs typeface="Lato"/>
              <a:sym typeface="Lato"/>
            </a:endParaRPr>
          </a:p>
        </p:txBody>
      </p:sp>
      <p:sp>
        <p:nvSpPr>
          <p:cNvPr id="222" name="Google Shape;222;p17"/>
          <p:cNvSpPr txBox="1"/>
          <p:nvPr/>
        </p:nvSpPr>
        <p:spPr>
          <a:xfrm>
            <a:off x="3504085" y="3735450"/>
            <a:ext cx="5145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Low</a:t>
            </a:r>
            <a:endParaRPr sz="1300">
              <a:solidFill>
                <a:schemeClr val="accent1"/>
              </a:solidFill>
              <a:latin typeface="Lato"/>
              <a:ea typeface="Lato"/>
              <a:cs typeface="Lato"/>
              <a:sym typeface="Lato"/>
            </a:endParaRPr>
          </a:p>
        </p:txBody>
      </p:sp>
      <p:sp>
        <p:nvSpPr>
          <p:cNvPr id="223" name="Google Shape;223;p17"/>
          <p:cNvSpPr txBox="1"/>
          <p:nvPr/>
        </p:nvSpPr>
        <p:spPr>
          <a:xfrm>
            <a:off x="5506400" y="3735450"/>
            <a:ext cx="4569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Hi</a:t>
            </a:r>
            <a:endParaRPr sz="13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Comparisons to other protocols</a:t>
            </a:r>
            <a:endParaRPr/>
          </a:p>
        </p:txBody>
      </p:sp>
      <p:graphicFrame>
        <p:nvGraphicFramePr>
          <p:cNvPr id="229" name="Google Shape;229;p18"/>
          <p:cNvGraphicFramePr/>
          <p:nvPr/>
        </p:nvGraphicFramePr>
        <p:xfrm>
          <a:off x="605775" y="2382150"/>
          <a:ext cx="3000000" cy="3000000"/>
        </p:xfrm>
        <a:graphic>
          <a:graphicData uri="http://schemas.openxmlformats.org/drawingml/2006/table">
            <a:tbl>
              <a:tblPr>
                <a:noFill/>
                <a:tableStyleId>{23002E1A-6EDD-4089-AD31-D1527B6F7107}</a:tableStyleId>
              </a:tblPr>
              <a:tblGrid>
                <a:gridCol w="1447800"/>
                <a:gridCol w="1447800"/>
                <a:gridCol w="1447800"/>
                <a:gridCol w="1447800"/>
                <a:gridCol w="2144825"/>
              </a:tblGrid>
              <a:tr h="381000">
                <a:tc>
                  <a:txBody>
                    <a:bodyPr/>
                    <a:lstStyle/>
                    <a:p>
                      <a:pPr indent="0" lvl="0" marL="0" rtl="0" algn="l">
                        <a:spcBef>
                          <a:spcPts val="0"/>
                        </a:spcBef>
                        <a:spcAft>
                          <a:spcPts val="0"/>
                        </a:spcAft>
                        <a:buNone/>
                      </a:pPr>
                      <a:r>
                        <a:rPr lang="en"/>
                        <a:t>Protocol</a:t>
                      </a:r>
                      <a:endParaRPr/>
                    </a:p>
                  </a:txBody>
                  <a:tcPr marT="91425" marB="91425" marR="91425" marL="91425"/>
                </a:tc>
                <a:tc>
                  <a:txBody>
                    <a:bodyPr/>
                    <a:lstStyle/>
                    <a:p>
                      <a:pPr indent="0" lvl="0" marL="0" rtl="0" algn="l">
                        <a:spcBef>
                          <a:spcPts val="0"/>
                        </a:spcBef>
                        <a:spcAft>
                          <a:spcPts val="0"/>
                        </a:spcAft>
                        <a:buNone/>
                      </a:pPr>
                      <a:r>
                        <a:rPr lang="en"/>
                        <a:t>Phases</a:t>
                      </a:r>
                      <a:endParaRPr/>
                    </a:p>
                  </a:txBody>
                  <a:tcPr marT="91425" marB="91425" marR="91425" marL="91425"/>
                </a:tc>
                <a:tc>
                  <a:txBody>
                    <a:bodyPr/>
                    <a:lstStyle/>
                    <a:p>
                      <a:pPr indent="0" lvl="0" marL="0" rtl="0" algn="l">
                        <a:spcBef>
                          <a:spcPts val="0"/>
                        </a:spcBef>
                        <a:spcAft>
                          <a:spcPts val="0"/>
                        </a:spcAft>
                        <a:buNone/>
                      </a:pPr>
                      <a:r>
                        <a:rPr lang="en"/>
                        <a:t>Messages</a:t>
                      </a:r>
                      <a:endParaRPr/>
                    </a:p>
                  </a:txBody>
                  <a:tcPr marT="91425" marB="91425" marR="91425" marL="91425"/>
                </a:tc>
                <a:tc>
                  <a:txBody>
                    <a:bodyPr/>
                    <a:lstStyle/>
                    <a:p>
                      <a:pPr indent="0" lvl="0" marL="0" rtl="0" algn="l">
                        <a:spcBef>
                          <a:spcPts val="0"/>
                        </a:spcBef>
                        <a:spcAft>
                          <a:spcPts val="0"/>
                        </a:spcAft>
                        <a:buNone/>
                      </a:pPr>
                      <a:r>
                        <a:rPr lang="en"/>
                        <a:t>Resilience</a:t>
                      </a:r>
                      <a:endParaRPr/>
                    </a:p>
                  </a:txBody>
                  <a:tcPr marT="91425" marB="91425" marR="91425" marL="91425"/>
                </a:tc>
                <a:tc>
                  <a:txBody>
                    <a:bodyPr/>
                    <a:lstStyle/>
                    <a:p>
                      <a:pPr indent="0" lvl="0" marL="0" rtl="0" algn="l">
                        <a:spcBef>
                          <a:spcPts val="0"/>
                        </a:spcBef>
                        <a:spcAft>
                          <a:spcPts val="0"/>
                        </a:spcAft>
                        <a:buNone/>
                      </a:pPr>
                      <a:r>
                        <a:rPr lang="en"/>
                        <a:t>Requirements</a:t>
                      </a:r>
                      <a:endParaRPr/>
                    </a:p>
                  </a:txBody>
                  <a:tcPr marT="91425" marB="91425" marR="91425" marL="91425"/>
                </a:tc>
              </a:tr>
              <a:tr h="381000">
                <a:tc>
                  <a:txBody>
                    <a:bodyPr/>
                    <a:lstStyle/>
                    <a:p>
                      <a:pPr indent="0" lvl="0" marL="0" rtl="0" algn="l">
                        <a:spcBef>
                          <a:spcPts val="0"/>
                        </a:spcBef>
                        <a:spcAft>
                          <a:spcPts val="0"/>
                        </a:spcAft>
                        <a:buNone/>
                      </a:pPr>
                      <a:r>
                        <a:rPr lang="en"/>
                        <a:t>Zyzzyva</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O(N)</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solidFill>
                      <a:srgbClr val="FF0000"/>
                    </a:solidFill>
                  </a:tcPr>
                </a:tc>
                <a:tc>
                  <a:txBody>
                    <a:bodyPr/>
                    <a:lstStyle/>
                    <a:p>
                      <a:pPr indent="0" lvl="0" marL="0" rtl="0" algn="l">
                        <a:spcBef>
                          <a:spcPts val="0"/>
                        </a:spcBef>
                        <a:spcAft>
                          <a:spcPts val="0"/>
                        </a:spcAft>
                        <a:buNone/>
                      </a:pPr>
                      <a:r>
                        <a:rPr lang="en"/>
                        <a:t>Reliable clients </a:t>
                      </a:r>
                      <a:endParaRPr/>
                    </a:p>
                  </a:txBody>
                  <a:tcPr marT="91425" marB="91425" marR="91425" marL="91425">
                    <a:solidFill>
                      <a:srgbClr val="FF0000"/>
                    </a:solidFill>
                  </a:tcPr>
                </a:tc>
              </a:tr>
              <a:tr h="381000">
                <a:tc>
                  <a:txBody>
                    <a:bodyPr/>
                    <a:lstStyle/>
                    <a:p>
                      <a:pPr indent="0" lvl="0" marL="0" rtl="0" algn="l">
                        <a:spcBef>
                          <a:spcPts val="0"/>
                        </a:spcBef>
                        <a:spcAft>
                          <a:spcPts val="0"/>
                        </a:spcAft>
                        <a:buNone/>
                      </a:pPr>
                      <a:r>
                        <a:rPr lang="en"/>
                        <a:t>PoE</a:t>
                      </a:r>
                      <a:endParaRPr/>
                    </a:p>
                  </a:txBody>
                  <a:tcPr marT="91425" marB="91425" marR="91425" marL="91425">
                    <a:solidFill>
                      <a:srgbClr val="00FF00"/>
                    </a:solidFill>
                  </a:tcPr>
                </a:tc>
                <a:tc>
                  <a:txBody>
                    <a:bodyPr/>
                    <a:lstStyle/>
                    <a:p>
                      <a:pPr indent="0" lvl="0" marL="0" rtl="0" algn="l">
                        <a:spcBef>
                          <a:spcPts val="0"/>
                        </a:spcBef>
                        <a:spcAft>
                          <a:spcPts val="0"/>
                        </a:spcAft>
                        <a:buNone/>
                      </a:pPr>
                      <a:r>
                        <a:rPr lang="en"/>
                        <a:t>3</a:t>
                      </a:r>
                      <a:endParaRPr/>
                    </a:p>
                  </a:txBody>
                  <a:tcPr marT="91425" marB="91425" marR="91425" marL="91425">
                    <a:solidFill>
                      <a:srgbClr val="00FF00"/>
                    </a:solidFill>
                  </a:tcPr>
                </a:tc>
                <a:tc>
                  <a:txBody>
                    <a:bodyPr/>
                    <a:lstStyle/>
                    <a:p>
                      <a:pPr indent="0" lvl="0" marL="0" rtl="0" algn="l">
                        <a:spcBef>
                          <a:spcPts val="0"/>
                        </a:spcBef>
                        <a:spcAft>
                          <a:spcPts val="0"/>
                        </a:spcAft>
                        <a:buNone/>
                      </a:pPr>
                      <a:r>
                        <a:rPr lang="en"/>
                        <a:t>O(3N)</a:t>
                      </a:r>
                      <a:endParaRPr/>
                    </a:p>
                  </a:txBody>
                  <a:tcPr marT="91425" marB="91425" marR="91425" marL="91425">
                    <a:solidFill>
                      <a:srgbClr val="00FF00"/>
                    </a:solidFill>
                  </a:tcPr>
                </a:tc>
                <a:tc>
                  <a:txBody>
                    <a:bodyPr/>
                    <a:lstStyle/>
                    <a:p>
                      <a:pPr indent="0" lvl="0" marL="0" rtl="0" algn="l">
                        <a:spcBef>
                          <a:spcPts val="0"/>
                        </a:spcBef>
                        <a:spcAft>
                          <a:spcPts val="0"/>
                        </a:spcAft>
                        <a:buNone/>
                      </a:pPr>
                      <a:r>
                        <a:rPr lang="en"/>
                        <a:t>f</a:t>
                      </a:r>
                      <a:endParaRPr/>
                    </a:p>
                  </a:txBody>
                  <a:tcPr marT="91425" marB="91425" marR="91425" marL="91425">
                    <a:solidFill>
                      <a:srgbClr val="00FF00"/>
                    </a:solidFill>
                  </a:tcPr>
                </a:tc>
                <a:tc>
                  <a:txBody>
                    <a:bodyPr/>
                    <a:lstStyle/>
                    <a:p>
                      <a:pPr indent="0" lvl="0" marL="0" rtl="0" algn="l">
                        <a:spcBef>
                          <a:spcPts val="0"/>
                        </a:spcBef>
                        <a:spcAft>
                          <a:spcPts val="0"/>
                        </a:spcAft>
                        <a:buNone/>
                      </a:pPr>
                      <a:r>
                        <a:rPr lang="en"/>
                        <a:t>Sign. Agnostic</a:t>
                      </a:r>
                      <a:endParaRPr/>
                    </a:p>
                  </a:txBody>
                  <a:tcPr marT="91425" marB="91425" marR="91425" marL="91425">
                    <a:solidFill>
                      <a:srgbClr val="00FF00"/>
                    </a:solidFill>
                  </a:tcPr>
                </a:tc>
              </a:tr>
              <a:tr h="381000">
                <a:tc>
                  <a:txBody>
                    <a:bodyPr/>
                    <a:lstStyle/>
                    <a:p>
                      <a:pPr indent="0" lvl="0" marL="0" rtl="0" algn="l">
                        <a:spcBef>
                          <a:spcPts val="0"/>
                        </a:spcBef>
                        <a:spcAft>
                          <a:spcPts val="0"/>
                        </a:spcAft>
                        <a:buNone/>
                      </a:pPr>
                      <a:r>
                        <a:rPr lang="en"/>
                        <a:t>PBFT</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solidFill>
                      <a:srgbClr val="FF0000"/>
                    </a:solidFill>
                  </a:tcPr>
                </a:tc>
                <a:tc>
                  <a:txBody>
                    <a:bodyPr/>
                    <a:lstStyle/>
                    <a:p>
                      <a:pPr indent="0" lvl="0" marL="0" rtl="0" algn="l">
                        <a:spcBef>
                          <a:spcPts val="0"/>
                        </a:spcBef>
                        <a:spcAft>
                          <a:spcPts val="0"/>
                        </a:spcAft>
                        <a:buNone/>
                      </a:pPr>
                      <a:r>
                        <a:rPr lang="en"/>
                        <a:t>O(N + 2N^2)</a:t>
                      </a:r>
                      <a:endParaRPr/>
                    </a:p>
                  </a:txBody>
                  <a:tcPr marT="91425" marB="91425" marR="91425" marL="91425">
                    <a:solidFill>
                      <a:srgbClr val="FF0000"/>
                    </a:solidFill>
                  </a:tcPr>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N/A</a:t>
                      </a:r>
                      <a:endParaRPr/>
                    </a:p>
                  </a:txBody>
                  <a:tcPr marT="91425" marB="91425" marR="91425" marL="91425"/>
                </a:tc>
              </a:tr>
              <a:tr h="381000">
                <a:tc>
                  <a:txBody>
                    <a:bodyPr/>
                    <a:lstStyle/>
                    <a:p>
                      <a:pPr indent="0" lvl="0" marL="0" rtl="0" algn="l">
                        <a:spcBef>
                          <a:spcPts val="0"/>
                        </a:spcBef>
                        <a:spcAft>
                          <a:spcPts val="0"/>
                        </a:spcAft>
                        <a:buNone/>
                      </a:pPr>
                      <a:r>
                        <a:rPr lang="en"/>
                        <a:t>HotStuff</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solidFill>
                      <a:srgbClr val="FF0000"/>
                    </a:solidFill>
                  </a:tcPr>
                </a:tc>
                <a:tc>
                  <a:txBody>
                    <a:bodyPr/>
                    <a:lstStyle/>
                    <a:p>
                      <a:pPr indent="0" lvl="0" marL="0" rtl="0" algn="l">
                        <a:spcBef>
                          <a:spcPts val="0"/>
                        </a:spcBef>
                        <a:spcAft>
                          <a:spcPts val="0"/>
                        </a:spcAft>
                        <a:buNone/>
                      </a:pPr>
                      <a:r>
                        <a:rPr lang="en"/>
                        <a:t>O(8N)</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c>
                  <a:txBody>
                    <a:bodyPr/>
                    <a:lstStyle/>
                    <a:p>
                      <a:pPr indent="0" lvl="0" marL="0" rtl="0" algn="l">
                        <a:spcBef>
                          <a:spcPts val="0"/>
                        </a:spcBef>
                        <a:spcAft>
                          <a:spcPts val="0"/>
                        </a:spcAft>
                        <a:buNone/>
                      </a:pPr>
                      <a:r>
                        <a:rPr lang="en"/>
                        <a:t>Sequential Consensus</a:t>
                      </a:r>
                      <a:endParaRPr/>
                    </a:p>
                  </a:txBody>
                  <a:tcPr marT="91425" marB="91425" marR="91425" marL="91425">
                    <a:solidFill>
                      <a:srgbClr val="FF0000"/>
                    </a:solidFill>
                  </a:tcPr>
                </a:tc>
              </a:tr>
              <a:tr h="381000">
                <a:tc>
                  <a:txBody>
                    <a:bodyPr/>
                    <a:lstStyle/>
                    <a:p>
                      <a:pPr indent="0" lvl="0" marL="0" rtl="0" algn="l">
                        <a:spcBef>
                          <a:spcPts val="0"/>
                        </a:spcBef>
                        <a:spcAft>
                          <a:spcPts val="0"/>
                        </a:spcAft>
                        <a:buNone/>
                      </a:pPr>
                      <a:r>
                        <a:rPr lang="en"/>
                        <a:t>SBFT</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solidFill>
                      <a:srgbClr val="FF0000"/>
                    </a:solidFill>
                  </a:tcPr>
                </a:tc>
                <a:tc>
                  <a:txBody>
                    <a:bodyPr/>
                    <a:lstStyle/>
                    <a:p>
                      <a:pPr indent="0" lvl="0" marL="0" rtl="0" algn="l">
                        <a:spcBef>
                          <a:spcPts val="0"/>
                        </a:spcBef>
                        <a:spcAft>
                          <a:spcPts val="0"/>
                        </a:spcAft>
                        <a:buNone/>
                      </a:pPr>
                      <a:r>
                        <a:rPr lang="en"/>
                        <a:t>O(5N)</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Optimistic Path</a:t>
                      </a:r>
                      <a:endParaRPr/>
                    </a:p>
                  </a:txBody>
                  <a:tcPr marT="91425" marB="91425" marR="91425" marL="91425">
                    <a:solidFill>
                      <a:srgbClr val="FF0000"/>
                    </a:solidFill>
                  </a:tcPr>
                </a:tc>
              </a:tr>
            </a:tbl>
          </a:graphicData>
        </a:graphic>
      </p:graphicFrame>
      <p:sp>
        <p:nvSpPr>
          <p:cNvPr id="230" name="Google Shape;230;p18"/>
          <p:cNvSpPr txBox="1"/>
          <p:nvPr/>
        </p:nvSpPr>
        <p:spPr>
          <a:xfrm>
            <a:off x="675775" y="1853850"/>
            <a:ext cx="8080800" cy="34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Resilience: Maximum number of faulty replicas that protocol can tolerate</a:t>
            </a:r>
            <a:endParaRPr sz="1300">
              <a:solidFill>
                <a:schemeClr val="accen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Guarantees and Requirements</a:t>
            </a:r>
            <a:endParaRPr/>
          </a:p>
        </p:txBody>
      </p:sp>
      <p:sp>
        <p:nvSpPr>
          <p:cNvPr id="236" name="Google Shape;236;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PBFT guarantees preservation upon: 2f + 1 prepares.</a:t>
            </a:r>
            <a:endParaRPr/>
          </a:p>
          <a:p>
            <a:pPr indent="0" lvl="0" marL="0" rtl="0" algn="l">
              <a:spcBef>
                <a:spcPts val="1200"/>
              </a:spcBef>
              <a:spcAft>
                <a:spcPts val="0"/>
              </a:spcAft>
              <a:buNone/>
            </a:pPr>
            <a:r>
              <a:rPr lang="en"/>
              <a:t>PoE </a:t>
            </a:r>
            <a:r>
              <a:rPr lang="en"/>
              <a:t>guarantees preservation upon:</a:t>
            </a:r>
            <a:r>
              <a:rPr lang="en"/>
              <a:t> 2f+1 speculative executions.</a:t>
            </a:r>
            <a:endParaRPr/>
          </a:p>
          <a:p>
            <a:pPr indent="0" lvl="0" marL="0" rtl="0" algn="l">
              <a:spcBef>
                <a:spcPts val="1200"/>
              </a:spcBef>
              <a:spcAft>
                <a:spcPts val="0"/>
              </a:spcAft>
              <a:buNone/>
            </a:pPr>
            <a:r>
              <a:rPr lang="en"/>
              <a:t>Safety and liveness are guaranteed*</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Authentication: MAC vs TS</a:t>
            </a:r>
            <a:endParaRPr/>
          </a:p>
        </p:txBody>
      </p:sp>
      <p:sp>
        <p:nvSpPr>
          <p:cNvPr id="242" name="Google Shape;242;p20"/>
          <p:cNvSpPr txBox="1"/>
          <p:nvPr>
            <p:ph idx="1" type="body"/>
          </p:nvPr>
        </p:nvSpPr>
        <p:spPr>
          <a:xfrm>
            <a:off x="729450" y="2078875"/>
            <a:ext cx="7688700" cy="127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Message Authentication Codes (MAC): secret keys for every communicating pair.</a:t>
            </a:r>
            <a:endParaRPr/>
          </a:p>
          <a:p>
            <a:pPr indent="0" lvl="0" marL="0" rtl="0" algn="l">
              <a:spcBef>
                <a:spcPts val="1200"/>
              </a:spcBef>
              <a:spcAft>
                <a:spcPts val="0"/>
              </a:spcAft>
              <a:buNone/>
            </a:pPr>
            <a:r>
              <a:rPr lang="en"/>
              <a:t>Threshold Signatures</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1"/>
          <p:cNvSpPr/>
          <p:nvPr/>
        </p:nvSpPr>
        <p:spPr>
          <a:xfrm>
            <a:off x="2367693" y="38627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8" name="Google Shape;248;p21"/>
          <p:cNvSpPr/>
          <p:nvPr/>
        </p:nvSpPr>
        <p:spPr>
          <a:xfrm>
            <a:off x="2367693" y="3862700"/>
            <a:ext cx="371700" cy="37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9" name="Google Shape;249;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Threshold Signatures</a:t>
            </a:r>
            <a:endParaRPr/>
          </a:p>
        </p:txBody>
      </p:sp>
      <p:sp>
        <p:nvSpPr>
          <p:cNvPr id="250" name="Google Shape;250;p21"/>
          <p:cNvSpPr/>
          <p:nvPr/>
        </p:nvSpPr>
        <p:spPr>
          <a:xfrm>
            <a:off x="4014450" y="2047600"/>
            <a:ext cx="1115100" cy="1115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1" name="Google Shape;251;p21"/>
          <p:cNvSpPr txBox="1"/>
          <p:nvPr/>
        </p:nvSpPr>
        <p:spPr>
          <a:xfrm>
            <a:off x="3337068" y="4301400"/>
            <a:ext cx="2039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R</a:t>
            </a:r>
            <a:r>
              <a:rPr baseline="-25000" lang="en" sz="1300">
                <a:solidFill>
                  <a:schemeClr val="accent1"/>
                </a:solidFill>
                <a:latin typeface="Lato"/>
                <a:ea typeface="Lato"/>
                <a:cs typeface="Lato"/>
                <a:sym typeface="Lato"/>
              </a:rPr>
              <a:t>1</a:t>
            </a:r>
            <a:endParaRPr baseline="-25000" sz="1300">
              <a:solidFill>
                <a:schemeClr val="accent1"/>
              </a:solidFill>
              <a:latin typeface="Lato"/>
              <a:ea typeface="Lato"/>
              <a:cs typeface="Lato"/>
              <a:sym typeface="Lato"/>
            </a:endParaRPr>
          </a:p>
        </p:txBody>
      </p:sp>
      <p:sp>
        <p:nvSpPr>
          <p:cNvPr id="252" name="Google Shape;252;p21"/>
          <p:cNvSpPr/>
          <p:nvPr/>
        </p:nvSpPr>
        <p:spPr>
          <a:xfrm>
            <a:off x="3337068" y="3862700"/>
            <a:ext cx="371700" cy="37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3" name="Google Shape;253;p21"/>
          <p:cNvSpPr/>
          <p:nvPr/>
        </p:nvSpPr>
        <p:spPr>
          <a:xfrm>
            <a:off x="3337068" y="38627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4" name="Google Shape;254;p21"/>
          <p:cNvSpPr/>
          <p:nvPr/>
        </p:nvSpPr>
        <p:spPr>
          <a:xfrm>
            <a:off x="4451243" y="3862700"/>
            <a:ext cx="371700" cy="37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5" name="Google Shape;255;p21"/>
          <p:cNvSpPr/>
          <p:nvPr/>
        </p:nvSpPr>
        <p:spPr>
          <a:xfrm>
            <a:off x="4451243" y="38627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6" name="Google Shape;256;p21"/>
          <p:cNvSpPr/>
          <p:nvPr/>
        </p:nvSpPr>
        <p:spPr>
          <a:xfrm>
            <a:off x="5454968" y="3862700"/>
            <a:ext cx="371700" cy="37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7" name="Google Shape;257;p21"/>
          <p:cNvSpPr txBox="1"/>
          <p:nvPr/>
        </p:nvSpPr>
        <p:spPr>
          <a:xfrm>
            <a:off x="4418993" y="4301400"/>
            <a:ext cx="2039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R</a:t>
            </a:r>
            <a:r>
              <a:rPr baseline="-25000" lang="en" sz="1300">
                <a:solidFill>
                  <a:schemeClr val="accent1"/>
                </a:solidFill>
                <a:latin typeface="Lato"/>
                <a:ea typeface="Lato"/>
                <a:cs typeface="Lato"/>
                <a:sym typeface="Lato"/>
              </a:rPr>
              <a:t>2</a:t>
            </a:r>
            <a:endParaRPr baseline="-25000" sz="1300">
              <a:solidFill>
                <a:schemeClr val="accent1"/>
              </a:solidFill>
              <a:latin typeface="Lato"/>
              <a:ea typeface="Lato"/>
              <a:cs typeface="Lato"/>
              <a:sym typeface="Lato"/>
            </a:endParaRPr>
          </a:p>
        </p:txBody>
      </p:sp>
      <p:sp>
        <p:nvSpPr>
          <p:cNvPr id="258" name="Google Shape;258;p21"/>
          <p:cNvSpPr txBox="1"/>
          <p:nvPr/>
        </p:nvSpPr>
        <p:spPr>
          <a:xfrm>
            <a:off x="5428447" y="4301400"/>
            <a:ext cx="1065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R</a:t>
            </a:r>
            <a:r>
              <a:rPr baseline="-25000" lang="en" sz="1300">
                <a:solidFill>
                  <a:schemeClr val="accent1"/>
                </a:solidFill>
                <a:latin typeface="Lato"/>
                <a:ea typeface="Lato"/>
                <a:cs typeface="Lato"/>
                <a:sym typeface="Lato"/>
              </a:rPr>
              <a:t>3</a:t>
            </a:r>
            <a:endParaRPr baseline="-25000" sz="1300">
              <a:solidFill>
                <a:schemeClr val="accent1"/>
              </a:solidFill>
              <a:latin typeface="Lato"/>
              <a:ea typeface="Lato"/>
              <a:cs typeface="Lato"/>
              <a:sym typeface="Lato"/>
            </a:endParaRPr>
          </a:p>
        </p:txBody>
      </p:sp>
      <p:sp>
        <p:nvSpPr>
          <p:cNvPr id="259" name="Google Shape;259;p21"/>
          <p:cNvSpPr txBox="1"/>
          <p:nvPr/>
        </p:nvSpPr>
        <p:spPr>
          <a:xfrm>
            <a:off x="6404625" y="4301400"/>
            <a:ext cx="371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R</a:t>
            </a:r>
            <a:r>
              <a:rPr baseline="-25000" lang="en" sz="1300">
                <a:solidFill>
                  <a:schemeClr val="accent1"/>
                </a:solidFill>
                <a:latin typeface="Lato"/>
                <a:ea typeface="Lato"/>
                <a:cs typeface="Lato"/>
                <a:sym typeface="Lato"/>
              </a:rPr>
              <a:t>4</a:t>
            </a:r>
            <a:endParaRPr baseline="-25000" sz="1300">
              <a:solidFill>
                <a:schemeClr val="accent1"/>
              </a:solidFill>
              <a:latin typeface="Lato"/>
              <a:ea typeface="Lato"/>
              <a:cs typeface="Lato"/>
              <a:sym typeface="Lato"/>
            </a:endParaRPr>
          </a:p>
        </p:txBody>
      </p:sp>
      <p:sp>
        <p:nvSpPr>
          <p:cNvPr id="260" name="Google Shape;260;p21"/>
          <p:cNvSpPr txBox="1"/>
          <p:nvPr/>
        </p:nvSpPr>
        <p:spPr>
          <a:xfrm>
            <a:off x="2367693" y="4301400"/>
            <a:ext cx="2039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P</a:t>
            </a:r>
            <a:endParaRPr baseline="-25000" sz="1300">
              <a:solidFill>
                <a:schemeClr val="accent1"/>
              </a:solidFill>
              <a:latin typeface="Lato"/>
              <a:ea typeface="Lato"/>
              <a:cs typeface="Lato"/>
              <a:sym typeface="Lato"/>
            </a:endParaRPr>
          </a:p>
        </p:txBody>
      </p:sp>
      <p:sp>
        <p:nvSpPr>
          <p:cNvPr id="261" name="Google Shape;261;p21"/>
          <p:cNvSpPr/>
          <p:nvPr/>
        </p:nvSpPr>
        <p:spPr>
          <a:xfrm>
            <a:off x="4014450" y="27910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2" name="Google Shape;262;p21"/>
          <p:cNvSpPr/>
          <p:nvPr/>
        </p:nvSpPr>
        <p:spPr>
          <a:xfrm>
            <a:off x="4386150" y="27910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3" name="Google Shape;263;p21"/>
          <p:cNvSpPr/>
          <p:nvPr/>
        </p:nvSpPr>
        <p:spPr>
          <a:xfrm>
            <a:off x="4757850" y="27910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4" name="Google Shape;264;p21"/>
          <p:cNvSpPr/>
          <p:nvPr/>
        </p:nvSpPr>
        <p:spPr>
          <a:xfrm>
            <a:off x="4014450" y="24193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5" name="Google Shape;265;p21"/>
          <p:cNvSpPr/>
          <p:nvPr/>
        </p:nvSpPr>
        <p:spPr>
          <a:xfrm>
            <a:off x="4386150" y="24193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6" name="Google Shape;266;p21"/>
          <p:cNvSpPr/>
          <p:nvPr/>
        </p:nvSpPr>
        <p:spPr>
          <a:xfrm>
            <a:off x="4757850" y="24193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7" name="Google Shape;267;p21"/>
          <p:cNvSpPr/>
          <p:nvPr/>
        </p:nvSpPr>
        <p:spPr>
          <a:xfrm>
            <a:off x="4014450" y="20476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8" name="Google Shape;268;p21"/>
          <p:cNvSpPr/>
          <p:nvPr/>
        </p:nvSpPr>
        <p:spPr>
          <a:xfrm>
            <a:off x="4387950" y="20476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 name="Google Shape;269;p21"/>
          <p:cNvSpPr/>
          <p:nvPr/>
        </p:nvSpPr>
        <p:spPr>
          <a:xfrm>
            <a:off x="4757850" y="2047600"/>
            <a:ext cx="371700" cy="371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0" name="Google Shape;270;p21"/>
          <p:cNvSpPr/>
          <p:nvPr/>
        </p:nvSpPr>
        <p:spPr>
          <a:xfrm>
            <a:off x="6404618" y="3862700"/>
            <a:ext cx="371700" cy="37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 name="Google Shape;271;p21"/>
          <p:cNvSpPr/>
          <p:nvPr/>
        </p:nvSpPr>
        <p:spPr>
          <a:xfrm>
            <a:off x="2262031" y="3246113"/>
            <a:ext cx="582900" cy="582900"/>
          </a:xfrm>
          <a:prstGeom prst="rect">
            <a:avLst/>
          </a:prstGeom>
          <a:solidFill>
            <a:schemeClr val="lt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72" name="Google Shape;272;p21"/>
          <p:cNvSpPr/>
          <p:nvPr/>
        </p:nvSpPr>
        <p:spPr>
          <a:xfrm>
            <a:off x="2262031" y="3634729"/>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73" name="Google Shape;273;p21"/>
          <p:cNvSpPr/>
          <p:nvPr/>
        </p:nvSpPr>
        <p:spPr>
          <a:xfrm>
            <a:off x="2456339" y="3634729"/>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74" name="Google Shape;274;p21"/>
          <p:cNvSpPr/>
          <p:nvPr/>
        </p:nvSpPr>
        <p:spPr>
          <a:xfrm>
            <a:off x="2650647" y="3634729"/>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75" name="Google Shape;275;p21"/>
          <p:cNvSpPr/>
          <p:nvPr/>
        </p:nvSpPr>
        <p:spPr>
          <a:xfrm>
            <a:off x="2262031" y="3440421"/>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76" name="Google Shape;276;p21"/>
          <p:cNvSpPr/>
          <p:nvPr/>
        </p:nvSpPr>
        <p:spPr>
          <a:xfrm>
            <a:off x="2456339" y="3440421"/>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77" name="Google Shape;277;p21"/>
          <p:cNvSpPr/>
          <p:nvPr/>
        </p:nvSpPr>
        <p:spPr>
          <a:xfrm>
            <a:off x="2650647" y="3440421"/>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78" name="Google Shape;278;p21"/>
          <p:cNvSpPr/>
          <p:nvPr/>
        </p:nvSpPr>
        <p:spPr>
          <a:xfrm>
            <a:off x="2262031" y="324611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79" name="Google Shape;279;p21"/>
          <p:cNvSpPr/>
          <p:nvPr/>
        </p:nvSpPr>
        <p:spPr>
          <a:xfrm>
            <a:off x="2457280" y="324611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0" name="Google Shape;280;p21"/>
          <p:cNvSpPr/>
          <p:nvPr/>
        </p:nvSpPr>
        <p:spPr>
          <a:xfrm>
            <a:off x="2650647" y="324611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1" name="Google Shape;281;p21"/>
          <p:cNvSpPr/>
          <p:nvPr/>
        </p:nvSpPr>
        <p:spPr>
          <a:xfrm>
            <a:off x="3231406" y="3246063"/>
            <a:ext cx="582900" cy="582900"/>
          </a:xfrm>
          <a:prstGeom prst="rect">
            <a:avLst/>
          </a:prstGeom>
          <a:solidFill>
            <a:schemeClr val="lt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2" name="Google Shape;282;p21"/>
          <p:cNvSpPr/>
          <p:nvPr/>
        </p:nvSpPr>
        <p:spPr>
          <a:xfrm>
            <a:off x="3231406" y="3634679"/>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3" name="Google Shape;283;p21"/>
          <p:cNvSpPr/>
          <p:nvPr/>
        </p:nvSpPr>
        <p:spPr>
          <a:xfrm>
            <a:off x="3425714" y="3634679"/>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4" name="Google Shape;284;p21"/>
          <p:cNvSpPr/>
          <p:nvPr/>
        </p:nvSpPr>
        <p:spPr>
          <a:xfrm>
            <a:off x="3620022" y="3634679"/>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5" name="Google Shape;285;p21"/>
          <p:cNvSpPr/>
          <p:nvPr/>
        </p:nvSpPr>
        <p:spPr>
          <a:xfrm>
            <a:off x="3231406" y="3440371"/>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6" name="Google Shape;286;p21"/>
          <p:cNvSpPr/>
          <p:nvPr/>
        </p:nvSpPr>
        <p:spPr>
          <a:xfrm>
            <a:off x="3425714" y="3440371"/>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7" name="Google Shape;287;p21"/>
          <p:cNvSpPr/>
          <p:nvPr/>
        </p:nvSpPr>
        <p:spPr>
          <a:xfrm>
            <a:off x="3620022" y="3440371"/>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8" name="Google Shape;288;p21"/>
          <p:cNvSpPr/>
          <p:nvPr/>
        </p:nvSpPr>
        <p:spPr>
          <a:xfrm>
            <a:off x="3231406" y="324606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89" name="Google Shape;289;p21"/>
          <p:cNvSpPr/>
          <p:nvPr/>
        </p:nvSpPr>
        <p:spPr>
          <a:xfrm>
            <a:off x="3426655" y="324606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0" name="Google Shape;290;p21"/>
          <p:cNvSpPr/>
          <p:nvPr/>
        </p:nvSpPr>
        <p:spPr>
          <a:xfrm>
            <a:off x="3620022" y="324606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1" name="Google Shape;291;p21"/>
          <p:cNvSpPr/>
          <p:nvPr/>
        </p:nvSpPr>
        <p:spPr>
          <a:xfrm>
            <a:off x="4345581" y="3246225"/>
            <a:ext cx="582900" cy="582900"/>
          </a:xfrm>
          <a:prstGeom prst="rect">
            <a:avLst/>
          </a:prstGeom>
          <a:solidFill>
            <a:schemeClr val="lt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2" name="Google Shape;292;p21"/>
          <p:cNvSpPr/>
          <p:nvPr/>
        </p:nvSpPr>
        <p:spPr>
          <a:xfrm>
            <a:off x="4345581" y="3634842"/>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3" name="Google Shape;293;p21"/>
          <p:cNvSpPr/>
          <p:nvPr/>
        </p:nvSpPr>
        <p:spPr>
          <a:xfrm>
            <a:off x="4539889" y="3634842"/>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4" name="Google Shape;294;p21"/>
          <p:cNvSpPr/>
          <p:nvPr/>
        </p:nvSpPr>
        <p:spPr>
          <a:xfrm>
            <a:off x="4734197" y="3634842"/>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5" name="Google Shape;295;p21"/>
          <p:cNvSpPr/>
          <p:nvPr/>
        </p:nvSpPr>
        <p:spPr>
          <a:xfrm>
            <a:off x="4345581" y="344053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6" name="Google Shape;296;p21"/>
          <p:cNvSpPr/>
          <p:nvPr/>
        </p:nvSpPr>
        <p:spPr>
          <a:xfrm>
            <a:off x="4539889" y="344053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7" name="Google Shape;297;p21"/>
          <p:cNvSpPr/>
          <p:nvPr/>
        </p:nvSpPr>
        <p:spPr>
          <a:xfrm>
            <a:off x="4734197" y="344053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8" name="Google Shape;298;p21"/>
          <p:cNvSpPr/>
          <p:nvPr/>
        </p:nvSpPr>
        <p:spPr>
          <a:xfrm>
            <a:off x="4345581" y="3246225"/>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299" name="Google Shape;299;p21"/>
          <p:cNvSpPr/>
          <p:nvPr/>
        </p:nvSpPr>
        <p:spPr>
          <a:xfrm>
            <a:off x="4540830" y="3246225"/>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0" name="Google Shape;300;p21"/>
          <p:cNvSpPr/>
          <p:nvPr/>
        </p:nvSpPr>
        <p:spPr>
          <a:xfrm>
            <a:off x="4734197" y="3246225"/>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1" name="Google Shape;301;p21"/>
          <p:cNvSpPr/>
          <p:nvPr/>
        </p:nvSpPr>
        <p:spPr>
          <a:xfrm>
            <a:off x="5349306" y="3246225"/>
            <a:ext cx="582900" cy="582900"/>
          </a:xfrm>
          <a:prstGeom prst="rect">
            <a:avLst/>
          </a:prstGeom>
          <a:solidFill>
            <a:schemeClr val="lt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2" name="Google Shape;302;p21"/>
          <p:cNvSpPr/>
          <p:nvPr/>
        </p:nvSpPr>
        <p:spPr>
          <a:xfrm>
            <a:off x="5349306" y="3634842"/>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3" name="Google Shape;303;p21"/>
          <p:cNvSpPr/>
          <p:nvPr/>
        </p:nvSpPr>
        <p:spPr>
          <a:xfrm>
            <a:off x="5543614" y="3634842"/>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4" name="Google Shape;304;p21"/>
          <p:cNvSpPr/>
          <p:nvPr/>
        </p:nvSpPr>
        <p:spPr>
          <a:xfrm>
            <a:off x="5737922" y="3634842"/>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5" name="Google Shape;305;p21"/>
          <p:cNvSpPr/>
          <p:nvPr/>
        </p:nvSpPr>
        <p:spPr>
          <a:xfrm>
            <a:off x="5349306" y="344053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6" name="Google Shape;306;p21"/>
          <p:cNvSpPr/>
          <p:nvPr/>
        </p:nvSpPr>
        <p:spPr>
          <a:xfrm>
            <a:off x="5543614" y="344053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7" name="Google Shape;307;p21"/>
          <p:cNvSpPr/>
          <p:nvPr/>
        </p:nvSpPr>
        <p:spPr>
          <a:xfrm>
            <a:off x="5737922" y="344053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8" name="Google Shape;308;p21"/>
          <p:cNvSpPr/>
          <p:nvPr/>
        </p:nvSpPr>
        <p:spPr>
          <a:xfrm>
            <a:off x="5349306" y="3246225"/>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09" name="Google Shape;309;p21"/>
          <p:cNvSpPr/>
          <p:nvPr/>
        </p:nvSpPr>
        <p:spPr>
          <a:xfrm>
            <a:off x="5544555" y="3246225"/>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0" name="Google Shape;310;p21"/>
          <p:cNvSpPr/>
          <p:nvPr/>
        </p:nvSpPr>
        <p:spPr>
          <a:xfrm>
            <a:off x="5737922" y="3246225"/>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1" name="Google Shape;311;p21"/>
          <p:cNvSpPr/>
          <p:nvPr/>
        </p:nvSpPr>
        <p:spPr>
          <a:xfrm>
            <a:off x="6298956" y="3246163"/>
            <a:ext cx="582900" cy="582900"/>
          </a:xfrm>
          <a:prstGeom prst="rect">
            <a:avLst/>
          </a:prstGeom>
          <a:solidFill>
            <a:schemeClr val="lt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2" name="Google Shape;312;p21"/>
          <p:cNvSpPr/>
          <p:nvPr/>
        </p:nvSpPr>
        <p:spPr>
          <a:xfrm>
            <a:off x="6298956" y="3634779"/>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3" name="Google Shape;313;p21"/>
          <p:cNvSpPr/>
          <p:nvPr/>
        </p:nvSpPr>
        <p:spPr>
          <a:xfrm>
            <a:off x="6493264" y="3634779"/>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4" name="Google Shape;314;p21"/>
          <p:cNvSpPr/>
          <p:nvPr/>
        </p:nvSpPr>
        <p:spPr>
          <a:xfrm>
            <a:off x="6687572" y="3634779"/>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5" name="Google Shape;315;p21"/>
          <p:cNvSpPr/>
          <p:nvPr/>
        </p:nvSpPr>
        <p:spPr>
          <a:xfrm>
            <a:off x="6298956" y="3440471"/>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6" name="Google Shape;316;p21"/>
          <p:cNvSpPr/>
          <p:nvPr/>
        </p:nvSpPr>
        <p:spPr>
          <a:xfrm>
            <a:off x="6493264" y="3440471"/>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7" name="Google Shape;317;p21"/>
          <p:cNvSpPr/>
          <p:nvPr/>
        </p:nvSpPr>
        <p:spPr>
          <a:xfrm>
            <a:off x="6687572" y="3440471"/>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8" name="Google Shape;318;p21"/>
          <p:cNvSpPr/>
          <p:nvPr/>
        </p:nvSpPr>
        <p:spPr>
          <a:xfrm>
            <a:off x="6298956" y="324616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19" name="Google Shape;319;p21"/>
          <p:cNvSpPr/>
          <p:nvPr/>
        </p:nvSpPr>
        <p:spPr>
          <a:xfrm>
            <a:off x="6494205" y="324616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20" name="Google Shape;320;p21"/>
          <p:cNvSpPr/>
          <p:nvPr/>
        </p:nvSpPr>
        <p:spPr>
          <a:xfrm>
            <a:off x="6687572" y="3246163"/>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21" name="Google Shape;321;p21"/>
          <p:cNvSpPr txBox="1"/>
          <p:nvPr/>
        </p:nvSpPr>
        <p:spPr>
          <a:xfrm>
            <a:off x="7412126" y="3856100"/>
            <a:ext cx="1804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a:t>
            </a:r>
            <a:endParaRPr baseline="-25000" sz="1300">
              <a:solidFill>
                <a:schemeClr val="accent1"/>
              </a:solidFill>
              <a:latin typeface="Lato"/>
              <a:ea typeface="Lato"/>
              <a:cs typeface="Lato"/>
              <a:sym typeface="Lato"/>
            </a:endParaRPr>
          </a:p>
        </p:txBody>
      </p:sp>
      <p:sp>
        <p:nvSpPr>
          <p:cNvPr id="322" name="Google Shape;322;p21"/>
          <p:cNvSpPr txBox="1"/>
          <p:nvPr/>
        </p:nvSpPr>
        <p:spPr>
          <a:xfrm>
            <a:off x="7412126" y="4279100"/>
            <a:ext cx="1804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a:t>
            </a:r>
            <a:endParaRPr baseline="-25000" sz="1300">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4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5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5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
                                        <p:tgtEl>
                                          <p:spTgt spid="265"/>
                                        </p:tgtEl>
                                      </p:cBhvr>
                                    </p:animEffect>
                                  </p:childTnLst>
                                </p:cTn>
                              </p:par>
                            </p:childTnLst>
                          </p:cTn>
                        </p:par>
                        <p:par>
                          <p:cTn fill="hold">
                            <p:stCondLst>
                              <p:cond delay="100"/>
                            </p:stCondLst>
                            <p:childTnLst>
                              <p:par>
                                <p:cTn fill="hold" nodeType="after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
                                        <p:tgtEl>
                                          <p:spTgt spid="266"/>
                                        </p:tgtEl>
                                      </p:cBhvr>
                                    </p:animEffect>
                                  </p:childTnLst>
                                </p:cTn>
                              </p:par>
                            </p:childTnLst>
                          </p:cTn>
                        </p:par>
                        <p:par>
                          <p:cTn fill="hold">
                            <p:stCondLst>
                              <p:cond delay="200"/>
                            </p:stCondLst>
                            <p:childTnLst>
                              <p:par>
                                <p:cTn fill="hold" nodeType="after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
                                        <p:tgtEl>
                                          <p:spTgt spid="267"/>
                                        </p:tgtEl>
                                      </p:cBhvr>
                                    </p:animEffect>
                                  </p:childTnLst>
                                </p:cTn>
                              </p:par>
                            </p:childTnLst>
                          </p:cTn>
                        </p:par>
                        <p:par>
                          <p:cTn fill="hold">
                            <p:stCondLst>
                              <p:cond delay="300"/>
                            </p:stCondLst>
                            <p:childTnLst>
                              <p:par>
                                <p:cTn fill="hold" nodeType="after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
                                        <p:tgtEl>
                                          <p:spTgt spid="268"/>
                                        </p:tgtEl>
                                      </p:cBhvr>
                                    </p:animEffect>
                                  </p:childTnLst>
                                </p:cTn>
                              </p:par>
                            </p:childTnLst>
                          </p:cTn>
                        </p:par>
                        <p:par>
                          <p:cTn fill="hold">
                            <p:stCondLst>
                              <p:cond delay="400"/>
                            </p:stCondLst>
                            <p:childTnLst>
                              <p:par>
                                <p:cTn fill="hold" nodeType="after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Normal Case</a:t>
            </a:r>
            <a:endParaRPr/>
          </a:p>
        </p:txBody>
      </p:sp>
      <p:cxnSp>
        <p:nvCxnSpPr>
          <p:cNvPr id="328" name="Google Shape;328;p22"/>
          <p:cNvCxnSpPr/>
          <p:nvPr/>
        </p:nvCxnSpPr>
        <p:spPr>
          <a:xfrm>
            <a:off x="913224" y="2352967"/>
            <a:ext cx="7470600" cy="0"/>
          </a:xfrm>
          <a:prstGeom prst="straightConnector1">
            <a:avLst/>
          </a:prstGeom>
          <a:noFill/>
          <a:ln cap="flat" cmpd="sng" w="12775">
            <a:solidFill>
              <a:schemeClr val="dk2"/>
            </a:solidFill>
            <a:prstDash val="solid"/>
            <a:round/>
            <a:headEnd len="med" w="med" type="none"/>
            <a:tailEnd len="med" w="med" type="none"/>
          </a:ln>
        </p:spPr>
      </p:cxnSp>
      <p:cxnSp>
        <p:nvCxnSpPr>
          <p:cNvPr id="329" name="Google Shape;329;p22"/>
          <p:cNvCxnSpPr/>
          <p:nvPr/>
        </p:nvCxnSpPr>
        <p:spPr>
          <a:xfrm>
            <a:off x="913224" y="2632105"/>
            <a:ext cx="7480500" cy="0"/>
          </a:xfrm>
          <a:prstGeom prst="straightConnector1">
            <a:avLst/>
          </a:prstGeom>
          <a:noFill/>
          <a:ln cap="flat" cmpd="sng" w="12775">
            <a:solidFill>
              <a:schemeClr val="dk2"/>
            </a:solidFill>
            <a:prstDash val="solid"/>
            <a:round/>
            <a:headEnd len="med" w="med" type="none"/>
            <a:tailEnd len="med" w="med" type="none"/>
          </a:ln>
        </p:spPr>
      </p:cxnSp>
      <p:cxnSp>
        <p:nvCxnSpPr>
          <p:cNvPr id="330" name="Google Shape;330;p22"/>
          <p:cNvCxnSpPr/>
          <p:nvPr/>
        </p:nvCxnSpPr>
        <p:spPr>
          <a:xfrm>
            <a:off x="913224" y="2922687"/>
            <a:ext cx="7487100" cy="0"/>
          </a:xfrm>
          <a:prstGeom prst="straightConnector1">
            <a:avLst/>
          </a:prstGeom>
          <a:noFill/>
          <a:ln cap="flat" cmpd="sng" w="12775">
            <a:solidFill>
              <a:schemeClr val="dk2"/>
            </a:solidFill>
            <a:prstDash val="solid"/>
            <a:round/>
            <a:headEnd len="med" w="med" type="none"/>
            <a:tailEnd len="med" w="med" type="none"/>
          </a:ln>
        </p:spPr>
      </p:cxnSp>
      <p:cxnSp>
        <p:nvCxnSpPr>
          <p:cNvPr id="331" name="Google Shape;331;p22"/>
          <p:cNvCxnSpPr/>
          <p:nvPr/>
        </p:nvCxnSpPr>
        <p:spPr>
          <a:xfrm>
            <a:off x="913224" y="3178766"/>
            <a:ext cx="7496100" cy="0"/>
          </a:xfrm>
          <a:prstGeom prst="straightConnector1">
            <a:avLst/>
          </a:prstGeom>
          <a:noFill/>
          <a:ln cap="flat" cmpd="sng" w="12775">
            <a:solidFill>
              <a:schemeClr val="dk2"/>
            </a:solidFill>
            <a:prstDash val="solid"/>
            <a:round/>
            <a:headEnd len="med" w="med" type="none"/>
            <a:tailEnd len="med" w="med" type="none"/>
          </a:ln>
        </p:spPr>
      </p:cxnSp>
      <p:cxnSp>
        <p:nvCxnSpPr>
          <p:cNvPr id="332" name="Google Shape;332;p22"/>
          <p:cNvCxnSpPr/>
          <p:nvPr/>
        </p:nvCxnSpPr>
        <p:spPr>
          <a:xfrm>
            <a:off x="913224" y="1965417"/>
            <a:ext cx="7469400" cy="0"/>
          </a:xfrm>
          <a:prstGeom prst="straightConnector1">
            <a:avLst/>
          </a:prstGeom>
          <a:noFill/>
          <a:ln cap="flat" cmpd="sng" w="12775">
            <a:solidFill>
              <a:schemeClr val="dk2"/>
            </a:solidFill>
            <a:prstDash val="solid"/>
            <a:round/>
            <a:headEnd len="med" w="med" type="none"/>
            <a:tailEnd len="med" w="med" type="none"/>
          </a:ln>
        </p:spPr>
      </p:cxnSp>
      <p:sp>
        <p:nvSpPr>
          <p:cNvPr id="333" name="Google Shape;333;p22"/>
          <p:cNvSpPr txBox="1"/>
          <p:nvPr/>
        </p:nvSpPr>
        <p:spPr>
          <a:xfrm>
            <a:off x="467375" y="1707050"/>
            <a:ext cx="4458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c</a:t>
            </a:r>
            <a:endParaRPr i="1" sz="1745">
              <a:solidFill>
                <a:schemeClr val="dk2"/>
              </a:solidFill>
              <a:latin typeface="Lato"/>
              <a:ea typeface="Lato"/>
              <a:cs typeface="Lato"/>
              <a:sym typeface="Lato"/>
            </a:endParaRPr>
          </a:p>
        </p:txBody>
      </p:sp>
      <p:sp>
        <p:nvSpPr>
          <p:cNvPr id="334" name="Google Shape;334;p22"/>
          <p:cNvSpPr txBox="1"/>
          <p:nvPr/>
        </p:nvSpPr>
        <p:spPr>
          <a:xfrm>
            <a:off x="467375" y="2052378"/>
            <a:ext cx="4458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P</a:t>
            </a:r>
            <a:endParaRPr i="1" sz="1745">
              <a:solidFill>
                <a:schemeClr val="dk2"/>
              </a:solidFill>
              <a:latin typeface="Lato"/>
              <a:ea typeface="Lato"/>
              <a:cs typeface="Lato"/>
              <a:sym typeface="Lato"/>
            </a:endParaRPr>
          </a:p>
        </p:txBody>
      </p:sp>
      <p:sp>
        <p:nvSpPr>
          <p:cNvPr id="335" name="Google Shape;335;p22"/>
          <p:cNvSpPr txBox="1"/>
          <p:nvPr/>
        </p:nvSpPr>
        <p:spPr>
          <a:xfrm>
            <a:off x="467375" y="2373738"/>
            <a:ext cx="6147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R</a:t>
            </a:r>
            <a:r>
              <a:rPr baseline="-25000" i="1" lang="en" sz="1745">
                <a:solidFill>
                  <a:schemeClr val="dk2"/>
                </a:solidFill>
                <a:latin typeface="Lato"/>
                <a:ea typeface="Lato"/>
                <a:cs typeface="Lato"/>
                <a:sym typeface="Lato"/>
              </a:rPr>
              <a:t>1</a:t>
            </a:r>
            <a:endParaRPr baseline="-25000" i="1" sz="1745">
              <a:solidFill>
                <a:schemeClr val="dk2"/>
              </a:solidFill>
              <a:latin typeface="Lato"/>
              <a:ea typeface="Lato"/>
              <a:cs typeface="Lato"/>
              <a:sym typeface="Lato"/>
            </a:endParaRPr>
          </a:p>
        </p:txBody>
      </p:sp>
      <p:sp>
        <p:nvSpPr>
          <p:cNvPr id="336" name="Google Shape;336;p22"/>
          <p:cNvSpPr txBox="1"/>
          <p:nvPr/>
        </p:nvSpPr>
        <p:spPr>
          <a:xfrm>
            <a:off x="467375" y="2664320"/>
            <a:ext cx="6147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R</a:t>
            </a:r>
            <a:r>
              <a:rPr baseline="-25000" i="1" lang="en" sz="1745">
                <a:solidFill>
                  <a:schemeClr val="dk2"/>
                </a:solidFill>
                <a:latin typeface="Lato"/>
                <a:ea typeface="Lato"/>
                <a:cs typeface="Lato"/>
                <a:sym typeface="Lato"/>
              </a:rPr>
              <a:t>2</a:t>
            </a:r>
            <a:endParaRPr baseline="-25000" i="1" sz="1745">
              <a:solidFill>
                <a:schemeClr val="dk2"/>
              </a:solidFill>
              <a:latin typeface="Lato"/>
              <a:ea typeface="Lato"/>
              <a:cs typeface="Lato"/>
              <a:sym typeface="Lato"/>
            </a:endParaRPr>
          </a:p>
        </p:txBody>
      </p:sp>
      <p:sp>
        <p:nvSpPr>
          <p:cNvPr id="337" name="Google Shape;337;p22"/>
          <p:cNvSpPr txBox="1"/>
          <p:nvPr/>
        </p:nvSpPr>
        <p:spPr>
          <a:xfrm>
            <a:off x="467375" y="2890466"/>
            <a:ext cx="6147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R</a:t>
            </a:r>
            <a:r>
              <a:rPr baseline="-25000" i="1" lang="en" sz="1745">
                <a:solidFill>
                  <a:schemeClr val="dk2"/>
                </a:solidFill>
                <a:latin typeface="Lato"/>
                <a:ea typeface="Lato"/>
                <a:cs typeface="Lato"/>
                <a:sym typeface="Lato"/>
              </a:rPr>
              <a:t>3</a:t>
            </a:r>
            <a:endParaRPr baseline="-25000" i="1" sz="1745">
              <a:solidFill>
                <a:schemeClr val="dk2"/>
              </a:solidFill>
              <a:latin typeface="Lato"/>
              <a:ea typeface="Lato"/>
              <a:cs typeface="Lato"/>
              <a:sym typeface="Lato"/>
            </a:endParaRPr>
          </a:p>
        </p:txBody>
      </p:sp>
      <p:cxnSp>
        <p:nvCxnSpPr>
          <p:cNvPr id="338" name="Google Shape;338;p22"/>
          <p:cNvCxnSpPr/>
          <p:nvPr/>
        </p:nvCxnSpPr>
        <p:spPr>
          <a:xfrm>
            <a:off x="1105707" y="1973975"/>
            <a:ext cx="1384800" cy="381300"/>
          </a:xfrm>
          <a:prstGeom prst="straightConnector1">
            <a:avLst/>
          </a:prstGeom>
          <a:noFill/>
          <a:ln cap="flat" cmpd="sng" w="12775">
            <a:solidFill>
              <a:schemeClr val="dk2"/>
            </a:solidFill>
            <a:prstDash val="solid"/>
            <a:round/>
            <a:headEnd len="med" w="med" type="none"/>
            <a:tailEnd len="med" w="med" type="triangle"/>
          </a:ln>
        </p:spPr>
      </p:cxnSp>
      <p:cxnSp>
        <p:nvCxnSpPr>
          <p:cNvPr id="339" name="Google Shape;339;p22"/>
          <p:cNvCxnSpPr/>
          <p:nvPr/>
        </p:nvCxnSpPr>
        <p:spPr>
          <a:xfrm>
            <a:off x="1101982" y="1968874"/>
            <a:ext cx="0" cy="1213800"/>
          </a:xfrm>
          <a:prstGeom prst="straightConnector1">
            <a:avLst/>
          </a:prstGeom>
          <a:noFill/>
          <a:ln cap="flat" cmpd="sng" w="12775">
            <a:solidFill>
              <a:schemeClr val="dk2"/>
            </a:solidFill>
            <a:prstDash val="solid"/>
            <a:round/>
            <a:headEnd len="med" w="med" type="none"/>
            <a:tailEnd len="med" w="med" type="none"/>
          </a:ln>
        </p:spPr>
      </p:cxnSp>
      <p:sp>
        <p:nvSpPr>
          <p:cNvPr id="340" name="Google Shape;340;p22"/>
          <p:cNvSpPr txBox="1"/>
          <p:nvPr/>
        </p:nvSpPr>
        <p:spPr>
          <a:xfrm>
            <a:off x="1838754" y="1857009"/>
            <a:ext cx="4458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T</a:t>
            </a:r>
            <a:endParaRPr i="1" sz="1745">
              <a:solidFill>
                <a:schemeClr val="dk2"/>
              </a:solidFill>
              <a:latin typeface="Lato"/>
              <a:ea typeface="Lato"/>
              <a:cs typeface="Lato"/>
              <a:sym typeface="Lato"/>
            </a:endParaRPr>
          </a:p>
        </p:txBody>
      </p:sp>
      <p:cxnSp>
        <p:nvCxnSpPr>
          <p:cNvPr id="341" name="Google Shape;341;p22"/>
          <p:cNvCxnSpPr/>
          <p:nvPr/>
        </p:nvCxnSpPr>
        <p:spPr>
          <a:xfrm>
            <a:off x="2480879" y="1974781"/>
            <a:ext cx="0" cy="1196100"/>
          </a:xfrm>
          <a:prstGeom prst="straightConnector1">
            <a:avLst/>
          </a:prstGeom>
          <a:noFill/>
          <a:ln cap="flat" cmpd="sng" w="12775">
            <a:solidFill>
              <a:schemeClr val="dk2"/>
            </a:solidFill>
            <a:prstDash val="solid"/>
            <a:round/>
            <a:headEnd len="med" w="med" type="none"/>
            <a:tailEnd len="med" w="med" type="none"/>
          </a:ln>
        </p:spPr>
      </p:cxnSp>
      <p:cxnSp>
        <p:nvCxnSpPr>
          <p:cNvPr id="342" name="Google Shape;342;p22"/>
          <p:cNvCxnSpPr/>
          <p:nvPr/>
        </p:nvCxnSpPr>
        <p:spPr>
          <a:xfrm>
            <a:off x="3830341" y="1962967"/>
            <a:ext cx="0" cy="1207800"/>
          </a:xfrm>
          <a:prstGeom prst="straightConnector1">
            <a:avLst/>
          </a:prstGeom>
          <a:noFill/>
          <a:ln cap="flat" cmpd="sng" w="12775">
            <a:solidFill>
              <a:schemeClr val="dk2"/>
            </a:solidFill>
            <a:prstDash val="solid"/>
            <a:round/>
            <a:headEnd len="med" w="med" type="none"/>
            <a:tailEnd len="med" w="med" type="none"/>
          </a:ln>
        </p:spPr>
      </p:cxnSp>
      <p:cxnSp>
        <p:nvCxnSpPr>
          <p:cNvPr id="343" name="Google Shape;343;p22"/>
          <p:cNvCxnSpPr/>
          <p:nvPr/>
        </p:nvCxnSpPr>
        <p:spPr>
          <a:xfrm>
            <a:off x="2483966" y="2353236"/>
            <a:ext cx="1344300" cy="270600"/>
          </a:xfrm>
          <a:prstGeom prst="straightConnector1">
            <a:avLst/>
          </a:prstGeom>
          <a:noFill/>
          <a:ln cap="flat" cmpd="sng" w="12775">
            <a:solidFill>
              <a:schemeClr val="dk2"/>
            </a:solidFill>
            <a:prstDash val="solid"/>
            <a:round/>
            <a:headEnd len="med" w="med" type="none"/>
            <a:tailEnd len="med" w="med" type="triangle"/>
          </a:ln>
        </p:spPr>
      </p:cxnSp>
      <p:cxnSp>
        <p:nvCxnSpPr>
          <p:cNvPr id="344" name="Google Shape;344;p22"/>
          <p:cNvCxnSpPr/>
          <p:nvPr/>
        </p:nvCxnSpPr>
        <p:spPr>
          <a:xfrm>
            <a:off x="2479603" y="2353236"/>
            <a:ext cx="1353000" cy="567600"/>
          </a:xfrm>
          <a:prstGeom prst="straightConnector1">
            <a:avLst/>
          </a:prstGeom>
          <a:noFill/>
          <a:ln cap="flat" cmpd="sng" w="12775">
            <a:solidFill>
              <a:schemeClr val="dk2"/>
            </a:solidFill>
            <a:prstDash val="solid"/>
            <a:round/>
            <a:headEnd len="med" w="med" type="none"/>
            <a:tailEnd len="med" w="med" type="triangle"/>
          </a:ln>
        </p:spPr>
      </p:cxnSp>
      <p:cxnSp>
        <p:nvCxnSpPr>
          <p:cNvPr id="345" name="Google Shape;345;p22"/>
          <p:cNvCxnSpPr/>
          <p:nvPr/>
        </p:nvCxnSpPr>
        <p:spPr>
          <a:xfrm>
            <a:off x="2492693" y="2348873"/>
            <a:ext cx="1361700" cy="833700"/>
          </a:xfrm>
          <a:prstGeom prst="straightConnector1">
            <a:avLst/>
          </a:prstGeom>
          <a:noFill/>
          <a:ln cap="flat" cmpd="sng" w="12775">
            <a:solidFill>
              <a:schemeClr val="dk2"/>
            </a:solidFill>
            <a:prstDash val="solid"/>
            <a:round/>
            <a:headEnd len="med" w="med" type="none"/>
            <a:tailEnd len="med" w="med" type="triangle"/>
          </a:ln>
        </p:spPr>
      </p:cxnSp>
      <p:sp>
        <p:nvSpPr>
          <p:cNvPr id="346" name="Google Shape;346;p22"/>
          <p:cNvSpPr txBox="1"/>
          <p:nvPr/>
        </p:nvSpPr>
        <p:spPr>
          <a:xfrm>
            <a:off x="2627213" y="3213284"/>
            <a:ext cx="10926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Propose</a:t>
            </a:r>
            <a:endParaRPr sz="1745">
              <a:solidFill>
                <a:schemeClr val="dk2"/>
              </a:solidFill>
              <a:latin typeface="Lato"/>
              <a:ea typeface="Lato"/>
              <a:cs typeface="Lato"/>
              <a:sym typeface="Lato"/>
            </a:endParaRPr>
          </a:p>
        </p:txBody>
      </p:sp>
      <p:cxnSp>
        <p:nvCxnSpPr>
          <p:cNvPr id="347" name="Google Shape;347;p22"/>
          <p:cNvCxnSpPr/>
          <p:nvPr/>
        </p:nvCxnSpPr>
        <p:spPr>
          <a:xfrm>
            <a:off x="5301493" y="1971908"/>
            <a:ext cx="0" cy="1207800"/>
          </a:xfrm>
          <a:prstGeom prst="straightConnector1">
            <a:avLst/>
          </a:prstGeom>
          <a:noFill/>
          <a:ln cap="flat" cmpd="sng" w="12775">
            <a:solidFill>
              <a:schemeClr val="dk2"/>
            </a:solidFill>
            <a:prstDash val="solid"/>
            <a:round/>
            <a:headEnd len="med" w="med" type="none"/>
            <a:tailEnd len="med" w="med" type="none"/>
          </a:ln>
        </p:spPr>
      </p:cxnSp>
      <p:cxnSp>
        <p:nvCxnSpPr>
          <p:cNvPr id="348" name="Google Shape;348;p22"/>
          <p:cNvCxnSpPr/>
          <p:nvPr/>
        </p:nvCxnSpPr>
        <p:spPr>
          <a:xfrm flipH="1" rot="10800000">
            <a:off x="3839101" y="2353972"/>
            <a:ext cx="1454700" cy="277500"/>
          </a:xfrm>
          <a:prstGeom prst="straightConnector1">
            <a:avLst/>
          </a:prstGeom>
          <a:noFill/>
          <a:ln cap="flat" cmpd="sng" w="12775">
            <a:solidFill>
              <a:schemeClr val="dk2"/>
            </a:solidFill>
            <a:prstDash val="solid"/>
            <a:round/>
            <a:headEnd len="med" w="med" type="none"/>
            <a:tailEnd len="med" w="med" type="triangle"/>
          </a:ln>
        </p:spPr>
      </p:cxnSp>
      <p:cxnSp>
        <p:nvCxnSpPr>
          <p:cNvPr id="349" name="Google Shape;349;p22"/>
          <p:cNvCxnSpPr/>
          <p:nvPr/>
        </p:nvCxnSpPr>
        <p:spPr>
          <a:xfrm flipH="1" rot="10800000">
            <a:off x="3836516" y="2374576"/>
            <a:ext cx="1473000" cy="549900"/>
          </a:xfrm>
          <a:prstGeom prst="straightConnector1">
            <a:avLst/>
          </a:prstGeom>
          <a:noFill/>
          <a:ln cap="flat" cmpd="sng" w="12775">
            <a:solidFill>
              <a:schemeClr val="dk2"/>
            </a:solidFill>
            <a:prstDash val="solid"/>
            <a:round/>
            <a:headEnd len="med" w="med" type="none"/>
            <a:tailEnd len="med" w="med" type="triangle"/>
          </a:ln>
        </p:spPr>
      </p:cxnSp>
      <p:cxnSp>
        <p:nvCxnSpPr>
          <p:cNvPr id="350" name="Google Shape;350;p22"/>
          <p:cNvCxnSpPr/>
          <p:nvPr/>
        </p:nvCxnSpPr>
        <p:spPr>
          <a:xfrm flipH="1" rot="10800000">
            <a:off x="3834436" y="2359478"/>
            <a:ext cx="1474800" cy="818700"/>
          </a:xfrm>
          <a:prstGeom prst="straightConnector1">
            <a:avLst/>
          </a:prstGeom>
          <a:noFill/>
          <a:ln cap="flat" cmpd="sng" w="12775">
            <a:solidFill>
              <a:schemeClr val="dk2"/>
            </a:solidFill>
            <a:prstDash val="solid"/>
            <a:round/>
            <a:headEnd len="med" w="med" type="none"/>
            <a:tailEnd len="med" w="med" type="triangle"/>
          </a:ln>
        </p:spPr>
      </p:cxnSp>
      <p:sp>
        <p:nvSpPr>
          <p:cNvPr id="351" name="Google Shape;351;p22"/>
          <p:cNvSpPr txBox="1"/>
          <p:nvPr/>
        </p:nvSpPr>
        <p:spPr>
          <a:xfrm>
            <a:off x="4044103" y="3213284"/>
            <a:ext cx="10926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Support</a:t>
            </a:r>
            <a:endParaRPr sz="1745">
              <a:solidFill>
                <a:schemeClr val="dk2"/>
              </a:solidFill>
              <a:latin typeface="Lato"/>
              <a:ea typeface="Lato"/>
              <a:cs typeface="Lato"/>
              <a:sym typeface="Lato"/>
            </a:endParaRPr>
          </a:p>
        </p:txBody>
      </p:sp>
      <p:cxnSp>
        <p:nvCxnSpPr>
          <p:cNvPr id="352" name="Google Shape;352;p22"/>
          <p:cNvCxnSpPr/>
          <p:nvPr/>
        </p:nvCxnSpPr>
        <p:spPr>
          <a:xfrm>
            <a:off x="6666068" y="1962967"/>
            <a:ext cx="0" cy="1207800"/>
          </a:xfrm>
          <a:prstGeom prst="straightConnector1">
            <a:avLst/>
          </a:prstGeom>
          <a:noFill/>
          <a:ln cap="flat" cmpd="sng" w="12775">
            <a:solidFill>
              <a:schemeClr val="dk2"/>
            </a:solidFill>
            <a:prstDash val="solid"/>
            <a:round/>
            <a:headEnd len="med" w="med" type="none"/>
            <a:tailEnd len="med" w="med" type="none"/>
          </a:ln>
        </p:spPr>
      </p:cxnSp>
      <p:cxnSp>
        <p:nvCxnSpPr>
          <p:cNvPr id="353" name="Google Shape;353;p22"/>
          <p:cNvCxnSpPr/>
          <p:nvPr/>
        </p:nvCxnSpPr>
        <p:spPr>
          <a:xfrm>
            <a:off x="5319693" y="2353236"/>
            <a:ext cx="1344300" cy="270600"/>
          </a:xfrm>
          <a:prstGeom prst="straightConnector1">
            <a:avLst/>
          </a:prstGeom>
          <a:noFill/>
          <a:ln cap="flat" cmpd="sng" w="12775">
            <a:solidFill>
              <a:schemeClr val="dk2"/>
            </a:solidFill>
            <a:prstDash val="solid"/>
            <a:round/>
            <a:headEnd len="med" w="med" type="none"/>
            <a:tailEnd len="med" w="med" type="triangle"/>
          </a:ln>
        </p:spPr>
      </p:cxnSp>
      <p:cxnSp>
        <p:nvCxnSpPr>
          <p:cNvPr id="354" name="Google Shape;354;p22"/>
          <p:cNvCxnSpPr/>
          <p:nvPr/>
        </p:nvCxnSpPr>
        <p:spPr>
          <a:xfrm>
            <a:off x="5315330" y="2353236"/>
            <a:ext cx="1353000" cy="567600"/>
          </a:xfrm>
          <a:prstGeom prst="straightConnector1">
            <a:avLst/>
          </a:prstGeom>
          <a:noFill/>
          <a:ln cap="flat" cmpd="sng" w="12775">
            <a:solidFill>
              <a:schemeClr val="dk2"/>
            </a:solidFill>
            <a:prstDash val="solid"/>
            <a:round/>
            <a:headEnd len="med" w="med" type="none"/>
            <a:tailEnd len="med" w="med" type="triangle"/>
          </a:ln>
        </p:spPr>
      </p:cxnSp>
      <p:cxnSp>
        <p:nvCxnSpPr>
          <p:cNvPr id="355" name="Google Shape;355;p22"/>
          <p:cNvCxnSpPr/>
          <p:nvPr/>
        </p:nvCxnSpPr>
        <p:spPr>
          <a:xfrm>
            <a:off x="5328419" y="2348873"/>
            <a:ext cx="1361700" cy="833700"/>
          </a:xfrm>
          <a:prstGeom prst="straightConnector1">
            <a:avLst/>
          </a:prstGeom>
          <a:noFill/>
          <a:ln cap="flat" cmpd="sng" w="12775">
            <a:solidFill>
              <a:schemeClr val="dk2"/>
            </a:solidFill>
            <a:prstDash val="solid"/>
            <a:round/>
            <a:headEnd len="med" w="med" type="none"/>
            <a:tailEnd len="med" w="med" type="triangle"/>
          </a:ln>
        </p:spPr>
      </p:cxnSp>
      <p:sp>
        <p:nvSpPr>
          <p:cNvPr id="356" name="Google Shape;356;p22"/>
          <p:cNvSpPr txBox="1"/>
          <p:nvPr/>
        </p:nvSpPr>
        <p:spPr>
          <a:xfrm>
            <a:off x="5565239" y="3213284"/>
            <a:ext cx="10926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Certify</a:t>
            </a:r>
            <a:endParaRPr sz="1745">
              <a:solidFill>
                <a:schemeClr val="dk2"/>
              </a:solidFill>
              <a:latin typeface="Lato"/>
              <a:ea typeface="Lato"/>
              <a:cs typeface="Lato"/>
              <a:sym typeface="Lato"/>
            </a:endParaRPr>
          </a:p>
        </p:txBody>
      </p:sp>
      <p:cxnSp>
        <p:nvCxnSpPr>
          <p:cNvPr id="357" name="Google Shape;357;p22"/>
          <p:cNvCxnSpPr/>
          <p:nvPr/>
        </p:nvCxnSpPr>
        <p:spPr>
          <a:xfrm>
            <a:off x="8132085" y="1962980"/>
            <a:ext cx="0" cy="1207800"/>
          </a:xfrm>
          <a:prstGeom prst="straightConnector1">
            <a:avLst/>
          </a:prstGeom>
          <a:noFill/>
          <a:ln cap="flat" cmpd="sng" w="12775">
            <a:solidFill>
              <a:schemeClr val="dk2"/>
            </a:solidFill>
            <a:prstDash val="solid"/>
            <a:round/>
            <a:headEnd len="med" w="med" type="none"/>
            <a:tailEnd len="med" w="med" type="none"/>
          </a:ln>
        </p:spPr>
      </p:cxnSp>
      <p:cxnSp>
        <p:nvCxnSpPr>
          <p:cNvPr id="358" name="Google Shape;358;p22"/>
          <p:cNvCxnSpPr/>
          <p:nvPr/>
        </p:nvCxnSpPr>
        <p:spPr>
          <a:xfrm flipH="1" rot="10800000">
            <a:off x="6669692" y="1968544"/>
            <a:ext cx="1467300" cy="654000"/>
          </a:xfrm>
          <a:prstGeom prst="straightConnector1">
            <a:avLst/>
          </a:prstGeom>
          <a:noFill/>
          <a:ln cap="flat" cmpd="sng" w="12775">
            <a:solidFill>
              <a:schemeClr val="dk2"/>
            </a:solidFill>
            <a:prstDash val="solid"/>
            <a:round/>
            <a:headEnd len="med" w="med" type="none"/>
            <a:tailEnd len="med" w="med" type="triangle"/>
          </a:ln>
        </p:spPr>
      </p:cxnSp>
      <p:cxnSp>
        <p:nvCxnSpPr>
          <p:cNvPr id="359" name="Google Shape;359;p22"/>
          <p:cNvCxnSpPr/>
          <p:nvPr/>
        </p:nvCxnSpPr>
        <p:spPr>
          <a:xfrm flipH="1" rot="10800000">
            <a:off x="6667108" y="1973548"/>
            <a:ext cx="1453500" cy="942000"/>
          </a:xfrm>
          <a:prstGeom prst="straightConnector1">
            <a:avLst/>
          </a:prstGeom>
          <a:noFill/>
          <a:ln cap="flat" cmpd="sng" w="12775">
            <a:solidFill>
              <a:schemeClr val="dk2"/>
            </a:solidFill>
            <a:prstDash val="solid"/>
            <a:round/>
            <a:headEnd len="med" w="med" type="none"/>
            <a:tailEnd len="med" w="med" type="triangle"/>
          </a:ln>
        </p:spPr>
      </p:cxnSp>
      <p:cxnSp>
        <p:nvCxnSpPr>
          <p:cNvPr id="360" name="Google Shape;360;p22"/>
          <p:cNvCxnSpPr/>
          <p:nvPr/>
        </p:nvCxnSpPr>
        <p:spPr>
          <a:xfrm flipH="1" rot="10800000">
            <a:off x="6665027" y="1968350"/>
            <a:ext cx="1471800" cy="1200900"/>
          </a:xfrm>
          <a:prstGeom prst="straightConnector1">
            <a:avLst/>
          </a:prstGeom>
          <a:noFill/>
          <a:ln cap="flat" cmpd="sng" w="12775">
            <a:solidFill>
              <a:schemeClr val="dk2"/>
            </a:solidFill>
            <a:prstDash val="solid"/>
            <a:round/>
            <a:headEnd len="med" w="med" type="none"/>
            <a:tailEnd len="med" w="med" type="triangle"/>
          </a:ln>
        </p:spPr>
      </p:cxnSp>
      <p:sp>
        <p:nvSpPr>
          <p:cNvPr id="361" name="Google Shape;361;p22"/>
          <p:cNvSpPr txBox="1"/>
          <p:nvPr/>
        </p:nvSpPr>
        <p:spPr>
          <a:xfrm>
            <a:off x="6874694" y="3204357"/>
            <a:ext cx="10926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Inform</a:t>
            </a:r>
            <a:endParaRPr sz="1745">
              <a:solidFill>
                <a:schemeClr val="dk2"/>
              </a:solidFill>
              <a:latin typeface="Lato"/>
              <a:ea typeface="Lato"/>
              <a:cs typeface="Lato"/>
              <a:sym typeface="Lato"/>
            </a:endParaRPr>
          </a:p>
        </p:txBody>
      </p:sp>
      <p:cxnSp>
        <p:nvCxnSpPr>
          <p:cNvPr id="362" name="Google Shape;362;p22"/>
          <p:cNvCxnSpPr/>
          <p:nvPr/>
        </p:nvCxnSpPr>
        <p:spPr>
          <a:xfrm flipH="1" rot="10800000">
            <a:off x="6672277" y="1979220"/>
            <a:ext cx="1448700" cy="376500"/>
          </a:xfrm>
          <a:prstGeom prst="straightConnector1">
            <a:avLst/>
          </a:prstGeom>
          <a:noFill/>
          <a:ln cap="flat" cmpd="sng" w="12775">
            <a:solidFill>
              <a:schemeClr val="dk2"/>
            </a:solidFill>
            <a:prstDash val="solid"/>
            <a:round/>
            <a:headEnd len="med" w="med" type="none"/>
            <a:tailEnd len="med" w="med" type="triangle"/>
          </a:ln>
        </p:spPr>
      </p:cxnSp>
      <p:cxnSp>
        <p:nvCxnSpPr>
          <p:cNvPr id="363" name="Google Shape;363;p22"/>
          <p:cNvCxnSpPr/>
          <p:nvPr/>
        </p:nvCxnSpPr>
        <p:spPr>
          <a:xfrm>
            <a:off x="3828797" y="2625464"/>
            <a:ext cx="1477800" cy="300900"/>
          </a:xfrm>
          <a:prstGeom prst="straightConnector1">
            <a:avLst/>
          </a:prstGeom>
          <a:noFill/>
          <a:ln cap="flat" cmpd="sng" w="12775">
            <a:solidFill>
              <a:schemeClr val="dk2"/>
            </a:solidFill>
            <a:prstDash val="solid"/>
            <a:round/>
            <a:headEnd len="med" w="med" type="none"/>
            <a:tailEnd len="med" w="med" type="triangle"/>
          </a:ln>
        </p:spPr>
      </p:cxnSp>
      <p:cxnSp>
        <p:nvCxnSpPr>
          <p:cNvPr id="364" name="Google Shape;364;p22"/>
          <p:cNvCxnSpPr/>
          <p:nvPr/>
        </p:nvCxnSpPr>
        <p:spPr>
          <a:xfrm>
            <a:off x="3828797" y="2629861"/>
            <a:ext cx="1477800" cy="535200"/>
          </a:xfrm>
          <a:prstGeom prst="straightConnector1">
            <a:avLst/>
          </a:prstGeom>
          <a:noFill/>
          <a:ln cap="flat" cmpd="sng" w="12775">
            <a:solidFill>
              <a:schemeClr val="dk2"/>
            </a:solidFill>
            <a:prstDash val="solid"/>
            <a:round/>
            <a:headEnd len="med" w="med" type="none"/>
            <a:tailEnd len="med" w="med" type="triangle"/>
          </a:ln>
        </p:spPr>
      </p:cxnSp>
      <p:cxnSp>
        <p:nvCxnSpPr>
          <p:cNvPr id="365" name="Google Shape;365;p22"/>
          <p:cNvCxnSpPr/>
          <p:nvPr/>
        </p:nvCxnSpPr>
        <p:spPr>
          <a:xfrm flipH="1" rot="10800000">
            <a:off x="3833227" y="2643052"/>
            <a:ext cx="1455600" cy="287700"/>
          </a:xfrm>
          <a:prstGeom prst="straightConnector1">
            <a:avLst/>
          </a:prstGeom>
          <a:noFill/>
          <a:ln cap="flat" cmpd="sng" w="12775">
            <a:solidFill>
              <a:schemeClr val="dk2"/>
            </a:solidFill>
            <a:prstDash val="solid"/>
            <a:round/>
            <a:headEnd len="med" w="med" type="none"/>
            <a:tailEnd len="med" w="med" type="triangle"/>
          </a:ln>
        </p:spPr>
      </p:cxnSp>
      <p:cxnSp>
        <p:nvCxnSpPr>
          <p:cNvPr id="366" name="Google Shape;366;p22"/>
          <p:cNvCxnSpPr/>
          <p:nvPr/>
        </p:nvCxnSpPr>
        <p:spPr>
          <a:xfrm>
            <a:off x="3842088" y="2926322"/>
            <a:ext cx="1442700" cy="230100"/>
          </a:xfrm>
          <a:prstGeom prst="straightConnector1">
            <a:avLst/>
          </a:prstGeom>
          <a:noFill/>
          <a:ln cap="flat" cmpd="sng" w="12775">
            <a:solidFill>
              <a:schemeClr val="dk2"/>
            </a:solidFill>
            <a:prstDash val="solid"/>
            <a:round/>
            <a:headEnd len="med" w="med" type="none"/>
            <a:tailEnd len="med" w="med" type="triangle"/>
          </a:ln>
        </p:spPr>
      </p:cxnSp>
      <p:cxnSp>
        <p:nvCxnSpPr>
          <p:cNvPr id="367" name="Google Shape;367;p22"/>
          <p:cNvCxnSpPr/>
          <p:nvPr/>
        </p:nvCxnSpPr>
        <p:spPr>
          <a:xfrm flipH="1" rot="10800000">
            <a:off x="3842088" y="2935317"/>
            <a:ext cx="1451100" cy="238800"/>
          </a:xfrm>
          <a:prstGeom prst="straightConnector1">
            <a:avLst/>
          </a:prstGeom>
          <a:noFill/>
          <a:ln cap="flat" cmpd="sng" w="12775">
            <a:solidFill>
              <a:schemeClr val="dk2"/>
            </a:solidFill>
            <a:prstDash val="solid"/>
            <a:round/>
            <a:headEnd len="med" w="med" type="none"/>
            <a:tailEnd len="med" w="med" type="triangle"/>
          </a:ln>
        </p:spPr>
      </p:cxnSp>
      <p:cxnSp>
        <p:nvCxnSpPr>
          <p:cNvPr id="368" name="Google Shape;368;p22"/>
          <p:cNvCxnSpPr/>
          <p:nvPr/>
        </p:nvCxnSpPr>
        <p:spPr>
          <a:xfrm flipH="1" rot="10800000">
            <a:off x="3855345" y="2647686"/>
            <a:ext cx="1442700" cy="522000"/>
          </a:xfrm>
          <a:prstGeom prst="straightConnector1">
            <a:avLst/>
          </a:prstGeom>
          <a:noFill/>
          <a:ln cap="flat" cmpd="sng" w="12775">
            <a:solidFill>
              <a:schemeClr val="dk2"/>
            </a:solidFill>
            <a:prstDash val="solid"/>
            <a:round/>
            <a:headEnd len="med" w="med" type="none"/>
            <a:tailEnd len="med" w="med" type="triangle"/>
          </a:ln>
        </p:spPr>
      </p:cxnSp>
      <p:sp>
        <p:nvSpPr>
          <p:cNvPr id="369" name="Google Shape;369;p22"/>
          <p:cNvSpPr/>
          <p:nvPr/>
        </p:nvSpPr>
        <p:spPr>
          <a:xfrm>
            <a:off x="3822454" y="1950045"/>
            <a:ext cx="1477800" cy="1254300"/>
          </a:xfrm>
          <a:prstGeom prst="flowChartConnector">
            <a:avLst/>
          </a:prstGeom>
          <a:noFill/>
          <a:ln cap="flat" cmpd="sng" w="12775">
            <a:solidFill>
              <a:srgbClr val="FF0000"/>
            </a:solidFill>
            <a:prstDash val="solid"/>
            <a:round/>
            <a:headEnd len="sm" w="sm" type="none"/>
            <a:tailEnd len="sm" w="sm" type="none"/>
          </a:ln>
        </p:spPr>
        <p:txBody>
          <a:bodyPr anchorCtr="0" anchor="ctr" bIns="122750" lIns="122750" spcFirstLastPara="1" rIns="122750" wrap="square" tIns="122750">
            <a:noAutofit/>
          </a:bodyPr>
          <a:lstStyle/>
          <a:p>
            <a:pPr indent="0" lvl="0" marL="0" rtl="0" algn="ctr">
              <a:spcBef>
                <a:spcPts val="0"/>
              </a:spcBef>
              <a:spcAft>
                <a:spcPts val="0"/>
              </a:spcAft>
              <a:buNone/>
            </a:pPr>
            <a:r>
              <a:t/>
            </a:r>
            <a:endParaRPr sz="1879">
              <a:latin typeface="Lato"/>
              <a:ea typeface="Lato"/>
              <a:cs typeface="Lato"/>
              <a:sym typeface="Lato"/>
            </a:endParaRPr>
          </a:p>
        </p:txBody>
      </p:sp>
      <p:cxnSp>
        <p:nvCxnSpPr>
          <p:cNvPr id="370" name="Google Shape;370;p22"/>
          <p:cNvCxnSpPr>
            <a:stCxn id="369" idx="3"/>
            <a:endCxn id="369" idx="7"/>
          </p:cNvCxnSpPr>
          <p:nvPr/>
        </p:nvCxnSpPr>
        <p:spPr>
          <a:xfrm flipH="1" rot="10800000">
            <a:off x="4038872" y="2133857"/>
            <a:ext cx="1044900" cy="886800"/>
          </a:xfrm>
          <a:prstGeom prst="straightConnector1">
            <a:avLst/>
          </a:prstGeom>
          <a:noFill/>
          <a:ln cap="flat" cmpd="sng" w="12775">
            <a:solidFill>
              <a:srgbClr val="FF0000"/>
            </a:solidFill>
            <a:prstDash val="solid"/>
            <a:round/>
            <a:headEnd len="med" w="med" type="none"/>
            <a:tailEnd len="med" w="med" type="none"/>
          </a:ln>
        </p:spPr>
      </p:cxnSp>
      <p:sp>
        <p:nvSpPr>
          <p:cNvPr id="371" name="Google Shape;371;p22"/>
          <p:cNvSpPr txBox="1"/>
          <p:nvPr/>
        </p:nvSpPr>
        <p:spPr>
          <a:xfrm>
            <a:off x="4726050" y="3764375"/>
            <a:ext cx="1277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View-commit</a:t>
            </a:r>
            <a:endParaRPr sz="1300">
              <a:solidFill>
                <a:schemeClr val="dk2"/>
              </a:solidFill>
              <a:latin typeface="Lato"/>
              <a:ea typeface="Lato"/>
              <a:cs typeface="Lato"/>
              <a:sym typeface="Lato"/>
            </a:endParaRPr>
          </a:p>
        </p:txBody>
      </p:sp>
      <p:sp>
        <p:nvSpPr>
          <p:cNvPr id="372" name="Google Shape;372;p22"/>
          <p:cNvSpPr txBox="1"/>
          <p:nvPr/>
        </p:nvSpPr>
        <p:spPr>
          <a:xfrm>
            <a:off x="4752450" y="4129125"/>
            <a:ext cx="2841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1.	Signed transaction 		⟨T⟩</a:t>
            </a:r>
            <a:r>
              <a:rPr baseline="-25000" lang="en" sz="1300">
                <a:solidFill>
                  <a:schemeClr val="dk2"/>
                </a:solidFill>
                <a:latin typeface="Lato"/>
                <a:ea typeface="Lato"/>
                <a:cs typeface="Lato"/>
                <a:sym typeface="Lato"/>
              </a:rPr>
              <a:t>c</a:t>
            </a:r>
            <a:endParaRPr i="1" sz="1300">
              <a:solidFill>
                <a:schemeClr val="dk2"/>
              </a:solidFill>
              <a:latin typeface="Lato"/>
              <a:ea typeface="Lato"/>
              <a:cs typeface="Lato"/>
              <a:sym typeface="Lato"/>
            </a:endParaRPr>
          </a:p>
        </p:txBody>
      </p:sp>
      <p:sp>
        <p:nvSpPr>
          <p:cNvPr id="373" name="Google Shape;373;p22"/>
          <p:cNvSpPr txBox="1"/>
          <p:nvPr/>
        </p:nvSpPr>
        <p:spPr>
          <a:xfrm>
            <a:off x="4752450" y="4369650"/>
            <a:ext cx="2751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2.	View number 		</a:t>
            </a:r>
            <a:r>
              <a:rPr i="1" lang="en" sz="1300">
                <a:solidFill>
                  <a:schemeClr val="dk2"/>
                </a:solidFill>
                <a:latin typeface="Lato"/>
                <a:ea typeface="Lato"/>
                <a:cs typeface="Lato"/>
                <a:sym typeface="Lato"/>
              </a:rPr>
              <a:t>v</a:t>
            </a:r>
            <a:endParaRPr i="1" sz="1300">
              <a:solidFill>
                <a:schemeClr val="dk2"/>
              </a:solidFill>
              <a:latin typeface="Lato"/>
              <a:ea typeface="Lato"/>
              <a:cs typeface="Lato"/>
              <a:sym typeface="Lato"/>
            </a:endParaRPr>
          </a:p>
        </p:txBody>
      </p:sp>
      <p:sp>
        <p:nvSpPr>
          <p:cNvPr id="374" name="Google Shape;374;p22"/>
          <p:cNvSpPr txBox="1"/>
          <p:nvPr/>
        </p:nvSpPr>
        <p:spPr>
          <a:xfrm>
            <a:off x="4752450" y="4631156"/>
            <a:ext cx="2697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3</a:t>
            </a:r>
            <a:r>
              <a:rPr lang="en" sz="1300">
                <a:solidFill>
                  <a:schemeClr val="dk2"/>
                </a:solidFill>
                <a:latin typeface="Lato"/>
                <a:ea typeface="Lato"/>
                <a:cs typeface="Lato"/>
                <a:sym typeface="Lato"/>
              </a:rPr>
              <a:t>.	Transaction number 	</a:t>
            </a:r>
            <a:r>
              <a:rPr i="1" lang="en" sz="1300">
                <a:solidFill>
                  <a:schemeClr val="dk2"/>
                </a:solidFill>
                <a:latin typeface="Lato"/>
                <a:ea typeface="Lato"/>
                <a:cs typeface="Lato"/>
                <a:sym typeface="Lato"/>
              </a:rPr>
              <a:t>k</a:t>
            </a:r>
            <a:endParaRPr i="1" sz="1300">
              <a:solidFill>
                <a:schemeClr val="dk2"/>
              </a:solidFill>
              <a:latin typeface="Lato"/>
              <a:ea typeface="Lato"/>
              <a:cs typeface="Lato"/>
              <a:sym typeface="Lato"/>
            </a:endParaRPr>
          </a:p>
        </p:txBody>
      </p:sp>
      <p:sp>
        <p:nvSpPr>
          <p:cNvPr id="375" name="Google Shape;375;p22"/>
          <p:cNvSpPr/>
          <p:nvPr/>
        </p:nvSpPr>
        <p:spPr>
          <a:xfrm>
            <a:off x="5007268" y="1235738"/>
            <a:ext cx="582900" cy="582900"/>
          </a:xfrm>
          <a:prstGeom prst="rect">
            <a:avLst/>
          </a:prstGeom>
          <a:solidFill>
            <a:schemeClr val="lt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76" name="Google Shape;376;p22"/>
          <p:cNvSpPr/>
          <p:nvPr/>
        </p:nvSpPr>
        <p:spPr>
          <a:xfrm>
            <a:off x="5007268" y="1624354"/>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77" name="Google Shape;377;p22"/>
          <p:cNvSpPr/>
          <p:nvPr/>
        </p:nvSpPr>
        <p:spPr>
          <a:xfrm>
            <a:off x="5201577" y="1624354"/>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78" name="Google Shape;378;p22"/>
          <p:cNvSpPr/>
          <p:nvPr/>
        </p:nvSpPr>
        <p:spPr>
          <a:xfrm>
            <a:off x="5395885" y="1624354"/>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79" name="Google Shape;379;p22"/>
          <p:cNvSpPr/>
          <p:nvPr/>
        </p:nvSpPr>
        <p:spPr>
          <a:xfrm>
            <a:off x="5007268" y="1430046"/>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80" name="Google Shape;380;p22"/>
          <p:cNvSpPr/>
          <p:nvPr/>
        </p:nvSpPr>
        <p:spPr>
          <a:xfrm>
            <a:off x="5201577" y="1430046"/>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81" name="Google Shape;381;p22"/>
          <p:cNvSpPr/>
          <p:nvPr/>
        </p:nvSpPr>
        <p:spPr>
          <a:xfrm>
            <a:off x="5395885" y="1430046"/>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82" name="Google Shape;382;p22"/>
          <p:cNvSpPr/>
          <p:nvPr/>
        </p:nvSpPr>
        <p:spPr>
          <a:xfrm>
            <a:off x="5007268" y="1235738"/>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83" name="Google Shape;383;p22"/>
          <p:cNvSpPr/>
          <p:nvPr/>
        </p:nvSpPr>
        <p:spPr>
          <a:xfrm>
            <a:off x="5202517" y="1235738"/>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84" name="Google Shape;384;p22"/>
          <p:cNvSpPr/>
          <p:nvPr/>
        </p:nvSpPr>
        <p:spPr>
          <a:xfrm>
            <a:off x="5395885" y="1235738"/>
            <a:ext cx="194400" cy="194400"/>
          </a:xfrm>
          <a:prstGeom prst="rect">
            <a:avLst/>
          </a:prstGeom>
          <a:solidFill>
            <a:schemeClr val="dk1"/>
          </a:solidFill>
          <a:ln cap="flat" cmpd="sng" w="4975">
            <a:solidFill>
              <a:schemeClr val="dk2"/>
            </a:solidFill>
            <a:prstDash val="solid"/>
            <a:round/>
            <a:headEnd len="sm" w="sm" type="none"/>
            <a:tailEnd len="sm" w="sm" type="none"/>
          </a:ln>
        </p:spPr>
        <p:txBody>
          <a:bodyPr anchorCtr="0" anchor="ctr" bIns="47800" lIns="47800" spcFirstLastPara="1" rIns="47800" wrap="square" tIns="47800">
            <a:noAutofit/>
          </a:bodyPr>
          <a:lstStyle/>
          <a:p>
            <a:pPr indent="0" lvl="0" marL="0" rtl="0" algn="ctr">
              <a:spcBef>
                <a:spcPts val="0"/>
              </a:spcBef>
              <a:spcAft>
                <a:spcPts val="0"/>
              </a:spcAft>
              <a:buNone/>
            </a:pPr>
            <a:r>
              <a:t/>
            </a:r>
            <a:endParaRPr sz="731">
              <a:latin typeface="Lato"/>
              <a:ea typeface="Lato"/>
              <a:cs typeface="Lato"/>
              <a:sym typeface="Lato"/>
            </a:endParaRPr>
          </a:p>
        </p:txBody>
      </p:sp>
      <p:sp>
        <p:nvSpPr>
          <p:cNvPr id="385" name="Google Shape;385;p22"/>
          <p:cNvSpPr txBox="1"/>
          <p:nvPr/>
        </p:nvSpPr>
        <p:spPr>
          <a:xfrm>
            <a:off x="4855950" y="699450"/>
            <a:ext cx="1100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Threshold Signature</a:t>
            </a:r>
            <a:endParaRPr sz="1300">
              <a:solidFill>
                <a:schemeClr val="dk2"/>
              </a:solidFill>
              <a:latin typeface="Lato"/>
              <a:ea typeface="Lato"/>
              <a:cs typeface="Lato"/>
              <a:sym typeface="Lato"/>
            </a:endParaRPr>
          </a:p>
        </p:txBody>
      </p:sp>
      <p:sp>
        <p:nvSpPr>
          <p:cNvPr id="386" name="Google Shape;386;p22"/>
          <p:cNvSpPr txBox="1"/>
          <p:nvPr/>
        </p:nvSpPr>
        <p:spPr>
          <a:xfrm>
            <a:off x="6874700" y="1293750"/>
            <a:ext cx="11007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Speculative Execution</a:t>
            </a:r>
            <a:endParaRPr sz="1300">
              <a:solidFill>
                <a:schemeClr val="dk2"/>
              </a:solidFill>
              <a:latin typeface="Lato"/>
              <a:ea typeface="Lato"/>
              <a:cs typeface="Lato"/>
              <a:sym typeface="Lato"/>
            </a:endParaRPr>
          </a:p>
        </p:txBody>
      </p:sp>
      <p:sp>
        <p:nvSpPr>
          <p:cNvPr id="387" name="Google Shape;387;p22"/>
          <p:cNvSpPr/>
          <p:nvPr/>
        </p:nvSpPr>
        <p:spPr>
          <a:xfrm>
            <a:off x="8362075" y="1844075"/>
            <a:ext cx="376500" cy="149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3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6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6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6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6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6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View-Commit Transaction Uniqueness</a:t>
            </a:r>
            <a:endParaRPr/>
          </a:p>
        </p:txBody>
      </p:sp>
      <p:sp>
        <p:nvSpPr>
          <p:cNvPr id="393" name="Google Shape;393;p23"/>
          <p:cNvSpPr/>
          <p:nvPr/>
        </p:nvSpPr>
        <p:spPr>
          <a:xfrm>
            <a:off x="2855700" y="2494300"/>
            <a:ext cx="1716300" cy="1686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4" name="Google Shape;394;p23"/>
          <p:cNvSpPr txBox="1"/>
          <p:nvPr/>
        </p:nvSpPr>
        <p:spPr>
          <a:xfrm>
            <a:off x="3444500" y="3145300"/>
            <a:ext cx="2126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3f+1</a:t>
            </a:r>
            <a:endParaRPr sz="1300">
              <a:solidFill>
                <a:schemeClr val="dk2"/>
              </a:solidFill>
              <a:latin typeface="Lato"/>
              <a:ea typeface="Lato"/>
              <a:cs typeface="Lato"/>
              <a:sym typeface="Lato"/>
            </a:endParaRPr>
          </a:p>
          <a:p>
            <a:pPr indent="0" lvl="0" marL="0" rtl="0" algn="l">
              <a:spcBef>
                <a:spcPts val="0"/>
              </a:spcBef>
              <a:spcAft>
                <a:spcPts val="0"/>
              </a:spcAft>
              <a:buNone/>
            </a:pPr>
            <a:r>
              <a:rPr lang="en" sz="1300">
                <a:solidFill>
                  <a:schemeClr val="dk2"/>
                </a:solidFill>
                <a:latin typeface="Lato"/>
                <a:ea typeface="Lato"/>
                <a:cs typeface="Lato"/>
                <a:sym typeface="Lato"/>
              </a:rPr>
              <a:t>Total replicas</a:t>
            </a:r>
            <a:endParaRPr sz="1300">
              <a:solidFill>
                <a:schemeClr val="dk2"/>
              </a:solidFill>
              <a:latin typeface="Lato"/>
              <a:ea typeface="Lato"/>
              <a:cs typeface="Lato"/>
              <a:sym typeface="Lato"/>
            </a:endParaRPr>
          </a:p>
        </p:txBody>
      </p:sp>
      <p:sp>
        <p:nvSpPr>
          <p:cNvPr id="395" name="Google Shape;395;p23"/>
          <p:cNvSpPr txBox="1"/>
          <p:nvPr/>
        </p:nvSpPr>
        <p:spPr>
          <a:xfrm>
            <a:off x="3444500" y="3145300"/>
            <a:ext cx="15561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2</a:t>
            </a:r>
            <a:r>
              <a:rPr lang="en" sz="1300">
                <a:solidFill>
                  <a:schemeClr val="dk2"/>
                </a:solidFill>
                <a:latin typeface="Lato"/>
                <a:ea typeface="Lato"/>
                <a:cs typeface="Lato"/>
                <a:sym typeface="Lato"/>
              </a:rPr>
              <a:t>f+1</a:t>
            </a:r>
            <a:endParaRPr sz="1300">
              <a:solidFill>
                <a:schemeClr val="dk2"/>
              </a:solidFill>
              <a:latin typeface="Lato"/>
              <a:ea typeface="Lato"/>
              <a:cs typeface="Lato"/>
              <a:sym typeface="Lato"/>
            </a:endParaRPr>
          </a:p>
          <a:p>
            <a:pPr indent="0" lvl="0" marL="0" rtl="0" algn="l">
              <a:spcBef>
                <a:spcPts val="0"/>
              </a:spcBef>
              <a:spcAft>
                <a:spcPts val="0"/>
              </a:spcAft>
              <a:buNone/>
            </a:pPr>
            <a:r>
              <a:rPr lang="en" sz="1300">
                <a:solidFill>
                  <a:schemeClr val="dk2"/>
                </a:solidFill>
                <a:latin typeface="Lato"/>
                <a:ea typeface="Lato"/>
                <a:cs typeface="Lato"/>
                <a:sym typeface="Lato"/>
              </a:rPr>
              <a:t>Non-faulty</a:t>
            </a:r>
            <a:endParaRPr sz="1300">
              <a:solidFill>
                <a:schemeClr val="dk2"/>
              </a:solidFill>
              <a:latin typeface="Lato"/>
              <a:ea typeface="Lato"/>
              <a:cs typeface="Lato"/>
              <a:sym typeface="Lato"/>
            </a:endParaRPr>
          </a:p>
          <a:p>
            <a:pPr indent="0" lvl="0" marL="0" rtl="0" algn="l">
              <a:spcBef>
                <a:spcPts val="0"/>
              </a:spcBef>
              <a:spcAft>
                <a:spcPts val="0"/>
              </a:spcAft>
              <a:buNone/>
            </a:pPr>
            <a:r>
              <a:rPr lang="en" sz="1300">
                <a:solidFill>
                  <a:schemeClr val="dk2"/>
                </a:solidFill>
                <a:latin typeface="Lato"/>
                <a:ea typeface="Lato"/>
                <a:cs typeface="Lato"/>
                <a:sym typeface="Lato"/>
              </a:rPr>
              <a:t>replicas</a:t>
            </a:r>
            <a:endParaRPr sz="1300">
              <a:solidFill>
                <a:schemeClr val="dk2"/>
              </a:solidFill>
              <a:latin typeface="Lato"/>
              <a:ea typeface="Lato"/>
              <a:cs typeface="Lato"/>
              <a:sym typeface="Lato"/>
            </a:endParaRPr>
          </a:p>
        </p:txBody>
      </p:sp>
      <p:cxnSp>
        <p:nvCxnSpPr>
          <p:cNvPr id="396" name="Google Shape;396;p23"/>
          <p:cNvCxnSpPr/>
          <p:nvPr/>
        </p:nvCxnSpPr>
        <p:spPr>
          <a:xfrm>
            <a:off x="2936550" y="2986675"/>
            <a:ext cx="1556100" cy="0"/>
          </a:xfrm>
          <a:prstGeom prst="straightConnector1">
            <a:avLst/>
          </a:prstGeom>
          <a:noFill/>
          <a:ln cap="flat" cmpd="sng" w="9525">
            <a:solidFill>
              <a:schemeClr val="dk2"/>
            </a:solidFill>
            <a:prstDash val="solid"/>
            <a:round/>
            <a:headEnd len="med" w="med" type="none"/>
            <a:tailEnd len="med" w="med" type="none"/>
          </a:ln>
        </p:spPr>
      </p:cxnSp>
      <p:sp>
        <p:nvSpPr>
          <p:cNvPr id="397" name="Google Shape;397;p23"/>
          <p:cNvSpPr txBox="1"/>
          <p:nvPr/>
        </p:nvSpPr>
        <p:spPr>
          <a:xfrm>
            <a:off x="3408950" y="2571750"/>
            <a:ext cx="1110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f faulty</a:t>
            </a:r>
            <a:endParaRPr sz="1300">
              <a:solidFill>
                <a:schemeClr val="dk2"/>
              </a:solidFill>
              <a:latin typeface="Lato"/>
              <a:ea typeface="Lato"/>
              <a:cs typeface="Lato"/>
              <a:sym typeface="Lato"/>
            </a:endParaRPr>
          </a:p>
        </p:txBody>
      </p:sp>
      <p:sp>
        <p:nvSpPr>
          <p:cNvPr id="398" name="Google Shape;398;p23"/>
          <p:cNvSpPr/>
          <p:nvPr/>
        </p:nvSpPr>
        <p:spPr>
          <a:xfrm>
            <a:off x="5065100" y="2494300"/>
            <a:ext cx="1716300" cy="1686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9" name="Google Shape;399;p23"/>
          <p:cNvSpPr txBox="1"/>
          <p:nvPr/>
        </p:nvSpPr>
        <p:spPr>
          <a:xfrm>
            <a:off x="6073650" y="3145300"/>
            <a:ext cx="2126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f+1</a:t>
            </a:r>
            <a:endParaRPr sz="1300">
              <a:solidFill>
                <a:schemeClr val="dk2"/>
              </a:solidFill>
              <a:latin typeface="Lato"/>
              <a:ea typeface="Lato"/>
              <a:cs typeface="Lato"/>
              <a:sym typeface="Lato"/>
            </a:endParaRPr>
          </a:p>
          <a:p>
            <a:pPr indent="0" lvl="0" marL="0" rtl="0" algn="l">
              <a:spcBef>
                <a:spcPts val="0"/>
              </a:spcBef>
              <a:spcAft>
                <a:spcPts val="0"/>
              </a:spcAft>
              <a:buNone/>
            </a:pPr>
            <a:r>
              <a:rPr lang="en" sz="1300">
                <a:solidFill>
                  <a:schemeClr val="dk2"/>
                </a:solidFill>
                <a:latin typeface="Lato"/>
                <a:ea typeface="Lato"/>
                <a:cs typeface="Lato"/>
                <a:sym typeface="Lato"/>
              </a:rPr>
              <a:t>B</a:t>
            </a:r>
            <a:endParaRPr sz="1300">
              <a:solidFill>
                <a:schemeClr val="dk2"/>
              </a:solidFill>
              <a:latin typeface="Lato"/>
              <a:ea typeface="Lato"/>
              <a:cs typeface="Lato"/>
              <a:sym typeface="Lato"/>
            </a:endParaRPr>
          </a:p>
        </p:txBody>
      </p:sp>
      <p:cxnSp>
        <p:nvCxnSpPr>
          <p:cNvPr id="400" name="Google Shape;400;p23"/>
          <p:cNvCxnSpPr>
            <a:endCxn id="398" idx="4"/>
          </p:cNvCxnSpPr>
          <p:nvPr/>
        </p:nvCxnSpPr>
        <p:spPr>
          <a:xfrm>
            <a:off x="5923250" y="2980900"/>
            <a:ext cx="0" cy="1200300"/>
          </a:xfrm>
          <a:prstGeom prst="straightConnector1">
            <a:avLst/>
          </a:prstGeom>
          <a:noFill/>
          <a:ln cap="flat" cmpd="sng" w="9525">
            <a:solidFill>
              <a:schemeClr val="dk2"/>
            </a:solidFill>
            <a:prstDash val="solid"/>
            <a:round/>
            <a:headEnd len="med" w="med" type="none"/>
            <a:tailEnd len="med" w="med" type="none"/>
          </a:ln>
        </p:spPr>
      </p:cxnSp>
      <p:cxnSp>
        <p:nvCxnSpPr>
          <p:cNvPr id="401" name="Google Shape;401;p23"/>
          <p:cNvCxnSpPr/>
          <p:nvPr/>
        </p:nvCxnSpPr>
        <p:spPr>
          <a:xfrm>
            <a:off x="5145950" y="2986675"/>
            <a:ext cx="1556100" cy="0"/>
          </a:xfrm>
          <a:prstGeom prst="straightConnector1">
            <a:avLst/>
          </a:prstGeom>
          <a:noFill/>
          <a:ln cap="flat" cmpd="sng" w="9525">
            <a:solidFill>
              <a:schemeClr val="dk2"/>
            </a:solidFill>
            <a:prstDash val="solid"/>
            <a:round/>
            <a:headEnd len="med" w="med" type="none"/>
            <a:tailEnd len="med" w="med" type="none"/>
          </a:ln>
        </p:spPr>
      </p:cxnSp>
      <p:sp>
        <p:nvSpPr>
          <p:cNvPr id="402" name="Google Shape;402;p23"/>
          <p:cNvSpPr txBox="1"/>
          <p:nvPr/>
        </p:nvSpPr>
        <p:spPr>
          <a:xfrm>
            <a:off x="5618350" y="2571750"/>
            <a:ext cx="1110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f faulty</a:t>
            </a:r>
            <a:endParaRPr sz="1300">
              <a:solidFill>
                <a:schemeClr val="dk2"/>
              </a:solidFill>
              <a:latin typeface="Lato"/>
              <a:ea typeface="Lato"/>
              <a:cs typeface="Lato"/>
              <a:sym typeface="Lato"/>
            </a:endParaRPr>
          </a:p>
        </p:txBody>
      </p:sp>
      <p:sp>
        <p:nvSpPr>
          <p:cNvPr id="403" name="Google Shape;403;p23"/>
          <p:cNvSpPr txBox="1"/>
          <p:nvPr/>
        </p:nvSpPr>
        <p:spPr>
          <a:xfrm>
            <a:off x="5110450" y="3145300"/>
            <a:ext cx="895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Lato"/>
                <a:ea typeface="Lato"/>
                <a:cs typeface="Lato"/>
                <a:sym typeface="Lato"/>
              </a:rPr>
              <a:t>f</a:t>
            </a:r>
            <a:endParaRPr sz="1300">
              <a:solidFill>
                <a:schemeClr val="dk2"/>
              </a:solidFill>
              <a:latin typeface="Lato"/>
              <a:ea typeface="Lato"/>
              <a:cs typeface="Lato"/>
              <a:sym typeface="Lato"/>
            </a:endParaRPr>
          </a:p>
          <a:p>
            <a:pPr indent="0" lvl="0" marL="0" rtl="0" algn="l">
              <a:spcBef>
                <a:spcPts val="0"/>
              </a:spcBef>
              <a:spcAft>
                <a:spcPts val="0"/>
              </a:spcAft>
              <a:buNone/>
            </a:pPr>
            <a:r>
              <a:rPr lang="en" sz="1300">
                <a:solidFill>
                  <a:schemeClr val="dk2"/>
                </a:solidFill>
                <a:latin typeface="Lato"/>
                <a:ea typeface="Lato"/>
                <a:cs typeface="Lato"/>
                <a:sym typeface="Lato"/>
              </a:rPr>
              <a:t>A</a:t>
            </a:r>
            <a:endParaRPr sz="1300">
              <a:solidFill>
                <a:schemeClr val="dk2"/>
              </a:solidFill>
              <a:latin typeface="Lato"/>
              <a:ea typeface="Lato"/>
              <a:cs typeface="Lato"/>
              <a:sym typeface="Lato"/>
            </a:endParaRPr>
          </a:p>
        </p:txBody>
      </p:sp>
      <p:sp>
        <p:nvSpPr>
          <p:cNvPr id="404" name="Google Shape;404;p23"/>
          <p:cNvSpPr/>
          <p:nvPr/>
        </p:nvSpPr>
        <p:spPr>
          <a:xfrm>
            <a:off x="4807143" y="2995705"/>
            <a:ext cx="1110600" cy="136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5" name="Google Shape;405;p23"/>
          <p:cNvSpPr/>
          <p:nvPr/>
        </p:nvSpPr>
        <p:spPr>
          <a:xfrm>
            <a:off x="5928743" y="2995705"/>
            <a:ext cx="1110600" cy="136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3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4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Speculative Execution in Practice</a:t>
            </a:r>
            <a:endParaRPr/>
          </a:p>
        </p:txBody>
      </p:sp>
      <p:cxnSp>
        <p:nvCxnSpPr>
          <p:cNvPr id="411" name="Google Shape;411;p24"/>
          <p:cNvCxnSpPr/>
          <p:nvPr/>
        </p:nvCxnSpPr>
        <p:spPr>
          <a:xfrm>
            <a:off x="913224" y="2352967"/>
            <a:ext cx="7470600" cy="0"/>
          </a:xfrm>
          <a:prstGeom prst="straightConnector1">
            <a:avLst/>
          </a:prstGeom>
          <a:noFill/>
          <a:ln cap="flat" cmpd="sng" w="12775">
            <a:solidFill>
              <a:schemeClr val="dk2"/>
            </a:solidFill>
            <a:prstDash val="solid"/>
            <a:round/>
            <a:headEnd len="med" w="med" type="none"/>
            <a:tailEnd len="med" w="med" type="none"/>
          </a:ln>
        </p:spPr>
      </p:cxnSp>
      <p:cxnSp>
        <p:nvCxnSpPr>
          <p:cNvPr id="412" name="Google Shape;412;p24"/>
          <p:cNvCxnSpPr/>
          <p:nvPr/>
        </p:nvCxnSpPr>
        <p:spPr>
          <a:xfrm>
            <a:off x="913224" y="2632105"/>
            <a:ext cx="7480500" cy="0"/>
          </a:xfrm>
          <a:prstGeom prst="straightConnector1">
            <a:avLst/>
          </a:prstGeom>
          <a:noFill/>
          <a:ln cap="flat" cmpd="sng" w="12775">
            <a:solidFill>
              <a:schemeClr val="dk2"/>
            </a:solidFill>
            <a:prstDash val="solid"/>
            <a:round/>
            <a:headEnd len="med" w="med" type="none"/>
            <a:tailEnd len="med" w="med" type="none"/>
          </a:ln>
        </p:spPr>
      </p:cxnSp>
      <p:cxnSp>
        <p:nvCxnSpPr>
          <p:cNvPr id="413" name="Google Shape;413;p24"/>
          <p:cNvCxnSpPr/>
          <p:nvPr/>
        </p:nvCxnSpPr>
        <p:spPr>
          <a:xfrm>
            <a:off x="913224" y="2922687"/>
            <a:ext cx="7487100" cy="0"/>
          </a:xfrm>
          <a:prstGeom prst="straightConnector1">
            <a:avLst/>
          </a:prstGeom>
          <a:noFill/>
          <a:ln cap="flat" cmpd="sng" w="12775">
            <a:solidFill>
              <a:schemeClr val="dk2"/>
            </a:solidFill>
            <a:prstDash val="solid"/>
            <a:round/>
            <a:headEnd len="med" w="med" type="none"/>
            <a:tailEnd len="med" w="med" type="none"/>
          </a:ln>
        </p:spPr>
      </p:cxnSp>
      <p:cxnSp>
        <p:nvCxnSpPr>
          <p:cNvPr id="414" name="Google Shape;414;p24"/>
          <p:cNvCxnSpPr/>
          <p:nvPr/>
        </p:nvCxnSpPr>
        <p:spPr>
          <a:xfrm>
            <a:off x="913224" y="3178766"/>
            <a:ext cx="7496100" cy="0"/>
          </a:xfrm>
          <a:prstGeom prst="straightConnector1">
            <a:avLst/>
          </a:prstGeom>
          <a:noFill/>
          <a:ln cap="flat" cmpd="sng" w="12775">
            <a:solidFill>
              <a:schemeClr val="dk2"/>
            </a:solidFill>
            <a:prstDash val="solid"/>
            <a:round/>
            <a:headEnd len="med" w="med" type="none"/>
            <a:tailEnd len="med" w="med" type="none"/>
          </a:ln>
        </p:spPr>
      </p:cxnSp>
      <p:cxnSp>
        <p:nvCxnSpPr>
          <p:cNvPr id="415" name="Google Shape;415;p24"/>
          <p:cNvCxnSpPr/>
          <p:nvPr/>
        </p:nvCxnSpPr>
        <p:spPr>
          <a:xfrm>
            <a:off x="913224" y="1965417"/>
            <a:ext cx="7469400" cy="0"/>
          </a:xfrm>
          <a:prstGeom prst="straightConnector1">
            <a:avLst/>
          </a:prstGeom>
          <a:noFill/>
          <a:ln cap="flat" cmpd="sng" w="12775">
            <a:solidFill>
              <a:schemeClr val="dk2"/>
            </a:solidFill>
            <a:prstDash val="solid"/>
            <a:round/>
            <a:headEnd len="med" w="med" type="none"/>
            <a:tailEnd len="med" w="med" type="none"/>
          </a:ln>
        </p:spPr>
      </p:cxnSp>
      <p:sp>
        <p:nvSpPr>
          <p:cNvPr id="416" name="Google Shape;416;p24"/>
          <p:cNvSpPr txBox="1"/>
          <p:nvPr/>
        </p:nvSpPr>
        <p:spPr>
          <a:xfrm>
            <a:off x="467375" y="1707050"/>
            <a:ext cx="4458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c</a:t>
            </a:r>
            <a:endParaRPr i="1" sz="1745">
              <a:solidFill>
                <a:schemeClr val="dk2"/>
              </a:solidFill>
              <a:latin typeface="Lato"/>
              <a:ea typeface="Lato"/>
              <a:cs typeface="Lato"/>
              <a:sym typeface="Lato"/>
            </a:endParaRPr>
          </a:p>
        </p:txBody>
      </p:sp>
      <p:sp>
        <p:nvSpPr>
          <p:cNvPr id="417" name="Google Shape;417;p24"/>
          <p:cNvSpPr txBox="1"/>
          <p:nvPr/>
        </p:nvSpPr>
        <p:spPr>
          <a:xfrm>
            <a:off x="467375" y="2052378"/>
            <a:ext cx="4458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P</a:t>
            </a:r>
            <a:endParaRPr i="1" sz="1745">
              <a:solidFill>
                <a:schemeClr val="dk2"/>
              </a:solidFill>
              <a:latin typeface="Lato"/>
              <a:ea typeface="Lato"/>
              <a:cs typeface="Lato"/>
              <a:sym typeface="Lato"/>
            </a:endParaRPr>
          </a:p>
        </p:txBody>
      </p:sp>
      <p:sp>
        <p:nvSpPr>
          <p:cNvPr id="418" name="Google Shape;418;p24"/>
          <p:cNvSpPr txBox="1"/>
          <p:nvPr/>
        </p:nvSpPr>
        <p:spPr>
          <a:xfrm>
            <a:off x="467375" y="2373738"/>
            <a:ext cx="6147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R</a:t>
            </a:r>
            <a:r>
              <a:rPr baseline="-25000" i="1" lang="en" sz="1745">
                <a:solidFill>
                  <a:schemeClr val="dk2"/>
                </a:solidFill>
                <a:latin typeface="Lato"/>
                <a:ea typeface="Lato"/>
                <a:cs typeface="Lato"/>
                <a:sym typeface="Lato"/>
              </a:rPr>
              <a:t>1</a:t>
            </a:r>
            <a:endParaRPr baseline="-25000" i="1" sz="1745">
              <a:solidFill>
                <a:schemeClr val="dk2"/>
              </a:solidFill>
              <a:latin typeface="Lato"/>
              <a:ea typeface="Lato"/>
              <a:cs typeface="Lato"/>
              <a:sym typeface="Lato"/>
            </a:endParaRPr>
          </a:p>
        </p:txBody>
      </p:sp>
      <p:sp>
        <p:nvSpPr>
          <p:cNvPr id="419" name="Google Shape;419;p24"/>
          <p:cNvSpPr txBox="1"/>
          <p:nvPr/>
        </p:nvSpPr>
        <p:spPr>
          <a:xfrm>
            <a:off x="467375" y="2664320"/>
            <a:ext cx="6147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R</a:t>
            </a:r>
            <a:r>
              <a:rPr baseline="-25000" i="1" lang="en" sz="1745">
                <a:solidFill>
                  <a:schemeClr val="dk2"/>
                </a:solidFill>
                <a:latin typeface="Lato"/>
                <a:ea typeface="Lato"/>
                <a:cs typeface="Lato"/>
                <a:sym typeface="Lato"/>
              </a:rPr>
              <a:t>2</a:t>
            </a:r>
            <a:endParaRPr baseline="-25000" i="1" sz="1745">
              <a:solidFill>
                <a:schemeClr val="dk2"/>
              </a:solidFill>
              <a:latin typeface="Lato"/>
              <a:ea typeface="Lato"/>
              <a:cs typeface="Lato"/>
              <a:sym typeface="Lato"/>
            </a:endParaRPr>
          </a:p>
        </p:txBody>
      </p:sp>
      <p:sp>
        <p:nvSpPr>
          <p:cNvPr id="420" name="Google Shape;420;p24"/>
          <p:cNvSpPr txBox="1"/>
          <p:nvPr/>
        </p:nvSpPr>
        <p:spPr>
          <a:xfrm>
            <a:off x="467375" y="2890466"/>
            <a:ext cx="6147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R</a:t>
            </a:r>
            <a:r>
              <a:rPr baseline="-25000" i="1" lang="en" sz="1745">
                <a:solidFill>
                  <a:schemeClr val="dk2"/>
                </a:solidFill>
                <a:latin typeface="Lato"/>
                <a:ea typeface="Lato"/>
                <a:cs typeface="Lato"/>
                <a:sym typeface="Lato"/>
              </a:rPr>
              <a:t>3</a:t>
            </a:r>
            <a:endParaRPr baseline="-25000" i="1" sz="1745">
              <a:solidFill>
                <a:schemeClr val="dk2"/>
              </a:solidFill>
              <a:latin typeface="Lato"/>
              <a:ea typeface="Lato"/>
              <a:cs typeface="Lato"/>
              <a:sym typeface="Lato"/>
            </a:endParaRPr>
          </a:p>
        </p:txBody>
      </p:sp>
      <p:cxnSp>
        <p:nvCxnSpPr>
          <p:cNvPr id="421" name="Google Shape;421;p24"/>
          <p:cNvCxnSpPr/>
          <p:nvPr/>
        </p:nvCxnSpPr>
        <p:spPr>
          <a:xfrm>
            <a:off x="1105707" y="1973975"/>
            <a:ext cx="1384800" cy="381300"/>
          </a:xfrm>
          <a:prstGeom prst="straightConnector1">
            <a:avLst/>
          </a:prstGeom>
          <a:noFill/>
          <a:ln cap="flat" cmpd="sng" w="12775">
            <a:solidFill>
              <a:schemeClr val="dk2"/>
            </a:solidFill>
            <a:prstDash val="solid"/>
            <a:round/>
            <a:headEnd len="med" w="med" type="none"/>
            <a:tailEnd len="med" w="med" type="triangle"/>
          </a:ln>
        </p:spPr>
      </p:cxnSp>
      <p:cxnSp>
        <p:nvCxnSpPr>
          <p:cNvPr id="422" name="Google Shape;422;p24"/>
          <p:cNvCxnSpPr/>
          <p:nvPr/>
        </p:nvCxnSpPr>
        <p:spPr>
          <a:xfrm>
            <a:off x="1101982" y="1968874"/>
            <a:ext cx="0" cy="1213800"/>
          </a:xfrm>
          <a:prstGeom prst="straightConnector1">
            <a:avLst/>
          </a:prstGeom>
          <a:noFill/>
          <a:ln cap="flat" cmpd="sng" w="12775">
            <a:solidFill>
              <a:schemeClr val="dk2"/>
            </a:solidFill>
            <a:prstDash val="solid"/>
            <a:round/>
            <a:headEnd len="med" w="med" type="none"/>
            <a:tailEnd len="med" w="med" type="none"/>
          </a:ln>
        </p:spPr>
      </p:cxnSp>
      <p:sp>
        <p:nvSpPr>
          <p:cNvPr id="423" name="Google Shape;423;p24"/>
          <p:cNvSpPr txBox="1"/>
          <p:nvPr/>
        </p:nvSpPr>
        <p:spPr>
          <a:xfrm>
            <a:off x="1838754" y="1857009"/>
            <a:ext cx="4458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T</a:t>
            </a:r>
            <a:endParaRPr i="1" sz="1745">
              <a:solidFill>
                <a:schemeClr val="dk2"/>
              </a:solidFill>
              <a:latin typeface="Lato"/>
              <a:ea typeface="Lato"/>
              <a:cs typeface="Lato"/>
              <a:sym typeface="Lato"/>
            </a:endParaRPr>
          </a:p>
        </p:txBody>
      </p:sp>
      <p:cxnSp>
        <p:nvCxnSpPr>
          <p:cNvPr id="424" name="Google Shape;424;p24"/>
          <p:cNvCxnSpPr/>
          <p:nvPr/>
        </p:nvCxnSpPr>
        <p:spPr>
          <a:xfrm>
            <a:off x="2480879" y="1974781"/>
            <a:ext cx="0" cy="1196100"/>
          </a:xfrm>
          <a:prstGeom prst="straightConnector1">
            <a:avLst/>
          </a:prstGeom>
          <a:noFill/>
          <a:ln cap="flat" cmpd="sng" w="12775">
            <a:solidFill>
              <a:schemeClr val="dk2"/>
            </a:solidFill>
            <a:prstDash val="solid"/>
            <a:round/>
            <a:headEnd len="med" w="med" type="none"/>
            <a:tailEnd len="med" w="med" type="none"/>
          </a:ln>
        </p:spPr>
      </p:cxnSp>
      <p:cxnSp>
        <p:nvCxnSpPr>
          <p:cNvPr id="425" name="Google Shape;425;p24"/>
          <p:cNvCxnSpPr/>
          <p:nvPr/>
        </p:nvCxnSpPr>
        <p:spPr>
          <a:xfrm>
            <a:off x="3830341" y="1962967"/>
            <a:ext cx="0" cy="1207800"/>
          </a:xfrm>
          <a:prstGeom prst="straightConnector1">
            <a:avLst/>
          </a:prstGeom>
          <a:noFill/>
          <a:ln cap="flat" cmpd="sng" w="12775">
            <a:solidFill>
              <a:schemeClr val="dk2"/>
            </a:solidFill>
            <a:prstDash val="solid"/>
            <a:round/>
            <a:headEnd len="med" w="med" type="none"/>
            <a:tailEnd len="med" w="med" type="none"/>
          </a:ln>
        </p:spPr>
      </p:cxnSp>
      <p:cxnSp>
        <p:nvCxnSpPr>
          <p:cNvPr id="426" name="Google Shape;426;p24"/>
          <p:cNvCxnSpPr/>
          <p:nvPr/>
        </p:nvCxnSpPr>
        <p:spPr>
          <a:xfrm>
            <a:off x="2483966" y="2353236"/>
            <a:ext cx="1344300" cy="270600"/>
          </a:xfrm>
          <a:prstGeom prst="straightConnector1">
            <a:avLst/>
          </a:prstGeom>
          <a:noFill/>
          <a:ln cap="flat" cmpd="sng" w="12775">
            <a:solidFill>
              <a:schemeClr val="dk2"/>
            </a:solidFill>
            <a:prstDash val="solid"/>
            <a:round/>
            <a:headEnd len="med" w="med" type="none"/>
            <a:tailEnd len="med" w="med" type="triangle"/>
          </a:ln>
        </p:spPr>
      </p:cxnSp>
      <p:cxnSp>
        <p:nvCxnSpPr>
          <p:cNvPr id="427" name="Google Shape;427;p24"/>
          <p:cNvCxnSpPr/>
          <p:nvPr/>
        </p:nvCxnSpPr>
        <p:spPr>
          <a:xfrm>
            <a:off x="2479603" y="2353236"/>
            <a:ext cx="1353000" cy="567600"/>
          </a:xfrm>
          <a:prstGeom prst="straightConnector1">
            <a:avLst/>
          </a:prstGeom>
          <a:noFill/>
          <a:ln cap="flat" cmpd="sng" w="12775">
            <a:solidFill>
              <a:schemeClr val="dk2"/>
            </a:solidFill>
            <a:prstDash val="solid"/>
            <a:round/>
            <a:headEnd len="med" w="med" type="none"/>
            <a:tailEnd len="med" w="med" type="triangle"/>
          </a:ln>
        </p:spPr>
      </p:cxnSp>
      <p:cxnSp>
        <p:nvCxnSpPr>
          <p:cNvPr id="428" name="Google Shape;428;p24"/>
          <p:cNvCxnSpPr/>
          <p:nvPr/>
        </p:nvCxnSpPr>
        <p:spPr>
          <a:xfrm>
            <a:off x="2492693" y="2348873"/>
            <a:ext cx="1361700" cy="833700"/>
          </a:xfrm>
          <a:prstGeom prst="straightConnector1">
            <a:avLst/>
          </a:prstGeom>
          <a:noFill/>
          <a:ln cap="flat" cmpd="sng" w="12775">
            <a:solidFill>
              <a:schemeClr val="dk2"/>
            </a:solidFill>
            <a:prstDash val="solid"/>
            <a:round/>
            <a:headEnd len="med" w="med" type="none"/>
            <a:tailEnd len="med" w="med" type="triangle"/>
          </a:ln>
        </p:spPr>
      </p:cxnSp>
      <p:sp>
        <p:nvSpPr>
          <p:cNvPr id="429" name="Google Shape;429;p24"/>
          <p:cNvSpPr txBox="1"/>
          <p:nvPr/>
        </p:nvSpPr>
        <p:spPr>
          <a:xfrm>
            <a:off x="2627213" y="3213284"/>
            <a:ext cx="10926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Propose</a:t>
            </a:r>
            <a:endParaRPr sz="1745">
              <a:solidFill>
                <a:schemeClr val="dk2"/>
              </a:solidFill>
              <a:latin typeface="Lato"/>
              <a:ea typeface="Lato"/>
              <a:cs typeface="Lato"/>
              <a:sym typeface="Lato"/>
            </a:endParaRPr>
          </a:p>
        </p:txBody>
      </p:sp>
      <p:cxnSp>
        <p:nvCxnSpPr>
          <p:cNvPr id="430" name="Google Shape;430;p24"/>
          <p:cNvCxnSpPr/>
          <p:nvPr/>
        </p:nvCxnSpPr>
        <p:spPr>
          <a:xfrm>
            <a:off x="5301493" y="1971908"/>
            <a:ext cx="0" cy="1207800"/>
          </a:xfrm>
          <a:prstGeom prst="straightConnector1">
            <a:avLst/>
          </a:prstGeom>
          <a:noFill/>
          <a:ln cap="flat" cmpd="sng" w="12775">
            <a:solidFill>
              <a:schemeClr val="dk2"/>
            </a:solidFill>
            <a:prstDash val="solid"/>
            <a:round/>
            <a:headEnd len="med" w="med" type="none"/>
            <a:tailEnd len="med" w="med" type="none"/>
          </a:ln>
        </p:spPr>
      </p:cxnSp>
      <p:cxnSp>
        <p:nvCxnSpPr>
          <p:cNvPr id="431" name="Google Shape;431;p24"/>
          <p:cNvCxnSpPr/>
          <p:nvPr/>
        </p:nvCxnSpPr>
        <p:spPr>
          <a:xfrm flipH="1" rot="10800000">
            <a:off x="3839101" y="2353972"/>
            <a:ext cx="1454700" cy="277500"/>
          </a:xfrm>
          <a:prstGeom prst="straightConnector1">
            <a:avLst/>
          </a:prstGeom>
          <a:noFill/>
          <a:ln cap="flat" cmpd="sng" w="12775">
            <a:solidFill>
              <a:schemeClr val="dk2"/>
            </a:solidFill>
            <a:prstDash val="solid"/>
            <a:round/>
            <a:headEnd len="med" w="med" type="none"/>
            <a:tailEnd len="med" w="med" type="triangle"/>
          </a:ln>
        </p:spPr>
      </p:cxnSp>
      <p:cxnSp>
        <p:nvCxnSpPr>
          <p:cNvPr id="432" name="Google Shape;432;p24"/>
          <p:cNvCxnSpPr/>
          <p:nvPr/>
        </p:nvCxnSpPr>
        <p:spPr>
          <a:xfrm flipH="1" rot="10800000">
            <a:off x="3836516" y="2374576"/>
            <a:ext cx="1473000" cy="549900"/>
          </a:xfrm>
          <a:prstGeom prst="straightConnector1">
            <a:avLst/>
          </a:prstGeom>
          <a:noFill/>
          <a:ln cap="flat" cmpd="sng" w="12775">
            <a:solidFill>
              <a:schemeClr val="dk2"/>
            </a:solidFill>
            <a:prstDash val="solid"/>
            <a:round/>
            <a:headEnd len="med" w="med" type="none"/>
            <a:tailEnd len="med" w="med" type="triangle"/>
          </a:ln>
        </p:spPr>
      </p:cxnSp>
      <p:cxnSp>
        <p:nvCxnSpPr>
          <p:cNvPr id="433" name="Google Shape;433;p24"/>
          <p:cNvCxnSpPr/>
          <p:nvPr/>
        </p:nvCxnSpPr>
        <p:spPr>
          <a:xfrm flipH="1" rot="10800000">
            <a:off x="3834436" y="2359478"/>
            <a:ext cx="1474800" cy="818700"/>
          </a:xfrm>
          <a:prstGeom prst="straightConnector1">
            <a:avLst/>
          </a:prstGeom>
          <a:noFill/>
          <a:ln cap="flat" cmpd="sng" w="12775">
            <a:solidFill>
              <a:schemeClr val="dk2"/>
            </a:solidFill>
            <a:prstDash val="solid"/>
            <a:round/>
            <a:headEnd len="med" w="med" type="none"/>
            <a:tailEnd len="med" w="med" type="triangle"/>
          </a:ln>
        </p:spPr>
      </p:cxnSp>
      <p:sp>
        <p:nvSpPr>
          <p:cNvPr id="434" name="Google Shape;434;p24"/>
          <p:cNvSpPr txBox="1"/>
          <p:nvPr/>
        </p:nvSpPr>
        <p:spPr>
          <a:xfrm>
            <a:off x="4044103" y="3213284"/>
            <a:ext cx="10926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Support</a:t>
            </a:r>
            <a:endParaRPr sz="1745">
              <a:solidFill>
                <a:schemeClr val="dk2"/>
              </a:solidFill>
              <a:latin typeface="Lato"/>
              <a:ea typeface="Lato"/>
              <a:cs typeface="Lato"/>
              <a:sym typeface="Lato"/>
            </a:endParaRPr>
          </a:p>
        </p:txBody>
      </p:sp>
      <p:cxnSp>
        <p:nvCxnSpPr>
          <p:cNvPr id="435" name="Google Shape;435;p24"/>
          <p:cNvCxnSpPr/>
          <p:nvPr/>
        </p:nvCxnSpPr>
        <p:spPr>
          <a:xfrm>
            <a:off x="6666068" y="1962967"/>
            <a:ext cx="0" cy="1207800"/>
          </a:xfrm>
          <a:prstGeom prst="straightConnector1">
            <a:avLst/>
          </a:prstGeom>
          <a:noFill/>
          <a:ln cap="flat" cmpd="sng" w="12775">
            <a:solidFill>
              <a:schemeClr val="dk2"/>
            </a:solidFill>
            <a:prstDash val="solid"/>
            <a:round/>
            <a:headEnd len="med" w="med" type="none"/>
            <a:tailEnd len="med" w="med" type="none"/>
          </a:ln>
        </p:spPr>
      </p:cxnSp>
      <p:cxnSp>
        <p:nvCxnSpPr>
          <p:cNvPr id="436" name="Google Shape;436;p24"/>
          <p:cNvCxnSpPr/>
          <p:nvPr/>
        </p:nvCxnSpPr>
        <p:spPr>
          <a:xfrm>
            <a:off x="5319693" y="2353236"/>
            <a:ext cx="1344300" cy="270600"/>
          </a:xfrm>
          <a:prstGeom prst="straightConnector1">
            <a:avLst/>
          </a:prstGeom>
          <a:noFill/>
          <a:ln cap="flat" cmpd="sng" w="12775">
            <a:solidFill>
              <a:schemeClr val="dk2"/>
            </a:solidFill>
            <a:prstDash val="solid"/>
            <a:round/>
            <a:headEnd len="med" w="med" type="none"/>
            <a:tailEnd len="med" w="med" type="triangle"/>
          </a:ln>
        </p:spPr>
      </p:cxnSp>
      <p:cxnSp>
        <p:nvCxnSpPr>
          <p:cNvPr id="437" name="Google Shape;437;p24"/>
          <p:cNvCxnSpPr/>
          <p:nvPr/>
        </p:nvCxnSpPr>
        <p:spPr>
          <a:xfrm>
            <a:off x="5315330" y="2353236"/>
            <a:ext cx="1353000" cy="567600"/>
          </a:xfrm>
          <a:prstGeom prst="straightConnector1">
            <a:avLst/>
          </a:prstGeom>
          <a:noFill/>
          <a:ln cap="flat" cmpd="sng" w="12775">
            <a:solidFill>
              <a:schemeClr val="dk2"/>
            </a:solidFill>
            <a:prstDash val="solid"/>
            <a:round/>
            <a:headEnd len="med" w="med" type="none"/>
            <a:tailEnd len="med" w="med" type="triangle"/>
          </a:ln>
        </p:spPr>
      </p:cxnSp>
      <p:cxnSp>
        <p:nvCxnSpPr>
          <p:cNvPr id="438" name="Google Shape;438;p24"/>
          <p:cNvCxnSpPr/>
          <p:nvPr/>
        </p:nvCxnSpPr>
        <p:spPr>
          <a:xfrm>
            <a:off x="5328419" y="2348873"/>
            <a:ext cx="1361700" cy="833700"/>
          </a:xfrm>
          <a:prstGeom prst="straightConnector1">
            <a:avLst/>
          </a:prstGeom>
          <a:noFill/>
          <a:ln cap="flat" cmpd="sng" w="12775">
            <a:solidFill>
              <a:schemeClr val="dk2"/>
            </a:solidFill>
            <a:prstDash val="solid"/>
            <a:round/>
            <a:headEnd len="med" w="med" type="none"/>
            <a:tailEnd len="med" w="med" type="triangle"/>
          </a:ln>
        </p:spPr>
      </p:cxnSp>
      <p:sp>
        <p:nvSpPr>
          <p:cNvPr id="439" name="Google Shape;439;p24"/>
          <p:cNvSpPr txBox="1"/>
          <p:nvPr/>
        </p:nvSpPr>
        <p:spPr>
          <a:xfrm>
            <a:off x="5565239" y="3213284"/>
            <a:ext cx="10926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Certify</a:t>
            </a:r>
            <a:endParaRPr sz="1745">
              <a:solidFill>
                <a:schemeClr val="dk2"/>
              </a:solidFill>
              <a:latin typeface="Lato"/>
              <a:ea typeface="Lato"/>
              <a:cs typeface="Lato"/>
              <a:sym typeface="Lato"/>
            </a:endParaRPr>
          </a:p>
        </p:txBody>
      </p:sp>
      <p:cxnSp>
        <p:nvCxnSpPr>
          <p:cNvPr id="440" name="Google Shape;440;p24"/>
          <p:cNvCxnSpPr/>
          <p:nvPr/>
        </p:nvCxnSpPr>
        <p:spPr>
          <a:xfrm>
            <a:off x="8132085" y="1962980"/>
            <a:ext cx="0" cy="1207800"/>
          </a:xfrm>
          <a:prstGeom prst="straightConnector1">
            <a:avLst/>
          </a:prstGeom>
          <a:noFill/>
          <a:ln cap="flat" cmpd="sng" w="12775">
            <a:solidFill>
              <a:schemeClr val="dk2"/>
            </a:solidFill>
            <a:prstDash val="solid"/>
            <a:round/>
            <a:headEnd len="med" w="med" type="none"/>
            <a:tailEnd len="med" w="med" type="none"/>
          </a:ln>
        </p:spPr>
      </p:cxnSp>
      <p:cxnSp>
        <p:nvCxnSpPr>
          <p:cNvPr id="441" name="Google Shape;441;p24"/>
          <p:cNvCxnSpPr/>
          <p:nvPr/>
        </p:nvCxnSpPr>
        <p:spPr>
          <a:xfrm flipH="1" rot="10800000">
            <a:off x="6669692" y="1968544"/>
            <a:ext cx="1467300" cy="654000"/>
          </a:xfrm>
          <a:prstGeom prst="straightConnector1">
            <a:avLst/>
          </a:prstGeom>
          <a:noFill/>
          <a:ln cap="flat" cmpd="sng" w="12775">
            <a:solidFill>
              <a:schemeClr val="dk2"/>
            </a:solidFill>
            <a:prstDash val="solid"/>
            <a:round/>
            <a:headEnd len="med" w="med" type="none"/>
            <a:tailEnd len="med" w="med" type="triangle"/>
          </a:ln>
        </p:spPr>
      </p:cxnSp>
      <p:cxnSp>
        <p:nvCxnSpPr>
          <p:cNvPr id="442" name="Google Shape;442;p24"/>
          <p:cNvCxnSpPr/>
          <p:nvPr/>
        </p:nvCxnSpPr>
        <p:spPr>
          <a:xfrm flipH="1" rot="10800000">
            <a:off x="6667108" y="1973548"/>
            <a:ext cx="1453500" cy="942000"/>
          </a:xfrm>
          <a:prstGeom prst="straightConnector1">
            <a:avLst/>
          </a:prstGeom>
          <a:noFill/>
          <a:ln cap="flat" cmpd="sng" w="12775">
            <a:solidFill>
              <a:schemeClr val="dk2"/>
            </a:solidFill>
            <a:prstDash val="solid"/>
            <a:round/>
            <a:headEnd len="med" w="med" type="none"/>
            <a:tailEnd len="med" w="med" type="triangle"/>
          </a:ln>
        </p:spPr>
      </p:cxnSp>
      <p:cxnSp>
        <p:nvCxnSpPr>
          <p:cNvPr id="443" name="Google Shape;443;p24"/>
          <p:cNvCxnSpPr/>
          <p:nvPr/>
        </p:nvCxnSpPr>
        <p:spPr>
          <a:xfrm flipH="1" rot="10800000">
            <a:off x="6665027" y="1968350"/>
            <a:ext cx="1471800" cy="1200900"/>
          </a:xfrm>
          <a:prstGeom prst="straightConnector1">
            <a:avLst/>
          </a:prstGeom>
          <a:noFill/>
          <a:ln cap="flat" cmpd="sng" w="12775">
            <a:solidFill>
              <a:schemeClr val="dk2"/>
            </a:solidFill>
            <a:prstDash val="solid"/>
            <a:round/>
            <a:headEnd len="med" w="med" type="none"/>
            <a:tailEnd len="med" w="med" type="triangle"/>
          </a:ln>
        </p:spPr>
      </p:cxnSp>
      <p:sp>
        <p:nvSpPr>
          <p:cNvPr id="444" name="Google Shape;444;p24"/>
          <p:cNvSpPr txBox="1"/>
          <p:nvPr/>
        </p:nvSpPr>
        <p:spPr>
          <a:xfrm>
            <a:off x="6874694" y="3204357"/>
            <a:ext cx="10926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Inform</a:t>
            </a:r>
            <a:endParaRPr sz="1745">
              <a:solidFill>
                <a:schemeClr val="dk2"/>
              </a:solidFill>
              <a:latin typeface="Lato"/>
              <a:ea typeface="Lato"/>
              <a:cs typeface="Lato"/>
              <a:sym typeface="Lato"/>
            </a:endParaRPr>
          </a:p>
        </p:txBody>
      </p:sp>
      <p:cxnSp>
        <p:nvCxnSpPr>
          <p:cNvPr id="445" name="Google Shape;445;p24"/>
          <p:cNvCxnSpPr/>
          <p:nvPr/>
        </p:nvCxnSpPr>
        <p:spPr>
          <a:xfrm flipH="1" rot="10800000">
            <a:off x="6672277" y="1979220"/>
            <a:ext cx="1448700" cy="376500"/>
          </a:xfrm>
          <a:prstGeom prst="straightConnector1">
            <a:avLst/>
          </a:prstGeom>
          <a:noFill/>
          <a:ln cap="flat" cmpd="sng" w="12775">
            <a:solidFill>
              <a:schemeClr val="dk2"/>
            </a:solidFill>
            <a:prstDash val="solid"/>
            <a:round/>
            <a:headEnd len="med" w="med" type="none"/>
            <a:tailEnd len="med" w="med" type="triangle"/>
          </a:ln>
        </p:spPr>
      </p:cxnSp>
      <p:sp>
        <p:nvSpPr>
          <p:cNvPr id="446" name="Google Shape;446;p24"/>
          <p:cNvSpPr/>
          <p:nvPr/>
        </p:nvSpPr>
        <p:spPr>
          <a:xfrm>
            <a:off x="8362075" y="1844075"/>
            <a:ext cx="376500" cy="149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7" name="Google Shape;447;p24"/>
          <p:cNvSpPr txBox="1"/>
          <p:nvPr/>
        </p:nvSpPr>
        <p:spPr>
          <a:xfrm>
            <a:off x="7041905" y="1193700"/>
            <a:ext cx="1988100" cy="7851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2f+1 informs</a:t>
            </a:r>
            <a:endParaRPr sz="1745">
              <a:solidFill>
                <a:schemeClr val="dk2"/>
              </a:solidFill>
              <a:latin typeface="Lato"/>
              <a:ea typeface="Lato"/>
              <a:cs typeface="Lato"/>
              <a:sym typeface="Lato"/>
            </a:endParaRPr>
          </a:p>
          <a:p>
            <a:pPr indent="0" lvl="0" marL="0" rtl="0" algn="l">
              <a:spcBef>
                <a:spcPts val="0"/>
              </a:spcBef>
              <a:spcAft>
                <a:spcPts val="0"/>
              </a:spcAft>
              <a:buNone/>
            </a:pPr>
            <a:r>
              <a:rPr lang="en" sz="1745">
                <a:solidFill>
                  <a:schemeClr val="dk2"/>
                </a:solidFill>
                <a:latin typeface="Lato"/>
                <a:ea typeface="Lato"/>
                <a:cs typeface="Lato"/>
                <a:sym typeface="Lato"/>
              </a:rPr>
              <a:t>guarantees</a:t>
            </a:r>
            <a:endParaRPr sz="1745">
              <a:solidFill>
                <a:schemeClr val="dk2"/>
              </a:solidFill>
              <a:latin typeface="Lato"/>
              <a:ea typeface="Lato"/>
              <a:cs typeface="Lato"/>
              <a:sym typeface="Lato"/>
            </a:endParaRPr>
          </a:p>
        </p:txBody>
      </p:sp>
      <p:sp>
        <p:nvSpPr>
          <p:cNvPr id="448" name="Google Shape;448;p24"/>
          <p:cNvSpPr txBox="1"/>
          <p:nvPr/>
        </p:nvSpPr>
        <p:spPr>
          <a:xfrm>
            <a:off x="1522600" y="3905925"/>
            <a:ext cx="5853900" cy="7851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lang="en" sz="1745">
                <a:solidFill>
                  <a:schemeClr val="dk2"/>
                </a:solidFill>
                <a:latin typeface="Lato"/>
                <a:ea typeface="Lato"/>
                <a:cs typeface="Lato"/>
                <a:sym typeface="Lato"/>
              </a:rPr>
              <a:t>2f+1 informs = at least f+1 non-faulty informs </a:t>
            </a:r>
            <a:endParaRPr sz="1745">
              <a:solidFill>
                <a:schemeClr val="dk2"/>
              </a:solidFill>
              <a:latin typeface="Lato"/>
              <a:ea typeface="Lato"/>
              <a:cs typeface="Lato"/>
              <a:sym typeface="Lato"/>
            </a:endParaRPr>
          </a:p>
          <a:p>
            <a:pPr indent="0" lvl="0" marL="0" rtl="0" algn="l">
              <a:spcBef>
                <a:spcPts val="0"/>
              </a:spcBef>
              <a:spcAft>
                <a:spcPts val="0"/>
              </a:spcAft>
              <a:buNone/>
            </a:pPr>
            <a:r>
              <a:rPr lang="en" sz="1745">
                <a:solidFill>
                  <a:schemeClr val="dk2"/>
                </a:solidFill>
                <a:latin typeface="Lato"/>
                <a:ea typeface="Lato"/>
                <a:cs typeface="Lato"/>
                <a:sym typeface="Lato"/>
              </a:rPr>
              <a:t>3f+1 - (f+1) = 2f (not enough)</a:t>
            </a:r>
            <a:endParaRPr sz="1745">
              <a:solidFill>
                <a:schemeClr val="dk2"/>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Byzantine Case</a:t>
            </a:r>
            <a:endParaRPr/>
          </a:p>
        </p:txBody>
      </p:sp>
      <p:cxnSp>
        <p:nvCxnSpPr>
          <p:cNvPr id="454" name="Google Shape;454;p25"/>
          <p:cNvCxnSpPr/>
          <p:nvPr/>
        </p:nvCxnSpPr>
        <p:spPr>
          <a:xfrm>
            <a:off x="919267" y="2361722"/>
            <a:ext cx="7462500" cy="0"/>
          </a:xfrm>
          <a:prstGeom prst="straightConnector1">
            <a:avLst/>
          </a:prstGeom>
          <a:noFill/>
          <a:ln cap="flat" cmpd="sng" w="12950">
            <a:solidFill>
              <a:schemeClr val="dk2"/>
            </a:solidFill>
            <a:prstDash val="solid"/>
            <a:round/>
            <a:headEnd len="med" w="med" type="none"/>
            <a:tailEnd len="med" w="med" type="none"/>
          </a:ln>
        </p:spPr>
      </p:cxnSp>
      <p:cxnSp>
        <p:nvCxnSpPr>
          <p:cNvPr id="455" name="Google Shape;455;p25"/>
          <p:cNvCxnSpPr/>
          <p:nvPr/>
        </p:nvCxnSpPr>
        <p:spPr>
          <a:xfrm>
            <a:off x="919267" y="2644643"/>
            <a:ext cx="7498800" cy="0"/>
          </a:xfrm>
          <a:prstGeom prst="straightConnector1">
            <a:avLst/>
          </a:prstGeom>
          <a:noFill/>
          <a:ln cap="flat" cmpd="sng" w="12950">
            <a:solidFill>
              <a:schemeClr val="dk2"/>
            </a:solidFill>
            <a:prstDash val="solid"/>
            <a:round/>
            <a:headEnd len="med" w="med" type="none"/>
            <a:tailEnd len="med" w="med" type="none"/>
          </a:ln>
        </p:spPr>
      </p:cxnSp>
      <p:cxnSp>
        <p:nvCxnSpPr>
          <p:cNvPr id="456" name="Google Shape;456;p25"/>
          <p:cNvCxnSpPr/>
          <p:nvPr/>
        </p:nvCxnSpPr>
        <p:spPr>
          <a:xfrm>
            <a:off x="919267" y="2939164"/>
            <a:ext cx="7453500" cy="0"/>
          </a:xfrm>
          <a:prstGeom prst="straightConnector1">
            <a:avLst/>
          </a:prstGeom>
          <a:noFill/>
          <a:ln cap="flat" cmpd="sng" w="12950">
            <a:solidFill>
              <a:schemeClr val="dk2"/>
            </a:solidFill>
            <a:prstDash val="solid"/>
            <a:round/>
            <a:headEnd len="med" w="med" type="none"/>
            <a:tailEnd len="med" w="med" type="none"/>
          </a:ln>
        </p:spPr>
      </p:cxnSp>
      <p:cxnSp>
        <p:nvCxnSpPr>
          <p:cNvPr id="457" name="Google Shape;457;p25"/>
          <p:cNvCxnSpPr/>
          <p:nvPr/>
        </p:nvCxnSpPr>
        <p:spPr>
          <a:xfrm>
            <a:off x="919267" y="3198715"/>
            <a:ext cx="7471500" cy="0"/>
          </a:xfrm>
          <a:prstGeom prst="straightConnector1">
            <a:avLst/>
          </a:prstGeom>
          <a:noFill/>
          <a:ln cap="flat" cmpd="sng" w="12950">
            <a:solidFill>
              <a:schemeClr val="dk2"/>
            </a:solidFill>
            <a:prstDash val="solid"/>
            <a:round/>
            <a:headEnd len="med" w="med" type="none"/>
            <a:tailEnd len="med" w="med" type="none"/>
          </a:ln>
        </p:spPr>
      </p:cxnSp>
      <p:cxnSp>
        <p:nvCxnSpPr>
          <p:cNvPr id="458" name="Google Shape;458;p25"/>
          <p:cNvCxnSpPr/>
          <p:nvPr/>
        </p:nvCxnSpPr>
        <p:spPr>
          <a:xfrm>
            <a:off x="919267" y="1968919"/>
            <a:ext cx="7462500" cy="0"/>
          </a:xfrm>
          <a:prstGeom prst="straightConnector1">
            <a:avLst/>
          </a:prstGeom>
          <a:noFill/>
          <a:ln cap="flat" cmpd="sng" w="12950">
            <a:solidFill>
              <a:schemeClr val="dk2"/>
            </a:solidFill>
            <a:prstDash val="solid"/>
            <a:round/>
            <a:headEnd len="med" w="med" type="none"/>
            <a:tailEnd len="med" w="med" type="none"/>
          </a:ln>
        </p:spPr>
      </p:cxnSp>
      <p:sp>
        <p:nvSpPr>
          <p:cNvPr id="459" name="Google Shape;459;p25"/>
          <p:cNvSpPr txBox="1"/>
          <p:nvPr/>
        </p:nvSpPr>
        <p:spPr>
          <a:xfrm>
            <a:off x="467375" y="1707050"/>
            <a:ext cx="4518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i="1" lang="en" sz="1768">
                <a:solidFill>
                  <a:schemeClr val="dk2"/>
                </a:solidFill>
                <a:latin typeface="Lato"/>
                <a:ea typeface="Lato"/>
                <a:cs typeface="Lato"/>
                <a:sym typeface="Lato"/>
              </a:rPr>
              <a:t>c</a:t>
            </a:r>
            <a:endParaRPr i="1" sz="1768">
              <a:solidFill>
                <a:schemeClr val="dk2"/>
              </a:solidFill>
              <a:latin typeface="Lato"/>
              <a:ea typeface="Lato"/>
              <a:cs typeface="Lato"/>
              <a:sym typeface="Lato"/>
            </a:endParaRPr>
          </a:p>
        </p:txBody>
      </p:sp>
      <p:sp>
        <p:nvSpPr>
          <p:cNvPr id="460" name="Google Shape;460;p25"/>
          <p:cNvSpPr txBox="1"/>
          <p:nvPr/>
        </p:nvSpPr>
        <p:spPr>
          <a:xfrm>
            <a:off x="467375" y="2057059"/>
            <a:ext cx="4518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i="1" lang="en" sz="1768">
                <a:solidFill>
                  <a:schemeClr val="dk2"/>
                </a:solidFill>
                <a:latin typeface="Lato"/>
                <a:ea typeface="Lato"/>
                <a:cs typeface="Lato"/>
                <a:sym typeface="Lato"/>
              </a:rPr>
              <a:t>P</a:t>
            </a:r>
            <a:endParaRPr i="1" sz="1768">
              <a:solidFill>
                <a:schemeClr val="dk2"/>
              </a:solidFill>
              <a:latin typeface="Lato"/>
              <a:ea typeface="Lato"/>
              <a:cs typeface="Lato"/>
              <a:sym typeface="Lato"/>
            </a:endParaRPr>
          </a:p>
        </p:txBody>
      </p:sp>
      <p:sp>
        <p:nvSpPr>
          <p:cNvPr id="461" name="Google Shape;461;p25"/>
          <p:cNvSpPr txBox="1"/>
          <p:nvPr/>
        </p:nvSpPr>
        <p:spPr>
          <a:xfrm>
            <a:off x="467375" y="2382774"/>
            <a:ext cx="6228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i="1" lang="en" sz="1768">
                <a:solidFill>
                  <a:schemeClr val="dk2"/>
                </a:solidFill>
                <a:latin typeface="Lato"/>
                <a:ea typeface="Lato"/>
                <a:cs typeface="Lato"/>
                <a:sym typeface="Lato"/>
              </a:rPr>
              <a:t>R</a:t>
            </a:r>
            <a:r>
              <a:rPr baseline="-25000" i="1" lang="en" sz="1768">
                <a:solidFill>
                  <a:schemeClr val="dk2"/>
                </a:solidFill>
                <a:latin typeface="Lato"/>
                <a:ea typeface="Lato"/>
                <a:cs typeface="Lato"/>
                <a:sym typeface="Lato"/>
              </a:rPr>
              <a:t>1</a:t>
            </a:r>
            <a:endParaRPr baseline="-25000" i="1" sz="1768">
              <a:solidFill>
                <a:schemeClr val="dk2"/>
              </a:solidFill>
              <a:latin typeface="Lato"/>
              <a:ea typeface="Lato"/>
              <a:cs typeface="Lato"/>
              <a:sym typeface="Lato"/>
            </a:endParaRPr>
          </a:p>
        </p:txBody>
      </p:sp>
      <p:sp>
        <p:nvSpPr>
          <p:cNvPr id="462" name="Google Shape;462;p25"/>
          <p:cNvSpPr txBox="1"/>
          <p:nvPr/>
        </p:nvSpPr>
        <p:spPr>
          <a:xfrm>
            <a:off x="467375" y="2677295"/>
            <a:ext cx="6228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i="1" lang="en" sz="1768">
                <a:solidFill>
                  <a:schemeClr val="dk2"/>
                </a:solidFill>
                <a:latin typeface="Lato"/>
                <a:ea typeface="Lato"/>
                <a:cs typeface="Lato"/>
                <a:sym typeface="Lato"/>
              </a:rPr>
              <a:t>R</a:t>
            </a:r>
            <a:r>
              <a:rPr baseline="-25000" i="1" lang="en" sz="1768">
                <a:solidFill>
                  <a:schemeClr val="dk2"/>
                </a:solidFill>
                <a:latin typeface="Lato"/>
                <a:ea typeface="Lato"/>
                <a:cs typeface="Lato"/>
                <a:sym typeface="Lato"/>
              </a:rPr>
              <a:t>2</a:t>
            </a:r>
            <a:endParaRPr baseline="-25000" i="1" sz="1768">
              <a:solidFill>
                <a:schemeClr val="dk2"/>
              </a:solidFill>
              <a:latin typeface="Lato"/>
              <a:ea typeface="Lato"/>
              <a:cs typeface="Lato"/>
              <a:sym typeface="Lato"/>
            </a:endParaRPr>
          </a:p>
        </p:txBody>
      </p:sp>
      <p:sp>
        <p:nvSpPr>
          <p:cNvPr id="463" name="Google Shape;463;p25"/>
          <p:cNvSpPr txBox="1"/>
          <p:nvPr/>
        </p:nvSpPr>
        <p:spPr>
          <a:xfrm>
            <a:off x="467375" y="2906507"/>
            <a:ext cx="6228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i="1" lang="en" sz="1768">
                <a:solidFill>
                  <a:schemeClr val="dk2"/>
                </a:solidFill>
                <a:latin typeface="Lato"/>
                <a:ea typeface="Lato"/>
                <a:cs typeface="Lato"/>
                <a:sym typeface="Lato"/>
              </a:rPr>
              <a:t>B</a:t>
            </a:r>
            <a:endParaRPr baseline="-25000" i="1" sz="1768">
              <a:solidFill>
                <a:schemeClr val="dk2"/>
              </a:solidFill>
              <a:latin typeface="Lato"/>
              <a:ea typeface="Lato"/>
              <a:cs typeface="Lato"/>
              <a:sym typeface="Lato"/>
            </a:endParaRPr>
          </a:p>
        </p:txBody>
      </p:sp>
      <p:cxnSp>
        <p:nvCxnSpPr>
          <p:cNvPr id="464" name="Google Shape;464;p25"/>
          <p:cNvCxnSpPr/>
          <p:nvPr/>
        </p:nvCxnSpPr>
        <p:spPr>
          <a:xfrm>
            <a:off x="1114359" y="1977594"/>
            <a:ext cx="1403400" cy="386700"/>
          </a:xfrm>
          <a:prstGeom prst="straightConnector1">
            <a:avLst/>
          </a:prstGeom>
          <a:noFill/>
          <a:ln cap="flat" cmpd="sng" w="12950">
            <a:solidFill>
              <a:schemeClr val="dk2"/>
            </a:solidFill>
            <a:prstDash val="solid"/>
            <a:round/>
            <a:headEnd len="med" w="med" type="none"/>
            <a:tailEnd len="med" w="med" type="triangle"/>
          </a:ln>
        </p:spPr>
      </p:cxnSp>
      <p:cxnSp>
        <p:nvCxnSpPr>
          <p:cNvPr id="465" name="Google Shape;465;p25"/>
          <p:cNvCxnSpPr/>
          <p:nvPr/>
        </p:nvCxnSpPr>
        <p:spPr>
          <a:xfrm>
            <a:off x="1110583" y="1972423"/>
            <a:ext cx="0" cy="1230300"/>
          </a:xfrm>
          <a:prstGeom prst="straightConnector1">
            <a:avLst/>
          </a:prstGeom>
          <a:noFill/>
          <a:ln cap="flat" cmpd="sng" w="12950">
            <a:solidFill>
              <a:schemeClr val="dk2"/>
            </a:solidFill>
            <a:prstDash val="solid"/>
            <a:round/>
            <a:headEnd len="med" w="med" type="none"/>
            <a:tailEnd len="med" w="med" type="none"/>
          </a:ln>
        </p:spPr>
      </p:cxnSp>
      <p:sp>
        <p:nvSpPr>
          <p:cNvPr id="466" name="Google Shape;466;p25"/>
          <p:cNvSpPr txBox="1"/>
          <p:nvPr/>
        </p:nvSpPr>
        <p:spPr>
          <a:xfrm>
            <a:off x="1857342" y="1859042"/>
            <a:ext cx="4518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i="1" lang="en" sz="1768">
                <a:solidFill>
                  <a:schemeClr val="dk2"/>
                </a:solidFill>
                <a:latin typeface="Lato"/>
                <a:ea typeface="Lato"/>
                <a:cs typeface="Lato"/>
                <a:sym typeface="Lato"/>
              </a:rPr>
              <a:t>T</a:t>
            </a:r>
            <a:endParaRPr i="1" sz="1768">
              <a:solidFill>
                <a:schemeClr val="dk2"/>
              </a:solidFill>
              <a:latin typeface="Lato"/>
              <a:ea typeface="Lato"/>
              <a:cs typeface="Lato"/>
              <a:sym typeface="Lato"/>
            </a:endParaRPr>
          </a:p>
        </p:txBody>
      </p:sp>
      <p:cxnSp>
        <p:nvCxnSpPr>
          <p:cNvPr id="467" name="Google Shape;467;p25"/>
          <p:cNvCxnSpPr/>
          <p:nvPr/>
        </p:nvCxnSpPr>
        <p:spPr>
          <a:xfrm>
            <a:off x="2508171" y="1978410"/>
            <a:ext cx="0" cy="1212300"/>
          </a:xfrm>
          <a:prstGeom prst="straightConnector1">
            <a:avLst/>
          </a:prstGeom>
          <a:noFill/>
          <a:ln cap="flat" cmpd="sng" w="12950">
            <a:solidFill>
              <a:schemeClr val="dk2"/>
            </a:solidFill>
            <a:prstDash val="solid"/>
            <a:round/>
            <a:headEnd len="med" w="med" type="none"/>
            <a:tailEnd len="med" w="med" type="none"/>
          </a:ln>
        </p:spPr>
      </p:cxnSp>
      <p:cxnSp>
        <p:nvCxnSpPr>
          <p:cNvPr id="468" name="Google Shape;468;p25"/>
          <p:cNvCxnSpPr/>
          <p:nvPr/>
        </p:nvCxnSpPr>
        <p:spPr>
          <a:xfrm>
            <a:off x="3875924" y="1966436"/>
            <a:ext cx="0" cy="1224300"/>
          </a:xfrm>
          <a:prstGeom prst="straightConnector1">
            <a:avLst/>
          </a:prstGeom>
          <a:noFill/>
          <a:ln cap="flat" cmpd="sng" w="12950">
            <a:solidFill>
              <a:schemeClr val="dk2"/>
            </a:solidFill>
            <a:prstDash val="solid"/>
            <a:round/>
            <a:headEnd len="med" w="med" type="none"/>
            <a:tailEnd len="med" w="med" type="none"/>
          </a:ln>
        </p:spPr>
      </p:cxnSp>
      <p:cxnSp>
        <p:nvCxnSpPr>
          <p:cNvPr id="469" name="Google Shape;469;p25"/>
          <p:cNvCxnSpPr/>
          <p:nvPr/>
        </p:nvCxnSpPr>
        <p:spPr>
          <a:xfrm>
            <a:off x="2511300" y="2361995"/>
            <a:ext cx="1362600" cy="274200"/>
          </a:xfrm>
          <a:prstGeom prst="straightConnector1">
            <a:avLst/>
          </a:prstGeom>
          <a:noFill/>
          <a:ln cap="flat" cmpd="sng" w="12950">
            <a:solidFill>
              <a:schemeClr val="dk2"/>
            </a:solidFill>
            <a:prstDash val="solid"/>
            <a:round/>
            <a:headEnd len="med" w="med" type="none"/>
            <a:tailEnd len="med" w="med" type="triangle"/>
          </a:ln>
        </p:spPr>
      </p:cxnSp>
      <p:cxnSp>
        <p:nvCxnSpPr>
          <p:cNvPr id="470" name="Google Shape;470;p25"/>
          <p:cNvCxnSpPr/>
          <p:nvPr/>
        </p:nvCxnSpPr>
        <p:spPr>
          <a:xfrm>
            <a:off x="2506878" y="2361995"/>
            <a:ext cx="1371300" cy="575100"/>
          </a:xfrm>
          <a:prstGeom prst="straightConnector1">
            <a:avLst/>
          </a:prstGeom>
          <a:noFill/>
          <a:ln cap="flat" cmpd="sng" w="12950">
            <a:solidFill>
              <a:schemeClr val="dk2"/>
            </a:solidFill>
            <a:prstDash val="solid"/>
            <a:round/>
            <a:headEnd len="med" w="med" type="none"/>
            <a:tailEnd len="med" w="med" type="triangle"/>
          </a:ln>
        </p:spPr>
      </p:cxnSp>
      <p:cxnSp>
        <p:nvCxnSpPr>
          <p:cNvPr id="471" name="Google Shape;471;p25"/>
          <p:cNvCxnSpPr/>
          <p:nvPr/>
        </p:nvCxnSpPr>
        <p:spPr>
          <a:xfrm>
            <a:off x="2520145" y="2357572"/>
            <a:ext cx="1380300" cy="845100"/>
          </a:xfrm>
          <a:prstGeom prst="straightConnector1">
            <a:avLst/>
          </a:prstGeom>
          <a:noFill/>
          <a:ln cap="flat" cmpd="sng" w="12950">
            <a:solidFill>
              <a:schemeClr val="dk2"/>
            </a:solidFill>
            <a:prstDash val="solid"/>
            <a:round/>
            <a:headEnd len="med" w="med" type="none"/>
            <a:tailEnd len="med" w="med" type="triangle"/>
          </a:ln>
        </p:spPr>
      </p:cxnSp>
      <p:sp>
        <p:nvSpPr>
          <p:cNvPr id="472" name="Google Shape;472;p25"/>
          <p:cNvSpPr txBox="1"/>
          <p:nvPr/>
        </p:nvSpPr>
        <p:spPr>
          <a:xfrm>
            <a:off x="2656488" y="3233701"/>
            <a:ext cx="11076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Propose</a:t>
            </a:r>
            <a:endParaRPr sz="1768">
              <a:solidFill>
                <a:schemeClr val="dk2"/>
              </a:solidFill>
              <a:latin typeface="Lato"/>
              <a:ea typeface="Lato"/>
              <a:cs typeface="Lato"/>
              <a:sym typeface="Lato"/>
            </a:endParaRPr>
          </a:p>
        </p:txBody>
      </p:sp>
      <p:cxnSp>
        <p:nvCxnSpPr>
          <p:cNvPr id="473" name="Google Shape;473;p25"/>
          <p:cNvCxnSpPr/>
          <p:nvPr/>
        </p:nvCxnSpPr>
        <p:spPr>
          <a:xfrm>
            <a:off x="5367017" y="1975498"/>
            <a:ext cx="0" cy="1224300"/>
          </a:xfrm>
          <a:prstGeom prst="straightConnector1">
            <a:avLst/>
          </a:prstGeom>
          <a:noFill/>
          <a:ln cap="flat" cmpd="sng" w="12950">
            <a:solidFill>
              <a:schemeClr val="dk2"/>
            </a:solidFill>
            <a:prstDash val="solid"/>
            <a:round/>
            <a:headEnd len="med" w="med" type="none"/>
            <a:tailEnd len="med" w="med" type="none"/>
          </a:ln>
        </p:spPr>
      </p:cxnSp>
      <p:cxnSp>
        <p:nvCxnSpPr>
          <p:cNvPr id="474" name="Google Shape;474;p25"/>
          <p:cNvCxnSpPr/>
          <p:nvPr/>
        </p:nvCxnSpPr>
        <p:spPr>
          <a:xfrm flipH="1" rot="10800000">
            <a:off x="3884803" y="2362602"/>
            <a:ext cx="1474500" cy="281400"/>
          </a:xfrm>
          <a:prstGeom prst="straightConnector1">
            <a:avLst/>
          </a:prstGeom>
          <a:noFill/>
          <a:ln cap="flat" cmpd="sng" w="12950">
            <a:solidFill>
              <a:schemeClr val="dk2"/>
            </a:solidFill>
            <a:prstDash val="solid"/>
            <a:round/>
            <a:headEnd len="med" w="med" type="none"/>
            <a:tailEnd len="med" w="med" type="triangle"/>
          </a:ln>
        </p:spPr>
      </p:cxnSp>
      <p:cxnSp>
        <p:nvCxnSpPr>
          <p:cNvPr id="475" name="Google Shape;475;p25"/>
          <p:cNvCxnSpPr/>
          <p:nvPr/>
        </p:nvCxnSpPr>
        <p:spPr>
          <a:xfrm flipH="1" rot="10800000">
            <a:off x="3882183" y="2383877"/>
            <a:ext cx="1492800" cy="557100"/>
          </a:xfrm>
          <a:prstGeom prst="straightConnector1">
            <a:avLst/>
          </a:prstGeom>
          <a:noFill/>
          <a:ln cap="flat" cmpd="sng" w="12950">
            <a:solidFill>
              <a:schemeClr val="dk2"/>
            </a:solidFill>
            <a:prstDash val="solid"/>
            <a:round/>
            <a:headEnd len="med" w="med" type="none"/>
            <a:tailEnd len="med" w="med" type="triangle"/>
          </a:ln>
        </p:spPr>
      </p:cxnSp>
      <p:sp>
        <p:nvSpPr>
          <p:cNvPr id="476" name="Google Shape;476;p25"/>
          <p:cNvSpPr txBox="1"/>
          <p:nvPr/>
        </p:nvSpPr>
        <p:spPr>
          <a:xfrm>
            <a:off x="4092583" y="3233701"/>
            <a:ext cx="11076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Support</a:t>
            </a:r>
            <a:endParaRPr sz="1768">
              <a:solidFill>
                <a:schemeClr val="dk2"/>
              </a:solidFill>
              <a:latin typeface="Lato"/>
              <a:ea typeface="Lato"/>
              <a:cs typeface="Lato"/>
              <a:sym typeface="Lato"/>
            </a:endParaRPr>
          </a:p>
        </p:txBody>
      </p:sp>
      <p:cxnSp>
        <p:nvCxnSpPr>
          <p:cNvPr id="477" name="Google Shape;477;p25"/>
          <p:cNvCxnSpPr/>
          <p:nvPr/>
        </p:nvCxnSpPr>
        <p:spPr>
          <a:xfrm>
            <a:off x="6750087" y="1966436"/>
            <a:ext cx="0" cy="1224300"/>
          </a:xfrm>
          <a:prstGeom prst="straightConnector1">
            <a:avLst/>
          </a:prstGeom>
          <a:noFill/>
          <a:ln cap="flat" cmpd="sng" w="12950">
            <a:solidFill>
              <a:schemeClr val="dk2"/>
            </a:solidFill>
            <a:prstDash val="solid"/>
            <a:round/>
            <a:headEnd len="med" w="med" type="none"/>
            <a:tailEnd len="med" w="med" type="none"/>
          </a:ln>
        </p:spPr>
      </p:cxnSp>
      <p:cxnSp>
        <p:nvCxnSpPr>
          <p:cNvPr id="478" name="Google Shape;478;p25"/>
          <p:cNvCxnSpPr/>
          <p:nvPr/>
        </p:nvCxnSpPr>
        <p:spPr>
          <a:xfrm>
            <a:off x="5385464" y="2361995"/>
            <a:ext cx="1362600" cy="274200"/>
          </a:xfrm>
          <a:prstGeom prst="straightConnector1">
            <a:avLst/>
          </a:prstGeom>
          <a:noFill/>
          <a:ln cap="flat" cmpd="sng" w="12950">
            <a:solidFill>
              <a:schemeClr val="dk2"/>
            </a:solidFill>
            <a:prstDash val="solid"/>
            <a:round/>
            <a:headEnd len="med" w="med" type="none"/>
            <a:tailEnd len="med" w="med" type="triangle"/>
          </a:ln>
        </p:spPr>
      </p:cxnSp>
      <p:cxnSp>
        <p:nvCxnSpPr>
          <p:cNvPr id="479" name="Google Shape;479;p25"/>
          <p:cNvCxnSpPr/>
          <p:nvPr/>
        </p:nvCxnSpPr>
        <p:spPr>
          <a:xfrm>
            <a:off x="5381041" y="2361995"/>
            <a:ext cx="1371300" cy="575100"/>
          </a:xfrm>
          <a:prstGeom prst="straightConnector1">
            <a:avLst/>
          </a:prstGeom>
          <a:noFill/>
          <a:ln cap="flat" cmpd="sng" w="12950">
            <a:solidFill>
              <a:schemeClr val="dk2"/>
            </a:solidFill>
            <a:prstDash val="solid"/>
            <a:round/>
            <a:headEnd len="med" w="med" type="none"/>
            <a:tailEnd len="med" w="med" type="triangle"/>
          </a:ln>
        </p:spPr>
      </p:cxnSp>
      <p:cxnSp>
        <p:nvCxnSpPr>
          <p:cNvPr id="480" name="Google Shape;480;p25"/>
          <p:cNvCxnSpPr/>
          <p:nvPr/>
        </p:nvCxnSpPr>
        <p:spPr>
          <a:xfrm>
            <a:off x="5394308" y="2357572"/>
            <a:ext cx="1380300" cy="845100"/>
          </a:xfrm>
          <a:prstGeom prst="straightConnector1">
            <a:avLst/>
          </a:prstGeom>
          <a:noFill/>
          <a:ln cap="flat" cmpd="sng" w="12950">
            <a:solidFill>
              <a:schemeClr val="dk2"/>
            </a:solidFill>
            <a:prstDash val="solid"/>
            <a:round/>
            <a:headEnd len="med" w="med" type="none"/>
            <a:tailEnd len="med" w="med" type="triangle"/>
          </a:ln>
        </p:spPr>
      </p:cxnSp>
      <p:sp>
        <p:nvSpPr>
          <p:cNvPr id="481" name="Google Shape;481;p25"/>
          <p:cNvSpPr txBox="1"/>
          <p:nvPr/>
        </p:nvSpPr>
        <p:spPr>
          <a:xfrm>
            <a:off x="5634338" y="3233701"/>
            <a:ext cx="11076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Certify</a:t>
            </a:r>
            <a:endParaRPr sz="1768">
              <a:solidFill>
                <a:schemeClr val="dk2"/>
              </a:solidFill>
              <a:latin typeface="Lato"/>
              <a:ea typeface="Lato"/>
              <a:cs typeface="Lato"/>
              <a:sym typeface="Lato"/>
            </a:endParaRPr>
          </a:p>
        </p:txBody>
      </p:sp>
      <p:cxnSp>
        <p:nvCxnSpPr>
          <p:cNvPr id="482" name="Google Shape;482;p25"/>
          <p:cNvCxnSpPr/>
          <p:nvPr/>
        </p:nvCxnSpPr>
        <p:spPr>
          <a:xfrm>
            <a:off x="8235976" y="1966449"/>
            <a:ext cx="0" cy="1224300"/>
          </a:xfrm>
          <a:prstGeom prst="straightConnector1">
            <a:avLst/>
          </a:prstGeom>
          <a:noFill/>
          <a:ln cap="flat" cmpd="sng" w="12950">
            <a:solidFill>
              <a:schemeClr val="dk2"/>
            </a:solidFill>
            <a:prstDash val="solid"/>
            <a:round/>
            <a:headEnd len="med" w="med" type="none"/>
            <a:tailEnd len="med" w="med" type="none"/>
          </a:ln>
        </p:spPr>
      </p:cxnSp>
      <p:cxnSp>
        <p:nvCxnSpPr>
          <p:cNvPr id="483" name="Google Shape;483;p25"/>
          <p:cNvCxnSpPr/>
          <p:nvPr/>
        </p:nvCxnSpPr>
        <p:spPr>
          <a:xfrm flipH="1" rot="10800000">
            <a:off x="6753761" y="1971953"/>
            <a:ext cx="1487100" cy="663000"/>
          </a:xfrm>
          <a:prstGeom prst="straightConnector1">
            <a:avLst/>
          </a:prstGeom>
          <a:noFill/>
          <a:ln cap="flat" cmpd="sng" w="12950">
            <a:solidFill>
              <a:schemeClr val="dk2"/>
            </a:solidFill>
            <a:prstDash val="solid"/>
            <a:round/>
            <a:headEnd len="med" w="med" type="none"/>
            <a:tailEnd len="med" w="med" type="triangle"/>
          </a:ln>
        </p:spPr>
      </p:cxnSp>
      <p:cxnSp>
        <p:nvCxnSpPr>
          <p:cNvPr id="484" name="Google Shape;484;p25"/>
          <p:cNvCxnSpPr/>
          <p:nvPr/>
        </p:nvCxnSpPr>
        <p:spPr>
          <a:xfrm flipH="1" rot="10800000">
            <a:off x="6751142" y="1977029"/>
            <a:ext cx="1473300" cy="954900"/>
          </a:xfrm>
          <a:prstGeom prst="straightConnector1">
            <a:avLst/>
          </a:prstGeom>
          <a:noFill/>
          <a:ln cap="flat" cmpd="sng" w="12950">
            <a:solidFill>
              <a:schemeClr val="dk2"/>
            </a:solidFill>
            <a:prstDash val="solid"/>
            <a:round/>
            <a:headEnd len="med" w="med" type="none"/>
            <a:tailEnd len="med" w="med" type="triangle"/>
          </a:ln>
        </p:spPr>
      </p:cxnSp>
      <p:sp>
        <p:nvSpPr>
          <p:cNvPr id="485" name="Google Shape;485;p25"/>
          <p:cNvSpPr txBox="1"/>
          <p:nvPr/>
        </p:nvSpPr>
        <p:spPr>
          <a:xfrm>
            <a:off x="6961542" y="3224652"/>
            <a:ext cx="11076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Inform</a:t>
            </a:r>
            <a:endParaRPr sz="1768">
              <a:solidFill>
                <a:schemeClr val="dk2"/>
              </a:solidFill>
              <a:latin typeface="Lato"/>
              <a:ea typeface="Lato"/>
              <a:cs typeface="Lato"/>
              <a:sym typeface="Lato"/>
            </a:endParaRPr>
          </a:p>
        </p:txBody>
      </p:sp>
      <p:cxnSp>
        <p:nvCxnSpPr>
          <p:cNvPr id="486" name="Google Shape;486;p25"/>
          <p:cNvCxnSpPr/>
          <p:nvPr/>
        </p:nvCxnSpPr>
        <p:spPr>
          <a:xfrm flipH="1" rot="10800000">
            <a:off x="6756381" y="1982912"/>
            <a:ext cx="1468200" cy="381600"/>
          </a:xfrm>
          <a:prstGeom prst="straightConnector1">
            <a:avLst/>
          </a:prstGeom>
          <a:noFill/>
          <a:ln cap="flat" cmpd="sng" w="12950">
            <a:solidFill>
              <a:schemeClr val="dk2"/>
            </a:solidFill>
            <a:prstDash val="solid"/>
            <a:round/>
            <a:headEnd len="med" w="med" type="none"/>
            <a:tailEnd len="med" w="med" type="triangle"/>
          </a:ln>
        </p:spPr>
      </p:cxnSp>
      <p:sp>
        <p:nvSpPr>
          <p:cNvPr id="487" name="Google Shape;487;p25"/>
          <p:cNvSpPr/>
          <p:nvPr/>
        </p:nvSpPr>
        <p:spPr>
          <a:xfrm>
            <a:off x="3777525" y="1818400"/>
            <a:ext cx="3036000" cy="1938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MACs</a:t>
            </a:r>
            <a:endParaRPr/>
          </a:p>
        </p:txBody>
      </p:sp>
      <p:cxnSp>
        <p:nvCxnSpPr>
          <p:cNvPr id="493" name="Google Shape;493;p26"/>
          <p:cNvCxnSpPr/>
          <p:nvPr/>
        </p:nvCxnSpPr>
        <p:spPr>
          <a:xfrm>
            <a:off x="917909" y="2359752"/>
            <a:ext cx="7483500" cy="0"/>
          </a:xfrm>
          <a:prstGeom prst="straightConnector1">
            <a:avLst/>
          </a:prstGeom>
          <a:noFill/>
          <a:ln cap="flat" cmpd="sng" w="12925">
            <a:solidFill>
              <a:schemeClr val="dk2"/>
            </a:solidFill>
            <a:prstDash val="solid"/>
            <a:round/>
            <a:headEnd len="med" w="med" type="none"/>
            <a:tailEnd len="med" w="med" type="none"/>
          </a:ln>
        </p:spPr>
      </p:cxnSp>
      <p:cxnSp>
        <p:nvCxnSpPr>
          <p:cNvPr id="494" name="Google Shape;494;p26"/>
          <p:cNvCxnSpPr/>
          <p:nvPr/>
        </p:nvCxnSpPr>
        <p:spPr>
          <a:xfrm>
            <a:off x="917909" y="2641822"/>
            <a:ext cx="7482900" cy="0"/>
          </a:xfrm>
          <a:prstGeom prst="straightConnector1">
            <a:avLst/>
          </a:prstGeom>
          <a:noFill/>
          <a:ln cap="flat" cmpd="sng" w="12925">
            <a:solidFill>
              <a:schemeClr val="dk2"/>
            </a:solidFill>
            <a:prstDash val="solid"/>
            <a:round/>
            <a:headEnd len="med" w="med" type="none"/>
            <a:tailEnd len="med" w="med" type="none"/>
          </a:ln>
        </p:spPr>
      </p:cxnSp>
      <p:cxnSp>
        <p:nvCxnSpPr>
          <p:cNvPr id="495" name="Google Shape;495;p26"/>
          <p:cNvCxnSpPr/>
          <p:nvPr/>
        </p:nvCxnSpPr>
        <p:spPr>
          <a:xfrm>
            <a:off x="917909" y="2935456"/>
            <a:ext cx="7488600" cy="0"/>
          </a:xfrm>
          <a:prstGeom prst="straightConnector1">
            <a:avLst/>
          </a:prstGeom>
          <a:noFill/>
          <a:ln cap="flat" cmpd="sng" w="12925">
            <a:solidFill>
              <a:schemeClr val="dk2"/>
            </a:solidFill>
            <a:prstDash val="solid"/>
            <a:round/>
            <a:headEnd len="med" w="med" type="none"/>
            <a:tailEnd len="med" w="med" type="none"/>
          </a:ln>
        </p:spPr>
      </p:cxnSp>
      <p:cxnSp>
        <p:nvCxnSpPr>
          <p:cNvPr id="496" name="Google Shape;496;p26"/>
          <p:cNvCxnSpPr/>
          <p:nvPr/>
        </p:nvCxnSpPr>
        <p:spPr>
          <a:xfrm>
            <a:off x="917909" y="3194226"/>
            <a:ext cx="7500300" cy="0"/>
          </a:xfrm>
          <a:prstGeom prst="straightConnector1">
            <a:avLst/>
          </a:prstGeom>
          <a:noFill/>
          <a:ln cap="flat" cmpd="sng" w="12925">
            <a:solidFill>
              <a:schemeClr val="dk2"/>
            </a:solidFill>
            <a:prstDash val="solid"/>
            <a:round/>
            <a:headEnd len="med" w="med" type="none"/>
            <a:tailEnd len="med" w="med" type="none"/>
          </a:ln>
        </p:spPr>
      </p:cxnSp>
      <p:cxnSp>
        <p:nvCxnSpPr>
          <p:cNvPr id="497" name="Google Shape;497;p26"/>
          <p:cNvCxnSpPr/>
          <p:nvPr/>
        </p:nvCxnSpPr>
        <p:spPr>
          <a:xfrm>
            <a:off x="917909" y="1968131"/>
            <a:ext cx="7468500" cy="0"/>
          </a:xfrm>
          <a:prstGeom prst="straightConnector1">
            <a:avLst/>
          </a:prstGeom>
          <a:noFill/>
          <a:ln cap="flat" cmpd="sng" w="12925">
            <a:solidFill>
              <a:schemeClr val="dk2"/>
            </a:solidFill>
            <a:prstDash val="solid"/>
            <a:round/>
            <a:headEnd len="med" w="med" type="none"/>
            <a:tailEnd len="med" w="med" type="none"/>
          </a:ln>
        </p:spPr>
      </p:cxnSp>
      <p:sp>
        <p:nvSpPr>
          <p:cNvPr id="498" name="Google Shape;498;p26"/>
          <p:cNvSpPr txBox="1"/>
          <p:nvPr/>
        </p:nvSpPr>
        <p:spPr>
          <a:xfrm>
            <a:off x="467375" y="1707050"/>
            <a:ext cx="450600" cy="522000"/>
          </a:xfrm>
          <a:prstGeom prst="rect">
            <a:avLst/>
          </a:prstGeom>
          <a:noFill/>
          <a:ln>
            <a:noFill/>
          </a:ln>
        </p:spPr>
        <p:txBody>
          <a:bodyPr anchorCtr="0" anchor="t" bIns="124050" lIns="124050" spcFirstLastPara="1" rIns="124050" wrap="square" tIns="124050">
            <a:spAutoFit/>
          </a:bodyPr>
          <a:lstStyle/>
          <a:p>
            <a:pPr indent="0" lvl="0" marL="0" rtl="0" algn="l">
              <a:spcBef>
                <a:spcPts val="0"/>
              </a:spcBef>
              <a:spcAft>
                <a:spcPts val="0"/>
              </a:spcAft>
              <a:buNone/>
            </a:pPr>
            <a:r>
              <a:rPr i="1" lang="en" sz="1763">
                <a:solidFill>
                  <a:schemeClr val="dk2"/>
                </a:solidFill>
                <a:latin typeface="Lato"/>
                <a:ea typeface="Lato"/>
                <a:cs typeface="Lato"/>
                <a:sym typeface="Lato"/>
              </a:rPr>
              <a:t>c</a:t>
            </a:r>
            <a:endParaRPr i="1" sz="1763">
              <a:solidFill>
                <a:schemeClr val="dk2"/>
              </a:solidFill>
              <a:latin typeface="Lato"/>
              <a:ea typeface="Lato"/>
              <a:cs typeface="Lato"/>
              <a:sym typeface="Lato"/>
            </a:endParaRPr>
          </a:p>
        </p:txBody>
      </p:sp>
      <p:sp>
        <p:nvSpPr>
          <p:cNvPr id="499" name="Google Shape;499;p26"/>
          <p:cNvSpPr txBox="1"/>
          <p:nvPr/>
        </p:nvSpPr>
        <p:spPr>
          <a:xfrm>
            <a:off x="467375" y="2056006"/>
            <a:ext cx="450600" cy="522000"/>
          </a:xfrm>
          <a:prstGeom prst="rect">
            <a:avLst/>
          </a:prstGeom>
          <a:noFill/>
          <a:ln>
            <a:noFill/>
          </a:ln>
        </p:spPr>
        <p:txBody>
          <a:bodyPr anchorCtr="0" anchor="t" bIns="124050" lIns="124050" spcFirstLastPara="1" rIns="124050" wrap="square" tIns="124050">
            <a:spAutoFit/>
          </a:bodyPr>
          <a:lstStyle/>
          <a:p>
            <a:pPr indent="0" lvl="0" marL="0" rtl="0" algn="l">
              <a:spcBef>
                <a:spcPts val="0"/>
              </a:spcBef>
              <a:spcAft>
                <a:spcPts val="0"/>
              </a:spcAft>
              <a:buNone/>
            </a:pPr>
            <a:r>
              <a:rPr i="1" lang="en" sz="1763">
                <a:solidFill>
                  <a:schemeClr val="dk2"/>
                </a:solidFill>
                <a:latin typeface="Lato"/>
                <a:ea typeface="Lato"/>
                <a:cs typeface="Lato"/>
                <a:sym typeface="Lato"/>
              </a:rPr>
              <a:t>P</a:t>
            </a:r>
            <a:endParaRPr i="1" sz="1763">
              <a:solidFill>
                <a:schemeClr val="dk2"/>
              </a:solidFill>
              <a:latin typeface="Lato"/>
              <a:ea typeface="Lato"/>
              <a:cs typeface="Lato"/>
              <a:sym typeface="Lato"/>
            </a:endParaRPr>
          </a:p>
        </p:txBody>
      </p:sp>
      <p:sp>
        <p:nvSpPr>
          <p:cNvPr id="500" name="Google Shape;500;p26"/>
          <p:cNvSpPr txBox="1"/>
          <p:nvPr/>
        </p:nvSpPr>
        <p:spPr>
          <a:xfrm>
            <a:off x="467375" y="2380741"/>
            <a:ext cx="621000" cy="522000"/>
          </a:xfrm>
          <a:prstGeom prst="rect">
            <a:avLst/>
          </a:prstGeom>
          <a:noFill/>
          <a:ln>
            <a:noFill/>
          </a:ln>
        </p:spPr>
        <p:txBody>
          <a:bodyPr anchorCtr="0" anchor="t" bIns="124050" lIns="124050" spcFirstLastPara="1" rIns="124050" wrap="square" tIns="124050">
            <a:spAutoFit/>
          </a:bodyPr>
          <a:lstStyle/>
          <a:p>
            <a:pPr indent="0" lvl="0" marL="0" rtl="0" algn="l">
              <a:spcBef>
                <a:spcPts val="0"/>
              </a:spcBef>
              <a:spcAft>
                <a:spcPts val="0"/>
              </a:spcAft>
              <a:buNone/>
            </a:pPr>
            <a:r>
              <a:rPr i="1" lang="en" sz="1763">
                <a:solidFill>
                  <a:schemeClr val="dk2"/>
                </a:solidFill>
                <a:latin typeface="Lato"/>
                <a:ea typeface="Lato"/>
                <a:cs typeface="Lato"/>
                <a:sym typeface="Lato"/>
              </a:rPr>
              <a:t>R</a:t>
            </a:r>
            <a:r>
              <a:rPr baseline="-25000" i="1" lang="en" sz="1763">
                <a:solidFill>
                  <a:schemeClr val="dk2"/>
                </a:solidFill>
                <a:latin typeface="Lato"/>
                <a:ea typeface="Lato"/>
                <a:cs typeface="Lato"/>
                <a:sym typeface="Lato"/>
              </a:rPr>
              <a:t>1</a:t>
            </a:r>
            <a:endParaRPr baseline="-25000" i="1" sz="1763">
              <a:solidFill>
                <a:schemeClr val="dk2"/>
              </a:solidFill>
              <a:latin typeface="Lato"/>
              <a:ea typeface="Lato"/>
              <a:cs typeface="Lato"/>
              <a:sym typeface="Lato"/>
            </a:endParaRPr>
          </a:p>
        </p:txBody>
      </p:sp>
      <p:sp>
        <p:nvSpPr>
          <p:cNvPr id="501" name="Google Shape;501;p26"/>
          <p:cNvSpPr txBox="1"/>
          <p:nvPr/>
        </p:nvSpPr>
        <p:spPr>
          <a:xfrm>
            <a:off x="467375" y="2674375"/>
            <a:ext cx="621000" cy="522000"/>
          </a:xfrm>
          <a:prstGeom prst="rect">
            <a:avLst/>
          </a:prstGeom>
          <a:noFill/>
          <a:ln>
            <a:noFill/>
          </a:ln>
        </p:spPr>
        <p:txBody>
          <a:bodyPr anchorCtr="0" anchor="t" bIns="124050" lIns="124050" spcFirstLastPara="1" rIns="124050" wrap="square" tIns="124050">
            <a:spAutoFit/>
          </a:bodyPr>
          <a:lstStyle/>
          <a:p>
            <a:pPr indent="0" lvl="0" marL="0" rtl="0" algn="l">
              <a:spcBef>
                <a:spcPts val="0"/>
              </a:spcBef>
              <a:spcAft>
                <a:spcPts val="0"/>
              </a:spcAft>
              <a:buNone/>
            </a:pPr>
            <a:r>
              <a:rPr i="1" lang="en" sz="1763">
                <a:solidFill>
                  <a:schemeClr val="dk2"/>
                </a:solidFill>
                <a:latin typeface="Lato"/>
                <a:ea typeface="Lato"/>
                <a:cs typeface="Lato"/>
                <a:sym typeface="Lato"/>
              </a:rPr>
              <a:t>R</a:t>
            </a:r>
            <a:r>
              <a:rPr baseline="-25000" i="1" lang="en" sz="1763">
                <a:solidFill>
                  <a:schemeClr val="dk2"/>
                </a:solidFill>
                <a:latin typeface="Lato"/>
                <a:ea typeface="Lato"/>
                <a:cs typeface="Lato"/>
                <a:sym typeface="Lato"/>
              </a:rPr>
              <a:t>2</a:t>
            </a:r>
            <a:endParaRPr baseline="-25000" i="1" sz="1763">
              <a:solidFill>
                <a:schemeClr val="dk2"/>
              </a:solidFill>
              <a:latin typeface="Lato"/>
              <a:ea typeface="Lato"/>
              <a:cs typeface="Lato"/>
              <a:sym typeface="Lato"/>
            </a:endParaRPr>
          </a:p>
        </p:txBody>
      </p:sp>
      <p:sp>
        <p:nvSpPr>
          <p:cNvPr id="502" name="Google Shape;502;p26"/>
          <p:cNvSpPr txBox="1"/>
          <p:nvPr/>
        </p:nvSpPr>
        <p:spPr>
          <a:xfrm>
            <a:off x="467375" y="2902898"/>
            <a:ext cx="621000" cy="522000"/>
          </a:xfrm>
          <a:prstGeom prst="rect">
            <a:avLst/>
          </a:prstGeom>
          <a:noFill/>
          <a:ln>
            <a:noFill/>
          </a:ln>
        </p:spPr>
        <p:txBody>
          <a:bodyPr anchorCtr="0" anchor="t" bIns="124050" lIns="124050" spcFirstLastPara="1" rIns="124050" wrap="square" tIns="124050">
            <a:spAutoFit/>
          </a:bodyPr>
          <a:lstStyle/>
          <a:p>
            <a:pPr indent="0" lvl="0" marL="0" rtl="0" algn="l">
              <a:spcBef>
                <a:spcPts val="0"/>
              </a:spcBef>
              <a:spcAft>
                <a:spcPts val="0"/>
              </a:spcAft>
              <a:buNone/>
            </a:pPr>
            <a:r>
              <a:rPr i="1" lang="en" sz="1763">
                <a:solidFill>
                  <a:schemeClr val="dk2"/>
                </a:solidFill>
                <a:latin typeface="Lato"/>
                <a:ea typeface="Lato"/>
                <a:cs typeface="Lato"/>
                <a:sym typeface="Lato"/>
              </a:rPr>
              <a:t>B</a:t>
            </a:r>
            <a:endParaRPr baseline="-25000" i="1" sz="1763">
              <a:solidFill>
                <a:schemeClr val="dk2"/>
              </a:solidFill>
              <a:latin typeface="Lato"/>
              <a:ea typeface="Lato"/>
              <a:cs typeface="Lato"/>
              <a:sym typeface="Lato"/>
            </a:endParaRPr>
          </a:p>
        </p:txBody>
      </p:sp>
      <p:cxnSp>
        <p:nvCxnSpPr>
          <p:cNvPr id="503" name="Google Shape;503;p26"/>
          <p:cNvCxnSpPr/>
          <p:nvPr/>
        </p:nvCxnSpPr>
        <p:spPr>
          <a:xfrm>
            <a:off x="1112414" y="1976779"/>
            <a:ext cx="1399200" cy="385200"/>
          </a:xfrm>
          <a:prstGeom prst="straightConnector1">
            <a:avLst/>
          </a:prstGeom>
          <a:noFill/>
          <a:ln cap="flat" cmpd="sng" w="12925">
            <a:solidFill>
              <a:schemeClr val="dk2"/>
            </a:solidFill>
            <a:prstDash val="solid"/>
            <a:round/>
            <a:headEnd len="med" w="med" type="none"/>
            <a:tailEnd len="med" w="med" type="triangle"/>
          </a:ln>
        </p:spPr>
      </p:cxnSp>
      <p:cxnSp>
        <p:nvCxnSpPr>
          <p:cNvPr id="504" name="Google Shape;504;p26"/>
          <p:cNvCxnSpPr/>
          <p:nvPr/>
        </p:nvCxnSpPr>
        <p:spPr>
          <a:xfrm>
            <a:off x="1108649" y="1971624"/>
            <a:ext cx="0" cy="1226700"/>
          </a:xfrm>
          <a:prstGeom prst="straightConnector1">
            <a:avLst/>
          </a:prstGeom>
          <a:noFill/>
          <a:ln cap="flat" cmpd="sng" w="12925">
            <a:solidFill>
              <a:schemeClr val="dk2"/>
            </a:solidFill>
            <a:prstDash val="solid"/>
            <a:round/>
            <a:headEnd len="med" w="med" type="none"/>
            <a:tailEnd len="med" w="med" type="none"/>
          </a:ln>
        </p:spPr>
      </p:cxnSp>
      <p:sp>
        <p:nvSpPr>
          <p:cNvPr id="505" name="Google Shape;505;p26"/>
          <p:cNvSpPr txBox="1"/>
          <p:nvPr/>
        </p:nvSpPr>
        <p:spPr>
          <a:xfrm>
            <a:off x="1853163" y="1858584"/>
            <a:ext cx="450600" cy="522000"/>
          </a:xfrm>
          <a:prstGeom prst="rect">
            <a:avLst/>
          </a:prstGeom>
          <a:noFill/>
          <a:ln>
            <a:noFill/>
          </a:ln>
        </p:spPr>
        <p:txBody>
          <a:bodyPr anchorCtr="0" anchor="t" bIns="124050" lIns="124050" spcFirstLastPara="1" rIns="124050" wrap="square" tIns="124050">
            <a:spAutoFit/>
          </a:bodyPr>
          <a:lstStyle/>
          <a:p>
            <a:pPr indent="0" lvl="0" marL="0" rtl="0" algn="l">
              <a:spcBef>
                <a:spcPts val="0"/>
              </a:spcBef>
              <a:spcAft>
                <a:spcPts val="0"/>
              </a:spcAft>
              <a:buNone/>
            </a:pPr>
            <a:r>
              <a:rPr i="1" lang="en" sz="1763">
                <a:solidFill>
                  <a:schemeClr val="dk2"/>
                </a:solidFill>
                <a:latin typeface="Lato"/>
                <a:ea typeface="Lato"/>
                <a:cs typeface="Lato"/>
                <a:sym typeface="Lato"/>
              </a:rPr>
              <a:t>T</a:t>
            </a:r>
            <a:endParaRPr i="1" sz="1763">
              <a:solidFill>
                <a:schemeClr val="dk2"/>
              </a:solidFill>
              <a:latin typeface="Lato"/>
              <a:ea typeface="Lato"/>
              <a:cs typeface="Lato"/>
              <a:sym typeface="Lato"/>
            </a:endParaRPr>
          </a:p>
        </p:txBody>
      </p:sp>
      <p:cxnSp>
        <p:nvCxnSpPr>
          <p:cNvPr id="506" name="Google Shape;506;p26"/>
          <p:cNvCxnSpPr/>
          <p:nvPr/>
        </p:nvCxnSpPr>
        <p:spPr>
          <a:xfrm>
            <a:off x="2502034" y="1977593"/>
            <a:ext cx="0" cy="1208700"/>
          </a:xfrm>
          <a:prstGeom prst="straightConnector1">
            <a:avLst/>
          </a:prstGeom>
          <a:noFill/>
          <a:ln cap="flat" cmpd="sng" w="12925">
            <a:solidFill>
              <a:schemeClr val="dk2"/>
            </a:solidFill>
            <a:prstDash val="solid"/>
            <a:round/>
            <a:headEnd len="med" w="med" type="none"/>
            <a:tailEnd len="med" w="med" type="none"/>
          </a:ln>
        </p:spPr>
      </p:cxnSp>
      <p:cxnSp>
        <p:nvCxnSpPr>
          <p:cNvPr id="507" name="Google Shape;507;p26"/>
          <p:cNvCxnSpPr/>
          <p:nvPr/>
        </p:nvCxnSpPr>
        <p:spPr>
          <a:xfrm>
            <a:off x="3865675" y="1965655"/>
            <a:ext cx="0" cy="1220400"/>
          </a:xfrm>
          <a:prstGeom prst="straightConnector1">
            <a:avLst/>
          </a:prstGeom>
          <a:noFill/>
          <a:ln cap="flat" cmpd="sng" w="12925">
            <a:solidFill>
              <a:schemeClr val="dk2"/>
            </a:solidFill>
            <a:prstDash val="solid"/>
            <a:round/>
            <a:headEnd len="med" w="med" type="none"/>
            <a:tailEnd len="med" w="med" type="none"/>
          </a:ln>
        </p:spPr>
      </p:cxnSp>
      <p:cxnSp>
        <p:nvCxnSpPr>
          <p:cNvPr id="508" name="Google Shape;508;p26"/>
          <p:cNvCxnSpPr/>
          <p:nvPr/>
        </p:nvCxnSpPr>
        <p:spPr>
          <a:xfrm>
            <a:off x="2505155" y="2360024"/>
            <a:ext cx="1358700" cy="273600"/>
          </a:xfrm>
          <a:prstGeom prst="straightConnector1">
            <a:avLst/>
          </a:prstGeom>
          <a:noFill/>
          <a:ln cap="flat" cmpd="sng" w="12925">
            <a:solidFill>
              <a:schemeClr val="dk2"/>
            </a:solidFill>
            <a:prstDash val="solid"/>
            <a:round/>
            <a:headEnd len="med" w="med" type="none"/>
            <a:tailEnd len="med" w="med" type="triangle"/>
          </a:ln>
        </p:spPr>
      </p:cxnSp>
      <p:cxnSp>
        <p:nvCxnSpPr>
          <p:cNvPr id="509" name="Google Shape;509;p26"/>
          <p:cNvCxnSpPr/>
          <p:nvPr/>
        </p:nvCxnSpPr>
        <p:spPr>
          <a:xfrm>
            <a:off x="2500746" y="2360024"/>
            <a:ext cx="1367100" cy="573300"/>
          </a:xfrm>
          <a:prstGeom prst="straightConnector1">
            <a:avLst/>
          </a:prstGeom>
          <a:noFill/>
          <a:ln cap="flat" cmpd="sng" w="12925">
            <a:solidFill>
              <a:schemeClr val="dk2"/>
            </a:solidFill>
            <a:prstDash val="solid"/>
            <a:round/>
            <a:headEnd len="med" w="med" type="none"/>
            <a:tailEnd len="med" w="med" type="triangle"/>
          </a:ln>
        </p:spPr>
      </p:cxnSp>
      <p:cxnSp>
        <p:nvCxnSpPr>
          <p:cNvPr id="510" name="Google Shape;510;p26"/>
          <p:cNvCxnSpPr/>
          <p:nvPr/>
        </p:nvCxnSpPr>
        <p:spPr>
          <a:xfrm>
            <a:off x="2513973" y="2355615"/>
            <a:ext cx="1376100" cy="842400"/>
          </a:xfrm>
          <a:prstGeom prst="straightConnector1">
            <a:avLst/>
          </a:prstGeom>
          <a:noFill/>
          <a:ln cap="flat" cmpd="sng" w="12925">
            <a:solidFill>
              <a:schemeClr val="dk2"/>
            </a:solidFill>
            <a:prstDash val="solid"/>
            <a:round/>
            <a:headEnd len="med" w="med" type="none"/>
            <a:tailEnd len="med" w="med" type="triangle"/>
          </a:ln>
        </p:spPr>
      </p:cxnSp>
      <p:sp>
        <p:nvSpPr>
          <p:cNvPr id="511" name="Google Shape;511;p26"/>
          <p:cNvSpPr txBox="1"/>
          <p:nvPr/>
        </p:nvSpPr>
        <p:spPr>
          <a:xfrm>
            <a:off x="2649906" y="3229107"/>
            <a:ext cx="1104000" cy="522000"/>
          </a:xfrm>
          <a:prstGeom prst="rect">
            <a:avLst/>
          </a:prstGeom>
          <a:noFill/>
          <a:ln>
            <a:noFill/>
          </a:ln>
        </p:spPr>
        <p:txBody>
          <a:bodyPr anchorCtr="0" anchor="t" bIns="124050" lIns="124050" spcFirstLastPara="1" rIns="124050" wrap="square" tIns="124050">
            <a:spAutoFit/>
          </a:bodyPr>
          <a:lstStyle/>
          <a:p>
            <a:pPr indent="0" lvl="0" marL="0" rtl="0" algn="l">
              <a:spcBef>
                <a:spcPts val="0"/>
              </a:spcBef>
              <a:spcAft>
                <a:spcPts val="0"/>
              </a:spcAft>
              <a:buNone/>
            </a:pPr>
            <a:r>
              <a:rPr lang="en" sz="1763">
                <a:solidFill>
                  <a:schemeClr val="dk2"/>
                </a:solidFill>
                <a:latin typeface="Lato"/>
                <a:ea typeface="Lato"/>
                <a:cs typeface="Lato"/>
                <a:sym typeface="Lato"/>
              </a:rPr>
              <a:t>Propose</a:t>
            </a:r>
            <a:endParaRPr sz="1763">
              <a:solidFill>
                <a:schemeClr val="dk2"/>
              </a:solidFill>
              <a:latin typeface="Lato"/>
              <a:ea typeface="Lato"/>
              <a:cs typeface="Lato"/>
              <a:sym typeface="Lato"/>
            </a:endParaRPr>
          </a:p>
        </p:txBody>
      </p:sp>
      <p:sp>
        <p:nvSpPr>
          <p:cNvPr id="512" name="Google Shape;512;p26"/>
          <p:cNvSpPr txBox="1"/>
          <p:nvPr/>
        </p:nvSpPr>
        <p:spPr>
          <a:xfrm>
            <a:off x="4795961" y="3229107"/>
            <a:ext cx="1104000" cy="522000"/>
          </a:xfrm>
          <a:prstGeom prst="rect">
            <a:avLst/>
          </a:prstGeom>
          <a:noFill/>
          <a:ln>
            <a:noFill/>
          </a:ln>
        </p:spPr>
        <p:txBody>
          <a:bodyPr anchorCtr="0" anchor="t" bIns="124050" lIns="124050" spcFirstLastPara="1" rIns="124050" wrap="square" tIns="124050">
            <a:spAutoFit/>
          </a:bodyPr>
          <a:lstStyle/>
          <a:p>
            <a:pPr indent="0" lvl="0" marL="0" rtl="0" algn="l">
              <a:spcBef>
                <a:spcPts val="0"/>
              </a:spcBef>
              <a:spcAft>
                <a:spcPts val="0"/>
              </a:spcAft>
              <a:buNone/>
            </a:pPr>
            <a:r>
              <a:rPr lang="en" sz="1763">
                <a:solidFill>
                  <a:schemeClr val="dk2"/>
                </a:solidFill>
                <a:latin typeface="Lato"/>
                <a:ea typeface="Lato"/>
                <a:cs typeface="Lato"/>
                <a:sym typeface="Lato"/>
              </a:rPr>
              <a:t>Support</a:t>
            </a:r>
            <a:endParaRPr sz="1763">
              <a:solidFill>
                <a:schemeClr val="dk2"/>
              </a:solidFill>
              <a:latin typeface="Lato"/>
              <a:ea typeface="Lato"/>
              <a:cs typeface="Lato"/>
              <a:sym typeface="Lato"/>
            </a:endParaRPr>
          </a:p>
        </p:txBody>
      </p:sp>
      <p:cxnSp>
        <p:nvCxnSpPr>
          <p:cNvPr id="513" name="Google Shape;513;p26"/>
          <p:cNvCxnSpPr/>
          <p:nvPr/>
        </p:nvCxnSpPr>
        <p:spPr>
          <a:xfrm>
            <a:off x="6731197" y="1965655"/>
            <a:ext cx="0" cy="1220400"/>
          </a:xfrm>
          <a:prstGeom prst="straightConnector1">
            <a:avLst/>
          </a:prstGeom>
          <a:noFill/>
          <a:ln cap="flat" cmpd="sng" w="12925">
            <a:solidFill>
              <a:schemeClr val="dk2"/>
            </a:solidFill>
            <a:prstDash val="solid"/>
            <a:round/>
            <a:headEnd len="med" w="med" type="none"/>
            <a:tailEnd len="med" w="med" type="none"/>
          </a:ln>
        </p:spPr>
      </p:cxnSp>
      <p:cxnSp>
        <p:nvCxnSpPr>
          <p:cNvPr id="514" name="Google Shape;514;p26"/>
          <p:cNvCxnSpPr/>
          <p:nvPr/>
        </p:nvCxnSpPr>
        <p:spPr>
          <a:xfrm>
            <a:off x="8212617" y="1965668"/>
            <a:ext cx="0" cy="1220400"/>
          </a:xfrm>
          <a:prstGeom prst="straightConnector1">
            <a:avLst/>
          </a:prstGeom>
          <a:noFill/>
          <a:ln cap="flat" cmpd="sng" w="12925">
            <a:solidFill>
              <a:schemeClr val="dk2"/>
            </a:solidFill>
            <a:prstDash val="solid"/>
            <a:round/>
            <a:headEnd len="med" w="med" type="none"/>
            <a:tailEnd len="med" w="med" type="none"/>
          </a:ln>
        </p:spPr>
      </p:cxnSp>
      <p:cxnSp>
        <p:nvCxnSpPr>
          <p:cNvPr id="515" name="Google Shape;515;p26"/>
          <p:cNvCxnSpPr/>
          <p:nvPr/>
        </p:nvCxnSpPr>
        <p:spPr>
          <a:xfrm flipH="1" rot="10800000">
            <a:off x="6734860" y="1971261"/>
            <a:ext cx="1482600" cy="660900"/>
          </a:xfrm>
          <a:prstGeom prst="straightConnector1">
            <a:avLst/>
          </a:prstGeom>
          <a:noFill/>
          <a:ln cap="flat" cmpd="sng" w="12925">
            <a:solidFill>
              <a:schemeClr val="dk2"/>
            </a:solidFill>
            <a:prstDash val="solid"/>
            <a:round/>
            <a:headEnd len="med" w="med" type="none"/>
            <a:tailEnd len="med" w="med" type="triangle"/>
          </a:ln>
        </p:spPr>
      </p:cxnSp>
      <p:cxnSp>
        <p:nvCxnSpPr>
          <p:cNvPr id="516" name="Google Shape;516;p26"/>
          <p:cNvCxnSpPr/>
          <p:nvPr/>
        </p:nvCxnSpPr>
        <p:spPr>
          <a:xfrm flipH="1" rot="10800000">
            <a:off x="6732248" y="1976343"/>
            <a:ext cx="1468800" cy="951900"/>
          </a:xfrm>
          <a:prstGeom prst="straightConnector1">
            <a:avLst/>
          </a:prstGeom>
          <a:noFill/>
          <a:ln cap="flat" cmpd="sng" w="12925">
            <a:solidFill>
              <a:schemeClr val="dk2"/>
            </a:solidFill>
            <a:prstDash val="solid"/>
            <a:round/>
            <a:headEnd len="med" w="med" type="none"/>
            <a:tailEnd len="med" w="med" type="triangle"/>
          </a:ln>
        </p:spPr>
      </p:cxnSp>
      <p:sp>
        <p:nvSpPr>
          <p:cNvPr id="517" name="Google Shape;517;p26"/>
          <p:cNvSpPr txBox="1"/>
          <p:nvPr/>
        </p:nvSpPr>
        <p:spPr>
          <a:xfrm>
            <a:off x="6942015" y="3220085"/>
            <a:ext cx="1104000" cy="522000"/>
          </a:xfrm>
          <a:prstGeom prst="rect">
            <a:avLst/>
          </a:prstGeom>
          <a:noFill/>
          <a:ln>
            <a:noFill/>
          </a:ln>
        </p:spPr>
        <p:txBody>
          <a:bodyPr anchorCtr="0" anchor="t" bIns="124050" lIns="124050" spcFirstLastPara="1" rIns="124050" wrap="square" tIns="124050">
            <a:spAutoFit/>
          </a:bodyPr>
          <a:lstStyle/>
          <a:p>
            <a:pPr indent="0" lvl="0" marL="0" rtl="0" algn="l">
              <a:spcBef>
                <a:spcPts val="0"/>
              </a:spcBef>
              <a:spcAft>
                <a:spcPts val="0"/>
              </a:spcAft>
              <a:buNone/>
            </a:pPr>
            <a:r>
              <a:rPr lang="en" sz="1763">
                <a:solidFill>
                  <a:schemeClr val="dk2"/>
                </a:solidFill>
                <a:latin typeface="Lato"/>
                <a:ea typeface="Lato"/>
                <a:cs typeface="Lato"/>
                <a:sym typeface="Lato"/>
              </a:rPr>
              <a:t>Inform</a:t>
            </a:r>
            <a:endParaRPr sz="1763">
              <a:solidFill>
                <a:schemeClr val="dk2"/>
              </a:solidFill>
              <a:latin typeface="Lato"/>
              <a:ea typeface="Lato"/>
              <a:cs typeface="Lato"/>
              <a:sym typeface="Lato"/>
            </a:endParaRPr>
          </a:p>
        </p:txBody>
      </p:sp>
      <p:cxnSp>
        <p:nvCxnSpPr>
          <p:cNvPr id="518" name="Google Shape;518;p26"/>
          <p:cNvCxnSpPr/>
          <p:nvPr/>
        </p:nvCxnSpPr>
        <p:spPr>
          <a:xfrm flipH="1" rot="10800000">
            <a:off x="6737471" y="1981833"/>
            <a:ext cx="1464000" cy="380700"/>
          </a:xfrm>
          <a:prstGeom prst="straightConnector1">
            <a:avLst/>
          </a:prstGeom>
          <a:noFill/>
          <a:ln cap="flat" cmpd="sng" w="12925">
            <a:solidFill>
              <a:schemeClr val="dk2"/>
            </a:solidFill>
            <a:prstDash val="solid"/>
            <a:round/>
            <a:headEnd len="med" w="med" type="none"/>
            <a:tailEnd len="med" w="med" type="triangle"/>
          </a:ln>
        </p:spPr>
      </p:cxnSp>
      <p:cxnSp>
        <p:nvCxnSpPr>
          <p:cNvPr id="519" name="Google Shape;519;p26"/>
          <p:cNvCxnSpPr/>
          <p:nvPr/>
        </p:nvCxnSpPr>
        <p:spPr>
          <a:xfrm flipH="1" rot="10800000">
            <a:off x="3859265" y="2372395"/>
            <a:ext cx="2879700" cy="263700"/>
          </a:xfrm>
          <a:prstGeom prst="straightConnector1">
            <a:avLst/>
          </a:prstGeom>
          <a:noFill/>
          <a:ln cap="flat" cmpd="sng" w="12925">
            <a:solidFill>
              <a:schemeClr val="dk2"/>
            </a:solidFill>
            <a:prstDash val="solid"/>
            <a:round/>
            <a:headEnd len="med" w="med" type="none"/>
            <a:tailEnd len="med" w="med" type="triangle"/>
          </a:ln>
        </p:spPr>
      </p:cxnSp>
      <p:cxnSp>
        <p:nvCxnSpPr>
          <p:cNvPr id="520" name="Google Shape;520;p26"/>
          <p:cNvCxnSpPr/>
          <p:nvPr/>
        </p:nvCxnSpPr>
        <p:spPr>
          <a:xfrm>
            <a:off x="3884159" y="2636706"/>
            <a:ext cx="2842800" cy="294600"/>
          </a:xfrm>
          <a:prstGeom prst="straightConnector1">
            <a:avLst/>
          </a:prstGeom>
          <a:noFill/>
          <a:ln cap="flat" cmpd="sng" w="12925">
            <a:solidFill>
              <a:schemeClr val="dk2"/>
            </a:solidFill>
            <a:prstDash val="solid"/>
            <a:round/>
            <a:headEnd len="med" w="med" type="none"/>
            <a:tailEnd len="med" w="med" type="triangle"/>
          </a:ln>
        </p:spPr>
      </p:cxnSp>
      <p:cxnSp>
        <p:nvCxnSpPr>
          <p:cNvPr id="521" name="Google Shape;521;p26"/>
          <p:cNvCxnSpPr/>
          <p:nvPr/>
        </p:nvCxnSpPr>
        <p:spPr>
          <a:xfrm>
            <a:off x="3867134" y="2643964"/>
            <a:ext cx="2877900" cy="551700"/>
          </a:xfrm>
          <a:prstGeom prst="straightConnector1">
            <a:avLst/>
          </a:prstGeom>
          <a:noFill/>
          <a:ln cap="flat" cmpd="sng" w="12925">
            <a:solidFill>
              <a:schemeClr val="dk2"/>
            </a:solidFill>
            <a:prstDash val="solid"/>
            <a:round/>
            <a:headEnd len="med" w="med" type="none"/>
            <a:tailEnd len="med" w="med" type="triangle"/>
          </a:ln>
        </p:spPr>
      </p:cxnSp>
      <p:cxnSp>
        <p:nvCxnSpPr>
          <p:cNvPr id="522" name="Google Shape;522;p26"/>
          <p:cNvCxnSpPr/>
          <p:nvPr/>
        </p:nvCxnSpPr>
        <p:spPr>
          <a:xfrm flipH="1" rot="10800000">
            <a:off x="3872357" y="2389559"/>
            <a:ext cx="2838900" cy="553200"/>
          </a:xfrm>
          <a:prstGeom prst="straightConnector1">
            <a:avLst/>
          </a:prstGeom>
          <a:noFill/>
          <a:ln cap="flat" cmpd="sng" w="12925">
            <a:solidFill>
              <a:schemeClr val="dk2"/>
            </a:solidFill>
            <a:prstDash val="solid"/>
            <a:round/>
            <a:headEnd len="med" w="med" type="none"/>
            <a:tailEnd len="med" w="med" type="triangle"/>
          </a:ln>
        </p:spPr>
      </p:cxnSp>
      <p:cxnSp>
        <p:nvCxnSpPr>
          <p:cNvPr id="523" name="Google Shape;523;p26"/>
          <p:cNvCxnSpPr/>
          <p:nvPr/>
        </p:nvCxnSpPr>
        <p:spPr>
          <a:xfrm flipH="1" rot="10800000">
            <a:off x="3885482" y="2656947"/>
            <a:ext cx="2835900" cy="283200"/>
          </a:xfrm>
          <a:prstGeom prst="straightConnector1">
            <a:avLst/>
          </a:prstGeom>
          <a:noFill/>
          <a:ln cap="flat" cmpd="sng" w="12925">
            <a:solidFill>
              <a:schemeClr val="dk2"/>
            </a:solidFill>
            <a:prstDash val="solid"/>
            <a:round/>
            <a:headEnd len="med" w="med" type="none"/>
            <a:tailEnd len="med" w="med" type="triangle"/>
          </a:ln>
        </p:spPr>
      </p:cxnSp>
      <p:cxnSp>
        <p:nvCxnSpPr>
          <p:cNvPr id="524" name="Google Shape;524;p26"/>
          <p:cNvCxnSpPr/>
          <p:nvPr/>
        </p:nvCxnSpPr>
        <p:spPr>
          <a:xfrm>
            <a:off x="3882870" y="2937502"/>
            <a:ext cx="2835900" cy="251700"/>
          </a:xfrm>
          <a:prstGeom prst="straightConnector1">
            <a:avLst/>
          </a:prstGeom>
          <a:noFill/>
          <a:ln cap="flat" cmpd="sng" w="12925">
            <a:solidFill>
              <a:schemeClr val="dk2"/>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View-Change Algorithm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cxnSp>
        <p:nvCxnSpPr>
          <p:cNvPr id="530" name="Google Shape;530;p27"/>
          <p:cNvCxnSpPr/>
          <p:nvPr/>
        </p:nvCxnSpPr>
        <p:spPr>
          <a:xfrm>
            <a:off x="913224" y="2352967"/>
            <a:ext cx="7470600" cy="0"/>
          </a:xfrm>
          <a:prstGeom prst="straightConnector1">
            <a:avLst/>
          </a:prstGeom>
          <a:noFill/>
          <a:ln cap="flat" cmpd="sng" w="12775">
            <a:solidFill>
              <a:schemeClr val="dk2"/>
            </a:solidFill>
            <a:prstDash val="solid"/>
            <a:round/>
            <a:headEnd len="med" w="med" type="none"/>
            <a:tailEnd len="med" w="med" type="none"/>
          </a:ln>
        </p:spPr>
      </p:cxnSp>
      <p:cxnSp>
        <p:nvCxnSpPr>
          <p:cNvPr id="531" name="Google Shape;531;p27"/>
          <p:cNvCxnSpPr/>
          <p:nvPr/>
        </p:nvCxnSpPr>
        <p:spPr>
          <a:xfrm>
            <a:off x="913224" y="2632105"/>
            <a:ext cx="7480500" cy="0"/>
          </a:xfrm>
          <a:prstGeom prst="straightConnector1">
            <a:avLst/>
          </a:prstGeom>
          <a:noFill/>
          <a:ln cap="flat" cmpd="sng" w="12775">
            <a:solidFill>
              <a:schemeClr val="dk2"/>
            </a:solidFill>
            <a:prstDash val="solid"/>
            <a:round/>
            <a:headEnd len="med" w="med" type="none"/>
            <a:tailEnd len="med" w="med" type="none"/>
          </a:ln>
        </p:spPr>
      </p:cxnSp>
      <p:cxnSp>
        <p:nvCxnSpPr>
          <p:cNvPr id="532" name="Google Shape;532;p27"/>
          <p:cNvCxnSpPr/>
          <p:nvPr/>
        </p:nvCxnSpPr>
        <p:spPr>
          <a:xfrm>
            <a:off x="913224" y="2922687"/>
            <a:ext cx="7487100" cy="0"/>
          </a:xfrm>
          <a:prstGeom prst="straightConnector1">
            <a:avLst/>
          </a:prstGeom>
          <a:noFill/>
          <a:ln cap="flat" cmpd="sng" w="12775">
            <a:solidFill>
              <a:schemeClr val="dk2"/>
            </a:solidFill>
            <a:prstDash val="solid"/>
            <a:round/>
            <a:headEnd len="med" w="med" type="none"/>
            <a:tailEnd len="med" w="med" type="none"/>
          </a:ln>
        </p:spPr>
      </p:cxnSp>
      <p:cxnSp>
        <p:nvCxnSpPr>
          <p:cNvPr id="533" name="Google Shape;533;p27"/>
          <p:cNvCxnSpPr/>
          <p:nvPr/>
        </p:nvCxnSpPr>
        <p:spPr>
          <a:xfrm>
            <a:off x="913224" y="3178766"/>
            <a:ext cx="7496100" cy="0"/>
          </a:xfrm>
          <a:prstGeom prst="straightConnector1">
            <a:avLst/>
          </a:prstGeom>
          <a:noFill/>
          <a:ln cap="flat" cmpd="sng" w="12775">
            <a:solidFill>
              <a:schemeClr val="dk2"/>
            </a:solidFill>
            <a:prstDash val="solid"/>
            <a:round/>
            <a:headEnd len="med" w="med" type="none"/>
            <a:tailEnd len="med" w="med" type="none"/>
          </a:ln>
        </p:spPr>
      </p:cxnSp>
      <p:cxnSp>
        <p:nvCxnSpPr>
          <p:cNvPr id="534" name="Google Shape;534;p27"/>
          <p:cNvCxnSpPr/>
          <p:nvPr/>
        </p:nvCxnSpPr>
        <p:spPr>
          <a:xfrm>
            <a:off x="913224" y="1965417"/>
            <a:ext cx="7469400" cy="0"/>
          </a:xfrm>
          <a:prstGeom prst="straightConnector1">
            <a:avLst/>
          </a:prstGeom>
          <a:noFill/>
          <a:ln cap="flat" cmpd="sng" w="12775">
            <a:solidFill>
              <a:schemeClr val="dk2"/>
            </a:solidFill>
            <a:prstDash val="solid"/>
            <a:round/>
            <a:headEnd len="med" w="med" type="none"/>
            <a:tailEnd len="med" w="med" type="none"/>
          </a:ln>
        </p:spPr>
      </p:cxnSp>
      <p:sp>
        <p:nvSpPr>
          <p:cNvPr id="535" name="Google Shape;535;p27"/>
          <p:cNvSpPr txBox="1"/>
          <p:nvPr/>
        </p:nvSpPr>
        <p:spPr>
          <a:xfrm>
            <a:off x="467375" y="1707050"/>
            <a:ext cx="4458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c</a:t>
            </a:r>
            <a:endParaRPr i="1" sz="1745">
              <a:solidFill>
                <a:schemeClr val="dk2"/>
              </a:solidFill>
              <a:latin typeface="Lato"/>
              <a:ea typeface="Lato"/>
              <a:cs typeface="Lato"/>
              <a:sym typeface="Lato"/>
            </a:endParaRPr>
          </a:p>
        </p:txBody>
      </p:sp>
      <p:sp>
        <p:nvSpPr>
          <p:cNvPr id="536" name="Google Shape;536;p27"/>
          <p:cNvSpPr txBox="1"/>
          <p:nvPr/>
        </p:nvSpPr>
        <p:spPr>
          <a:xfrm>
            <a:off x="467375" y="2052378"/>
            <a:ext cx="4458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P</a:t>
            </a:r>
            <a:endParaRPr i="1" sz="1745">
              <a:solidFill>
                <a:schemeClr val="dk2"/>
              </a:solidFill>
              <a:latin typeface="Lato"/>
              <a:ea typeface="Lato"/>
              <a:cs typeface="Lato"/>
              <a:sym typeface="Lato"/>
            </a:endParaRPr>
          </a:p>
        </p:txBody>
      </p:sp>
      <p:sp>
        <p:nvSpPr>
          <p:cNvPr id="537" name="Google Shape;537;p27"/>
          <p:cNvSpPr txBox="1"/>
          <p:nvPr/>
        </p:nvSpPr>
        <p:spPr>
          <a:xfrm>
            <a:off x="467375" y="2373738"/>
            <a:ext cx="6147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R</a:t>
            </a:r>
            <a:r>
              <a:rPr baseline="-25000" i="1" lang="en" sz="1745">
                <a:solidFill>
                  <a:schemeClr val="dk2"/>
                </a:solidFill>
                <a:latin typeface="Lato"/>
                <a:ea typeface="Lato"/>
                <a:cs typeface="Lato"/>
                <a:sym typeface="Lato"/>
              </a:rPr>
              <a:t>1</a:t>
            </a:r>
            <a:endParaRPr baseline="-25000" i="1" sz="1745">
              <a:solidFill>
                <a:schemeClr val="dk2"/>
              </a:solidFill>
              <a:latin typeface="Lato"/>
              <a:ea typeface="Lato"/>
              <a:cs typeface="Lato"/>
              <a:sym typeface="Lato"/>
            </a:endParaRPr>
          </a:p>
        </p:txBody>
      </p:sp>
      <p:sp>
        <p:nvSpPr>
          <p:cNvPr id="538" name="Google Shape;538;p27"/>
          <p:cNvSpPr txBox="1"/>
          <p:nvPr/>
        </p:nvSpPr>
        <p:spPr>
          <a:xfrm>
            <a:off x="467375" y="2664320"/>
            <a:ext cx="6147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R</a:t>
            </a:r>
            <a:r>
              <a:rPr baseline="-25000" i="1" lang="en" sz="1745">
                <a:solidFill>
                  <a:schemeClr val="dk2"/>
                </a:solidFill>
                <a:latin typeface="Lato"/>
                <a:ea typeface="Lato"/>
                <a:cs typeface="Lato"/>
                <a:sym typeface="Lato"/>
              </a:rPr>
              <a:t>2</a:t>
            </a:r>
            <a:endParaRPr baseline="-25000" i="1" sz="1745">
              <a:solidFill>
                <a:schemeClr val="dk2"/>
              </a:solidFill>
              <a:latin typeface="Lato"/>
              <a:ea typeface="Lato"/>
              <a:cs typeface="Lato"/>
              <a:sym typeface="Lato"/>
            </a:endParaRPr>
          </a:p>
        </p:txBody>
      </p:sp>
      <p:sp>
        <p:nvSpPr>
          <p:cNvPr id="539" name="Google Shape;539;p27"/>
          <p:cNvSpPr txBox="1"/>
          <p:nvPr/>
        </p:nvSpPr>
        <p:spPr>
          <a:xfrm>
            <a:off x="467375" y="2890466"/>
            <a:ext cx="6147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R</a:t>
            </a:r>
            <a:r>
              <a:rPr baseline="-25000" i="1" lang="en" sz="1745">
                <a:solidFill>
                  <a:schemeClr val="dk2"/>
                </a:solidFill>
                <a:latin typeface="Lato"/>
                <a:ea typeface="Lato"/>
                <a:cs typeface="Lato"/>
                <a:sym typeface="Lato"/>
              </a:rPr>
              <a:t>3</a:t>
            </a:r>
            <a:endParaRPr baseline="-25000" i="1" sz="1745">
              <a:solidFill>
                <a:schemeClr val="dk2"/>
              </a:solidFill>
              <a:latin typeface="Lato"/>
              <a:ea typeface="Lato"/>
              <a:cs typeface="Lato"/>
              <a:sym typeface="Lato"/>
            </a:endParaRPr>
          </a:p>
        </p:txBody>
      </p:sp>
      <p:cxnSp>
        <p:nvCxnSpPr>
          <p:cNvPr id="540" name="Google Shape;540;p27"/>
          <p:cNvCxnSpPr/>
          <p:nvPr/>
        </p:nvCxnSpPr>
        <p:spPr>
          <a:xfrm>
            <a:off x="1105707" y="1973975"/>
            <a:ext cx="1384800" cy="381300"/>
          </a:xfrm>
          <a:prstGeom prst="straightConnector1">
            <a:avLst/>
          </a:prstGeom>
          <a:noFill/>
          <a:ln cap="flat" cmpd="sng" w="12775">
            <a:solidFill>
              <a:schemeClr val="dk2"/>
            </a:solidFill>
            <a:prstDash val="solid"/>
            <a:round/>
            <a:headEnd len="med" w="med" type="none"/>
            <a:tailEnd len="med" w="med" type="triangle"/>
          </a:ln>
        </p:spPr>
      </p:cxnSp>
      <p:cxnSp>
        <p:nvCxnSpPr>
          <p:cNvPr id="541" name="Google Shape;541;p27"/>
          <p:cNvCxnSpPr/>
          <p:nvPr/>
        </p:nvCxnSpPr>
        <p:spPr>
          <a:xfrm>
            <a:off x="1101982" y="1968874"/>
            <a:ext cx="0" cy="1213800"/>
          </a:xfrm>
          <a:prstGeom prst="straightConnector1">
            <a:avLst/>
          </a:prstGeom>
          <a:noFill/>
          <a:ln cap="flat" cmpd="sng" w="12775">
            <a:solidFill>
              <a:schemeClr val="dk2"/>
            </a:solidFill>
            <a:prstDash val="solid"/>
            <a:round/>
            <a:headEnd len="med" w="med" type="none"/>
            <a:tailEnd len="med" w="med" type="none"/>
          </a:ln>
        </p:spPr>
      </p:cxnSp>
      <p:sp>
        <p:nvSpPr>
          <p:cNvPr id="542" name="Google Shape;542;p27"/>
          <p:cNvSpPr txBox="1"/>
          <p:nvPr/>
        </p:nvSpPr>
        <p:spPr>
          <a:xfrm>
            <a:off x="1838754" y="1857009"/>
            <a:ext cx="445800" cy="516600"/>
          </a:xfrm>
          <a:prstGeom prst="rect">
            <a:avLst/>
          </a:prstGeom>
          <a:noFill/>
          <a:ln>
            <a:noFill/>
          </a:ln>
        </p:spPr>
        <p:txBody>
          <a:bodyPr anchorCtr="0" anchor="t" bIns="122750" lIns="122750" spcFirstLastPara="1" rIns="122750" wrap="square" tIns="122750">
            <a:spAutoFit/>
          </a:bodyPr>
          <a:lstStyle/>
          <a:p>
            <a:pPr indent="0" lvl="0" marL="0" rtl="0" algn="l">
              <a:spcBef>
                <a:spcPts val="0"/>
              </a:spcBef>
              <a:spcAft>
                <a:spcPts val="0"/>
              </a:spcAft>
              <a:buNone/>
            </a:pPr>
            <a:r>
              <a:rPr i="1" lang="en" sz="1745">
                <a:solidFill>
                  <a:schemeClr val="dk2"/>
                </a:solidFill>
                <a:latin typeface="Lato"/>
                <a:ea typeface="Lato"/>
                <a:cs typeface="Lato"/>
                <a:sym typeface="Lato"/>
              </a:rPr>
              <a:t>T</a:t>
            </a:r>
            <a:endParaRPr i="1" sz="1745">
              <a:solidFill>
                <a:schemeClr val="dk2"/>
              </a:solidFill>
              <a:latin typeface="Lato"/>
              <a:ea typeface="Lato"/>
              <a:cs typeface="Lato"/>
              <a:sym typeface="Lato"/>
            </a:endParaRPr>
          </a:p>
        </p:txBody>
      </p:sp>
      <p:cxnSp>
        <p:nvCxnSpPr>
          <p:cNvPr id="543" name="Google Shape;543;p27"/>
          <p:cNvCxnSpPr/>
          <p:nvPr/>
        </p:nvCxnSpPr>
        <p:spPr>
          <a:xfrm>
            <a:off x="2480879" y="1974781"/>
            <a:ext cx="0" cy="1196100"/>
          </a:xfrm>
          <a:prstGeom prst="straightConnector1">
            <a:avLst/>
          </a:prstGeom>
          <a:noFill/>
          <a:ln cap="flat" cmpd="sng" w="12775">
            <a:solidFill>
              <a:schemeClr val="dk2"/>
            </a:solidFill>
            <a:prstDash val="solid"/>
            <a:round/>
            <a:headEnd len="med" w="med" type="none"/>
            <a:tailEnd len="med" w="med" type="none"/>
          </a:ln>
        </p:spPr>
      </p:cxnSp>
      <p:cxnSp>
        <p:nvCxnSpPr>
          <p:cNvPr id="544" name="Google Shape;544;p27"/>
          <p:cNvCxnSpPr/>
          <p:nvPr/>
        </p:nvCxnSpPr>
        <p:spPr>
          <a:xfrm>
            <a:off x="2483966" y="2353236"/>
            <a:ext cx="686700" cy="259500"/>
          </a:xfrm>
          <a:prstGeom prst="straightConnector1">
            <a:avLst/>
          </a:prstGeom>
          <a:noFill/>
          <a:ln cap="flat" cmpd="sng" w="12775">
            <a:solidFill>
              <a:schemeClr val="dk2"/>
            </a:solidFill>
            <a:prstDash val="solid"/>
            <a:round/>
            <a:headEnd len="med" w="med" type="none"/>
            <a:tailEnd len="med" w="med" type="triangle"/>
          </a:ln>
        </p:spPr>
      </p:cxnSp>
      <p:cxnSp>
        <p:nvCxnSpPr>
          <p:cNvPr id="545" name="Google Shape;545;p27"/>
          <p:cNvCxnSpPr/>
          <p:nvPr/>
        </p:nvCxnSpPr>
        <p:spPr>
          <a:xfrm>
            <a:off x="2467850" y="2359600"/>
            <a:ext cx="1032300" cy="440400"/>
          </a:xfrm>
          <a:prstGeom prst="straightConnector1">
            <a:avLst/>
          </a:prstGeom>
          <a:noFill/>
          <a:ln cap="flat" cmpd="sng" w="12775">
            <a:solidFill>
              <a:schemeClr val="dk2"/>
            </a:solidFill>
            <a:prstDash val="solid"/>
            <a:round/>
            <a:headEnd len="med" w="med" type="none"/>
            <a:tailEnd len="med" w="med" type="triangle"/>
          </a:ln>
        </p:spPr>
      </p:cxnSp>
      <p:cxnSp>
        <p:nvCxnSpPr>
          <p:cNvPr id="546" name="Google Shape;546;p27"/>
          <p:cNvCxnSpPr/>
          <p:nvPr/>
        </p:nvCxnSpPr>
        <p:spPr>
          <a:xfrm>
            <a:off x="2492693" y="2348873"/>
            <a:ext cx="1018500" cy="645600"/>
          </a:xfrm>
          <a:prstGeom prst="straightConnector1">
            <a:avLst/>
          </a:prstGeom>
          <a:noFill/>
          <a:ln cap="flat" cmpd="sng" w="12775">
            <a:solidFill>
              <a:schemeClr val="dk2"/>
            </a:solidFill>
            <a:prstDash val="solid"/>
            <a:round/>
            <a:headEnd len="med" w="med" type="none"/>
            <a:tailEnd len="med" w="med" type="triangle"/>
          </a:ln>
        </p:spPr>
      </p:cxnSp>
      <p:sp>
        <p:nvSpPr>
          <p:cNvPr id="547" name="Google Shape;547;p27"/>
          <p:cNvSpPr/>
          <p:nvPr/>
        </p:nvSpPr>
        <p:spPr>
          <a:xfrm>
            <a:off x="8362075" y="1844075"/>
            <a:ext cx="376500" cy="149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8" name="Google Shape;548;p27"/>
          <p:cNvSpPr/>
          <p:nvPr/>
        </p:nvSpPr>
        <p:spPr>
          <a:xfrm>
            <a:off x="3500050" y="2740525"/>
            <a:ext cx="106500" cy="133200"/>
          </a:xfrm>
          <a:prstGeom prst="mathMultiply">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9" name="Google Shape;549;p27"/>
          <p:cNvSpPr/>
          <p:nvPr/>
        </p:nvSpPr>
        <p:spPr>
          <a:xfrm>
            <a:off x="3470425" y="2959650"/>
            <a:ext cx="106500" cy="133200"/>
          </a:xfrm>
          <a:prstGeom prst="mathMultiply">
            <a:avLst>
              <a:gd fmla="val 23520"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50" name="Google Shape;550;p27"/>
          <p:cNvCxnSpPr/>
          <p:nvPr/>
        </p:nvCxnSpPr>
        <p:spPr>
          <a:xfrm flipH="1" rot="10800000">
            <a:off x="4012525" y="2357425"/>
            <a:ext cx="1107600" cy="569700"/>
          </a:xfrm>
          <a:prstGeom prst="straightConnector1">
            <a:avLst/>
          </a:prstGeom>
          <a:noFill/>
          <a:ln cap="flat" cmpd="sng" w="9525">
            <a:solidFill>
              <a:srgbClr val="9900FF"/>
            </a:solidFill>
            <a:prstDash val="solid"/>
            <a:round/>
            <a:headEnd len="med" w="med" type="none"/>
            <a:tailEnd len="med" w="med" type="triangle"/>
          </a:ln>
        </p:spPr>
      </p:cxnSp>
      <p:cxnSp>
        <p:nvCxnSpPr>
          <p:cNvPr id="551" name="Google Shape;551;p27"/>
          <p:cNvCxnSpPr/>
          <p:nvPr/>
        </p:nvCxnSpPr>
        <p:spPr>
          <a:xfrm flipH="1" rot="10800000">
            <a:off x="4028350" y="2639275"/>
            <a:ext cx="1025400" cy="291000"/>
          </a:xfrm>
          <a:prstGeom prst="straightConnector1">
            <a:avLst/>
          </a:prstGeom>
          <a:noFill/>
          <a:ln cap="flat" cmpd="sng" w="9525">
            <a:solidFill>
              <a:srgbClr val="9900FF"/>
            </a:solidFill>
            <a:prstDash val="solid"/>
            <a:round/>
            <a:headEnd len="med" w="med" type="none"/>
            <a:tailEnd len="med" w="med" type="triangle"/>
          </a:ln>
        </p:spPr>
      </p:cxnSp>
      <p:cxnSp>
        <p:nvCxnSpPr>
          <p:cNvPr id="552" name="Google Shape;552;p27"/>
          <p:cNvCxnSpPr/>
          <p:nvPr/>
        </p:nvCxnSpPr>
        <p:spPr>
          <a:xfrm>
            <a:off x="4037850" y="2930275"/>
            <a:ext cx="993600" cy="246900"/>
          </a:xfrm>
          <a:prstGeom prst="straightConnector1">
            <a:avLst/>
          </a:prstGeom>
          <a:noFill/>
          <a:ln cap="flat" cmpd="sng" w="9525">
            <a:solidFill>
              <a:srgbClr val="9900FF"/>
            </a:solidFill>
            <a:prstDash val="solid"/>
            <a:round/>
            <a:headEnd len="med" w="med" type="none"/>
            <a:tailEnd len="med" w="med" type="triangle"/>
          </a:ln>
        </p:spPr>
      </p:cxnSp>
      <p:cxnSp>
        <p:nvCxnSpPr>
          <p:cNvPr id="553" name="Google Shape;553;p27"/>
          <p:cNvCxnSpPr/>
          <p:nvPr/>
        </p:nvCxnSpPr>
        <p:spPr>
          <a:xfrm flipH="1" rot="10800000">
            <a:off x="4026475" y="2917025"/>
            <a:ext cx="1320600" cy="265200"/>
          </a:xfrm>
          <a:prstGeom prst="straightConnector1">
            <a:avLst/>
          </a:prstGeom>
          <a:noFill/>
          <a:ln cap="flat" cmpd="sng" w="9525">
            <a:solidFill>
              <a:srgbClr val="9900FF"/>
            </a:solidFill>
            <a:prstDash val="solid"/>
            <a:round/>
            <a:headEnd len="med" w="med" type="none"/>
            <a:tailEnd len="med" w="med" type="triangle"/>
          </a:ln>
        </p:spPr>
      </p:cxnSp>
      <p:cxnSp>
        <p:nvCxnSpPr>
          <p:cNvPr id="554" name="Google Shape;554;p27"/>
          <p:cNvCxnSpPr/>
          <p:nvPr/>
        </p:nvCxnSpPr>
        <p:spPr>
          <a:xfrm>
            <a:off x="6110075" y="2630200"/>
            <a:ext cx="888600" cy="289200"/>
          </a:xfrm>
          <a:prstGeom prst="straightConnector1">
            <a:avLst/>
          </a:prstGeom>
          <a:noFill/>
          <a:ln cap="flat" cmpd="sng" w="9525">
            <a:solidFill>
              <a:srgbClr val="FF9900"/>
            </a:solidFill>
            <a:prstDash val="solid"/>
            <a:round/>
            <a:headEnd len="med" w="med" type="none"/>
            <a:tailEnd len="med" w="med" type="triangle"/>
          </a:ln>
        </p:spPr>
      </p:cxnSp>
      <p:cxnSp>
        <p:nvCxnSpPr>
          <p:cNvPr id="555" name="Google Shape;555;p27"/>
          <p:cNvCxnSpPr/>
          <p:nvPr/>
        </p:nvCxnSpPr>
        <p:spPr>
          <a:xfrm>
            <a:off x="4023279" y="1968831"/>
            <a:ext cx="0" cy="1216200"/>
          </a:xfrm>
          <a:prstGeom prst="straightConnector1">
            <a:avLst/>
          </a:prstGeom>
          <a:noFill/>
          <a:ln cap="flat" cmpd="sng" w="12775">
            <a:solidFill>
              <a:schemeClr val="dk2"/>
            </a:solidFill>
            <a:prstDash val="solid"/>
            <a:round/>
            <a:headEnd len="med" w="med" type="none"/>
            <a:tailEnd len="med" w="med" type="none"/>
          </a:ln>
        </p:spPr>
      </p:cxnSp>
      <p:sp>
        <p:nvSpPr>
          <p:cNvPr id="556" name="Google Shape;556;p27"/>
          <p:cNvSpPr txBox="1"/>
          <p:nvPr/>
        </p:nvSpPr>
        <p:spPr>
          <a:xfrm>
            <a:off x="2656488" y="3233701"/>
            <a:ext cx="11076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Failure</a:t>
            </a:r>
            <a:endParaRPr sz="1768">
              <a:solidFill>
                <a:schemeClr val="dk2"/>
              </a:solidFill>
              <a:latin typeface="Lato"/>
              <a:ea typeface="Lato"/>
              <a:cs typeface="Lato"/>
              <a:sym typeface="Lato"/>
            </a:endParaRPr>
          </a:p>
        </p:txBody>
      </p:sp>
      <p:sp>
        <p:nvSpPr>
          <p:cNvPr id="557" name="Google Shape;557;p27"/>
          <p:cNvSpPr txBox="1"/>
          <p:nvPr/>
        </p:nvSpPr>
        <p:spPr>
          <a:xfrm>
            <a:off x="4094125" y="3233700"/>
            <a:ext cx="1595400" cy="7959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View-Change Request</a:t>
            </a:r>
            <a:endParaRPr sz="1768">
              <a:solidFill>
                <a:schemeClr val="dk2"/>
              </a:solidFill>
              <a:latin typeface="Lato"/>
              <a:ea typeface="Lato"/>
              <a:cs typeface="Lato"/>
              <a:sym typeface="Lato"/>
            </a:endParaRPr>
          </a:p>
        </p:txBody>
      </p:sp>
      <p:cxnSp>
        <p:nvCxnSpPr>
          <p:cNvPr id="558" name="Google Shape;558;p27"/>
          <p:cNvCxnSpPr/>
          <p:nvPr/>
        </p:nvCxnSpPr>
        <p:spPr>
          <a:xfrm>
            <a:off x="6120304" y="1965431"/>
            <a:ext cx="0" cy="1216200"/>
          </a:xfrm>
          <a:prstGeom prst="straightConnector1">
            <a:avLst/>
          </a:prstGeom>
          <a:noFill/>
          <a:ln cap="flat" cmpd="sng" w="12775">
            <a:solidFill>
              <a:schemeClr val="dk2"/>
            </a:solidFill>
            <a:prstDash val="solid"/>
            <a:round/>
            <a:headEnd len="med" w="med" type="none"/>
            <a:tailEnd len="med" w="med" type="none"/>
          </a:ln>
        </p:spPr>
      </p:cxnSp>
      <p:sp>
        <p:nvSpPr>
          <p:cNvPr id="559" name="Google Shape;559;p27"/>
          <p:cNvSpPr txBox="1"/>
          <p:nvPr/>
        </p:nvSpPr>
        <p:spPr>
          <a:xfrm>
            <a:off x="1924800" y="4079850"/>
            <a:ext cx="63177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VC-Request: View, list of transactions </a:t>
            </a:r>
            <a:r>
              <a:rPr i="1" lang="en" sz="1768">
                <a:solidFill>
                  <a:schemeClr val="dk2"/>
                </a:solidFill>
                <a:latin typeface="Lato"/>
                <a:ea typeface="Lato"/>
                <a:cs typeface="Lato"/>
                <a:sym typeface="Lato"/>
              </a:rPr>
              <a:t>Executed</a:t>
            </a:r>
            <a:endParaRPr i="1" sz="1768">
              <a:solidFill>
                <a:schemeClr val="dk2"/>
              </a:solidFill>
              <a:latin typeface="Lato"/>
              <a:ea typeface="Lato"/>
              <a:cs typeface="Lato"/>
              <a:sym typeface="Lato"/>
            </a:endParaRPr>
          </a:p>
        </p:txBody>
      </p:sp>
      <p:sp>
        <p:nvSpPr>
          <p:cNvPr id="560" name="Google Shape;560;p27"/>
          <p:cNvSpPr txBox="1"/>
          <p:nvPr/>
        </p:nvSpPr>
        <p:spPr>
          <a:xfrm>
            <a:off x="6156950" y="3224975"/>
            <a:ext cx="1595400" cy="7959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New View Proposal</a:t>
            </a:r>
            <a:endParaRPr sz="1768">
              <a:solidFill>
                <a:schemeClr val="dk2"/>
              </a:solidFill>
              <a:latin typeface="Lato"/>
              <a:ea typeface="Lato"/>
              <a:cs typeface="Lato"/>
              <a:sym typeface="Lato"/>
            </a:endParaRPr>
          </a:p>
        </p:txBody>
      </p:sp>
      <p:cxnSp>
        <p:nvCxnSpPr>
          <p:cNvPr id="561" name="Google Shape;561;p27"/>
          <p:cNvCxnSpPr/>
          <p:nvPr/>
        </p:nvCxnSpPr>
        <p:spPr>
          <a:xfrm flipH="1" rot="10800000">
            <a:off x="3209275" y="2370400"/>
            <a:ext cx="1147200" cy="259800"/>
          </a:xfrm>
          <a:prstGeom prst="straightConnector1">
            <a:avLst/>
          </a:prstGeom>
          <a:noFill/>
          <a:ln cap="flat" cmpd="sng" w="9525">
            <a:solidFill>
              <a:schemeClr val="dk2"/>
            </a:solidFill>
            <a:prstDash val="solid"/>
            <a:round/>
            <a:headEnd len="med" w="med" type="none"/>
            <a:tailEnd len="med" w="med" type="triangle"/>
          </a:ln>
        </p:spPr>
      </p:cxnSp>
      <p:cxnSp>
        <p:nvCxnSpPr>
          <p:cNvPr id="562" name="Google Shape;562;p27"/>
          <p:cNvCxnSpPr/>
          <p:nvPr/>
        </p:nvCxnSpPr>
        <p:spPr>
          <a:xfrm flipH="1" rot="10800000">
            <a:off x="4015650" y="2635625"/>
            <a:ext cx="1694100" cy="546600"/>
          </a:xfrm>
          <a:prstGeom prst="straightConnector1">
            <a:avLst/>
          </a:prstGeom>
          <a:noFill/>
          <a:ln cap="flat" cmpd="sng" w="9525">
            <a:solidFill>
              <a:srgbClr val="9900FF"/>
            </a:solidFill>
            <a:prstDash val="solid"/>
            <a:round/>
            <a:headEnd len="med" w="med" type="none"/>
            <a:tailEnd len="med" w="med" type="triangle"/>
          </a:ln>
        </p:spPr>
      </p:cxnSp>
      <p:cxnSp>
        <p:nvCxnSpPr>
          <p:cNvPr id="563" name="Google Shape;563;p27"/>
          <p:cNvCxnSpPr/>
          <p:nvPr/>
        </p:nvCxnSpPr>
        <p:spPr>
          <a:xfrm flipH="1" rot="10800000">
            <a:off x="4178025" y="2354275"/>
            <a:ext cx="1287900" cy="816600"/>
          </a:xfrm>
          <a:prstGeom prst="straightConnector1">
            <a:avLst/>
          </a:prstGeom>
          <a:noFill/>
          <a:ln cap="flat" cmpd="sng" w="9525">
            <a:solidFill>
              <a:srgbClr val="9900FF"/>
            </a:solidFill>
            <a:prstDash val="solid"/>
            <a:round/>
            <a:headEnd len="med" w="med" type="none"/>
            <a:tailEnd len="med" w="med" type="triangle"/>
          </a:ln>
        </p:spPr>
      </p:cxnSp>
      <p:cxnSp>
        <p:nvCxnSpPr>
          <p:cNvPr id="564" name="Google Shape;564;p27"/>
          <p:cNvCxnSpPr/>
          <p:nvPr/>
        </p:nvCxnSpPr>
        <p:spPr>
          <a:xfrm>
            <a:off x="6110075" y="2641025"/>
            <a:ext cx="871200" cy="525000"/>
          </a:xfrm>
          <a:prstGeom prst="straightConnector1">
            <a:avLst/>
          </a:prstGeom>
          <a:noFill/>
          <a:ln cap="flat" cmpd="sng" w="9525">
            <a:solidFill>
              <a:srgbClr val="FF9900"/>
            </a:solidFill>
            <a:prstDash val="solid"/>
            <a:round/>
            <a:headEnd len="med" w="med" type="none"/>
            <a:tailEnd len="med" w="med" type="triangle"/>
          </a:ln>
        </p:spPr>
      </p:cxnSp>
      <p:cxnSp>
        <p:nvCxnSpPr>
          <p:cNvPr id="565" name="Google Shape;565;p27"/>
          <p:cNvCxnSpPr/>
          <p:nvPr/>
        </p:nvCxnSpPr>
        <p:spPr>
          <a:xfrm flipH="1" rot="10800000">
            <a:off x="6115475" y="2359600"/>
            <a:ext cx="849600" cy="270600"/>
          </a:xfrm>
          <a:prstGeom prst="straightConnector1">
            <a:avLst/>
          </a:prstGeom>
          <a:noFill/>
          <a:ln cap="flat" cmpd="sng" w="9525">
            <a:solidFill>
              <a:srgbClr val="FF99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Rollback</a:t>
            </a:r>
            <a:endParaRPr/>
          </a:p>
        </p:txBody>
      </p:sp>
      <p:sp>
        <p:nvSpPr>
          <p:cNvPr id="571" name="Google Shape;571;p28"/>
          <p:cNvSpPr/>
          <p:nvPr/>
        </p:nvSpPr>
        <p:spPr>
          <a:xfrm>
            <a:off x="616975" y="2521950"/>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k=1</a:t>
            </a:r>
            <a:endParaRPr>
              <a:latin typeface="Lato"/>
              <a:ea typeface="Lato"/>
              <a:cs typeface="Lato"/>
              <a:sym typeface="Lato"/>
            </a:endParaRPr>
          </a:p>
        </p:txBody>
      </p:sp>
      <p:sp>
        <p:nvSpPr>
          <p:cNvPr id="572" name="Google Shape;572;p28"/>
          <p:cNvSpPr/>
          <p:nvPr/>
        </p:nvSpPr>
        <p:spPr>
          <a:xfrm>
            <a:off x="616975" y="2830350"/>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k=2</a:t>
            </a:r>
            <a:endParaRPr>
              <a:latin typeface="Lato"/>
              <a:ea typeface="Lato"/>
              <a:cs typeface="Lato"/>
              <a:sym typeface="Lato"/>
            </a:endParaRPr>
          </a:p>
        </p:txBody>
      </p:sp>
      <p:sp>
        <p:nvSpPr>
          <p:cNvPr id="573" name="Google Shape;573;p28"/>
          <p:cNvSpPr/>
          <p:nvPr/>
        </p:nvSpPr>
        <p:spPr>
          <a:xfrm>
            <a:off x="616975" y="3138750"/>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k=3</a:t>
            </a:r>
            <a:endParaRPr>
              <a:latin typeface="Lato"/>
              <a:ea typeface="Lato"/>
              <a:cs typeface="Lato"/>
              <a:sym typeface="Lato"/>
            </a:endParaRPr>
          </a:p>
        </p:txBody>
      </p:sp>
      <p:sp>
        <p:nvSpPr>
          <p:cNvPr id="574" name="Google Shape;574;p28"/>
          <p:cNvSpPr/>
          <p:nvPr/>
        </p:nvSpPr>
        <p:spPr>
          <a:xfrm>
            <a:off x="616975" y="3447150"/>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k=4</a:t>
            </a:r>
            <a:endParaRPr>
              <a:latin typeface="Lato"/>
              <a:ea typeface="Lato"/>
              <a:cs typeface="Lato"/>
              <a:sym typeface="Lato"/>
            </a:endParaRPr>
          </a:p>
        </p:txBody>
      </p:sp>
      <p:sp>
        <p:nvSpPr>
          <p:cNvPr id="575" name="Google Shape;575;p28"/>
          <p:cNvSpPr/>
          <p:nvPr/>
        </p:nvSpPr>
        <p:spPr>
          <a:xfrm>
            <a:off x="616975" y="3755550"/>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k=5</a:t>
            </a:r>
            <a:endParaRPr>
              <a:latin typeface="Lato"/>
              <a:ea typeface="Lato"/>
              <a:cs typeface="Lato"/>
              <a:sym typeface="Lato"/>
            </a:endParaRPr>
          </a:p>
        </p:txBody>
      </p:sp>
      <p:sp>
        <p:nvSpPr>
          <p:cNvPr id="576" name="Google Shape;576;p28"/>
          <p:cNvSpPr txBox="1"/>
          <p:nvPr/>
        </p:nvSpPr>
        <p:spPr>
          <a:xfrm>
            <a:off x="383492" y="2048250"/>
            <a:ext cx="27066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New View Proposal</a:t>
            </a:r>
            <a:endParaRPr sz="1768">
              <a:solidFill>
                <a:schemeClr val="dk2"/>
              </a:solidFill>
              <a:latin typeface="Lato"/>
              <a:ea typeface="Lato"/>
              <a:cs typeface="Lato"/>
              <a:sym typeface="Lato"/>
            </a:endParaRPr>
          </a:p>
        </p:txBody>
      </p:sp>
      <p:sp>
        <p:nvSpPr>
          <p:cNvPr id="577" name="Google Shape;577;p28"/>
          <p:cNvSpPr/>
          <p:nvPr/>
        </p:nvSpPr>
        <p:spPr>
          <a:xfrm>
            <a:off x="3161464" y="2570675"/>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k=1</a:t>
            </a:r>
            <a:endParaRPr>
              <a:latin typeface="Lato"/>
              <a:ea typeface="Lato"/>
              <a:cs typeface="Lato"/>
              <a:sym typeface="Lato"/>
            </a:endParaRPr>
          </a:p>
        </p:txBody>
      </p:sp>
      <p:sp>
        <p:nvSpPr>
          <p:cNvPr id="578" name="Google Shape;578;p28"/>
          <p:cNvSpPr/>
          <p:nvPr/>
        </p:nvSpPr>
        <p:spPr>
          <a:xfrm>
            <a:off x="3161464" y="2879075"/>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k=2</a:t>
            </a:r>
            <a:endParaRPr>
              <a:latin typeface="Lato"/>
              <a:ea typeface="Lato"/>
              <a:cs typeface="Lato"/>
              <a:sym typeface="Lato"/>
            </a:endParaRPr>
          </a:p>
        </p:txBody>
      </p:sp>
      <p:sp>
        <p:nvSpPr>
          <p:cNvPr id="579" name="Google Shape;579;p28"/>
          <p:cNvSpPr/>
          <p:nvPr/>
        </p:nvSpPr>
        <p:spPr>
          <a:xfrm>
            <a:off x="3161464" y="3495875"/>
            <a:ext cx="1482900" cy="308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k=4</a:t>
            </a:r>
            <a:endParaRPr>
              <a:latin typeface="Lato"/>
              <a:ea typeface="Lato"/>
              <a:cs typeface="Lato"/>
              <a:sym typeface="Lato"/>
            </a:endParaRPr>
          </a:p>
        </p:txBody>
      </p:sp>
      <p:sp>
        <p:nvSpPr>
          <p:cNvPr id="580" name="Google Shape;580;p28"/>
          <p:cNvSpPr/>
          <p:nvPr/>
        </p:nvSpPr>
        <p:spPr>
          <a:xfrm>
            <a:off x="3161464" y="3804275"/>
            <a:ext cx="1482900" cy="308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k=5</a:t>
            </a:r>
            <a:endParaRPr>
              <a:latin typeface="Lato"/>
              <a:ea typeface="Lato"/>
              <a:cs typeface="Lato"/>
              <a:sym typeface="Lato"/>
            </a:endParaRPr>
          </a:p>
        </p:txBody>
      </p:sp>
      <p:sp>
        <p:nvSpPr>
          <p:cNvPr id="581" name="Google Shape;581;p28"/>
          <p:cNvSpPr txBox="1"/>
          <p:nvPr/>
        </p:nvSpPr>
        <p:spPr>
          <a:xfrm>
            <a:off x="3161456" y="2096975"/>
            <a:ext cx="27066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R2 log</a:t>
            </a:r>
            <a:endParaRPr sz="1768">
              <a:solidFill>
                <a:schemeClr val="dk2"/>
              </a:solidFill>
              <a:latin typeface="Lato"/>
              <a:ea typeface="Lato"/>
              <a:cs typeface="Lato"/>
              <a:sym typeface="Lato"/>
            </a:endParaRPr>
          </a:p>
        </p:txBody>
      </p:sp>
      <p:sp>
        <p:nvSpPr>
          <p:cNvPr id="582" name="Google Shape;582;p28"/>
          <p:cNvSpPr/>
          <p:nvPr/>
        </p:nvSpPr>
        <p:spPr>
          <a:xfrm>
            <a:off x="6110950" y="2549025"/>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k=1</a:t>
            </a:r>
            <a:endParaRPr>
              <a:latin typeface="Lato"/>
              <a:ea typeface="Lato"/>
              <a:cs typeface="Lato"/>
              <a:sym typeface="Lato"/>
            </a:endParaRPr>
          </a:p>
        </p:txBody>
      </p:sp>
      <p:sp>
        <p:nvSpPr>
          <p:cNvPr id="583" name="Google Shape;583;p28"/>
          <p:cNvSpPr/>
          <p:nvPr/>
        </p:nvSpPr>
        <p:spPr>
          <a:xfrm>
            <a:off x="6110950" y="2857425"/>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k=2</a:t>
            </a:r>
            <a:endParaRPr>
              <a:latin typeface="Lato"/>
              <a:ea typeface="Lato"/>
              <a:cs typeface="Lato"/>
              <a:sym typeface="Lato"/>
            </a:endParaRPr>
          </a:p>
        </p:txBody>
      </p:sp>
      <p:sp>
        <p:nvSpPr>
          <p:cNvPr id="584" name="Google Shape;584;p28"/>
          <p:cNvSpPr/>
          <p:nvPr/>
        </p:nvSpPr>
        <p:spPr>
          <a:xfrm>
            <a:off x="6110950" y="3165825"/>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k=3</a:t>
            </a:r>
            <a:endParaRPr>
              <a:latin typeface="Lato"/>
              <a:ea typeface="Lato"/>
              <a:cs typeface="Lato"/>
              <a:sym typeface="Lato"/>
            </a:endParaRPr>
          </a:p>
        </p:txBody>
      </p:sp>
      <p:sp>
        <p:nvSpPr>
          <p:cNvPr id="585" name="Google Shape;585;p28"/>
          <p:cNvSpPr/>
          <p:nvPr/>
        </p:nvSpPr>
        <p:spPr>
          <a:xfrm>
            <a:off x="6110950" y="3474225"/>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k=4</a:t>
            </a:r>
            <a:endParaRPr>
              <a:latin typeface="Lato"/>
              <a:ea typeface="Lato"/>
              <a:cs typeface="Lato"/>
              <a:sym typeface="Lato"/>
            </a:endParaRPr>
          </a:p>
        </p:txBody>
      </p:sp>
      <p:sp>
        <p:nvSpPr>
          <p:cNvPr id="586" name="Google Shape;586;p28"/>
          <p:cNvSpPr/>
          <p:nvPr/>
        </p:nvSpPr>
        <p:spPr>
          <a:xfrm>
            <a:off x="6110950" y="3782625"/>
            <a:ext cx="1482900" cy="3084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k=5</a:t>
            </a:r>
            <a:endParaRPr>
              <a:latin typeface="Lato"/>
              <a:ea typeface="Lato"/>
              <a:cs typeface="Lato"/>
              <a:sym typeface="Lato"/>
            </a:endParaRPr>
          </a:p>
        </p:txBody>
      </p:sp>
      <p:sp>
        <p:nvSpPr>
          <p:cNvPr id="587" name="Google Shape;587;p28"/>
          <p:cNvSpPr txBox="1"/>
          <p:nvPr/>
        </p:nvSpPr>
        <p:spPr>
          <a:xfrm>
            <a:off x="5877467" y="2075325"/>
            <a:ext cx="27066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R3 log</a:t>
            </a:r>
            <a:endParaRPr sz="1768">
              <a:solidFill>
                <a:schemeClr val="dk2"/>
              </a:solidFill>
              <a:latin typeface="Lato"/>
              <a:ea typeface="Lato"/>
              <a:cs typeface="Lato"/>
              <a:sym typeface="Lato"/>
            </a:endParaRPr>
          </a:p>
        </p:txBody>
      </p:sp>
      <p:sp>
        <p:nvSpPr>
          <p:cNvPr id="588" name="Google Shape;588;p28"/>
          <p:cNvSpPr/>
          <p:nvPr/>
        </p:nvSpPr>
        <p:spPr>
          <a:xfrm>
            <a:off x="6110950" y="4091025"/>
            <a:ext cx="1482900" cy="308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ato"/>
                <a:ea typeface="Lato"/>
                <a:cs typeface="Lato"/>
                <a:sym typeface="Lato"/>
              </a:rPr>
              <a:t>k=6</a:t>
            </a:r>
            <a:endParaRPr>
              <a:latin typeface="Lato"/>
              <a:ea typeface="Lato"/>
              <a:cs typeface="Lato"/>
              <a:sym typeface="Lato"/>
            </a:endParaRPr>
          </a:p>
        </p:txBody>
      </p:sp>
      <p:sp>
        <p:nvSpPr>
          <p:cNvPr id="589" name="Google Shape;589;p28"/>
          <p:cNvSpPr txBox="1"/>
          <p:nvPr/>
        </p:nvSpPr>
        <p:spPr>
          <a:xfrm>
            <a:off x="3054081" y="4112675"/>
            <a:ext cx="2706600" cy="7959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Out-of-order</a:t>
            </a:r>
            <a:endParaRPr sz="1768">
              <a:solidFill>
                <a:schemeClr val="dk2"/>
              </a:solidFill>
              <a:latin typeface="Lato"/>
              <a:ea typeface="Lato"/>
              <a:cs typeface="Lato"/>
              <a:sym typeface="Lato"/>
            </a:endParaRPr>
          </a:p>
          <a:p>
            <a:pPr indent="0" lvl="0" marL="0" rtl="0" algn="l">
              <a:spcBef>
                <a:spcPts val="0"/>
              </a:spcBef>
              <a:spcAft>
                <a:spcPts val="0"/>
              </a:spcAft>
              <a:buNone/>
            </a:pPr>
            <a:r>
              <a:rPr lang="en" sz="1768">
                <a:solidFill>
                  <a:schemeClr val="dk2"/>
                </a:solidFill>
                <a:latin typeface="Lato"/>
                <a:ea typeface="Lato"/>
                <a:cs typeface="Lato"/>
                <a:sym typeface="Lato"/>
              </a:rPr>
              <a:t>Processing</a:t>
            </a:r>
            <a:endParaRPr sz="1768">
              <a:solidFill>
                <a:schemeClr val="dk2"/>
              </a:solidFill>
              <a:latin typeface="Lato"/>
              <a:ea typeface="Lato"/>
              <a:cs typeface="Lato"/>
              <a:sym typeface="Lato"/>
            </a:endParaRPr>
          </a:p>
        </p:txBody>
      </p:sp>
      <p:sp>
        <p:nvSpPr>
          <p:cNvPr id="590" name="Google Shape;590;p28"/>
          <p:cNvSpPr txBox="1"/>
          <p:nvPr/>
        </p:nvSpPr>
        <p:spPr>
          <a:xfrm>
            <a:off x="5955731" y="4347600"/>
            <a:ext cx="2706600" cy="523500"/>
          </a:xfrm>
          <a:prstGeom prst="rect">
            <a:avLst/>
          </a:prstGeom>
          <a:noFill/>
          <a:ln>
            <a:noFill/>
          </a:ln>
        </p:spPr>
        <p:txBody>
          <a:bodyPr anchorCtr="0" anchor="t" bIns="124400" lIns="124400" spcFirstLastPara="1" rIns="124400" wrap="square" tIns="124400">
            <a:spAutoFit/>
          </a:bodyPr>
          <a:lstStyle/>
          <a:p>
            <a:pPr indent="0" lvl="0" marL="0" rtl="0" algn="l">
              <a:spcBef>
                <a:spcPts val="0"/>
              </a:spcBef>
              <a:spcAft>
                <a:spcPts val="0"/>
              </a:spcAft>
              <a:buNone/>
            </a:pPr>
            <a:r>
              <a:rPr lang="en" sz="1768">
                <a:solidFill>
                  <a:schemeClr val="dk2"/>
                </a:solidFill>
                <a:latin typeface="Lato"/>
                <a:ea typeface="Lato"/>
                <a:cs typeface="Lato"/>
                <a:sym typeface="Lato"/>
              </a:rPr>
              <a:t>Speculative execution</a:t>
            </a:r>
            <a:endParaRPr sz="1768">
              <a:solidFill>
                <a:schemeClr val="dk2"/>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 Behind Evaluation </a:t>
            </a:r>
            <a:endParaRPr/>
          </a:p>
        </p:txBody>
      </p:sp>
      <p:sp>
        <p:nvSpPr>
          <p:cNvPr id="596" name="Google Shape;596;p2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Overall </a:t>
            </a:r>
            <a:r>
              <a:rPr b="1" lang="en"/>
              <a:t>Goal: Show that PoE achieves higher throughput and/or lower latency than state‐of‐the‐art BFT protocols in a realistic environment</a:t>
            </a:r>
            <a:endParaRPr b="1"/>
          </a:p>
          <a:p>
            <a:pPr indent="-311150" lvl="0" marL="457200" rtl="0" algn="l">
              <a:spcBef>
                <a:spcPts val="1200"/>
              </a:spcBef>
              <a:spcAft>
                <a:spcPts val="0"/>
              </a:spcAft>
              <a:buSzPts val="1300"/>
              <a:buAutoNum type="arabicPeriod"/>
            </a:pPr>
            <a:r>
              <a:rPr lang="en"/>
              <a:t>How does PoE perform when compared to other protocols, especially under failure conditions?</a:t>
            </a:r>
            <a:endParaRPr/>
          </a:p>
          <a:p>
            <a:pPr indent="-311150" lvl="0" marL="457200" rtl="0" algn="l">
              <a:spcBef>
                <a:spcPts val="0"/>
              </a:spcBef>
              <a:spcAft>
                <a:spcPts val="0"/>
              </a:spcAft>
              <a:buSzPts val="1300"/>
              <a:buAutoNum type="arabicPeriod"/>
            </a:pPr>
            <a:r>
              <a:rPr lang="en"/>
              <a:t>How scalable is PoE when increasing the number of replicas?</a:t>
            </a:r>
            <a:endParaRPr/>
          </a:p>
          <a:p>
            <a:pPr indent="-311150" lvl="0" marL="457200" rtl="0" algn="l">
              <a:spcBef>
                <a:spcPts val="0"/>
              </a:spcBef>
              <a:spcAft>
                <a:spcPts val="0"/>
              </a:spcAft>
              <a:buSzPts val="1300"/>
              <a:buAutoNum type="arabicPeriod"/>
            </a:pPr>
            <a:r>
              <a:rPr lang="en"/>
              <a:t>How does PoE </a:t>
            </a:r>
            <a:r>
              <a:rPr lang="en"/>
              <a:t>perform</a:t>
            </a:r>
            <a:r>
              <a:rPr lang="en"/>
              <a:t> when out-of-order processing is disabled?</a:t>
            </a:r>
            <a:endParaRPr/>
          </a:p>
          <a:p>
            <a:pPr indent="-311150" lvl="0" marL="457200" rtl="0" algn="l">
              <a:spcBef>
                <a:spcPts val="0"/>
              </a:spcBef>
              <a:spcAft>
                <a:spcPts val="0"/>
              </a:spcAft>
              <a:buSzPts val="1300"/>
              <a:buAutoNum type="arabicPeriod"/>
            </a:pPr>
            <a:r>
              <a:rPr i="1" lang="en"/>
              <a:t>Does PoE see benefits in performance when batching client requests?</a:t>
            </a:r>
            <a:endParaRPr i="1"/>
          </a:p>
          <a:p>
            <a:pPr indent="-311150" lvl="0" marL="457200" rtl="0" algn="l">
              <a:spcBef>
                <a:spcPts val="0"/>
              </a:spcBef>
              <a:spcAft>
                <a:spcPts val="0"/>
              </a:spcAft>
              <a:buSzPts val="1300"/>
              <a:buAutoNum type="arabicPeriod"/>
            </a:pPr>
            <a:r>
              <a:rPr i="1" lang="en"/>
              <a:t>How does PoE perform under zero payload conditions?</a:t>
            </a:r>
            <a:endParaRPr i="1"/>
          </a:p>
        </p:txBody>
      </p:sp>
      <p:sp>
        <p:nvSpPr>
          <p:cNvPr id="597" name="Google Shape;597;p29"/>
          <p:cNvSpPr txBox="1"/>
          <p:nvPr/>
        </p:nvSpPr>
        <p:spPr>
          <a:xfrm>
            <a:off x="365700" y="4185625"/>
            <a:ext cx="3807900" cy="6201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chemeClr val="accent1"/>
                </a:solidFill>
                <a:latin typeface="Lato"/>
                <a:ea typeface="Lato"/>
                <a:cs typeface="Lato"/>
                <a:sym typeface="Lato"/>
              </a:rPr>
              <a:t>Throughput</a:t>
            </a:r>
            <a:endParaRPr b="1" sz="1200">
              <a:solidFill>
                <a:schemeClr val="accent1"/>
              </a:solidFill>
              <a:latin typeface="Lato"/>
              <a:ea typeface="Lato"/>
              <a:cs typeface="Lato"/>
              <a:sym typeface="Lato"/>
            </a:endParaRPr>
          </a:p>
          <a:p>
            <a:pPr indent="0" lvl="0" marL="0" rtl="0" algn="ctr">
              <a:lnSpc>
                <a:spcPct val="115000"/>
              </a:lnSpc>
              <a:spcBef>
                <a:spcPts val="0"/>
              </a:spcBef>
              <a:spcAft>
                <a:spcPts val="0"/>
              </a:spcAft>
              <a:buNone/>
            </a:pPr>
            <a:r>
              <a:rPr lang="en" sz="1200">
                <a:solidFill>
                  <a:schemeClr val="accent1"/>
                </a:solidFill>
                <a:latin typeface="Lato"/>
                <a:ea typeface="Lato"/>
                <a:cs typeface="Lato"/>
                <a:sym typeface="Lato"/>
              </a:rPr>
              <a:t>measured as transactions per second</a:t>
            </a:r>
            <a:endParaRPr sz="1200">
              <a:solidFill>
                <a:schemeClr val="accent1"/>
              </a:solidFill>
              <a:latin typeface="Lato"/>
              <a:ea typeface="Lato"/>
              <a:cs typeface="Lato"/>
              <a:sym typeface="Lato"/>
            </a:endParaRPr>
          </a:p>
        </p:txBody>
      </p:sp>
      <p:sp>
        <p:nvSpPr>
          <p:cNvPr id="598" name="Google Shape;598;p29"/>
          <p:cNvSpPr txBox="1"/>
          <p:nvPr/>
        </p:nvSpPr>
        <p:spPr>
          <a:xfrm>
            <a:off x="4719300" y="4086175"/>
            <a:ext cx="4015200" cy="8190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chemeClr val="accent1"/>
                </a:solidFill>
                <a:latin typeface="Lato"/>
                <a:ea typeface="Lato"/>
                <a:cs typeface="Lato"/>
                <a:sym typeface="Lato"/>
              </a:rPr>
              <a:t>Latency</a:t>
            </a:r>
            <a:endParaRPr b="1" sz="1200">
              <a:solidFill>
                <a:schemeClr val="accent1"/>
              </a:solidFill>
              <a:latin typeface="Lato"/>
              <a:ea typeface="Lato"/>
              <a:cs typeface="Lato"/>
              <a:sym typeface="Lato"/>
            </a:endParaRPr>
          </a:p>
          <a:p>
            <a:pPr indent="0" lvl="0" marL="0" rtl="0" algn="ctr">
              <a:lnSpc>
                <a:spcPct val="115000"/>
              </a:lnSpc>
              <a:spcBef>
                <a:spcPts val="0"/>
              </a:spcBef>
              <a:spcAft>
                <a:spcPts val="0"/>
              </a:spcAft>
              <a:buNone/>
            </a:pPr>
            <a:r>
              <a:rPr lang="en" sz="1200">
                <a:solidFill>
                  <a:schemeClr val="accent1"/>
                </a:solidFill>
                <a:latin typeface="Lato"/>
                <a:ea typeface="Lato"/>
                <a:cs typeface="Lato"/>
                <a:sym typeface="Lato"/>
              </a:rPr>
              <a:t>measured as the time from when the client sends a request to when it receives a response</a:t>
            </a:r>
            <a:endParaRPr sz="1200">
              <a:solidFill>
                <a:schemeClr val="accen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 Landscape</a:t>
            </a:r>
            <a:endParaRPr/>
          </a:p>
        </p:txBody>
      </p:sp>
      <p:sp>
        <p:nvSpPr>
          <p:cNvPr id="604" name="Google Shape;604;p30"/>
          <p:cNvSpPr txBox="1"/>
          <p:nvPr>
            <p:ph idx="1" type="body"/>
          </p:nvPr>
        </p:nvSpPr>
        <p:spPr>
          <a:xfrm>
            <a:off x="727650" y="1792400"/>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lang="en"/>
              <a:t>Environment</a:t>
            </a:r>
            <a:endParaRPr b="1"/>
          </a:p>
          <a:p>
            <a:pPr indent="-311150" lvl="1" marL="914400" rtl="0" algn="l">
              <a:spcBef>
                <a:spcPts val="0"/>
              </a:spcBef>
              <a:spcAft>
                <a:spcPts val="0"/>
              </a:spcAft>
              <a:buSzPts val="1300"/>
              <a:buChar char="○"/>
            </a:pPr>
            <a:r>
              <a:rPr lang="en" sz="1300"/>
              <a:t>ResilientDB Fabric (batching, parallel pipeline architecture)</a:t>
            </a:r>
            <a:endParaRPr sz="1300"/>
          </a:p>
          <a:p>
            <a:pPr indent="-311150" lvl="1" marL="914400" rtl="0" algn="l">
              <a:spcBef>
                <a:spcPts val="0"/>
              </a:spcBef>
              <a:spcAft>
                <a:spcPts val="0"/>
              </a:spcAft>
              <a:buSzPts val="1300"/>
              <a:buChar char="○"/>
            </a:pPr>
            <a:r>
              <a:rPr lang="en" sz="1300"/>
              <a:t>Scale from 4 to 91 replicas</a:t>
            </a:r>
            <a:endParaRPr sz="1300"/>
          </a:p>
          <a:p>
            <a:pPr indent="-311150" lvl="1" marL="914400" rtl="0" algn="l">
              <a:spcBef>
                <a:spcPts val="0"/>
              </a:spcBef>
              <a:spcAft>
                <a:spcPts val="0"/>
              </a:spcAft>
              <a:buSzPts val="1300"/>
              <a:buChar char="○"/>
            </a:pPr>
            <a:r>
              <a:rPr lang="en" sz="1300"/>
              <a:t>320k clients</a:t>
            </a:r>
            <a:endParaRPr sz="1300"/>
          </a:p>
          <a:p>
            <a:pPr indent="-311150" lvl="0" marL="457200" rtl="0" algn="l">
              <a:spcBef>
                <a:spcPts val="0"/>
              </a:spcBef>
              <a:spcAft>
                <a:spcPts val="0"/>
              </a:spcAft>
              <a:buSzPts val="1300"/>
              <a:buChar char="●"/>
            </a:pPr>
            <a:r>
              <a:rPr b="1" lang="en"/>
              <a:t>Experiment</a:t>
            </a:r>
            <a:endParaRPr b="1"/>
          </a:p>
          <a:p>
            <a:pPr indent="-311150" lvl="1" marL="914400" rtl="0" algn="l">
              <a:spcBef>
                <a:spcPts val="0"/>
              </a:spcBef>
              <a:spcAft>
                <a:spcPts val="0"/>
              </a:spcAft>
              <a:buSzPts val="1300"/>
              <a:buChar char="○"/>
            </a:pPr>
            <a:r>
              <a:rPr lang="en" sz="1300"/>
              <a:t>Run for 180s</a:t>
            </a:r>
            <a:endParaRPr sz="1300"/>
          </a:p>
          <a:p>
            <a:pPr indent="-311150" lvl="1" marL="914400" rtl="0" algn="l">
              <a:spcBef>
                <a:spcPts val="0"/>
              </a:spcBef>
              <a:spcAft>
                <a:spcPts val="0"/>
              </a:spcAft>
              <a:buSzPts val="1300"/>
              <a:buChar char="○"/>
            </a:pPr>
            <a:r>
              <a:rPr lang="en" sz="1300"/>
              <a:t>Data is collected for the last 120s (steady-state)</a:t>
            </a:r>
            <a:endParaRPr sz="1300"/>
          </a:p>
          <a:p>
            <a:pPr indent="-311150" lvl="0" marL="457200" rtl="0" algn="l">
              <a:spcBef>
                <a:spcPts val="0"/>
              </a:spcBef>
              <a:spcAft>
                <a:spcPts val="0"/>
              </a:spcAft>
              <a:buSzPts val="1300"/>
              <a:buChar char="●"/>
            </a:pPr>
            <a:r>
              <a:rPr b="1" lang="en"/>
              <a:t>Benchmarking Configurations</a:t>
            </a:r>
            <a:endParaRPr b="1"/>
          </a:p>
          <a:p>
            <a:pPr indent="-311150" lvl="1" marL="914400" rtl="0" algn="l">
              <a:spcBef>
                <a:spcPts val="0"/>
              </a:spcBef>
              <a:spcAft>
                <a:spcPts val="0"/>
              </a:spcAft>
              <a:buSzPts val="1300"/>
              <a:buChar char="○"/>
            </a:pPr>
            <a:r>
              <a:rPr b="1" lang="en" sz="1300"/>
              <a:t>No Failures: </a:t>
            </a:r>
            <a:r>
              <a:rPr lang="en" sz="1300"/>
              <a:t>all replicas are live and responsive; measures baseline performance</a:t>
            </a:r>
            <a:endParaRPr sz="1300"/>
          </a:p>
          <a:p>
            <a:pPr indent="-311150" lvl="1" marL="914400" rtl="0" algn="l">
              <a:spcBef>
                <a:spcPts val="0"/>
              </a:spcBef>
              <a:spcAft>
                <a:spcPts val="0"/>
              </a:spcAft>
              <a:buSzPts val="1300"/>
              <a:buChar char="○"/>
            </a:pPr>
            <a:r>
              <a:rPr b="1" lang="en" sz="1300"/>
              <a:t>Backup Failure: </a:t>
            </a:r>
            <a:r>
              <a:rPr lang="en" sz="1300"/>
              <a:t>one non-primary replica is crashed to assess system resilience and recovery impact</a:t>
            </a:r>
            <a:endParaRPr sz="1300"/>
          </a:p>
          <a:p>
            <a:pPr indent="-311150" lvl="1" marL="914400" rtl="0" algn="l">
              <a:spcBef>
                <a:spcPts val="0"/>
              </a:spcBef>
              <a:spcAft>
                <a:spcPts val="0"/>
              </a:spcAft>
              <a:buSzPts val="1300"/>
              <a:buChar char="○"/>
            </a:pPr>
            <a:r>
              <a:rPr b="1" lang="en" sz="1300"/>
              <a:t>Primary Failure: </a:t>
            </a:r>
            <a:r>
              <a:rPr lang="en" sz="1300"/>
              <a:t>let the primary fail, causing clients to timeout &amp; forward requests to backup replicas; initiate view-change</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 Protocols</a:t>
            </a:r>
            <a:endParaRPr/>
          </a:p>
        </p:txBody>
      </p:sp>
      <p:graphicFrame>
        <p:nvGraphicFramePr>
          <p:cNvPr id="610" name="Google Shape;610;p31"/>
          <p:cNvGraphicFramePr/>
          <p:nvPr/>
        </p:nvGraphicFramePr>
        <p:xfrm>
          <a:off x="501450" y="1853850"/>
          <a:ext cx="3000000" cy="3000000"/>
        </p:xfrm>
        <a:graphic>
          <a:graphicData uri="http://schemas.openxmlformats.org/drawingml/2006/table">
            <a:tbl>
              <a:tblPr>
                <a:noFill/>
                <a:tableStyleId>{23002E1A-6EDD-4089-AD31-D1527B6F7107}</a:tableStyleId>
              </a:tblPr>
              <a:tblGrid>
                <a:gridCol w="1664350"/>
                <a:gridCol w="6476725"/>
              </a:tblGrid>
              <a:tr h="292875">
                <a:tc>
                  <a:txBody>
                    <a:bodyPr/>
                    <a:lstStyle/>
                    <a:p>
                      <a:pPr indent="0" lvl="0" marL="0" rtl="0" algn="l">
                        <a:spcBef>
                          <a:spcPts val="0"/>
                        </a:spcBef>
                        <a:spcAft>
                          <a:spcPts val="0"/>
                        </a:spcAft>
                        <a:buNone/>
                      </a:pPr>
                      <a:r>
                        <a:rPr b="1" lang="en" sz="1300">
                          <a:solidFill>
                            <a:schemeClr val="accent1"/>
                          </a:solidFill>
                          <a:latin typeface="Lato"/>
                          <a:ea typeface="Lato"/>
                          <a:cs typeface="Lato"/>
                          <a:sym typeface="Lato"/>
                        </a:rPr>
                        <a:t>Protocol</a:t>
                      </a:r>
                      <a:endParaRPr b="1" sz="1300">
                        <a:solidFill>
                          <a:schemeClr val="accent1"/>
                        </a:solidFill>
                        <a:latin typeface="Lato"/>
                        <a:ea typeface="Lato"/>
                        <a:cs typeface="Lato"/>
                        <a:sym typeface="Lato"/>
                      </a:endParaRPr>
                    </a:p>
                  </a:txBody>
                  <a:tcPr marT="91425" marB="91425" marR="91425" marL="91425">
                    <a:solidFill>
                      <a:schemeClr val="lt2"/>
                    </a:solidFill>
                  </a:tcPr>
                </a:tc>
                <a:tc>
                  <a:txBody>
                    <a:bodyPr/>
                    <a:lstStyle/>
                    <a:p>
                      <a:pPr indent="0" lvl="0" marL="0" rtl="0" algn="l">
                        <a:spcBef>
                          <a:spcPts val="0"/>
                        </a:spcBef>
                        <a:spcAft>
                          <a:spcPts val="0"/>
                        </a:spcAft>
                        <a:buNone/>
                      </a:pPr>
                      <a:r>
                        <a:rPr b="1" lang="en" sz="1300">
                          <a:solidFill>
                            <a:schemeClr val="accent1"/>
                          </a:solidFill>
                          <a:latin typeface="Lato"/>
                          <a:ea typeface="Lato"/>
                          <a:cs typeface="Lato"/>
                          <a:sym typeface="Lato"/>
                        </a:rPr>
                        <a:t>Description</a:t>
                      </a:r>
                      <a:endParaRPr b="1" sz="1300">
                        <a:solidFill>
                          <a:schemeClr val="accent1"/>
                        </a:solidFill>
                        <a:latin typeface="Lato"/>
                        <a:ea typeface="Lato"/>
                        <a:cs typeface="Lato"/>
                        <a:sym typeface="Lato"/>
                      </a:endParaRPr>
                    </a:p>
                  </a:txBody>
                  <a:tcPr marT="91425" marB="91425" marR="91425" marL="91425">
                    <a:solidFill>
                      <a:schemeClr val="lt2"/>
                    </a:solidFill>
                  </a:tcPr>
                </a:tc>
              </a:tr>
              <a:tr h="370350">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PoE</a:t>
                      </a:r>
                      <a:endParaRPr sz="1300">
                        <a:solidFill>
                          <a:schemeClr val="accen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Linear three-phase protocol with no twin-path model; maintains high performance even under replica failures</a:t>
                      </a:r>
                      <a:endParaRPr sz="1300">
                        <a:solidFill>
                          <a:schemeClr val="accent1"/>
                        </a:solidFill>
                        <a:latin typeface="Lato"/>
                        <a:ea typeface="Lato"/>
                        <a:cs typeface="Lato"/>
                        <a:sym typeface="Lato"/>
                      </a:endParaRPr>
                    </a:p>
                  </a:txBody>
                  <a:tcPr marT="91425" marB="91425" marR="91425" marL="91425"/>
                </a:tc>
              </a:tr>
              <a:tr h="370350">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PBFT</a:t>
                      </a:r>
                      <a:endParaRPr sz="1300">
                        <a:solidFill>
                          <a:schemeClr val="accen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Widely-used baseline protocol for BFT performance studies; uses a three-phase commit with static primaries</a:t>
                      </a:r>
                      <a:endParaRPr sz="1300">
                        <a:solidFill>
                          <a:schemeClr val="accent1"/>
                        </a:solidFill>
                        <a:latin typeface="Lato"/>
                        <a:ea typeface="Lato"/>
                        <a:cs typeface="Lato"/>
                        <a:sym typeface="Lato"/>
                      </a:endParaRPr>
                    </a:p>
                  </a:txBody>
                  <a:tcPr marT="91425" marB="91425" marR="91425" marL="91425"/>
                </a:tc>
              </a:tr>
              <a:tr h="363100">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Zyzzyva</a:t>
                      </a:r>
                      <a:endParaRPr sz="1300">
                        <a:solidFill>
                          <a:schemeClr val="accen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Optimistic protocol using a twin-path model; achieves low latency in fault-free cases with trusted clients</a:t>
                      </a:r>
                      <a:endParaRPr sz="1300">
                        <a:solidFill>
                          <a:schemeClr val="accent1"/>
                        </a:solidFill>
                        <a:latin typeface="Lato"/>
                        <a:ea typeface="Lato"/>
                        <a:cs typeface="Lato"/>
                        <a:sym typeface="Lato"/>
                      </a:endParaRPr>
                    </a:p>
                  </a:txBody>
                  <a:tcPr marT="91425" marB="91425" marR="91425" marL="91425"/>
                </a:tc>
              </a:tr>
              <a:tr h="308750">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SBFT</a:t>
                      </a:r>
                      <a:endParaRPr sz="1300">
                        <a:solidFill>
                          <a:schemeClr val="accen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Safety-focused version of Zyzzyva; retains twin-path design with stronger guarantees and a 4-round fast path</a:t>
                      </a:r>
                      <a:endParaRPr sz="1300">
                        <a:solidFill>
                          <a:schemeClr val="accent1"/>
                        </a:solidFill>
                        <a:latin typeface="Lato"/>
                        <a:ea typeface="Lato"/>
                        <a:cs typeface="Lato"/>
                        <a:sym typeface="Lato"/>
                      </a:endParaRPr>
                    </a:p>
                  </a:txBody>
                  <a:tcPr marT="91425" marB="91425" marR="91425" marL="91425"/>
                </a:tc>
              </a:tr>
              <a:tr h="370350">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HotStuff</a:t>
                      </a:r>
                      <a:endParaRPr sz="1300">
                        <a:solidFill>
                          <a:schemeClr val="accent1"/>
                        </a:solidFill>
                        <a:latin typeface="Lato"/>
                        <a:ea typeface="Lato"/>
                        <a:cs typeface="Lato"/>
                        <a:sym typeface="Lato"/>
                      </a:endParaRPr>
                    </a:p>
                  </a:txBody>
                  <a:tcPr marT="91425" marB="91425" marR="91425" marL="91425"/>
                </a:tc>
                <a:tc>
                  <a:txBody>
                    <a:bodyPr/>
                    <a:lstStyle/>
                    <a:p>
                      <a:pPr indent="0" lvl="0" marL="0" rtl="0" algn="l">
                        <a:spcBef>
                          <a:spcPts val="0"/>
                        </a:spcBef>
                        <a:spcAft>
                          <a:spcPts val="0"/>
                        </a:spcAft>
                        <a:buNone/>
                      </a:pPr>
                      <a:r>
                        <a:rPr lang="en" sz="1300">
                          <a:solidFill>
                            <a:schemeClr val="accent1"/>
                          </a:solidFill>
                          <a:latin typeface="Lato"/>
                          <a:ea typeface="Lato"/>
                          <a:cs typeface="Lato"/>
                          <a:sym typeface="Lato"/>
                        </a:rPr>
                        <a:t>Modern BFT protocol with linear communication and rotating primaries</a:t>
                      </a:r>
                      <a:endParaRPr sz="1300">
                        <a:solidFill>
                          <a:schemeClr val="accent1"/>
                        </a:solidFill>
                        <a:latin typeface="Lato"/>
                        <a:ea typeface="Lato"/>
                        <a:cs typeface="Lato"/>
                        <a:sym typeface="Lato"/>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Experimental Results: Scalability (No Failures)</a:t>
            </a:r>
            <a:endParaRPr/>
          </a:p>
        </p:txBody>
      </p:sp>
      <p:pic>
        <p:nvPicPr>
          <p:cNvPr id="616" name="Google Shape;616;p32"/>
          <p:cNvPicPr preferRelativeResize="0"/>
          <p:nvPr/>
        </p:nvPicPr>
        <p:blipFill>
          <a:blip r:embed="rId3">
            <a:alphaModFix/>
          </a:blip>
          <a:stretch>
            <a:fillRect/>
          </a:stretch>
        </p:blipFill>
        <p:spPr>
          <a:xfrm>
            <a:off x="842612" y="4417700"/>
            <a:ext cx="4912952" cy="398225"/>
          </a:xfrm>
          <a:prstGeom prst="rect">
            <a:avLst/>
          </a:prstGeom>
          <a:noFill/>
          <a:ln>
            <a:noFill/>
          </a:ln>
        </p:spPr>
      </p:pic>
      <p:sp>
        <p:nvSpPr>
          <p:cNvPr id="617" name="Google Shape;617;p32"/>
          <p:cNvSpPr txBox="1"/>
          <p:nvPr/>
        </p:nvSpPr>
        <p:spPr>
          <a:xfrm>
            <a:off x="6479050" y="2219575"/>
            <a:ext cx="2285400" cy="18105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300">
                <a:solidFill>
                  <a:schemeClr val="accent1"/>
                </a:solidFill>
                <a:latin typeface="Lato"/>
                <a:ea typeface="Lato"/>
                <a:cs typeface="Lato"/>
                <a:sym typeface="Lato"/>
              </a:rPr>
              <a:t>Key Finding</a:t>
            </a:r>
            <a:endParaRPr b="1" sz="1300">
              <a:solidFill>
                <a:schemeClr val="accent1"/>
              </a:solidFill>
              <a:latin typeface="Lato"/>
              <a:ea typeface="Lato"/>
              <a:cs typeface="Lato"/>
              <a:sym typeface="Lato"/>
            </a:endParaRPr>
          </a:p>
          <a:p>
            <a:pPr indent="0" lvl="0" marL="0" rtl="0" algn="ctr">
              <a:lnSpc>
                <a:spcPct val="115000"/>
              </a:lnSpc>
              <a:spcBef>
                <a:spcPts val="0"/>
              </a:spcBef>
              <a:spcAft>
                <a:spcPts val="0"/>
              </a:spcAft>
              <a:buNone/>
            </a:pPr>
            <a:r>
              <a:rPr lang="en" sz="1300">
                <a:solidFill>
                  <a:schemeClr val="accent1"/>
                </a:solidFill>
                <a:latin typeface="Lato"/>
                <a:ea typeface="Lato"/>
                <a:cs typeface="Lato"/>
                <a:sym typeface="Lato"/>
              </a:rPr>
              <a:t>PoE has lower throughput than Zyzzyva, but similar latency - Zyzzyva requires replies from all replicas, while PoE clients wait for</a:t>
            </a:r>
            <a:r>
              <a:rPr i="1" lang="en" sz="1300">
                <a:solidFill>
                  <a:schemeClr val="accent1"/>
                </a:solidFill>
                <a:latin typeface="Lato"/>
                <a:ea typeface="Lato"/>
                <a:cs typeface="Lato"/>
                <a:sym typeface="Lato"/>
              </a:rPr>
              <a:t> </a:t>
            </a:r>
            <a:r>
              <a:rPr b="1" lang="en" sz="1300">
                <a:solidFill>
                  <a:schemeClr val="accent1"/>
                </a:solidFill>
                <a:latin typeface="Lato"/>
                <a:ea typeface="Lato"/>
                <a:cs typeface="Lato"/>
                <a:sym typeface="Lato"/>
              </a:rPr>
              <a:t>nf </a:t>
            </a:r>
            <a:r>
              <a:rPr lang="en" sz="1300">
                <a:solidFill>
                  <a:schemeClr val="accent1"/>
                </a:solidFill>
                <a:latin typeface="Lato"/>
                <a:ea typeface="Lato"/>
                <a:cs typeface="Lato"/>
                <a:sym typeface="Lato"/>
              </a:rPr>
              <a:t>replies</a:t>
            </a:r>
            <a:endParaRPr sz="1300">
              <a:solidFill>
                <a:schemeClr val="accent1"/>
              </a:solidFill>
              <a:latin typeface="Lato"/>
              <a:ea typeface="Lato"/>
              <a:cs typeface="Lato"/>
              <a:sym typeface="Lato"/>
            </a:endParaRPr>
          </a:p>
        </p:txBody>
      </p:sp>
      <p:pic>
        <p:nvPicPr>
          <p:cNvPr id="618" name="Google Shape;618;p32"/>
          <p:cNvPicPr preferRelativeResize="0"/>
          <p:nvPr/>
        </p:nvPicPr>
        <p:blipFill>
          <a:blip r:embed="rId4">
            <a:alphaModFix/>
          </a:blip>
          <a:stretch>
            <a:fillRect/>
          </a:stretch>
        </p:blipFill>
        <p:spPr>
          <a:xfrm>
            <a:off x="437225" y="2055612"/>
            <a:ext cx="5634826" cy="21478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3"/>
          <p:cNvSpPr txBox="1"/>
          <p:nvPr>
            <p:ph type="title"/>
          </p:nvPr>
        </p:nvSpPr>
        <p:spPr>
          <a:xfrm>
            <a:off x="729450" y="1318650"/>
            <a:ext cx="8414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Experimental Results: Scalability (Single Failure)</a:t>
            </a:r>
            <a:endParaRPr/>
          </a:p>
        </p:txBody>
      </p:sp>
      <p:pic>
        <p:nvPicPr>
          <p:cNvPr id="624" name="Google Shape;624;p33"/>
          <p:cNvPicPr preferRelativeResize="0"/>
          <p:nvPr/>
        </p:nvPicPr>
        <p:blipFill rotWithShape="1">
          <a:blip r:embed="rId3">
            <a:alphaModFix/>
          </a:blip>
          <a:srcRect b="0" l="0" r="3614" t="0"/>
          <a:stretch/>
        </p:blipFill>
        <p:spPr>
          <a:xfrm>
            <a:off x="254400" y="2034200"/>
            <a:ext cx="5715876" cy="2203151"/>
          </a:xfrm>
          <a:prstGeom prst="rect">
            <a:avLst/>
          </a:prstGeom>
          <a:noFill/>
          <a:ln>
            <a:noFill/>
          </a:ln>
        </p:spPr>
      </p:pic>
      <p:pic>
        <p:nvPicPr>
          <p:cNvPr id="625" name="Google Shape;625;p33"/>
          <p:cNvPicPr preferRelativeResize="0"/>
          <p:nvPr/>
        </p:nvPicPr>
        <p:blipFill>
          <a:blip r:embed="rId4">
            <a:alphaModFix/>
          </a:blip>
          <a:stretch>
            <a:fillRect/>
          </a:stretch>
        </p:blipFill>
        <p:spPr>
          <a:xfrm>
            <a:off x="842612" y="4417700"/>
            <a:ext cx="4912952" cy="398225"/>
          </a:xfrm>
          <a:prstGeom prst="rect">
            <a:avLst/>
          </a:prstGeom>
          <a:noFill/>
          <a:ln>
            <a:noFill/>
          </a:ln>
        </p:spPr>
      </p:pic>
      <p:sp>
        <p:nvSpPr>
          <p:cNvPr id="626" name="Google Shape;626;p33"/>
          <p:cNvSpPr txBox="1"/>
          <p:nvPr/>
        </p:nvSpPr>
        <p:spPr>
          <a:xfrm>
            <a:off x="6404625" y="2454100"/>
            <a:ext cx="2209800" cy="15183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300">
                <a:solidFill>
                  <a:schemeClr val="accent1"/>
                </a:solidFill>
                <a:latin typeface="Lato"/>
                <a:ea typeface="Lato"/>
                <a:cs typeface="Lato"/>
                <a:sym typeface="Lato"/>
              </a:rPr>
              <a:t>Key Finding</a:t>
            </a:r>
            <a:endParaRPr b="1" sz="1300">
              <a:solidFill>
                <a:schemeClr val="accent1"/>
              </a:solidFill>
              <a:latin typeface="Lato"/>
              <a:ea typeface="Lato"/>
              <a:cs typeface="Lato"/>
              <a:sym typeface="Lato"/>
            </a:endParaRPr>
          </a:p>
          <a:p>
            <a:pPr indent="0" lvl="0" marL="0" rtl="0" algn="ctr">
              <a:lnSpc>
                <a:spcPct val="115000"/>
              </a:lnSpc>
              <a:spcBef>
                <a:spcPts val="0"/>
              </a:spcBef>
              <a:spcAft>
                <a:spcPts val="0"/>
              </a:spcAft>
              <a:buNone/>
            </a:pPr>
            <a:r>
              <a:rPr lang="en" sz="1300">
                <a:solidFill>
                  <a:schemeClr val="accent1"/>
                </a:solidFill>
                <a:latin typeface="Lato"/>
                <a:ea typeface="Lato"/>
                <a:cs typeface="Lato"/>
                <a:sym typeface="Lato"/>
              </a:rPr>
              <a:t>PoE </a:t>
            </a:r>
            <a:r>
              <a:rPr lang="en" sz="1300">
                <a:solidFill>
                  <a:schemeClr val="accent1"/>
                </a:solidFill>
                <a:latin typeface="Lato"/>
                <a:ea typeface="Lato"/>
                <a:cs typeface="Lato"/>
                <a:sym typeface="Lato"/>
              </a:rPr>
              <a:t>exhibits</a:t>
            </a:r>
            <a:r>
              <a:rPr lang="en" sz="1300">
                <a:solidFill>
                  <a:schemeClr val="accent1"/>
                </a:solidFill>
                <a:latin typeface="Lato"/>
                <a:ea typeface="Lato"/>
                <a:cs typeface="Lato"/>
                <a:sym typeface="Lato"/>
              </a:rPr>
              <a:t> high throughput and low latency under failures due to its three-phase </a:t>
            </a:r>
            <a:r>
              <a:rPr lang="en" sz="1300">
                <a:solidFill>
                  <a:schemeClr val="accent1"/>
                </a:solidFill>
                <a:latin typeface="Lato"/>
                <a:ea typeface="Lato"/>
                <a:cs typeface="Lato"/>
                <a:sym typeface="Lato"/>
              </a:rPr>
              <a:t>linear protocol that is resilient to failures</a:t>
            </a:r>
            <a:endParaRPr sz="1300">
              <a:solidFill>
                <a:schemeClr val="accent1"/>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Experimental Results: Out-of-ordering Disabled</a:t>
            </a:r>
            <a:endParaRPr/>
          </a:p>
        </p:txBody>
      </p:sp>
      <p:pic>
        <p:nvPicPr>
          <p:cNvPr id="632" name="Google Shape;632;p34"/>
          <p:cNvPicPr preferRelativeResize="0"/>
          <p:nvPr/>
        </p:nvPicPr>
        <p:blipFill>
          <a:blip r:embed="rId3">
            <a:alphaModFix/>
          </a:blip>
          <a:stretch>
            <a:fillRect/>
          </a:stretch>
        </p:blipFill>
        <p:spPr>
          <a:xfrm>
            <a:off x="842612" y="4417700"/>
            <a:ext cx="4912952" cy="398225"/>
          </a:xfrm>
          <a:prstGeom prst="rect">
            <a:avLst/>
          </a:prstGeom>
          <a:noFill/>
          <a:ln>
            <a:noFill/>
          </a:ln>
        </p:spPr>
      </p:pic>
      <p:sp>
        <p:nvSpPr>
          <p:cNvPr id="633" name="Google Shape;633;p34"/>
          <p:cNvSpPr txBox="1"/>
          <p:nvPr/>
        </p:nvSpPr>
        <p:spPr>
          <a:xfrm>
            <a:off x="6536200" y="2174075"/>
            <a:ext cx="2209800" cy="18324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300">
                <a:solidFill>
                  <a:schemeClr val="accent1"/>
                </a:solidFill>
                <a:latin typeface="Lato"/>
                <a:ea typeface="Lato"/>
                <a:cs typeface="Lato"/>
                <a:sym typeface="Lato"/>
              </a:rPr>
              <a:t>Key Finding</a:t>
            </a:r>
            <a:endParaRPr b="1" sz="1300">
              <a:solidFill>
                <a:schemeClr val="accent1"/>
              </a:solidFill>
              <a:latin typeface="Lato"/>
              <a:ea typeface="Lato"/>
              <a:cs typeface="Lato"/>
              <a:sym typeface="Lato"/>
            </a:endParaRPr>
          </a:p>
          <a:p>
            <a:pPr indent="0" lvl="0" marL="0" rtl="0" algn="ctr">
              <a:lnSpc>
                <a:spcPct val="115000"/>
              </a:lnSpc>
              <a:spcBef>
                <a:spcPts val="0"/>
              </a:spcBef>
              <a:spcAft>
                <a:spcPts val="0"/>
              </a:spcAft>
              <a:buNone/>
            </a:pPr>
            <a:r>
              <a:rPr lang="en" sz="1300">
                <a:solidFill>
                  <a:schemeClr val="accent1"/>
                </a:solidFill>
                <a:latin typeface="Lato"/>
                <a:ea typeface="Lato"/>
                <a:cs typeface="Lato"/>
                <a:sym typeface="Lato"/>
              </a:rPr>
              <a:t>HotStuff, the only protocol without out-of-order processing, performs best when it’s disabled since rotating primaries enables pipelining of four requests</a:t>
            </a:r>
            <a:endParaRPr sz="1300">
              <a:solidFill>
                <a:schemeClr val="accent1"/>
              </a:solidFill>
              <a:latin typeface="Lato"/>
              <a:ea typeface="Lato"/>
              <a:cs typeface="Lato"/>
              <a:sym typeface="Lato"/>
            </a:endParaRPr>
          </a:p>
        </p:txBody>
      </p:sp>
      <p:pic>
        <p:nvPicPr>
          <p:cNvPr id="634" name="Google Shape;634;p34"/>
          <p:cNvPicPr preferRelativeResize="0"/>
          <p:nvPr/>
        </p:nvPicPr>
        <p:blipFill>
          <a:blip r:embed="rId4">
            <a:alphaModFix/>
          </a:blip>
          <a:stretch>
            <a:fillRect/>
          </a:stretch>
        </p:blipFill>
        <p:spPr>
          <a:xfrm>
            <a:off x="521972" y="2002750"/>
            <a:ext cx="5424777" cy="22660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Experimental Results: Primary Failure-View Change </a:t>
            </a:r>
            <a:endParaRPr/>
          </a:p>
        </p:txBody>
      </p:sp>
      <p:sp>
        <p:nvSpPr>
          <p:cNvPr id="640" name="Google Shape;640;p35"/>
          <p:cNvSpPr txBox="1"/>
          <p:nvPr>
            <p:ph idx="1" type="body"/>
          </p:nvPr>
        </p:nvSpPr>
        <p:spPr>
          <a:xfrm>
            <a:off x="729450" y="1923325"/>
            <a:ext cx="4294800" cy="2655900"/>
          </a:xfrm>
          <a:prstGeom prst="rect">
            <a:avLst/>
          </a:prstGeom>
        </p:spPr>
        <p:txBody>
          <a:bodyPr anchorCtr="0" anchor="t" bIns="91425" lIns="91425" spcFirstLastPara="1" rIns="91425" wrap="square" tIns="91425">
            <a:normAutofit fontScale="92500"/>
          </a:bodyPr>
          <a:lstStyle/>
          <a:p>
            <a:pPr indent="-304958" lvl="0" marL="457200" rtl="0" algn="l">
              <a:lnSpc>
                <a:spcPct val="100000"/>
              </a:lnSpc>
              <a:spcBef>
                <a:spcPts val="0"/>
              </a:spcBef>
              <a:spcAft>
                <a:spcPts val="0"/>
              </a:spcAft>
              <a:buSzPct val="100000"/>
              <a:buChar char="●"/>
            </a:pPr>
            <a:r>
              <a:rPr lang="en"/>
              <a:t>Let the primary replica complete consensus for 10s (~ a million transactions) and then fail; clients timeout while awaiting response</a:t>
            </a:r>
            <a:endParaRPr/>
          </a:p>
          <a:p>
            <a:pPr indent="-304958" lvl="0" marL="457200" rtl="0" algn="l">
              <a:lnSpc>
                <a:spcPct val="100000"/>
              </a:lnSpc>
              <a:spcBef>
                <a:spcPts val="0"/>
              </a:spcBef>
              <a:spcAft>
                <a:spcPts val="0"/>
              </a:spcAft>
              <a:buSzPct val="100000"/>
              <a:buChar char="●"/>
            </a:pPr>
            <a:r>
              <a:rPr lang="en"/>
              <a:t>Experiment with 32 nodes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b="1" lang="en"/>
              <a:t>View-Change Protocol</a:t>
            </a:r>
            <a:endParaRPr b="1"/>
          </a:p>
          <a:p>
            <a:pPr indent="0" lvl="0" marL="0" rtl="0" algn="l">
              <a:lnSpc>
                <a:spcPct val="100000"/>
              </a:lnSpc>
              <a:spcBef>
                <a:spcPts val="1200"/>
              </a:spcBef>
              <a:spcAft>
                <a:spcPts val="0"/>
              </a:spcAft>
              <a:buNone/>
            </a:pPr>
            <a:r>
              <a:rPr lang="en" sz="1300"/>
              <a:t>(a): Replicas detect primary failure and broadcast </a:t>
            </a:r>
            <a:r>
              <a:rPr i="1" lang="en" sz="1300"/>
              <a:t>vc-request</a:t>
            </a:r>
            <a:r>
              <a:rPr lang="en" sz="1300"/>
              <a:t> </a:t>
            </a:r>
            <a:endParaRPr sz="1300"/>
          </a:p>
          <a:p>
            <a:pPr indent="0" lvl="0" marL="0" rtl="0" algn="l">
              <a:lnSpc>
                <a:spcPct val="100000"/>
              </a:lnSpc>
              <a:spcBef>
                <a:spcPts val="1200"/>
              </a:spcBef>
              <a:spcAft>
                <a:spcPts val="0"/>
              </a:spcAft>
              <a:buNone/>
            </a:pPr>
            <a:r>
              <a:rPr lang="en" sz="1300"/>
              <a:t>(b): Replicas receive </a:t>
            </a:r>
            <a:r>
              <a:rPr i="1" lang="en" sz="1300"/>
              <a:t>vc-</a:t>
            </a:r>
            <a:r>
              <a:rPr i="1" lang="en" sz="1300"/>
              <a:t>request</a:t>
            </a:r>
            <a:r>
              <a:rPr lang="en" sz="1300"/>
              <a:t> messages from other replicas </a:t>
            </a:r>
            <a:endParaRPr sz="1300"/>
          </a:p>
          <a:p>
            <a:pPr indent="0" lvl="0" marL="0" rtl="0" algn="l">
              <a:lnSpc>
                <a:spcPct val="100000"/>
              </a:lnSpc>
              <a:spcBef>
                <a:spcPts val="1200"/>
              </a:spcBef>
              <a:spcAft>
                <a:spcPts val="0"/>
              </a:spcAft>
              <a:buNone/>
            </a:pPr>
            <a:r>
              <a:rPr lang="en" sz="1300"/>
              <a:t>(c): Replicas receive </a:t>
            </a:r>
            <a:r>
              <a:rPr i="1" lang="en" sz="1300"/>
              <a:t>nv-propose</a:t>
            </a:r>
            <a:r>
              <a:rPr lang="en" sz="1300"/>
              <a:t> message from the new primary</a:t>
            </a:r>
            <a:endParaRPr sz="1300"/>
          </a:p>
          <a:p>
            <a:pPr indent="0" lvl="0" marL="0" rtl="0" algn="l">
              <a:lnSpc>
                <a:spcPct val="100000"/>
              </a:lnSpc>
              <a:spcBef>
                <a:spcPts val="1200"/>
              </a:spcBef>
              <a:spcAft>
                <a:spcPts val="0"/>
              </a:spcAft>
              <a:buNone/>
            </a:pPr>
            <a:r>
              <a:rPr lang="en" sz="1300"/>
              <a:t>(d): State recovery</a:t>
            </a:r>
            <a:endParaRPr sz="1300"/>
          </a:p>
        </p:txBody>
      </p:sp>
      <p:pic>
        <p:nvPicPr>
          <p:cNvPr id="641" name="Google Shape;641;p35"/>
          <p:cNvPicPr preferRelativeResize="0"/>
          <p:nvPr/>
        </p:nvPicPr>
        <p:blipFill>
          <a:blip r:embed="rId3">
            <a:alphaModFix/>
          </a:blip>
          <a:stretch>
            <a:fillRect/>
          </a:stretch>
        </p:blipFill>
        <p:spPr>
          <a:xfrm>
            <a:off x="5421600" y="1819975"/>
            <a:ext cx="3148013" cy="1841526"/>
          </a:xfrm>
          <a:prstGeom prst="rect">
            <a:avLst/>
          </a:prstGeom>
          <a:noFill/>
          <a:ln>
            <a:noFill/>
          </a:ln>
        </p:spPr>
      </p:pic>
      <p:sp>
        <p:nvSpPr>
          <p:cNvPr id="642" name="Google Shape;642;p35"/>
          <p:cNvSpPr txBox="1"/>
          <p:nvPr/>
        </p:nvSpPr>
        <p:spPr>
          <a:xfrm>
            <a:off x="5421588" y="3779975"/>
            <a:ext cx="3307200" cy="10752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300">
                <a:solidFill>
                  <a:schemeClr val="accent1"/>
                </a:solidFill>
                <a:latin typeface="Lato"/>
                <a:ea typeface="Lato"/>
                <a:cs typeface="Lato"/>
                <a:sym typeface="Lato"/>
              </a:rPr>
              <a:t>Key Finding</a:t>
            </a:r>
            <a:endParaRPr b="1" sz="1300">
              <a:solidFill>
                <a:schemeClr val="accent1"/>
              </a:solidFill>
              <a:latin typeface="Lato"/>
              <a:ea typeface="Lato"/>
              <a:cs typeface="Lato"/>
              <a:sym typeface="Lato"/>
            </a:endParaRPr>
          </a:p>
          <a:p>
            <a:pPr indent="0" lvl="0" marL="0" rtl="0" algn="ctr">
              <a:lnSpc>
                <a:spcPct val="115000"/>
              </a:lnSpc>
              <a:spcBef>
                <a:spcPts val="0"/>
              </a:spcBef>
              <a:spcAft>
                <a:spcPts val="0"/>
              </a:spcAft>
              <a:buNone/>
            </a:pPr>
            <a:r>
              <a:rPr lang="en" sz="1300">
                <a:solidFill>
                  <a:schemeClr val="accent1"/>
                </a:solidFill>
                <a:latin typeface="Lato"/>
                <a:ea typeface="Lato"/>
                <a:cs typeface="Lato"/>
                <a:sym typeface="Lato"/>
              </a:rPr>
              <a:t>PoE initially takes longer to execute than PBFT due to rollback, but quickly recovers to achieve higher throughput</a:t>
            </a:r>
            <a:endParaRPr sz="1300">
              <a:solidFill>
                <a:schemeClr val="accent1"/>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Experimental Results: WAN Scalability</a:t>
            </a:r>
            <a:endParaRPr/>
          </a:p>
        </p:txBody>
      </p:sp>
      <p:sp>
        <p:nvSpPr>
          <p:cNvPr id="648" name="Google Shape;648;p36"/>
          <p:cNvSpPr txBox="1"/>
          <p:nvPr>
            <p:ph idx="1" type="body"/>
          </p:nvPr>
        </p:nvSpPr>
        <p:spPr>
          <a:xfrm>
            <a:off x="803800" y="1952275"/>
            <a:ext cx="7688700" cy="170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Deploy </a:t>
            </a:r>
            <a:r>
              <a:rPr lang="en"/>
              <a:t>PoE and PBFT on a wide-area network in the presence of a single failure</a:t>
            </a:r>
            <a:endParaRPr/>
          </a:p>
          <a:p>
            <a:pPr indent="-311150" lvl="0" marL="457200" rtl="0" algn="l">
              <a:spcBef>
                <a:spcPts val="0"/>
              </a:spcBef>
              <a:spcAft>
                <a:spcPts val="0"/>
              </a:spcAft>
              <a:buSzPts val="1300"/>
              <a:buChar char="●"/>
            </a:pPr>
            <a:r>
              <a:rPr lang="en"/>
              <a:t>Clients and replicas across five locations: Oregon, Iowa, Montreal, the Netherlands, and Taiwan</a:t>
            </a:r>
            <a:endParaRPr/>
          </a:p>
          <a:p>
            <a:pPr indent="-311150" lvl="0" marL="457200" rtl="0" algn="l">
              <a:spcBef>
                <a:spcPts val="0"/>
              </a:spcBef>
              <a:spcAft>
                <a:spcPts val="0"/>
              </a:spcAft>
              <a:buSzPts val="1300"/>
              <a:buChar char="●"/>
            </a:pPr>
            <a:r>
              <a:rPr lang="en"/>
              <a:t>Vary the </a:t>
            </a:r>
            <a:r>
              <a:rPr lang="en"/>
              <a:t>total</a:t>
            </a:r>
            <a:r>
              <a:rPr lang="en"/>
              <a:t> number of replicas from 20 to 140; equally distributed across each region</a:t>
            </a:r>
            <a:endParaRPr/>
          </a:p>
        </p:txBody>
      </p:sp>
      <p:pic>
        <p:nvPicPr>
          <p:cNvPr id="649" name="Google Shape;649;p36"/>
          <p:cNvPicPr preferRelativeResize="0"/>
          <p:nvPr/>
        </p:nvPicPr>
        <p:blipFill rotWithShape="1">
          <a:blip r:embed="rId3">
            <a:alphaModFix/>
          </a:blip>
          <a:srcRect b="0" l="6068" r="0" t="7149"/>
          <a:stretch/>
        </p:blipFill>
        <p:spPr>
          <a:xfrm>
            <a:off x="548525" y="2933450"/>
            <a:ext cx="4159352" cy="1961775"/>
          </a:xfrm>
          <a:prstGeom prst="rect">
            <a:avLst/>
          </a:prstGeom>
          <a:noFill/>
          <a:ln>
            <a:noFill/>
          </a:ln>
        </p:spPr>
      </p:pic>
      <p:sp>
        <p:nvSpPr>
          <p:cNvPr id="650" name="Google Shape;650;p36"/>
          <p:cNvSpPr txBox="1"/>
          <p:nvPr/>
        </p:nvSpPr>
        <p:spPr>
          <a:xfrm>
            <a:off x="4936800" y="3491775"/>
            <a:ext cx="3807900" cy="8451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300">
                <a:solidFill>
                  <a:schemeClr val="accent1"/>
                </a:solidFill>
                <a:latin typeface="Lato"/>
                <a:ea typeface="Lato"/>
                <a:cs typeface="Lato"/>
                <a:sym typeface="Lato"/>
              </a:rPr>
              <a:t>Key Finding</a:t>
            </a:r>
            <a:endParaRPr b="1" sz="1300">
              <a:solidFill>
                <a:schemeClr val="accent1"/>
              </a:solidFill>
              <a:latin typeface="Lato"/>
              <a:ea typeface="Lato"/>
              <a:cs typeface="Lato"/>
              <a:sym typeface="Lato"/>
            </a:endParaRPr>
          </a:p>
          <a:p>
            <a:pPr indent="0" lvl="0" marL="0" rtl="0" algn="ctr">
              <a:lnSpc>
                <a:spcPct val="115000"/>
              </a:lnSpc>
              <a:spcBef>
                <a:spcPts val="0"/>
              </a:spcBef>
              <a:spcAft>
                <a:spcPts val="0"/>
              </a:spcAft>
              <a:buNone/>
            </a:pPr>
            <a:r>
              <a:rPr lang="en" sz="1300">
                <a:solidFill>
                  <a:schemeClr val="accent1"/>
                </a:solidFill>
                <a:latin typeface="Lato"/>
                <a:ea typeface="Lato"/>
                <a:cs typeface="Lato"/>
                <a:sym typeface="Lato"/>
              </a:rPr>
              <a:t>PoE achieves up to 1.41× higher throughput and incurs 28.67% less latency than PBFT</a:t>
            </a:r>
            <a:endParaRPr sz="1300">
              <a:solidFill>
                <a:schemeClr val="accen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Conclusions</a:t>
            </a:r>
            <a:endParaRPr/>
          </a:p>
        </p:txBody>
      </p:sp>
      <p:sp>
        <p:nvSpPr>
          <p:cNvPr id="656" name="Google Shape;656;p3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Introduces Proof-of-Execution (PoE): a Byzantine fault-tolerant consensus protocol using speculative execution and out-of-order processing</a:t>
            </a:r>
            <a:endParaRPr/>
          </a:p>
          <a:p>
            <a:pPr indent="-311150" lvl="0" marL="457200" rtl="0" algn="l">
              <a:spcBef>
                <a:spcPts val="0"/>
              </a:spcBef>
              <a:spcAft>
                <a:spcPts val="0"/>
              </a:spcAft>
              <a:buSzPts val="1300"/>
              <a:buChar char="●"/>
            </a:pPr>
            <a:r>
              <a:rPr lang="en"/>
              <a:t>Achieves safety and liveness with only three linear communication phases (with TSs), provided the system </a:t>
            </a:r>
            <a:r>
              <a:rPr lang="en"/>
              <a:t>satisfies</a:t>
            </a:r>
            <a:r>
              <a:rPr lang="en"/>
              <a:t> n &gt; 3f</a:t>
            </a:r>
            <a:endParaRPr/>
          </a:p>
          <a:p>
            <a:pPr indent="-311150" lvl="0" marL="457200" rtl="0" algn="l">
              <a:spcBef>
                <a:spcPts val="0"/>
              </a:spcBef>
              <a:spcAft>
                <a:spcPts val="0"/>
              </a:spcAft>
              <a:buSzPts val="1300"/>
              <a:buChar char="●"/>
            </a:pPr>
            <a:r>
              <a:rPr lang="en"/>
              <a:t>Significantly improves throughput and latency (up to ~80% over PBFT)</a:t>
            </a:r>
            <a:endParaRPr/>
          </a:p>
          <a:p>
            <a:pPr indent="-311150" lvl="0" marL="457200" rtl="0" algn="l">
              <a:spcBef>
                <a:spcPts val="0"/>
              </a:spcBef>
              <a:spcAft>
                <a:spcPts val="0"/>
              </a:spcAft>
              <a:buSzPts val="1300"/>
              <a:buChar char="●"/>
            </a:pPr>
            <a:r>
              <a:rPr lang="en"/>
              <a:t>Rollbacks may occur if speculation fails, but correctness is preserved</a:t>
            </a:r>
            <a:endParaRPr/>
          </a:p>
          <a:p>
            <a:pPr indent="-311150" lvl="0" marL="457200" rtl="0" algn="l">
              <a:spcBef>
                <a:spcPts val="0"/>
              </a:spcBef>
              <a:spcAft>
                <a:spcPts val="0"/>
              </a:spcAft>
              <a:buSzPts val="1300"/>
              <a:buChar char="●"/>
            </a:pPr>
            <a:r>
              <a:rPr lang="en"/>
              <a:t>PoE is w</a:t>
            </a:r>
            <a:r>
              <a:rPr lang="en"/>
              <a:t>ell-suited for high-throughput, permissioned blockchain and data-management systems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Appendix: Additional Slides</a:t>
            </a:r>
            <a:endParaRPr/>
          </a:p>
        </p:txBody>
      </p:sp>
      <p:sp>
        <p:nvSpPr>
          <p:cNvPr id="662" name="Google Shape;662;p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t>ResilientDB</a:t>
            </a:r>
            <a:r>
              <a:rPr lang="en"/>
              <a:t> for Implementation</a:t>
            </a:r>
            <a:endParaRPr/>
          </a:p>
        </p:txBody>
      </p:sp>
      <p:sp>
        <p:nvSpPr>
          <p:cNvPr id="668" name="Google Shape;668;p39"/>
          <p:cNvSpPr txBox="1"/>
          <p:nvPr>
            <p:ph idx="1" type="body"/>
          </p:nvPr>
        </p:nvSpPr>
        <p:spPr>
          <a:xfrm>
            <a:off x="729450" y="2237950"/>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Enables testing in a real-world, deployed environment: bridging theory and practice</a:t>
            </a:r>
            <a:endParaRPr/>
          </a:p>
          <a:p>
            <a:pPr indent="-311150" lvl="0" marL="457200" rtl="0" algn="l">
              <a:spcBef>
                <a:spcPts val="0"/>
              </a:spcBef>
              <a:spcAft>
                <a:spcPts val="0"/>
              </a:spcAft>
              <a:buSzPts val="1300"/>
              <a:buChar char="●"/>
            </a:pPr>
            <a:r>
              <a:rPr lang="en"/>
              <a:t>Provides a replicated transactional engine and a high-throughput permissioned blockchain fabric</a:t>
            </a:r>
            <a:endParaRPr/>
          </a:p>
          <a:p>
            <a:pPr indent="-311150" lvl="0" marL="457200" rtl="0" algn="l">
              <a:spcBef>
                <a:spcPts val="0"/>
              </a:spcBef>
              <a:spcAft>
                <a:spcPts val="0"/>
              </a:spcAft>
              <a:buSzPts val="1300"/>
              <a:buChar char="●"/>
            </a:pPr>
            <a:r>
              <a:rPr lang="en"/>
              <a:t>Supports flexible experimentation with multiple consensus protocols</a:t>
            </a:r>
            <a:endParaRPr/>
          </a:p>
          <a:p>
            <a:pPr indent="-311150" lvl="0" marL="457200" rtl="0" algn="l">
              <a:spcBef>
                <a:spcPts val="0"/>
              </a:spcBef>
              <a:spcAft>
                <a:spcPts val="0"/>
              </a:spcAft>
              <a:buSzPts val="1300"/>
              <a:buChar char="●"/>
            </a:pPr>
            <a:r>
              <a:rPr lang="en"/>
              <a:t>Uses a parallel, pipelined architecture to balance replica workloads</a:t>
            </a:r>
            <a:endParaRPr/>
          </a:p>
          <a:p>
            <a:pPr indent="-311150" lvl="0" marL="457200" rtl="0" algn="l">
              <a:spcBef>
                <a:spcPts val="0"/>
              </a:spcBef>
              <a:spcAft>
                <a:spcPts val="0"/>
              </a:spcAft>
              <a:buSzPts val="1300"/>
              <a:buChar char="●"/>
            </a:pPr>
            <a:r>
              <a:rPr lang="en"/>
              <a:t>Reduces communication overhead through batching of client transactions</a:t>
            </a:r>
            <a:endParaRPr/>
          </a:p>
          <a:p>
            <a:pPr indent="-311150" lvl="0" marL="457200" rtl="0" algn="l">
              <a:spcBef>
                <a:spcPts val="0"/>
              </a:spcBef>
              <a:spcAft>
                <a:spcPts val="0"/>
              </a:spcAft>
              <a:buSzPts val="1300"/>
              <a:buChar char="●"/>
            </a:pPr>
            <a:r>
              <a:rPr lang="en"/>
              <a:t>Maintains a secure and efficient ledger for consistent state management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